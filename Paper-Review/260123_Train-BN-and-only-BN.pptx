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432" r:id="rId2"/>
    <p:sldId id="257" r:id="rId3"/>
    <p:sldId id="471" r:id="rId4"/>
    <p:sldId id="472" r:id="rId5"/>
    <p:sldId id="473" r:id="rId6"/>
    <p:sldId id="474" r:id="rId7"/>
    <p:sldId id="475" r:id="rId8"/>
    <p:sldId id="476" r:id="rId9"/>
    <p:sldId id="477" r:id="rId10"/>
    <p:sldId id="478" r:id="rId11"/>
    <p:sldId id="479" r:id="rId12"/>
    <p:sldId id="480" r:id="rId13"/>
    <p:sldId id="481" r:id="rId14"/>
    <p:sldId id="483" r:id="rId15"/>
    <p:sldId id="484" r:id="rId16"/>
    <p:sldId id="487" r:id="rId17"/>
    <p:sldId id="485" r:id="rId18"/>
    <p:sldId id="486" r:id="rId19"/>
    <p:sldId id="488" r:id="rId20"/>
    <p:sldId id="489" r:id="rId21"/>
    <p:sldId id="491" r:id="rId22"/>
    <p:sldId id="492" r:id="rId23"/>
    <p:sldId id="490" r:id="rId24"/>
    <p:sldId id="465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95"/>
    <p:restoredTop sz="86232"/>
  </p:normalViewPr>
  <p:slideViewPr>
    <p:cSldViewPr snapToGrid="0">
      <p:cViewPr varScale="1">
        <p:scale>
          <a:sx n="143" d="100"/>
          <a:sy n="143" d="100"/>
        </p:scale>
        <p:origin x="216" y="11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166" d="100"/>
          <a:sy n="166" d="100"/>
        </p:scale>
        <p:origin x="59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86FC00A-97F0-39BF-52F7-11F602711C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FD6ABF-0873-92EE-6C5D-6B7A7DAD41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6566-C4C8-864D-9390-3796A3A9C061}" type="datetimeFigureOut">
              <a:rPr kumimoji="1" lang="ko-KR" altLang="en-US" smtClean="0"/>
              <a:t>2026. 1. 15.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09309-5735-A218-61DF-E20BB6572D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D20361-3F09-9084-DC5F-B674AC2805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94AFA-983E-D740-B6B2-A1532ECE876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020888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CCD09A-058A-C54B-8839-AF06743A1D5A}" type="datetimeFigureOut">
              <a:rPr kumimoji="1" lang="ko-KR" altLang="en-US" smtClean="0"/>
              <a:t>2026. 1. 15.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D3C5E-06BF-4547-A315-150B76FC98D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2980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8900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49912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7E762-1F8D-358E-2A7C-CC64A6D5B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35B55E-1977-EE66-43E2-BD393F99E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7867AA-A304-26F8-42AE-27BC4E7BA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39EDA5-A565-C1B1-0D5A-208B8F3F4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7855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D15FC-9996-3E57-D85E-5691E197C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97B79F-C4AE-915A-C356-6C685BA3A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8794EC-00FC-2059-B178-2B96BFA6A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166044-FD44-D271-DC71-F4C25C676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9702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DEBE6-2AD9-3F19-215A-06941AF05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0F4A72-F886-C7A1-0D53-2C7A044DA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BEAA3F-F4CE-35C6-3545-3593CC4BD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425A30-C9FD-CCAC-4B2E-403BBD220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0532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87F18-8844-60E3-1F77-441381C49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70EF75-5FBF-E735-E7C8-25C00985D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67C2B4-AB9B-3B98-5218-2FD200191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89AB3C-2910-1DB9-30FA-A30DA28EE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7300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EEBF1-285F-9333-12AB-862D64C9E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AE8021-4C49-7660-8CF1-DB053756A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D39F0FFE-2218-42B0-D2A3-DAC4DE571DE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Alternate </a:t>
                </a:r>
                <a:r>
                  <a:rPr kumimoji="1" lang="en-US" altLang="ko-KR" sz="1200" b="0" dirty="0" err="1">
                    <a:latin typeface="+mj-lt"/>
                  </a:rPr>
                  <a:t>init</a:t>
                </a:r>
                <a:r>
                  <a:rPr kumimoji="1" lang="ko-KR" altLang="en-US" sz="1200" b="0" dirty="0">
                    <a:latin typeface="+mj-lt"/>
                  </a:rPr>
                  <a:t>이 더 성능이 좋지만 </a:t>
                </a:r>
                <a:r>
                  <a:rPr kumimoji="1" lang="en-US" altLang="ko-KR" sz="12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kumimoji="1"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kumimoji="1"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kumimoji="1"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[0,1],  </m:t>
                    </m:r>
                    <m:r>
                      <a:rPr kumimoji="1" lang="en-US" altLang="ko-KR" sz="1200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kumimoji="1"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kumimoji="1" lang="en-US" altLang="ko-KR" sz="12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) </a:t>
                </a:r>
                <a:r>
                  <a:rPr kumimoji="1" lang="ko-KR" altLang="en-US" sz="1200" dirty="0" err="1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를</a:t>
                </a:r>
                <a:r>
                  <a:rPr kumimoji="1" lang="ko-KR" altLang="en-US" sz="12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kumimoji="1" lang="en-US" altLang="ko-KR" sz="12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BN </a:t>
                </a:r>
                <a:r>
                  <a:rPr kumimoji="1" lang="en-US" altLang="ko-KR" sz="1200" dirty="0" err="1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init.</a:t>
                </a:r>
                <a:r>
                  <a:rPr kumimoji="1" lang="en-US" altLang="ko-KR" sz="12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kumimoji="1" lang="ko-KR" altLang="en-US" sz="1200" dirty="0" err="1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으로</a:t>
                </a:r>
                <a:r>
                  <a:rPr kumimoji="1" lang="ko-KR" altLang="en-US" sz="12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 선택함</a:t>
                </a:r>
                <a:endParaRPr kumimoji="1" lang="en-US" altLang="ko-KR" sz="1200" dirty="0">
                  <a:latin typeface="+mn-ea"/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ko-KR" sz="1200" dirty="0">
                  <a:latin typeface="+mn-ea"/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2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이에 대한 별다른 설명은 없음</a:t>
                </a:r>
                <a:endParaRPr kumimoji="1" lang="en-US" altLang="ko-KR" sz="12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D39F0FFE-2218-42B0-D2A3-DAC4DE571DE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Alternate </a:t>
                </a:r>
                <a:r>
                  <a:rPr kumimoji="1" lang="en-US" altLang="ko-KR" sz="1200" b="0" dirty="0" err="1">
                    <a:latin typeface="+mj-lt"/>
                  </a:rPr>
                  <a:t>init</a:t>
                </a:r>
                <a:r>
                  <a:rPr kumimoji="1" lang="ko-KR" altLang="en-US" sz="1200" b="0" dirty="0">
                    <a:latin typeface="+mj-lt"/>
                  </a:rPr>
                  <a:t>이 더 성능이 좋지만 </a:t>
                </a:r>
                <a:r>
                  <a:rPr kumimoji="1" lang="en-US" altLang="ko-KR" sz="12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(</a:t>
                </a:r>
                <a:r>
                  <a:rPr kumimoji="1" lang="en-US" altLang="ko-KR" sz="1200" b="0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γ~𝑈[0,1],  𝛽=0</a:t>
                </a:r>
                <a:r>
                  <a:rPr kumimoji="1" lang="en-US" altLang="ko-KR" sz="12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) </a:t>
                </a:r>
                <a:r>
                  <a:rPr kumimoji="1" lang="ko-KR" altLang="en-US" sz="1200" dirty="0" err="1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를</a:t>
                </a:r>
                <a:r>
                  <a:rPr kumimoji="1" lang="ko-KR" altLang="en-US" sz="12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kumimoji="1" lang="en-US" altLang="ko-KR" sz="12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BN </a:t>
                </a:r>
                <a:r>
                  <a:rPr kumimoji="1" lang="en-US" altLang="ko-KR" sz="1200" dirty="0" err="1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init.</a:t>
                </a:r>
                <a:r>
                  <a:rPr kumimoji="1" lang="en-US" altLang="ko-KR" sz="12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kumimoji="1" lang="ko-KR" altLang="en-US" sz="1200" dirty="0" err="1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으로</a:t>
                </a:r>
                <a:r>
                  <a:rPr kumimoji="1" lang="ko-KR" altLang="en-US" sz="12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 선택함</a:t>
                </a:r>
                <a:endParaRPr kumimoji="1" lang="en-US" altLang="ko-KR" sz="1200" dirty="0">
                  <a:latin typeface="+mn-ea"/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ko-KR" sz="1200" dirty="0">
                  <a:latin typeface="+mn-ea"/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2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이에 대한 별다른 설명은 없음</a:t>
                </a:r>
                <a:endParaRPr kumimoji="1" lang="en-US" altLang="ko-KR" sz="12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5C1021-F29E-4782-FE42-7535CB810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26483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87124-2755-74E9-34B7-43A814951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82F694-27AD-2DBD-F15C-DD6389355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D85CF4-DC76-02A5-AE84-53753CD75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dirty="0">
                <a:latin typeface="+mn-ea"/>
                <a:cs typeface="Times New Roman" panose="02020603050405020304" pitchFamily="18" charset="0"/>
              </a:rPr>
              <a:t>실제 </a:t>
            </a:r>
            <a:r>
              <a:rPr kumimoji="1" lang="en-US" altLang="ko-KR" sz="1200" dirty="0">
                <a:latin typeface="+mn-ea"/>
                <a:cs typeface="Times New Roman" panose="02020603050405020304" pitchFamily="18" charset="0"/>
              </a:rPr>
              <a:t>BN parameter </a:t>
            </a:r>
            <a:r>
              <a:rPr kumimoji="1" lang="ko-KR" altLang="en-US" sz="1200" dirty="0">
                <a:latin typeface="+mn-ea"/>
                <a:cs typeface="Times New Roman" panose="02020603050405020304" pitchFamily="18" charset="0"/>
              </a:rPr>
              <a:t>제외한 모든 </a:t>
            </a:r>
            <a:r>
              <a:rPr kumimoji="1" lang="en-US" altLang="ko-KR" sz="1200" dirty="0">
                <a:latin typeface="+mn-ea"/>
                <a:cs typeface="Times New Roman" panose="02020603050405020304" pitchFamily="18" charset="0"/>
              </a:rPr>
              <a:t>parameter</a:t>
            </a:r>
            <a:r>
              <a:rPr kumimoji="1" lang="ko-KR" altLang="en-US" sz="1200" dirty="0" err="1">
                <a:latin typeface="+mn-ea"/>
                <a:cs typeface="Times New Roman" panose="02020603050405020304" pitchFamily="18" charset="0"/>
              </a:rPr>
              <a:t>를</a:t>
            </a:r>
            <a:r>
              <a:rPr kumimoji="1" lang="ko-KR" altLang="en-US" sz="1200" dirty="0">
                <a:latin typeface="+mn-ea"/>
                <a:cs typeface="Times New Roman" panose="02020603050405020304" pitchFamily="18" charset="0"/>
              </a:rPr>
              <a:t> </a:t>
            </a:r>
            <a:r>
              <a:rPr kumimoji="1" lang="en-US" altLang="ko-KR" sz="1200" dirty="0">
                <a:latin typeface="+mn-ea"/>
                <a:cs typeface="Times New Roman" panose="02020603050405020304" pitchFamily="18" charset="0"/>
              </a:rPr>
              <a:t>freeze</a:t>
            </a:r>
            <a:r>
              <a:rPr kumimoji="1" lang="ko-KR" altLang="en-US" sz="1200" dirty="0">
                <a:latin typeface="+mn-ea"/>
                <a:cs typeface="Times New Roman" panose="02020603050405020304" pitchFamily="18" charset="0"/>
              </a:rPr>
              <a:t>하고 학습을 돌려봄</a:t>
            </a:r>
            <a:endParaRPr kumimoji="1" lang="en-US" altLang="ko-KR" sz="12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361D9F-9F29-6A44-F477-2C0C2B33C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6809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10C3F-016A-5D2D-4B9A-58062AFA5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27C702-2B3F-840F-6EF9-BB8B8D370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044A2F-66F6-573C-6F71-D41941110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263F85-2ACB-69DF-0136-FDF18B291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4808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A005A-501C-DE0A-AB56-DE45E43B4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F64E67-5B85-574D-620C-FF75764D9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3DF89-F0D1-BA90-681F-BA028F2F7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0F2849-8E97-DE34-729A-A8392CDAAB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52977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A755-EF10-7503-113C-D8B68C3B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3915A0-9FA0-661C-1F55-E780352C0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0CFCD8-0EF8-93CC-8BC0-DC4C3BFCD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dirty="0" err="1">
                <a:latin typeface="+mn-ea"/>
                <a:cs typeface="Times New Roman" panose="02020603050405020304" pitchFamily="18" charset="0"/>
              </a:rPr>
              <a:t>Batchnorm</a:t>
            </a:r>
            <a:r>
              <a:rPr kumimoji="1" lang="en-US" altLang="ko-KR" sz="1200" dirty="0">
                <a:latin typeface="+mn-ea"/>
                <a:cs typeface="Times New Roman" panose="02020603050405020304" pitchFamily="18" charset="0"/>
              </a:rPr>
              <a:t> parameter</a:t>
            </a:r>
            <a:r>
              <a:rPr kumimoji="1" lang="ko-KR" altLang="en-US" sz="1200" dirty="0">
                <a:latin typeface="+mn-ea"/>
                <a:cs typeface="Times New Roman" panose="02020603050405020304" pitchFamily="18" charset="0"/>
              </a:rPr>
              <a:t>와 </a:t>
            </a:r>
            <a:r>
              <a:rPr kumimoji="1" lang="en-US" altLang="ko-KR" sz="1200" dirty="0">
                <a:latin typeface="+mn-ea"/>
                <a:cs typeface="Times New Roman" panose="02020603050405020304" pitchFamily="18" charset="0"/>
              </a:rPr>
              <a:t>2 random parameter per channel</a:t>
            </a:r>
            <a:r>
              <a:rPr kumimoji="1" lang="ko-KR" altLang="en-US" sz="1200" dirty="0">
                <a:latin typeface="+mn-ea"/>
                <a:cs typeface="Times New Roman" panose="02020603050405020304" pitchFamily="18" charset="0"/>
              </a:rPr>
              <a:t>의 </a:t>
            </a:r>
            <a:endParaRPr kumimoji="1" lang="en-US" altLang="ko-KR" sz="1200" dirty="0">
              <a:latin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dirty="0">
                <a:latin typeface="+mn-ea"/>
                <a:cs typeface="Times New Roman" panose="02020603050405020304" pitchFamily="18" charset="0"/>
              </a:rPr>
              <a:t>Parameter </a:t>
            </a:r>
            <a:r>
              <a:rPr kumimoji="1" lang="ko-KR" altLang="en-US" sz="1200" dirty="0">
                <a:latin typeface="+mn-ea"/>
                <a:cs typeface="Times New Roman" panose="02020603050405020304" pitchFamily="18" charset="0"/>
              </a:rPr>
              <a:t>개수는 똑같지만 </a:t>
            </a:r>
            <a:endParaRPr kumimoji="1" lang="en-US" altLang="ko-KR" sz="1200" dirty="0">
              <a:latin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dirty="0">
                <a:latin typeface="+mn-ea"/>
                <a:cs typeface="Times New Roman" panose="02020603050405020304" pitchFamily="18" charset="0"/>
              </a:rPr>
              <a:t>BN</a:t>
            </a:r>
            <a:r>
              <a:rPr kumimoji="1" lang="ko-KR" altLang="en-US" sz="1200" dirty="0">
                <a:latin typeface="+mn-ea"/>
                <a:cs typeface="Times New Roman" panose="02020603050405020304" pitchFamily="18" charset="0"/>
              </a:rPr>
              <a:t>은 </a:t>
            </a:r>
            <a:r>
              <a:rPr kumimoji="1" lang="en-US" altLang="ko-KR" sz="1200" dirty="0">
                <a:latin typeface="+mn-ea"/>
                <a:cs typeface="Times New Roman" panose="02020603050405020304" pitchFamily="18" charset="0"/>
              </a:rPr>
              <a:t>per-feature</a:t>
            </a:r>
            <a:r>
              <a:rPr kumimoji="1" lang="ko-KR" altLang="en-US" sz="1200" dirty="0" err="1">
                <a:latin typeface="+mn-ea"/>
                <a:cs typeface="Times New Roman" panose="02020603050405020304" pitchFamily="18" charset="0"/>
              </a:rPr>
              <a:t>를</a:t>
            </a:r>
            <a:r>
              <a:rPr kumimoji="1" lang="ko-KR" altLang="en-US" sz="1200" dirty="0">
                <a:latin typeface="+mn-ea"/>
                <a:cs typeface="Times New Roman" panose="02020603050405020304" pitchFamily="18" charset="0"/>
              </a:rPr>
              <a:t> </a:t>
            </a:r>
            <a:r>
              <a:rPr kumimoji="1" lang="en-US" altLang="ko-KR" sz="1200" dirty="0">
                <a:latin typeface="+mn-ea"/>
                <a:cs typeface="Times New Roman" panose="02020603050405020304" pitchFamily="18" charset="0"/>
              </a:rPr>
              <a:t>control</a:t>
            </a:r>
            <a:r>
              <a:rPr kumimoji="1" lang="ko-KR" altLang="en-US" sz="1200" dirty="0">
                <a:latin typeface="+mn-ea"/>
                <a:cs typeface="Times New Roman" panose="02020603050405020304" pitchFamily="18" charset="0"/>
              </a:rPr>
              <a:t> 가능</a:t>
            </a:r>
            <a:endParaRPr kumimoji="1" lang="en-US" altLang="ko-KR" sz="1200" dirty="0">
              <a:latin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dirty="0">
                <a:latin typeface="+mn-ea"/>
                <a:cs typeface="Times New Roman" panose="02020603050405020304" pitchFamily="18" charset="0"/>
              </a:rPr>
              <a:t>2 random parameter</a:t>
            </a:r>
            <a:r>
              <a:rPr kumimoji="1" lang="ko-KR" altLang="en-US" sz="1200" dirty="0">
                <a:latin typeface="+mn-ea"/>
                <a:cs typeface="Times New Roman" panose="02020603050405020304" pitchFamily="18" charset="0"/>
              </a:rPr>
              <a:t>는 </a:t>
            </a:r>
            <a:r>
              <a:rPr kumimoji="1" lang="en-US" altLang="ko-KR" sz="1200" dirty="0">
                <a:latin typeface="+mn-ea"/>
                <a:cs typeface="Times New Roman" panose="02020603050405020304" pitchFamily="18" charset="0"/>
              </a:rPr>
              <a:t>per-channel</a:t>
            </a:r>
            <a:r>
              <a:rPr kumimoji="1" lang="ko-KR" altLang="en-US" sz="1200" dirty="0" err="1">
                <a:latin typeface="+mn-ea"/>
                <a:cs typeface="Times New Roman" panose="02020603050405020304" pitchFamily="18" charset="0"/>
              </a:rPr>
              <a:t>에만</a:t>
            </a:r>
            <a:r>
              <a:rPr kumimoji="1" lang="ko-KR" altLang="en-US" sz="1200" dirty="0">
                <a:latin typeface="+mn-ea"/>
                <a:cs typeface="Times New Roman" panose="02020603050405020304" pitchFamily="18" charset="0"/>
              </a:rPr>
              <a:t> </a:t>
            </a:r>
            <a:r>
              <a:rPr kumimoji="1" lang="en-US" altLang="ko-KR" sz="1200" dirty="0">
                <a:latin typeface="+mn-ea"/>
                <a:cs typeface="Times New Roman" panose="02020603050405020304" pitchFamily="18" charset="0"/>
              </a:rPr>
              <a:t>control </a:t>
            </a:r>
            <a:r>
              <a:rPr kumimoji="1" lang="ko-KR" altLang="en-US" sz="1200" dirty="0">
                <a:latin typeface="+mn-ea"/>
                <a:cs typeface="Times New Roman" panose="02020603050405020304" pitchFamily="18" charset="0"/>
              </a:rPr>
              <a:t>가능</a:t>
            </a:r>
            <a:r>
              <a:rPr kumimoji="1" lang="en-US" altLang="ko-KR" sz="1200" dirty="0">
                <a:latin typeface="+mn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dirty="0">
              <a:latin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dirty="0">
                <a:latin typeface="+mn-ea"/>
                <a:cs typeface="Times New Roman" panose="02020603050405020304" pitchFamily="18" charset="0"/>
              </a:rPr>
              <a:t>이 차이에서 비롯한 성능차이</a:t>
            </a:r>
            <a:r>
              <a:rPr kumimoji="1" lang="en-US" altLang="ko-KR" sz="1200" dirty="0">
                <a:latin typeface="+mn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228B97-A7CD-AE54-84A3-4EB4E10FA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5518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D1A3D-D1A4-6644-2C3F-E0EB45E49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EBD324-EF65-2CDB-9616-B24CED684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49C320-37F1-B8B6-BE79-5E0BAC347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AFD70-6DCF-102B-3D25-A78F82DBD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57451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817B9-AB31-2D87-05C3-1DD56D51D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D35914-FDE6-3A33-5741-3595A61FF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F24A68-AF6D-E60C-CF72-80DF45F04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FAA430-7609-2FA0-3C29-6AD966497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24959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C0F8D-06F2-2939-A37A-A00F35836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6F9BE4-42BB-58D3-51F0-163C2BFF9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295D66-8BC0-59B9-8822-A652B830F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AC2D68-FCEE-367C-3456-CED9DF438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56994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1359B-4BAF-9977-6151-80BD9560E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256610-CFD5-FA79-B91C-7C2165759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C44C2F-7944-E519-2179-6F1D1A810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BF231B-C685-B6B7-CE6E-854C9DA1F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030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DF01E-9468-5821-374F-493FE048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A3DFD2-2A4F-204D-252A-73AE42890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C0723B-DC6B-213F-6A36-F24DFE186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9F7D64-DB9A-8D35-D352-379EE46F0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33057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0ECDE-7C58-8A6C-0968-1EB3FE19F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FE9DD0-4BC0-B305-D52E-D30588C259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CF95BB-5CCB-0DD1-77CB-C9F93A332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F88DE8-EEEF-41D6-2834-5E75AE017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11814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790DD-B547-AF2C-6FA4-CB382CEAE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2AC5BE-A751-B931-2808-AAF4CFDA7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6AE49B-D793-DDD4-DD92-394BE6B76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F44F17-1D62-B774-D0E0-EB3B2F61F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73149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72E83-C3D9-B330-8B5E-D9D0F4125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26A102-3A9E-BA8E-BD09-24AC359C0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55F086-32B1-A7C8-836E-912BC51FB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FEB74C-4873-0F51-EA66-544AA707B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34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6E2D7-5303-FB3C-E5A4-73C45B7C0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D380F7-2CAD-D3E6-3755-E51A72F63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AFB426-A91E-BB5E-DBBE-F67EF1136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CCE8C8-44FC-BAE4-AEB0-1C4CD21DF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805166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0DAC1-7B1C-789A-08D3-66B732914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A780B9-5B91-7C5D-15B1-0CADDA64D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C03F38-9F81-B349-823E-4537B99B7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9B5FB3-14EB-076E-C869-32D53E9FF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33789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6AD4A-A787-A70C-B7ED-360A858E6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021A87-8A56-F488-2E3B-157388170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43BE17-98B5-4538-7C2A-CAE66FF5B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2DC48-D2FF-2E40-FB80-600E9FDE3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11098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10E23-A7E7-D6E3-0D74-5F4829A3F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9AC879-F335-3970-73CD-7B2BEAF4D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03724A-3887-B9EC-0B9E-FF2221AD9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6B1BCA-CAA5-7C62-D39B-E887C67CD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01442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4FB09-A9FA-41D3-7FC8-74552CEB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F8A00E-B4B2-6F5F-691E-70B29979F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3978A6-7454-F91B-B96A-A21901B1A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4B5801-4D96-A6EB-9143-DE0C738D7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2550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mailto:hhss0927@inu.ac.kr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2" descr="텍스트, 폰트, 로고, 그래픽이(가) 표시된 사진&#10;&#10;자동 생성된 설명">
            <a:extLst>
              <a:ext uri="{FF2B5EF4-FFF2-40B4-BE49-F238E27FC236}">
                <a16:creationId xmlns:a16="http://schemas.microsoft.com/office/drawing/2014/main" id="{6AB210DD-1824-17DF-FBC0-45C9B94F09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75"/>
          <a:stretch>
            <a:fillRect/>
          </a:stretch>
        </p:blipFill>
        <p:spPr bwMode="auto">
          <a:xfrm>
            <a:off x="9957473" y="0"/>
            <a:ext cx="2234527" cy="62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63405D42-E259-56C1-4B5B-9CA50E12180B}"/>
              </a:ext>
            </a:extLst>
          </p:cNvPr>
          <p:cNvCxnSpPr/>
          <p:nvPr userDrawn="1"/>
        </p:nvCxnSpPr>
        <p:spPr>
          <a:xfrm>
            <a:off x="297543" y="1250938"/>
            <a:ext cx="11538857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F345676C-C4E1-C145-2DFF-EA454B22F247}"/>
              </a:ext>
            </a:extLst>
          </p:cNvPr>
          <p:cNvSpPr txBox="1">
            <a:spLocks/>
          </p:cNvSpPr>
          <p:nvPr userDrawn="1"/>
        </p:nvSpPr>
        <p:spPr>
          <a:xfrm>
            <a:off x="3326206" y="621258"/>
            <a:ext cx="2964993" cy="6263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102F48-3F63-68D6-96A4-C3660B1C9F38}"/>
              </a:ext>
            </a:extLst>
          </p:cNvPr>
          <p:cNvSpPr/>
          <p:nvPr userDrawn="1"/>
        </p:nvSpPr>
        <p:spPr>
          <a:xfrm>
            <a:off x="297543" y="640309"/>
            <a:ext cx="2064057" cy="4792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b="1" dirty="0"/>
              <a:t>PAPER REVIEW</a:t>
            </a:r>
            <a:endParaRPr kumimoji="1" lang="ko-KR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A438D8-7B05-80C4-1953-7CF1BD1F055C}"/>
              </a:ext>
            </a:extLst>
          </p:cNvPr>
          <p:cNvSpPr txBox="1"/>
          <p:nvPr userDrawn="1"/>
        </p:nvSpPr>
        <p:spPr>
          <a:xfrm>
            <a:off x="2392296" y="649754"/>
            <a:ext cx="171874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500" b="1" dirty="0"/>
              <a:t>ICLR 2021</a:t>
            </a:r>
            <a:endParaRPr kumimoji="1" lang="ko-KR" altLang="en-US" sz="2500" b="1" dirty="0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A5CC179D-2BEE-00B1-88B7-BE9A2B48C9F4}"/>
              </a:ext>
            </a:extLst>
          </p:cNvPr>
          <p:cNvSpPr txBox="1">
            <a:spLocks/>
          </p:cNvSpPr>
          <p:nvPr userDrawn="1"/>
        </p:nvSpPr>
        <p:spPr>
          <a:xfrm>
            <a:off x="7114308" y="4644069"/>
            <a:ext cx="4860051" cy="1893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ko-KR" sz="1700" b="1" dirty="0"/>
              <a:t>PRESENTED BY</a:t>
            </a:r>
          </a:p>
          <a:p>
            <a:pPr algn="l"/>
            <a:r>
              <a:rPr kumimoji="1" lang="en-US" altLang="ko-KR" sz="1500" dirty="0" err="1"/>
              <a:t>Hyungseop</a:t>
            </a:r>
            <a:r>
              <a:rPr kumimoji="1" lang="en-US" altLang="ko-KR" sz="1500" dirty="0"/>
              <a:t> Lee</a:t>
            </a:r>
          </a:p>
          <a:p>
            <a:pPr algn="l"/>
            <a:r>
              <a:rPr kumimoji="1" lang="en-US" altLang="ko-KR" sz="1500" dirty="0"/>
              <a:t>Department of Embedded Systems Engineering, INU</a:t>
            </a:r>
          </a:p>
          <a:p>
            <a:pPr algn="l"/>
            <a:r>
              <a:rPr kumimoji="1" lang="en-US" altLang="ko-KR" sz="1500" dirty="0">
                <a:hlinkClick r:id="rId3"/>
              </a:rPr>
              <a:t>hhss0927@inu.ac.kr</a:t>
            </a:r>
            <a:endParaRPr kumimoji="1" lang="en-US" altLang="ko-KR" sz="1500" dirty="0"/>
          </a:p>
          <a:p>
            <a:pPr algn="l"/>
            <a:r>
              <a:rPr kumimoji="1" lang="en-US" altLang="ko-KR" sz="1500" dirty="0"/>
              <a:t>2026.01.23</a:t>
            </a:r>
            <a:endParaRPr kumimoji="1" lang="ko-KR" altLang="en-US" sz="1500" dirty="0"/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F1589E37-6BA7-A16C-7C22-D95FDEE79B7A}"/>
              </a:ext>
            </a:extLst>
          </p:cNvPr>
          <p:cNvCxnSpPr/>
          <p:nvPr userDrawn="1"/>
        </p:nvCxnSpPr>
        <p:spPr>
          <a:xfrm>
            <a:off x="297543" y="4420802"/>
            <a:ext cx="1153885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25127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27BDD159-5E07-F9AF-6DE3-3BF9A3042BFD}"/>
              </a:ext>
            </a:extLst>
          </p:cNvPr>
          <p:cNvCxnSpPr>
            <a:cxnSpLocks/>
          </p:cNvCxnSpPr>
          <p:nvPr userDrawn="1"/>
        </p:nvCxnSpPr>
        <p:spPr>
          <a:xfrm flipV="1">
            <a:off x="7005612" y="4644069"/>
            <a:ext cx="0" cy="163436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25127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부제목 2">
            <a:extLst>
              <a:ext uri="{FF2B5EF4-FFF2-40B4-BE49-F238E27FC236}">
                <a16:creationId xmlns:a16="http://schemas.microsoft.com/office/drawing/2014/main" id="{7AD58CBE-A356-3B9A-B2A9-80E0D3A8A2F1}"/>
              </a:ext>
            </a:extLst>
          </p:cNvPr>
          <p:cNvSpPr txBox="1">
            <a:spLocks/>
          </p:cNvSpPr>
          <p:nvPr userDrawn="1"/>
        </p:nvSpPr>
        <p:spPr>
          <a:xfrm>
            <a:off x="297550" y="2004290"/>
            <a:ext cx="11676809" cy="1656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60000"/>
              </a:lnSpc>
            </a:pPr>
            <a:r>
              <a:rPr kumimoji="1" lang="en-US" altLang="ko-KR" sz="3000" dirty="0"/>
              <a:t>TRAINING BATCHNORM AND ONLY BATCHNORM: </a:t>
            </a:r>
            <a:br>
              <a:rPr kumimoji="1" lang="en-US" altLang="ko-KR" sz="3000" dirty="0"/>
            </a:br>
            <a:r>
              <a:rPr kumimoji="1" lang="en-US" altLang="ko-KR" sz="3000" dirty="0"/>
              <a:t>ON THE EXPRESSIVE POWER OF RANDOM FEATURES IN CNNS</a:t>
            </a:r>
          </a:p>
        </p:txBody>
      </p:sp>
      <p:sp>
        <p:nvSpPr>
          <p:cNvPr id="24" name="부제목 2">
            <a:extLst>
              <a:ext uri="{FF2B5EF4-FFF2-40B4-BE49-F238E27FC236}">
                <a16:creationId xmlns:a16="http://schemas.microsoft.com/office/drawing/2014/main" id="{5222393B-93E9-E9E9-0D0C-AC1AAD263BDE}"/>
              </a:ext>
            </a:extLst>
          </p:cNvPr>
          <p:cNvSpPr txBox="1">
            <a:spLocks/>
          </p:cNvSpPr>
          <p:nvPr userDrawn="1"/>
        </p:nvSpPr>
        <p:spPr>
          <a:xfrm>
            <a:off x="297543" y="4644069"/>
            <a:ext cx="6621657" cy="1893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ko-KR" sz="1600" b="1" dirty="0"/>
              <a:t>AUTHORS</a:t>
            </a:r>
            <a:endParaRPr kumimoji="1" lang="ko-KR" altLang="en-US" sz="1500" dirty="0"/>
          </a:p>
        </p:txBody>
      </p:sp>
      <p:pic>
        <p:nvPicPr>
          <p:cNvPr id="3" name="그림 2" descr="텍스트, 폰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4649CD-93D0-98EF-3567-7B542DEE0A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2721" y="5180749"/>
            <a:ext cx="6471299" cy="81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504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DC919-D7BD-8C3F-E5C1-551E747A20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1258"/>
            <a:ext cx="12192000" cy="628777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kumimoji="1" lang="en-US" altLang="ko-KR" dirty="0"/>
              <a:t>Times New Roman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7EA45-3008-48C5-F050-43B06FD0F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102" y="788284"/>
            <a:ext cx="11952383" cy="5691344"/>
          </a:xfrm>
        </p:spPr>
        <p:txBody>
          <a:bodyPr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F364B3AA-2176-6CB6-535F-93713FAF6867}"/>
              </a:ext>
            </a:extLst>
          </p:cNvPr>
          <p:cNvCxnSpPr>
            <a:cxnSpLocks/>
          </p:cNvCxnSpPr>
          <p:nvPr userDrawn="1"/>
        </p:nvCxnSpPr>
        <p:spPr>
          <a:xfrm>
            <a:off x="0" y="654271"/>
            <a:ext cx="12192000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072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7E16B07-36A2-5A36-5B0E-BBC4620DE0F4}"/>
              </a:ext>
            </a:extLst>
          </p:cNvPr>
          <p:cNvSpPr/>
          <p:nvPr userDrawn="1"/>
        </p:nvSpPr>
        <p:spPr>
          <a:xfrm>
            <a:off x="0" y="6611213"/>
            <a:ext cx="12192000" cy="265531"/>
          </a:xfrm>
          <a:prstGeom prst="rect">
            <a:avLst/>
          </a:prstGeom>
          <a:solidFill>
            <a:schemeClr val="tx1">
              <a:lumMod val="50000"/>
              <a:lumOff val="50000"/>
              <a:alpha val="5923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7A02AF-19FE-5223-EE42-43D4F5416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492"/>
            <a:ext cx="12192000" cy="628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ko-KR" dirty="0"/>
              <a:t>Title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6B78F7-D9F7-1A4E-0F92-C14FAADAC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808" y="772511"/>
            <a:ext cx="11952383" cy="5663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</p:txBody>
      </p:sp>
      <p:sp>
        <p:nvSpPr>
          <p:cNvPr id="12" name="날짜 개체 틀 3">
            <a:extLst>
              <a:ext uri="{FF2B5EF4-FFF2-40B4-BE49-F238E27FC236}">
                <a16:creationId xmlns:a16="http://schemas.microsoft.com/office/drawing/2014/main" id="{AED9B35F-AB58-03CF-474F-1AFEC25C27A3}"/>
              </a:ext>
            </a:extLst>
          </p:cNvPr>
          <p:cNvSpPr txBox="1">
            <a:spLocks/>
          </p:cNvSpPr>
          <p:nvPr userDrawn="1"/>
        </p:nvSpPr>
        <p:spPr>
          <a:xfrm>
            <a:off x="40978" y="6592837"/>
            <a:ext cx="1434662" cy="26552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1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Embedded AI</a:t>
            </a:r>
            <a:endParaRPr kumimoji="1" lang="ko-KR" altLang="en-US" sz="1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바닥글 개체 틀 4">
            <a:extLst>
              <a:ext uri="{FF2B5EF4-FFF2-40B4-BE49-F238E27FC236}">
                <a16:creationId xmlns:a16="http://schemas.microsoft.com/office/drawing/2014/main" id="{D7807DFB-0F2F-C213-B5C9-704F44B5185E}"/>
              </a:ext>
            </a:extLst>
          </p:cNvPr>
          <p:cNvSpPr txBox="1">
            <a:spLocks/>
          </p:cNvSpPr>
          <p:nvPr userDrawn="1"/>
        </p:nvSpPr>
        <p:spPr>
          <a:xfrm>
            <a:off x="11398474" y="6606887"/>
            <a:ext cx="807728" cy="265530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346EA7-1898-7E4A-A5B3-305006AD8040}" type="slidenum">
              <a:rPr kumimoji="1" lang="ko-KR" altLang="en-US" sz="1300" b="1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pPr/>
              <a:t>‹#›</a:t>
            </a:fld>
            <a:r>
              <a:rPr kumimoji="1" lang="en-US" altLang="ko-KR" sz="13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/ 33</a:t>
            </a:r>
            <a:endParaRPr kumimoji="1" lang="ko-KR" altLang="en-US" sz="13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980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500" b="1" kern="1200">
          <a:solidFill>
            <a:schemeClr val="tx1"/>
          </a:solidFill>
          <a:latin typeface="+mj-lt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1502.03167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rose.biz/deep-learning/deep-learning-performance-part-3-batch-normalization-dropout-and-noise/" TargetMode="Externa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10.1070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폰트, 화이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11E926-5293-018A-AD6A-BB8BAD863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85" y="5096699"/>
            <a:ext cx="6499257" cy="100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42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62878-3482-178A-E776-A6670BB5D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87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sz="3000" b="1" dirty="0">
                <a:latin typeface="+mj-lt"/>
                <a:cs typeface="Times New Roman" panose="02020603050405020304" pitchFamily="18" charset="0"/>
              </a:rPr>
              <a:t>Outline</a:t>
            </a:r>
            <a:endParaRPr kumimoji="1" lang="ko-KR" altLang="en-US" sz="3000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AF2C187-0F7B-3088-D810-FBE27C7B91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725" y="654269"/>
                <a:ext cx="11516710" cy="5880537"/>
              </a:xfrm>
            </p:spPr>
            <p:txBody>
              <a:bodyPr anchor="ctr">
                <a:normAutofit fontScale="85000" lnSpcReduction="10000"/>
              </a:bodyPr>
              <a:lstStyle/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b="1" dirty="0">
                    <a:cs typeface="Times New Roman" panose="02020603050405020304" pitchFamily="18" charset="0"/>
                  </a:rPr>
                  <a:t>Intro &amp; Related Works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b="1" dirty="0">
                    <a:cs typeface="Times New Roman" panose="02020603050405020304" pitchFamily="18" charset="0"/>
                  </a:rPr>
                  <a:t>Training Only </a:t>
                </a:r>
                <a:r>
                  <a:rPr kumimoji="1" lang="en-US" altLang="ko-KR" sz="2200" b="1" dirty="0" err="1">
                    <a:cs typeface="Times New Roman" panose="02020603050405020304" pitchFamily="18" charset="0"/>
                  </a:rPr>
                  <a:t>BatchNorm</a:t>
                </a:r>
                <a:endParaRPr kumimoji="1" lang="en-US" altLang="ko-KR" sz="1900" b="1" dirty="0">
                  <a:cs typeface="Times New Roman" panose="02020603050405020304" pitchFamily="18" charset="0"/>
                </a:endParaRPr>
              </a:p>
              <a:p>
                <a:pPr marL="914400" lvl="1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1900" dirty="0">
                    <a:cs typeface="Times New Roman" panose="02020603050405020304" pitchFamily="18" charset="0"/>
                  </a:rPr>
                  <a:t>Case Study: ResNet-110, increasing available features by varying depth and width</a:t>
                </a:r>
              </a:p>
              <a:p>
                <a:pPr marL="914400" lvl="1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1900" dirty="0">
                    <a:cs typeface="Times New Roman" panose="02020603050405020304" pitchFamily="18" charset="0"/>
                  </a:rPr>
                  <a:t>Are affine parameters special?</a:t>
                </a:r>
              </a:p>
              <a:p>
                <a:pPr marL="914400" lvl="1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1900" dirty="0">
                    <a:cs typeface="Times New Roman" panose="02020603050405020304" pitchFamily="18" charset="0"/>
                  </a:rPr>
                  <a:t>Summary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b="1" dirty="0">
                    <a:cs typeface="Times New Roman" panose="02020603050405020304" pitchFamily="18" charset="0"/>
                  </a:rPr>
                  <a:t>Examining The Values of </a:t>
                </a:r>
                <a14:m>
                  <m:oMath xmlns:m="http://schemas.openxmlformats.org/officeDocument/2006/math">
                    <m:r>
                      <a:rPr kumimoji="1" lang="en-US" altLang="ko-KR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𝜸</m:t>
                    </m:r>
                  </m:oMath>
                </a14:m>
                <a:r>
                  <a:rPr kumimoji="1" lang="en-US" altLang="ko-KR" sz="2200" b="1" dirty="0"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kumimoji="1" lang="en-US" altLang="ko-KR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endParaRPr kumimoji="1" lang="en-US" altLang="ko-KR" sz="2200" b="1" dirty="0">
                  <a:cs typeface="Times New Roman" panose="02020603050405020304" pitchFamily="18" charset="0"/>
                </a:endParaRPr>
              </a:p>
              <a:p>
                <a:pPr marL="914400" lvl="1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1900" dirty="0">
                    <a:cs typeface="Times New Roman" panose="02020603050405020304" pitchFamily="18" charset="0"/>
                  </a:rPr>
                  <a:t>Small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kumimoji="1" lang="en-US" altLang="ko-KR" sz="1900" dirty="0">
                    <a:cs typeface="Times New Roman" panose="02020603050405020304" pitchFamily="18" charset="0"/>
                  </a:rPr>
                  <a:t> disable features</a:t>
                </a:r>
              </a:p>
              <a:p>
                <a:pPr marL="914400" lvl="1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1900" dirty="0">
                    <a:cs typeface="Times New Roman" panose="02020603050405020304" pitchFamily="18" charset="0"/>
                  </a:rPr>
                  <a:t>Training only BN </a:t>
                </a:r>
                <a:r>
                  <a:rPr kumimoji="1" lang="en-US" altLang="ko-KR" sz="1900" dirty="0" err="1">
                    <a:cs typeface="Times New Roman" panose="02020603050405020304" pitchFamily="18" charset="0"/>
                  </a:rPr>
                  <a:t>sparsifies</a:t>
                </a:r>
                <a:r>
                  <a:rPr kumimoji="1" lang="en-US" altLang="ko-KR" sz="1900" dirty="0">
                    <a:cs typeface="Times New Roman" panose="02020603050405020304" pitchFamily="18" charset="0"/>
                  </a:rPr>
                  <a:t> activations</a:t>
                </a:r>
              </a:p>
              <a:p>
                <a:pPr marL="914400" lvl="1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1900" dirty="0">
                    <a:cs typeface="Times New Roman" panose="02020603050405020304" pitchFamily="18" charset="0"/>
                  </a:rPr>
                  <a:t>Summary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b="1" dirty="0">
                    <a:cs typeface="Times New Roman" panose="02020603050405020304" pitchFamily="18" charset="0"/>
                  </a:rPr>
                  <a:t>Discussion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AF2C187-0F7B-3088-D810-FBE27C7B91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725" y="654269"/>
                <a:ext cx="11516710" cy="5880537"/>
              </a:xfrm>
              <a:blipFill>
                <a:blip r:embed="rId3"/>
                <a:stretch>
                  <a:fillRect l="-551" b="-12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060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0FBB4-87B8-07C3-D71F-BE467CBAC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F4CBBCC1-3459-6D04-0464-58B5B48CE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1. Intro &amp; Related Works - </a:t>
            </a:r>
            <a:r>
              <a:rPr kumimoji="1" lang="en-US" altLang="ko-KR" dirty="0" err="1"/>
              <a:t>BatchNorm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806012-4B9B-E2A7-7357-48AA6DEC239B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1055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Two statistics (</a:t>
                </a:r>
                <a14:m>
                  <m:oMath xmlns:m="http://schemas.openxmlformats.org/officeDocument/2006/math">
                    <m:r>
                      <a:rPr kumimoji="1" lang="en-US" altLang="ko-KR" sz="2200" b="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-mean,</a:t>
                </a:r>
                <a:r>
                  <a:rPr kumimoji="1" lang="ko-KR" altLang="en-US" sz="2200" dirty="0">
                    <a:latin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200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ko-KR" sz="22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-variance)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Affine parameters</a:t>
                </a: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kumimoji="1" lang="en-US" altLang="ko-KR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𝜸</m:t>
                    </m:r>
                  </m:oMath>
                </a14:m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-”scaling”, </a:t>
                </a:r>
                <a14:m>
                  <m:oMath xmlns:m="http://schemas.openxmlformats.org/officeDocument/2006/math">
                    <m:r>
                      <a:rPr kumimoji="1" lang="en-US" altLang="ko-KR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-”shifting”)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806012-4B9B-E2A7-7357-48AA6DEC2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1055032"/>
              </a:xfrm>
              <a:prstGeom prst="rect">
                <a:avLst/>
              </a:prstGeom>
              <a:blipFill>
                <a:blip r:embed="rId3"/>
                <a:stretch>
                  <a:fillRect l="-637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F707F9-BDDD-37E1-510D-1AC78DB308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411" r="15589" b="8229"/>
          <a:stretch>
            <a:fillRect/>
          </a:stretch>
        </p:blipFill>
        <p:spPr>
          <a:xfrm>
            <a:off x="2271538" y="5394686"/>
            <a:ext cx="8272084" cy="1180407"/>
          </a:xfrm>
          <a:prstGeom prst="rect">
            <a:avLst/>
          </a:prstGeom>
        </p:spPr>
      </p:pic>
      <p:pic>
        <p:nvPicPr>
          <p:cNvPr id="7" name="Picture 2" descr="Alt text that describes the graphic">
            <a:extLst>
              <a:ext uri="{FF2B5EF4-FFF2-40B4-BE49-F238E27FC236}">
                <a16:creationId xmlns:a16="http://schemas.microsoft.com/office/drawing/2014/main" id="{161D282E-E683-DDF6-95F8-B6CAAA353A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34" t="27321" r="2082" b="10986"/>
          <a:stretch>
            <a:fillRect/>
          </a:stretch>
        </p:blipFill>
        <p:spPr bwMode="auto">
          <a:xfrm>
            <a:off x="3523972" y="2021275"/>
            <a:ext cx="5767216" cy="3094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B0DE0F-BEDA-3CB2-52B4-2E087D85DB6C}"/>
              </a:ext>
            </a:extLst>
          </p:cNvPr>
          <p:cNvSpPr txBox="1"/>
          <p:nvPr/>
        </p:nvSpPr>
        <p:spPr>
          <a:xfrm>
            <a:off x="9551325" y="1946804"/>
            <a:ext cx="26976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>
                <a:hlinkClick r:id="rId6"/>
              </a:rPr>
              <a:t>https</a:t>
            </a:r>
            <a:r>
              <a:rPr lang="ko-KR" altLang="en-US" sz="1100" dirty="0">
                <a:hlinkClick r:id="rId6"/>
              </a:rPr>
              <a:t>://</a:t>
            </a:r>
            <a:r>
              <a:rPr lang="ko-KR" altLang="en-US" sz="1100" dirty="0" err="1">
                <a:hlinkClick r:id="rId6"/>
              </a:rPr>
              <a:t>www.srose.biz</a:t>
            </a:r>
            <a:r>
              <a:rPr lang="ko-KR" altLang="en-US" sz="1100" dirty="0">
                <a:hlinkClick r:id="rId6"/>
              </a:rPr>
              <a:t>/</a:t>
            </a:r>
            <a:r>
              <a:rPr lang="ko-KR" altLang="en-US" sz="1100" dirty="0" err="1">
                <a:hlinkClick r:id="rId6"/>
              </a:rPr>
              <a:t>deep-learning</a:t>
            </a:r>
            <a:r>
              <a:rPr lang="ko-KR" altLang="en-US" sz="1100" dirty="0">
                <a:hlinkClick r:id="rId6"/>
              </a:rPr>
              <a:t>/deep-learning-performance-part-3-batch-normalization-dropout-and-noise/</a:t>
            </a:r>
            <a:endParaRPr lang="ko-KR" alt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40ADE8-685B-AE09-369D-9DBB103A686F}"/>
                  </a:ext>
                </a:extLst>
              </p:cNvPr>
              <p:cNvSpPr txBox="1"/>
              <p:nvPr/>
            </p:nvSpPr>
            <p:spPr>
              <a:xfrm>
                <a:off x="5788421" y="2797570"/>
                <a:ext cx="93750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200" dirty="0"/>
                  <a:t>(</a:t>
                </a: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kumimoji="1" lang="en-US" altLang="ko-KR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ko-KR" sz="2200" dirty="0"/>
                  <a:t>)</a:t>
                </a:r>
                <a:endParaRPr kumimoji="1" lang="ko-KR" alt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40ADE8-685B-AE09-369D-9DBB103A6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421" y="2797570"/>
                <a:ext cx="937501" cy="430887"/>
              </a:xfrm>
              <a:prstGeom prst="rect">
                <a:avLst/>
              </a:prstGeom>
              <a:blipFill>
                <a:blip r:embed="rId7"/>
                <a:stretch>
                  <a:fillRect l="-9459" t="-11429" r="-6757" b="-2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DB66290-A6B7-ACAB-646B-801A3E0FB053}"/>
              </a:ext>
            </a:extLst>
          </p:cNvPr>
          <p:cNvSpPr txBox="1"/>
          <p:nvPr/>
        </p:nvSpPr>
        <p:spPr>
          <a:xfrm>
            <a:off x="6407580" y="667064"/>
            <a:ext cx="4248992" cy="1075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100" dirty="0">
                <a:hlinkClick r:id="rId8"/>
              </a:rPr>
              <a:t>Ioffe, Sergey, and Christian Szegedy. "Batch normalization: Accelerating deep network training by reducing internal covariate shift." </a:t>
            </a:r>
            <a:r>
              <a:rPr kumimoji="1" lang="en-US" altLang="ko-KR" sz="1100" i="1" dirty="0">
                <a:hlinkClick r:id="rId8"/>
              </a:rPr>
              <a:t>International conference on machine learning.</a:t>
            </a:r>
            <a:r>
              <a:rPr kumimoji="1" lang="en-US" altLang="ko-KR" sz="1100" dirty="0">
                <a:hlinkClick r:id="rId8"/>
              </a:rPr>
              <a:t> pmlr, 2015.</a:t>
            </a:r>
            <a:endParaRPr kumimoji="1"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80766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894FE-B627-08AC-BD1E-ACFC2D24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6A4463AC-8133-6685-C31B-22654757C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1. Intro &amp; Related Works – The expressive power of affine transformations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7D192-EDD4-7901-614D-019407435C1B}"/>
              </a:ext>
            </a:extLst>
          </p:cNvPr>
          <p:cNvSpPr txBox="1"/>
          <p:nvPr/>
        </p:nvSpPr>
        <p:spPr>
          <a:xfrm>
            <a:off x="119808" y="677163"/>
            <a:ext cx="11952383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”multi-task learning with a shared network backbone (trained on a particular task) and </a:t>
            </a: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separate sets of per-task </a:t>
            </a:r>
            <a:r>
              <a:rPr kumimoji="1" lang="en-US" altLang="ko-KR" sz="2200" b="1" dirty="0" err="1">
                <a:latin typeface="+mn-ea"/>
                <a:cs typeface="Times New Roman" panose="02020603050405020304" pitchFamily="18" charset="0"/>
              </a:rPr>
              <a:t>BatchNorm</a:t>
            </a: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 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parameters (trained on a different task while the backbone is frozen)” </a:t>
            </a:r>
          </a:p>
          <a:p>
            <a:r>
              <a:rPr kumimoji="1" lang="en-US" altLang="ko-KR" sz="1100" dirty="0" err="1">
                <a:latin typeface="+mn-ea"/>
                <a:cs typeface="Times New Roman" panose="02020603050405020304" pitchFamily="18" charset="0"/>
                <a:hlinkClick r:id="rId3"/>
              </a:rPr>
              <a:t>Mudrakarta</a:t>
            </a:r>
            <a:r>
              <a:rPr kumimoji="1" lang="en-US" altLang="ko-KR" sz="1100" dirty="0">
                <a:latin typeface="+mn-ea"/>
                <a:cs typeface="Times New Roman" panose="02020603050405020304" pitchFamily="18" charset="0"/>
                <a:hlinkClick r:id="rId3"/>
              </a:rPr>
              <a:t>, Pramod Kaushik, et al. "K for the price of 1: Parameter-efficient multi-task and transfer learning." ICLR (2019)</a:t>
            </a:r>
            <a:endParaRPr kumimoji="1" lang="en-US" altLang="ko-KR" sz="1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2" name="그림 11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7F6F20-CEEA-8019-C408-027E10CF5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24" y="3058207"/>
            <a:ext cx="11470552" cy="312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24B2A-BE3F-EEA8-B9D3-F40B12818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23D7DC-3E66-5CDD-1549-7058C5640461}"/>
              </a:ext>
            </a:extLst>
          </p:cNvPr>
          <p:cNvSpPr txBox="1"/>
          <p:nvPr/>
        </p:nvSpPr>
        <p:spPr>
          <a:xfrm>
            <a:off x="119808" y="677163"/>
            <a:ext cx="11952383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200" b="1" dirty="0" err="1">
                <a:latin typeface="+mn-ea"/>
                <a:cs typeface="Times New Roman" panose="02020603050405020304" pitchFamily="18" charset="0"/>
              </a:rPr>
              <a:t>ResNet</a:t>
            </a: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 architectures: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 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“We focus on </a:t>
            </a:r>
            <a:r>
              <a:rPr kumimoji="1" lang="en-US" altLang="ko-KR" sz="2000" dirty="0" err="1">
                <a:latin typeface="+mn-ea"/>
                <a:cs typeface="Times New Roman" panose="02020603050405020304" pitchFamily="18" charset="0"/>
              </a:rPr>
              <a:t>ResNets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because they make it possible to add features by arbitrarily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(a) increasing depth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without interfering with optimization and </a:t>
            </a:r>
            <a:br>
              <a:rPr kumimoji="1" lang="en-US" altLang="ko-KR" sz="2000" dirty="0">
                <a:latin typeface="+mn-ea"/>
                <a:cs typeface="Times New Roman" panose="02020603050405020304" pitchFamily="18" charset="0"/>
              </a:rPr>
            </a:b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(b) increasing width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without parameter-counts becoming so large that training is infeasible”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제목 26">
            <a:extLst>
              <a:ext uri="{FF2B5EF4-FFF2-40B4-BE49-F238E27FC236}">
                <a16:creationId xmlns:a16="http://schemas.microsoft.com/office/drawing/2014/main" id="{2294FBEF-AF00-9E97-EE07-5FACEE17F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Training Only </a:t>
            </a:r>
            <a:r>
              <a:rPr kumimoji="1" lang="en-US" altLang="ko-KR" dirty="0" err="1"/>
              <a:t>BatchNorm</a:t>
            </a:r>
            <a:r>
              <a:rPr kumimoji="1" lang="en-US" altLang="ko-KR" dirty="0"/>
              <a:t> – Settings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58A508-AC12-388D-4290-F51A0CA58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90" y="2421808"/>
            <a:ext cx="10665229" cy="397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150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3D7B0-CBD0-A41D-8C09-BF0A6DAB3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08F995-E4AF-BFED-0433-1EB85A57C7CF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BatchNorm </a:t>
                </a:r>
                <a:r>
                  <a:rPr kumimoji="1" lang="en-US" altLang="ko-KR" sz="2200" b="1" dirty="0" err="1">
                    <a:latin typeface="+mn-ea"/>
                    <a:cs typeface="Times New Roman" panose="02020603050405020304" pitchFamily="18" charset="0"/>
                  </a:rPr>
                  <a:t>Init.</a:t>
                </a: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: “</a:t>
                </a: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We initialize </a:t>
                </a:r>
                <a14:m>
                  <m:oMath xmlns:m="http://schemas.openxmlformats.org/officeDocument/2006/math">
                    <m:r>
                      <a:rPr kumimoji="1" lang="en-US" altLang="ko-KR" sz="22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kumimoji="1" lang="el-GR" altLang="ko-KR" sz="22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to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 and sample </a:t>
                </a:r>
                <a14:m>
                  <m:oMath xmlns:m="http://schemas.openxmlformats.org/officeDocument/2006/math">
                    <m:r>
                      <a:rPr kumimoji="1" lang="en-US" altLang="ko-KR" sz="22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𝜸</m:t>
                    </m:r>
                  </m:oMath>
                </a14:m>
                <a:r>
                  <a:rPr kumimoji="1" lang="el-GR" altLang="ko-KR" sz="22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uniformly between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 and 1, although we consider other initializations in Appendix E.”</a:t>
                </a:r>
                <a:endParaRPr kumimoji="1" lang="en-US" altLang="ko-KR" sz="11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08F995-E4AF-BFED-0433-1EB85A57C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769441"/>
              </a:xfrm>
              <a:prstGeom prst="rect">
                <a:avLst/>
              </a:prstGeom>
              <a:blipFill>
                <a:blip r:embed="rId3"/>
                <a:stretch>
                  <a:fillRect l="-637" t="-4918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제목 26">
            <a:extLst>
              <a:ext uri="{FF2B5EF4-FFF2-40B4-BE49-F238E27FC236}">
                <a16:creationId xmlns:a16="http://schemas.microsoft.com/office/drawing/2014/main" id="{FBDC35C4-C0D5-DA69-95F5-82A0CEFC1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Training Only </a:t>
            </a:r>
            <a:r>
              <a:rPr kumimoji="1" lang="en-US" altLang="ko-KR" dirty="0" err="1"/>
              <a:t>BatchNorm</a:t>
            </a:r>
            <a:r>
              <a:rPr kumimoji="1" lang="en-US" altLang="ko-KR" dirty="0"/>
              <a:t> – Settings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12921CA-B33D-9526-0FFC-668038598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8" y="1799309"/>
            <a:ext cx="7906789" cy="466877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EC26E167-AB47-CDDB-2B80-5C467DC19510}"/>
              </a:ext>
            </a:extLst>
          </p:cNvPr>
          <p:cNvSpPr/>
          <p:nvPr/>
        </p:nvSpPr>
        <p:spPr>
          <a:xfrm>
            <a:off x="346330" y="5245331"/>
            <a:ext cx="3724578" cy="29925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79533E-903F-7490-93AE-A455936EA866}"/>
              </a:ext>
            </a:extLst>
          </p:cNvPr>
          <p:cNvSpPr/>
          <p:nvPr/>
        </p:nvSpPr>
        <p:spPr>
          <a:xfrm>
            <a:off x="4144898" y="5245331"/>
            <a:ext cx="2743547" cy="29925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042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CA313-9E47-7E93-23FB-93E42F1B7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BDE614-9AF5-B47E-FC10-6B0C01DAA5AF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1" lang="en-US" altLang="ko-KR" sz="2200" b="1" dirty="0" err="1">
                    <a:latin typeface="+mn-ea"/>
                    <a:cs typeface="Times New Roman" panose="02020603050405020304" pitchFamily="18" charset="0"/>
                  </a:rPr>
                  <a:t>BatchNorm</a:t>
                </a: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200" b="1" dirty="0" err="1">
                    <a:latin typeface="+mn-ea"/>
                    <a:cs typeface="Times New Roman" panose="02020603050405020304" pitchFamily="18" charset="0"/>
                  </a:rPr>
                  <a:t>Init.</a:t>
                </a: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: “</a:t>
                </a: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We initialize </a:t>
                </a:r>
                <a14:m>
                  <m:oMath xmlns:m="http://schemas.openxmlformats.org/officeDocument/2006/math">
                    <m:r>
                      <a:rPr kumimoji="1" lang="en-US" altLang="ko-KR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kumimoji="1" lang="el-GR" altLang="ko-KR" sz="22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to </a:t>
                </a: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 and sample </a:t>
                </a:r>
                <a14:m>
                  <m:oMath xmlns:m="http://schemas.openxmlformats.org/officeDocument/2006/math">
                    <m:r>
                      <a:rPr kumimoji="1" lang="en-US" altLang="ko-KR" sz="22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𝜸</m:t>
                    </m:r>
                  </m:oMath>
                </a14:m>
                <a:r>
                  <a:rPr kumimoji="1" lang="el-GR" altLang="ko-KR" sz="22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uniformly between </a:t>
                </a: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 and 1, although we consider other initializations in Appendix E.”</a:t>
                </a:r>
                <a:endParaRPr kumimoji="1" lang="en-US" altLang="ko-KR" sz="11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BDE614-9AF5-B47E-FC10-6B0C01DAA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769441"/>
              </a:xfrm>
              <a:prstGeom prst="rect">
                <a:avLst/>
              </a:prstGeom>
              <a:blipFill>
                <a:blip r:embed="rId3"/>
                <a:stretch>
                  <a:fillRect l="-637" t="-4918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제목 26">
            <a:extLst>
              <a:ext uri="{FF2B5EF4-FFF2-40B4-BE49-F238E27FC236}">
                <a16:creationId xmlns:a16="http://schemas.microsoft.com/office/drawing/2014/main" id="{EB03B1CD-EED8-3075-3C8F-45CCD11FB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Training Only </a:t>
            </a:r>
            <a:r>
              <a:rPr kumimoji="1" lang="en-US" altLang="ko-KR" dirty="0" err="1"/>
              <a:t>BatchNorm</a:t>
            </a:r>
            <a:r>
              <a:rPr kumimoji="1" lang="en-US" altLang="ko-KR" dirty="0"/>
              <a:t> – Settings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6CE44EE-2D8B-F0B8-733D-EA743F449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8" y="1799309"/>
            <a:ext cx="7906789" cy="466877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A82698C-3EBD-BBFD-9176-F236018AD3E5}"/>
              </a:ext>
            </a:extLst>
          </p:cNvPr>
          <p:cNvSpPr/>
          <p:nvPr/>
        </p:nvSpPr>
        <p:spPr>
          <a:xfrm>
            <a:off x="346330" y="5245331"/>
            <a:ext cx="3724578" cy="29925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3BE843-BDAA-C7BE-42EF-D8FDDB25D25C}"/>
              </a:ext>
            </a:extLst>
          </p:cNvPr>
          <p:cNvSpPr/>
          <p:nvPr/>
        </p:nvSpPr>
        <p:spPr>
          <a:xfrm>
            <a:off x="4144898" y="5245331"/>
            <a:ext cx="2743547" cy="29925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EAB122-8BD3-5203-E712-EF160EDB7430}"/>
                  </a:ext>
                </a:extLst>
              </p:cNvPr>
              <p:cNvSpPr txBox="1"/>
              <p:nvPr/>
            </p:nvSpPr>
            <p:spPr>
              <a:xfrm>
                <a:off x="7888778" y="1803141"/>
                <a:ext cx="4409935" cy="4649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Observation 1: </a:t>
                </a:r>
                <a:b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</a:b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BN </a:t>
                </a:r>
                <a:r>
                  <a:rPr kumimoji="1" lang="en-US" altLang="ko-KR" sz="2000" dirty="0" err="1">
                    <a:latin typeface="+mn-ea"/>
                    <a:cs typeface="Times New Roman" panose="02020603050405020304" pitchFamily="18" charset="0"/>
                  </a:rPr>
                  <a:t>init.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의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sensitivity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는</a:t>
                </a:r>
                <a:b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</a:b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all params &gt; BN-only (training)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kumimoji="1" lang="en-US" altLang="ko-KR" sz="2000" b="1" dirty="0">
                  <a:latin typeface="+mn-ea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Observation 2: </a:t>
                </a:r>
                <a:b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</a:b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BN-only training setting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에서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, </a:t>
                </a:r>
                <a:b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kumimoji="1" lang="en-US" altLang="ko-KR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로 </a:t>
                </a:r>
                <a:r>
                  <a:rPr kumimoji="1" lang="en-US" altLang="ko-KR" sz="2000" dirty="0" err="1">
                    <a:latin typeface="+mn-ea"/>
                    <a:cs typeface="Times New Roman" panose="02020603050405020304" pitchFamily="18" charset="0"/>
                  </a:rPr>
                  <a:t>init</a:t>
                </a:r>
                <a:b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</a:b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 </a:t>
                </a:r>
                <a:r>
                  <a:rPr kumimoji="1" lang="en-US" altLang="ko-KR" sz="2000" dirty="0" err="1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ReLU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에서 더 많이 살아남기 때문</a:t>
                </a:r>
                <a:endParaRPr kumimoji="1" lang="en-US" altLang="ko-KR" sz="2000" dirty="0">
                  <a:latin typeface="+mn-ea"/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 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그런데 그냥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[0,1],  </m:t>
                    </m:r>
                    <m:r>
                      <a:rPr kumimoji="1" lang="en-US" altLang="ko-KR" sz="2000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)</a:t>
                </a:r>
                <a:endParaRPr kumimoji="1" lang="en-US" altLang="ko-KR" sz="20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EAB122-8BD3-5203-E712-EF160EDB7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778" y="1803141"/>
                <a:ext cx="4409935" cy="4649478"/>
              </a:xfrm>
              <a:prstGeom prst="rect">
                <a:avLst/>
              </a:prstGeom>
              <a:blipFill>
                <a:blip r:embed="rId5"/>
                <a:stretch>
                  <a:fillRect l="-1437" b="-13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147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C149B-AF77-CA86-CBF3-5F2F6F983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26">
            <a:extLst>
              <a:ext uri="{FF2B5EF4-FFF2-40B4-BE49-F238E27FC236}">
                <a16:creationId xmlns:a16="http://schemas.microsoft.com/office/drawing/2014/main" id="{AFC5922B-4CFE-5F6E-217A-378FD358D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Training Only </a:t>
            </a:r>
            <a:r>
              <a:rPr kumimoji="1" lang="en-US" altLang="ko-KR" dirty="0" err="1"/>
              <a:t>BatchNorm</a:t>
            </a:r>
            <a:r>
              <a:rPr kumimoji="1" lang="en-US" altLang="ko-KR" dirty="0"/>
              <a:t> – Case Study: ResNet-110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9" name="그림 8" descr="라인, 그래프, 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080DB0-5A3D-E3CB-9A9B-5C10976FD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09" y="1982408"/>
            <a:ext cx="9700462" cy="4548316"/>
          </a:xfrm>
          <a:prstGeom prst="rect">
            <a:avLst/>
          </a:prstGeom>
        </p:spPr>
      </p:pic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D3748710-FAE8-C0F8-E0FD-440CD3EDBA73}"/>
              </a:ext>
            </a:extLst>
          </p:cNvPr>
          <p:cNvCxnSpPr>
            <a:cxnSpLocks/>
          </p:cNvCxnSpPr>
          <p:nvPr/>
        </p:nvCxnSpPr>
        <p:spPr>
          <a:xfrm>
            <a:off x="5349101" y="1542811"/>
            <a:ext cx="0" cy="233338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6A6C38C-0F4D-362F-C5F0-16634639FA22}"/>
              </a:ext>
            </a:extLst>
          </p:cNvPr>
          <p:cNvSpPr/>
          <p:nvPr/>
        </p:nvSpPr>
        <p:spPr>
          <a:xfrm>
            <a:off x="1076103" y="5014854"/>
            <a:ext cx="241070" cy="36664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1D33F3-2052-BE92-3F7D-843907B63CF4}"/>
              </a:ext>
            </a:extLst>
          </p:cNvPr>
          <p:cNvSpPr txBox="1"/>
          <p:nvPr/>
        </p:nvSpPr>
        <p:spPr>
          <a:xfrm>
            <a:off x="0" y="2667371"/>
            <a:ext cx="1133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CIFAR-10</a:t>
            </a:r>
            <a:endParaRPr kumimoji="1"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AF74B9C-69A4-931E-3784-883E64C3B0EF}"/>
              </a:ext>
            </a:extLst>
          </p:cNvPr>
          <p:cNvSpPr/>
          <p:nvPr/>
        </p:nvSpPr>
        <p:spPr>
          <a:xfrm>
            <a:off x="5335704" y="5014854"/>
            <a:ext cx="241070" cy="36664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B22CEA-3BAB-9686-04B8-A9D2D2D771FE}"/>
              </a:ext>
            </a:extLst>
          </p:cNvPr>
          <p:cNvSpPr txBox="1"/>
          <p:nvPr/>
        </p:nvSpPr>
        <p:spPr>
          <a:xfrm>
            <a:off x="119808" y="677163"/>
            <a:ext cx="11952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“When </a:t>
            </a:r>
            <a:r>
              <a:rPr kumimoji="1" lang="en-US" altLang="ko-KR" b="1" dirty="0">
                <a:latin typeface="+mn-ea"/>
                <a:cs typeface="Times New Roman" panose="02020603050405020304" pitchFamily="18" charset="0"/>
              </a:rPr>
              <a:t>training just</a:t>
            </a: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 the 8.3K (0.48%) </a:t>
            </a:r>
            <a:r>
              <a:rPr kumimoji="1" lang="en-US" altLang="ko-KR" b="1" dirty="0">
                <a:latin typeface="+mn-ea"/>
                <a:cs typeface="Times New Roman" panose="02020603050405020304" pitchFamily="18" charset="0"/>
              </a:rPr>
              <a:t>affine parameters</a:t>
            </a: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 that can only shift and rescale random features, </a:t>
            </a:r>
            <a:br>
              <a:rPr kumimoji="1" lang="en-US" altLang="ko-KR" dirty="0">
                <a:latin typeface="+mn-ea"/>
                <a:cs typeface="Times New Roman" panose="02020603050405020304" pitchFamily="18" charset="0"/>
              </a:rPr>
            </a:b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the network achieves surprisingly high test accuracy of </a:t>
            </a:r>
            <a:r>
              <a:rPr kumimoji="1" lang="en-US" altLang="ko-KR" b="1" dirty="0">
                <a:latin typeface="+mn-ea"/>
                <a:cs typeface="Times New Roman" panose="02020603050405020304" pitchFamily="18" charset="0"/>
              </a:rPr>
              <a:t>69.5% (CIFAR-10)</a:t>
            </a: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, </a:t>
            </a:r>
            <a:br>
              <a:rPr kumimoji="1" lang="en-US" altLang="ko-KR" dirty="0">
                <a:latin typeface="+mn-ea"/>
                <a:cs typeface="Times New Roman" panose="02020603050405020304" pitchFamily="18" charset="0"/>
              </a:rPr>
            </a:b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suggesting that these parameters </a:t>
            </a:r>
            <a:r>
              <a:rPr kumimoji="1" lang="en-US" altLang="ko-KR" b="1" dirty="0">
                <a:latin typeface="+mn-ea"/>
                <a:cs typeface="Times New Roman" panose="02020603050405020304" pitchFamily="18" charset="0"/>
              </a:rPr>
              <a:t>have noteworthy representational capacity</a:t>
            </a: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.”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EDBE536-9A53-89E0-6725-947F185E1537}"/>
              </a:ext>
            </a:extLst>
          </p:cNvPr>
          <p:cNvSpPr/>
          <p:nvPr/>
        </p:nvSpPr>
        <p:spPr>
          <a:xfrm>
            <a:off x="896470" y="3876193"/>
            <a:ext cx="8905897" cy="1809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45F78F-8026-BB68-2DF2-94A537A49AEA}"/>
              </a:ext>
            </a:extLst>
          </p:cNvPr>
          <p:cNvSpPr/>
          <p:nvPr/>
        </p:nvSpPr>
        <p:spPr>
          <a:xfrm>
            <a:off x="2411506" y="5576047"/>
            <a:ext cx="1228165" cy="3944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6803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B4C64-88D8-06C1-FC15-5E02F254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26">
            <a:extLst>
              <a:ext uri="{FF2B5EF4-FFF2-40B4-BE49-F238E27FC236}">
                <a16:creationId xmlns:a16="http://schemas.microsoft.com/office/drawing/2014/main" id="{0D4A70DE-C20A-5655-95AA-50501FA97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Training Only </a:t>
            </a:r>
            <a:r>
              <a:rPr kumimoji="1" lang="en-US" altLang="ko-KR" dirty="0" err="1"/>
              <a:t>BatchNorm</a:t>
            </a:r>
            <a:r>
              <a:rPr kumimoji="1" lang="en-US" altLang="ko-KR" dirty="0"/>
              <a:t> </a:t>
            </a:r>
            <a:br>
              <a:rPr kumimoji="1" lang="en-US" altLang="ko-KR" dirty="0"/>
            </a:br>
            <a:r>
              <a:rPr kumimoji="1" lang="en-US" altLang="ko-KR" dirty="0"/>
              <a:t>– Increasing available features by varying depth and width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9" name="그림 8" descr="라인, 그래프, 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5C4A3D-2ED9-518A-D316-8A26A1B05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09" y="1982408"/>
            <a:ext cx="9700462" cy="4548316"/>
          </a:xfrm>
          <a:prstGeom prst="rect">
            <a:avLst/>
          </a:prstGeom>
        </p:spPr>
      </p:pic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79F4736B-BEC8-8A26-DD17-D667F363A8E1}"/>
              </a:ext>
            </a:extLst>
          </p:cNvPr>
          <p:cNvCxnSpPr>
            <a:cxnSpLocks/>
          </p:cNvCxnSpPr>
          <p:nvPr/>
        </p:nvCxnSpPr>
        <p:spPr>
          <a:xfrm>
            <a:off x="628996" y="3876193"/>
            <a:ext cx="945474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24067A87-0107-8E6D-7032-4878FA6DAE18}"/>
              </a:ext>
            </a:extLst>
          </p:cNvPr>
          <p:cNvCxnSpPr>
            <a:cxnSpLocks/>
          </p:cNvCxnSpPr>
          <p:nvPr/>
        </p:nvCxnSpPr>
        <p:spPr>
          <a:xfrm>
            <a:off x="5349101" y="1542811"/>
            <a:ext cx="0" cy="233338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94D510-1285-41BE-8EEB-3FF6B371D327}"/>
              </a:ext>
            </a:extLst>
          </p:cNvPr>
          <p:cNvSpPr/>
          <p:nvPr/>
        </p:nvSpPr>
        <p:spPr>
          <a:xfrm>
            <a:off x="1076103" y="5014854"/>
            <a:ext cx="241070" cy="36664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640EA2-8973-9975-A20F-BAAC5D7C9D0B}"/>
              </a:ext>
            </a:extLst>
          </p:cNvPr>
          <p:cNvSpPr txBox="1"/>
          <p:nvPr/>
        </p:nvSpPr>
        <p:spPr>
          <a:xfrm>
            <a:off x="0" y="2667371"/>
            <a:ext cx="1133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CIFAR-10</a:t>
            </a:r>
            <a:endParaRPr kumimoji="1"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73B3A9-3D28-C98E-A98A-08B98CE0E235}"/>
              </a:ext>
            </a:extLst>
          </p:cNvPr>
          <p:cNvSpPr txBox="1"/>
          <p:nvPr/>
        </p:nvSpPr>
        <p:spPr>
          <a:xfrm>
            <a:off x="7303166" y="1688766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(width)</a:t>
            </a:r>
            <a:endParaRPr kumimoji="1" lang="ko-KR" altLang="en-US" dirty="0"/>
          </a:p>
        </p:txBody>
      </p: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1BD42633-ABD5-FCEA-618E-C580F2C7ABB1}"/>
              </a:ext>
            </a:extLst>
          </p:cNvPr>
          <p:cNvCxnSpPr>
            <a:cxnSpLocks/>
          </p:cNvCxnSpPr>
          <p:nvPr/>
        </p:nvCxnSpPr>
        <p:spPr>
          <a:xfrm>
            <a:off x="587666" y="5685943"/>
            <a:ext cx="94960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9013798-D24C-844E-816C-2DB0270EFAB8}"/>
              </a:ext>
            </a:extLst>
          </p:cNvPr>
          <p:cNvSpPr txBox="1"/>
          <p:nvPr/>
        </p:nvSpPr>
        <p:spPr>
          <a:xfrm>
            <a:off x="-15569" y="4672700"/>
            <a:ext cx="1392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dirty="0"/>
              <a:t>ImageNet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591176-019C-4B0B-C477-91CEE41BAB9B}"/>
              </a:ext>
            </a:extLst>
          </p:cNvPr>
          <p:cNvSpPr txBox="1"/>
          <p:nvPr/>
        </p:nvSpPr>
        <p:spPr>
          <a:xfrm>
            <a:off x="2789724" y="1688766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(depth)</a:t>
            </a:r>
            <a:endParaRPr kumimoji="1"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D7BC9CC-AE38-4B29-80FE-D8B07B5C1FD2}"/>
              </a:ext>
            </a:extLst>
          </p:cNvPr>
          <p:cNvSpPr/>
          <p:nvPr/>
        </p:nvSpPr>
        <p:spPr>
          <a:xfrm>
            <a:off x="5335704" y="5014854"/>
            <a:ext cx="241070" cy="36664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78FE53-BA44-96D4-23E5-ED4EF8415253}"/>
              </a:ext>
            </a:extLst>
          </p:cNvPr>
          <p:cNvSpPr txBox="1"/>
          <p:nvPr/>
        </p:nvSpPr>
        <p:spPr>
          <a:xfrm>
            <a:off x="0" y="1688515"/>
            <a:ext cx="1657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Increasing the</a:t>
            </a:r>
            <a:endParaRPr kumimoji="1"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351FBB-4F77-1614-9F7D-693E13656808}"/>
              </a:ext>
            </a:extLst>
          </p:cNvPr>
          <p:cNvSpPr txBox="1"/>
          <p:nvPr/>
        </p:nvSpPr>
        <p:spPr>
          <a:xfrm>
            <a:off x="119808" y="677163"/>
            <a:ext cx="11952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“If we increase the number of features, we expect that accuracy will improve. </a:t>
            </a:r>
            <a:br>
              <a:rPr kumimoji="1" lang="en-US" altLang="ko-KR" dirty="0">
                <a:latin typeface="+mn-ea"/>
                <a:cs typeface="Times New Roman" panose="02020603050405020304" pitchFamily="18" charset="0"/>
              </a:rPr>
            </a:b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We can do so in two ways: </a:t>
            </a:r>
            <a:r>
              <a:rPr kumimoji="1" lang="en-US" altLang="ko-KR" b="1" dirty="0">
                <a:latin typeface="+mn-ea"/>
                <a:cs typeface="Times New Roman" panose="02020603050405020304" pitchFamily="18" charset="0"/>
              </a:rPr>
              <a:t>increasing the network’s depth or increasing its width</a:t>
            </a: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069561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F4C9B-ECE7-D733-2A19-3C86BEA85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26">
            <a:extLst>
              <a:ext uri="{FF2B5EF4-FFF2-40B4-BE49-F238E27FC236}">
                <a16:creationId xmlns:a16="http://schemas.microsoft.com/office/drawing/2014/main" id="{22F3F109-9565-8289-358F-58A0B0C3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Training Only </a:t>
            </a:r>
            <a:r>
              <a:rPr kumimoji="1" lang="en-US" altLang="ko-KR" dirty="0" err="1"/>
              <a:t>BatchNorm</a:t>
            </a:r>
            <a:r>
              <a:rPr kumimoji="1" lang="en-US" altLang="ko-KR" dirty="0"/>
              <a:t> </a:t>
            </a:r>
            <a:br>
              <a:rPr kumimoji="1" lang="en-US" altLang="ko-KR" dirty="0"/>
            </a:br>
            <a:r>
              <a:rPr kumimoji="1" lang="en-US" altLang="ko-KR" dirty="0"/>
              <a:t>– Increasing available features by varying depth and width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769DE7-7739-30B0-5686-E6202CF7B969}"/>
              </a:ext>
            </a:extLst>
          </p:cNvPr>
          <p:cNvSpPr txBox="1"/>
          <p:nvPr/>
        </p:nvSpPr>
        <p:spPr>
          <a:xfrm>
            <a:off x="119808" y="677163"/>
            <a:ext cx="11952383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“This raises a further question: </a:t>
            </a:r>
            <a:br>
              <a:rPr kumimoji="1" lang="en-US" altLang="ko-KR" dirty="0">
                <a:latin typeface="+mn-ea"/>
                <a:cs typeface="Times New Roman" panose="02020603050405020304" pitchFamily="18" charset="0"/>
              </a:rPr>
            </a:b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for a fixed budget of </a:t>
            </a:r>
            <a:r>
              <a:rPr kumimoji="1" lang="en-US" altLang="ko-KR" dirty="0" err="1">
                <a:latin typeface="+mn-ea"/>
                <a:cs typeface="Times New Roman" panose="02020603050405020304" pitchFamily="18" charset="0"/>
              </a:rPr>
              <a:t>BatchNorm</a:t>
            </a: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 parameters (and, thereby, a fixed number of random features), </a:t>
            </a:r>
            <a:br>
              <a:rPr kumimoji="1" lang="en-US" altLang="ko-KR" dirty="0">
                <a:latin typeface="+mn-ea"/>
                <a:cs typeface="Times New Roman" panose="02020603050405020304" pitchFamily="18" charset="0"/>
              </a:rPr>
            </a:br>
            <a:r>
              <a:rPr kumimoji="1" lang="en-US" altLang="ko-KR" b="1" dirty="0">
                <a:latin typeface="+mn-ea"/>
                <a:cs typeface="Times New Roman" panose="02020603050405020304" pitchFamily="18" charset="0"/>
              </a:rPr>
              <a:t>is performance always better when increasing depth rather than increasing width?</a:t>
            </a: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”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1F3E6C-7F6C-C889-DF5D-E8634B00E2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4"/>
          <a:stretch>
            <a:fillRect/>
          </a:stretch>
        </p:blipFill>
        <p:spPr bwMode="auto">
          <a:xfrm>
            <a:off x="0" y="2171810"/>
            <a:ext cx="12192000" cy="323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8C1CF0-5CE3-6EDE-9379-3E2EE81CFAC0}"/>
              </a:ext>
            </a:extLst>
          </p:cNvPr>
          <p:cNvSpPr txBox="1"/>
          <p:nvPr/>
        </p:nvSpPr>
        <p:spPr>
          <a:xfrm>
            <a:off x="-2295" y="5620436"/>
            <a:ext cx="11952383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dirty="0">
                <a:latin typeface="+mn-ea"/>
                <a:cs typeface="Times New Roman" panose="02020603050405020304" pitchFamily="18" charset="0"/>
                <a:sym typeface="Wingdings" pitchFamily="2" charset="2"/>
              </a:rPr>
              <a:t> “</a:t>
            </a: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The trend is 18% steeper when increasing depth than width, meaning that, for the networks we consider, </a:t>
            </a:r>
            <a:r>
              <a:rPr kumimoji="1" lang="en-US" altLang="ko-KR" b="1" dirty="0">
                <a:latin typeface="+mn-ea"/>
                <a:cs typeface="Times New Roman" panose="02020603050405020304" pitchFamily="18" charset="0"/>
              </a:rPr>
              <a:t>increasing depth leads to higher accuracy</a:t>
            </a: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 than increasing width for a fixed </a:t>
            </a:r>
            <a:r>
              <a:rPr kumimoji="1" lang="en-US" altLang="ko-KR" dirty="0" err="1">
                <a:latin typeface="+mn-ea"/>
                <a:cs typeface="Times New Roman" panose="02020603050405020304" pitchFamily="18" charset="0"/>
              </a:rPr>
              <a:t>BatchNorm</a:t>
            </a: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 parameter budget.”</a:t>
            </a:r>
          </a:p>
        </p:txBody>
      </p:sp>
    </p:spTree>
    <p:extLst>
      <p:ext uri="{BB962C8B-B14F-4D97-AF65-F5344CB8AC3E}">
        <p14:creationId xmlns:p14="http://schemas.microsoft.com/office/powerpoint/2010/main" val="275721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9E3DC-B4A4-F6A7-F5D1-30C0DCFA9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26">
            <a:extLst>
              <a:ext uri="{FF2B5EF4-FFF2-40B4-BE49-F238E27FC236}">
                <a16:creationId xmlns:a16="http://schemas.microsoft.com/office/drawing/2014/main" id="{66B4A42B-CA34-4446-2425-553F7558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Training Only </a:t>
            </a:r>
            <a:r>
              <a:rPr kumimoji="1" lang="en-US" altLang="ko-KR" dirty="0" err="1"/>
              <a:t>BatchNorm</a:t>
            </a:r>
            <a:r>
              <a:rPr kumimoji="1" lang="en-US" altLang="ko-KR" dirty="0"/>
              <a:t> – Are affine parameters special?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0F8325-3748-8CF7-D0B4-ACB9E9317350}"/>
              </a:ext>
            </a:extLst>
          </p:cNvPr>
          <p:cNvSpPr txBox="1"/>
          <p:nvPr/>
        </p:nvSpPr>
        <p:spPr>
          <a:xfrm>
            <a:off x="119808" y="677163"/>
            <a:ext cx="11952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“This result appears more important to have coarse-grained control over entire random features (</a:t>
            </a:r>
            <a:r>
              <a:rPr kumimoji="1" lang="en-US" altLang="ko-KR" dirty="0" err="1">
                <a:latin typeface="+mn-ea"/>
                <a:cs typeface="Times New Roman" panose="02020603050405020304" pitchFamily="18" charset="0"/>
              </a:rPr>
              <a:t>BatchNorm</a:t>
            </a: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)</a:t>
            </a:r>
            <a:br>
              <a:rPr kumimoji="1" lang="en-US" altLang="ko-KR" dirty="0">
                <a:latin typeface="+mn-ea"/>
                <a:cs typeface="Times New Roman" panose="02020603050405020304" pitchFamily="18" charset="0"/>
              </a:rPr>
            </a:b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than to learn small axis-aligned modifications (2 Random Params per Channel) of the features themselves.”</a:t>
            </a:r>
          </a:p>
        </p:txBody>
      </p:sp>
      <p:pic>
        <p:nvPicPr>
          <p:cNvPr id="4" name="그림 3" descr="라인, 그래프, 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CEB021-2EC1-F757-8F9E-2B98CD17C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09" y="1982408"/>
            <a:ext cx="9700462" cy="4548316"/>
          </a:xfrm>
          <a:prstGeom prst="rect">
            <a:avLst/>
          </a:prstGeom>
        </p:spPr>
      </p:pic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7848BC1B-2EDD-1247-4C49-90D8BE694C9F}"/>
              </a:ext>
            </a:extLst>
          </p:cNvPr>
          <p:cNvCxnSpPr>
            <a:cxnSpLocks/>
          </p:cNvCxnSpPr>
          <p:nvPr/>
        </p:nvCxnSpPr>
        <p:spPr>
          <a:xfrm>
            <a:off x="628996" y="3876193"/>
            <a:ext cx="945474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AD709192-5035-FE3F-18DA-C0965E728F67}"/>
              </a:ext>
            </a:extLst>
          </p:cNvPr>
          <p:cNvCxnSpPr>
            <a:cxnSpLocks/>
          </p:cNvCxnSpPr>
          <p:nvPr/>
        </p:nvCxnSpPr>
        <p:spPr>
          <a:xfrm>
            <a:off x="5349101" y="1542811"/>
            <a:ext cx="0" cy="233338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0115B6-66F9-91FC-481C-FE2350EDEE69}"/>
              </a:ext>
            </a:extLst>
          </p:cNvPr>
          <p:cNvSpPr/>
          <p:nvPr/>
        </p:nvSpPr>
        <p:spPr>
          <a:xfrm>
            <a:off x="1076103" y="5014854"/>
            <a:ext cx="241070" cy="36664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196D64-8E25-1341-6A06-EACDFD22D265}"/>
              </a:ext>
            </a:extLst>
          </p:cNvPr>
          <p:cNvSpPr txBox="1"/>
          <p:nvPr/>
        </p:nvSpPr>
        <p:spPr>
          <a:xfrm>
            <a:off x="0" y="2667371"/>
            <a:ext cx="1133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CIFAR-10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B1FAC5-67B3-E3A4-251D-2C442A019E72}"/>
              </a:ext>
            </a:extLst>
          </p:cNvPr>
          <p:cNvSpPr txBox="1"/>
          <p:nvPr/>
        </p:nvSpPr>
        <p:spPr>
          <a:xfrm>
            <a:off x="7303166" y="1688766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(width)</a:t>
            </a:r>
            <a:endParaRPr kumimoji="1" lang="ko-KR" altLang="en-US" dirty="0"/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B3303641-8214-0714-E2C5-4ECF30381DBD}"/>
              </a:ext>
            </a:extLst>
          </p:cNvPr>
          <p:cNvCxnSpPr>
            <a:cxnSpLocks/>
          </p:cNvCxnSpPr>
          <p:nvPr/>
        </p:nvCxnSpPr>
        <p:spPr>
          <a:xfrm>
            <a:off x="587666" y="5685943"/>
            <a:ext cx="94960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82474F-0C5B-1CBE-89ED-2EFB213FB008}"/>
              </a:ext>
            </a:extLst>
          </p:cNvPr>
          <p:cNvSpPr txBox="1"/>
          <p:nvPr/>
        </p:nvSpPr>
        <p:spPr>
          <a:xfrm>
            <a:off x="-15569" y="4672700"/>
            <a:ext cx="1392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dirty="0"/>
              <a:t>ImageNet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6D35F7-F9C1-7B89-2239-523676E9024B}"/>
              </a:ext>
            </a:extLst>
          </p:cNvPr>
          <p:cNvSpPr txBox="1"/>
          <p:nvPr/>
        </p:nvSpPr>
        <p:spPr>
          <a:xfrm>
            <a:off x="2789724" y="1688766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(depth)</a:t>
            </a:r>
            <a:endParaRPr kumimoji="1"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FE8C7B-F2AE-86D2-F539-34CB767F1ABF}"/>
              </a:ext>
            </a:extLst>
          </p:cNvPr>
          <p:cNvSpPr/>
          <p:nvPr/>
        </p:nvSpPr>
        <p:spPr>
          <a:xfrm>
            <a:off x="5335704" y="5014854"/>
            <a:ext cx="241070" cy="36664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6292D6-B679-1888-DAAE-E8C42452F090}"/>
              </a:ext>
            </a:extLst>
          </p:cNvPr>
          <p:cNvSpPr txBox="1"/>
          <p:nvPr/>
        </p:nvSpPr>
        <p:spPr>
          <a:xfrm>
            <a:off x="0" y="1688515"/>
            <a:ext cx="1657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Increasing the</a:t>
            </a:r>
            <a:endParaRPr kumimoji="1"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2F189F6-9432-7971-4980-955595E66CED}"/>
              </a:ext>
            </a:extLst>
          </p:cNvPr>
          <p:cNvSpPr/>
          <p:nvPr/>
        </p:nvSpPr>
        <p:spPr>
          <a:xfrm>
            <a:off x="2411506" y="5685942"/>
            <a:ext cx="3684494" cy="2845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98E0F8C-B147-F10B-78A1-6E7C03B2CE0D}"/>
              </a:ext>
            </a:extLst>
          </p:cNvPr>
          <p:cNvCxnSpPr/>
          <p:nvPr/>
        </p:nvCxnSpPr>
        <p:spPr>
          <a:xfrm>
            <a:off x="3469341" y="2528047"/>
            <a:ext cx="0" cy="242047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84BB617-402F-47DD-4FED-E3348712F964}"/>
              </a:ext>
            </a:extLst>
          </p:cNvPr>
          <p:cNvCxnSpPr>
            <a:cxnSpLocks/>
          </p:cNvCxnSpPr>
          <p:nvPr/>
        </p:nvCxnSpPr>
        <p:spPr>
          <a:xfrm>
            <a:off x="5038165" y="5117266"/>
            <a:ext cx="0" cy="212011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7085BEC-C7EA-7887-C448-A5B346DCE3A9}"/>
              </a:ext>
            </a:extLst>
          </p:cNvPr>
          <p:cNvCxnSpPr>
            <a:cxnSpLocks/>
          </p:cNvCxnSpPr>
          <p:nvPr/>
        </p:nvCxnSpPr>
        <p:spPr>
          <a:xfrm>
            <a:off x="8991601" y="4923910"/>
            <a:ext cx="0" cy="405367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D095495-5FB3-E359-9BAF-5C2DA787DBC0}"/>
              </a:ext>
            </a:extLst>
          </p:cNvPr>
          <p:cNvCxnSpPr>
            <a:cxnSpLocks/>
          </p:cNvCxnSpPr>
          <p:nvPr/>
        </p:nvCxnSpPr>
        <p:spPr>
          <a:xfrm>
            <a:off x="8077201" y="2591542"/>
            <a:ext cx="0" cy="228359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40C64F1-7095-FBAF-ABE9-E08775C44A8B}"/>
              </a:ext>
            </a:extLst>
          </p:cNvPr>
          <p:cNvSpPr txBox="1"/>
          <p:nvPr/>
        </p:nvSpPr>
        <p:spPr>
          <a:xfrm>
            <a:off x="9564751" y="2028600"/>
            <a:ext cx="2697341" cy="12852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dirty="0" err="1"/>
              <a:t>BatchNorm</a:t>
            </a:r>
            <a:r>
              <a:rPr kumimoji="1" lang="en-US" altLang="ko-KR" dirty="0"/>
              <a:t>: Per-feature</a:t>
            </a:r>
            <a:br>
              <a:rPr kumimoji="1" lang="en-US" altLang="ko-KR" dirty="0"/>
            </a:br>
            <a:r>
              <a:rPr kumimoji="1" lang="en-US" altLang="ko-KR" dirty="0"/>
              <a:t>&gt;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dirty="0"/>
              <a:t> 2 Random: Per-channel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2224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45E1C-851D-8484-CEAE-FB8C9ADE2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26">
            <a:extLst>
              <a:ext uri="{FF2B5EF4-FFF2-40B4-BE49-F238E27FC236}">
                <a16:creationId xmlns:a16="http://schemas.microsoft.com/office/drawing/2014/main" id="{C0E0EFBA-DB83-22C6-2282-A8106D376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Training Only </a:t>
            </a:r>
            <a:r>
              <a:rPr kumimoji="1" lang="en-US" altLang="ko-KR" dirty="0" err="1"/>
              <a:t>BatchNorm</a:t>
            </a:r>
            <a:r>
              <a:rPr kumimoji="1" lang="en-US" altLang="ko-KR" dirty="0"/>
              <a:t> – Summary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4B3E13-EC60-54DF-7666-C24EAC621E4A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3362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“We found that </a:t>
                </a:r>
                <a:r>
                  <a:rPr kumimoji="1" lang="en-US" altLang="ko-KR" b="1" dirty="0">
                    <a:latin typeface="+mn-ea"/>
                    <a:cs typeface="Times New Roman" panose="02020603050405020304" pitchFamily="18" charset="0"/>
                  </a:rPr>
                  <a:t>training only affine parameters</a:t>
                </a:r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 in </a:t>
                </a:r>
                <a:r>
                  <a:rPr kumimoji="1" lang="en-US" altLang="ko-KR" dirty="0" err="1">
                    <a:latin typeface="+mn-ea"/>
                    <a:cs typeface="Times New Roman" panose="02020603050405020304" pitchFamily="18" charset="0"/>
                  </a:rPr>
                  <a:t>ResNets</a:t>
                </a:r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 with </a:t>
                </a:r>
                <a:r>
                  <a:rPr kumimoji="1" lang="en-US" altLang="ko-KR" dirty="0" err="1">
                    <a:latin typeface="+mn-ea"/>
                    <a:cs typeface="Times New Roman" panose="02020603050405020304" pitchFamily="18" charset="0"/>
                  </a:rPr>
                  <a:t>BatchNorm</a:t>
                </a:r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b="1" dirty="0">
                    <a:latin typeface="+mn-ea"/>
                    <a:cs typeface="Times New Roman" panose="02020603050405020304" pitchFamily="18" charset="0"/>
                  </a:rPr>
                  <a:t>leads to</a:t>
                </a:r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 surprisingly </a:t>
                </a:r>
                <a:r>
                  <a:rPr kumimoji="1" lang="en-US" altLang="ko-KR" b="1" dirty="0">
                    <a:latin typeface="+mn-ea"/>
                    <a:cs typeface="Times New Roman" panose="02020603050405020304" pitchFamily="18" charset="0"/>
                  </a:rPr>
                  <a:t>high accuracy</a:t>
                </a:r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”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kumimoji="1" lang="en-US" altLang="ko-KR" dirty="0">
                  <a:latin typeface="+mn-ea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“By </a:t>
                </a:r>
                <a:r>
                  <a:rPr kumimoji="1" lang="en-US" altLang="ko-KR" b="1" dirty="0">
                    <a:latin typeface="+mn-ea"/>
                    <a:cs typeface="Times New Roman" panose="02020603050405020304" pitchFamily="18" charset="0"/>
                  </a:rPr>
                  <a:t>increasing the quantity of these parameters</a:t>
                </a:r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 and the random features they combine, we found that we </a:t>
                </a:r>
                <a:r>
                  <a:rPr kumimoji="1" lang="en-US" altLang="ko-KR" b="1" dirty="0">
                    <a:latin typeface="+mn-ea"/>
                    <a:cs typeface="Times New Roman" panose="02020603050405020304" pitchFamily="18" charset="0"/>
                  </a:rPr>
                  <a:t>can further improve this accuracy.</a:t>
                </a:r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”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kumimoji="1" lang="en-US" altLang="ko-KR" dirty="0">
                  <a:latin typeface="+mn-ea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“This accuracy is not simply due to the raw number of trainable parameters, </a:t>
                </a:r>
                <a:b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</a:br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suggesting that </a:t>
                </a:r>
                <a14:m>
                  <m:oMath xmlns:m="http://schemas.openxmlformats.org/officeDocument/2006/math">
                    <m:r>
                      <a:rPr kumimoji="1" lang="en-US" altLang="ko-KR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𝜸</m:t>
                    </m:r>
                  </m:oMath>
                </a14:m>
                <a:r>
                  <a:rPr kumimoji="1" lang="en-US" altLang="ko-KR" b="1" dirty="0">
                    <a:latin typeface="+mn-ea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kumimoji="1" lang="en-US" altLang="ko-KR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kumimoji="1" lang="en-US" altLang="ko-KR" b="1" dirty="0">
                    <a:latin typeface="+mn-ea"/>
                    <a:cs typeface="Times New Roman" panose="02020603050405020304" pitchFamily="18" charset="0"/>
                  </a:rPr>
                  <a:t> have particular expressive power as a per-feature coefficient and bias.</a:t>
                </a:r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”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4B3E13-EC60-54DF-7666-C24EAC621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3362780"/>
              </a:xfrm>
              <a:prstGeom prst="rect">
                <a:avLst/>
              </a:prstGeom>
              <a:blipFill>
                <a:blip r:embed="rId3"/>
                <a:stretch>
                  <a:fillRect l="-318" r="-637" b="-18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9033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07046-C01E-2755-99F3-DFE8FAFC5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98E990-43D8-C4F7-4322-99B6CD22D929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1417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“We are interested in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how the network achieves this performance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. </a:t>
                </a:r>
                <a:b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</a:b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In what ways do the values and role of </a:t>
                </a:r>
                <a14:m>
                  <m:oMath xmlns:m="http://schemas.openxmlformats.org/officeDocument/2006/math">
                    <m:r>
                      <a:rPr kumimoji="1" lang="en-US" altLang="ko-KR" sz="2000" b="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l-GR" altLang="ko-KR" sz="20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kumimoji="1" lang="en-US" altLang="ko-KR" sz="2000" b="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change between this training regime and when all parameters are trainable?”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98E990-43D8-C4F7-4322-99B6CD22D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1417824"/>
              </a:xfrm>
              <a:prstGeom prst="rect">
                <a:avLst/>
              </a:prstGeom>
              <a:blipFill>
                <a:blip r:embed="rId3"/>
                <a:stretch>
                  <a:fillRect l="-425" b="-6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C34F3A41-971D-6932-D466-29EE2F37C5B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3. </a:t>
                </a:r>
                <a:r>
                  <a:rPr kumimoji="1" lang="en-US" altLang="ko-KR" sz="2800" dirty="0"/>
                  <a:t>Examining The Values of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n-US" altLang="ko-KR" sz="2800" dirty="0"/>
                  <a:t> and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1" lang="en-US" altLang="ko-KR" dirty="0"/>
                  <a:t> – Examining </a:t>
                </a:r>
                <a14:m>
                  <m:oMath xmlns:m="http://schemas.openxmlformats.org/officeDocument/2006/math">
                    <m:r>
                      <a:rPr kumimoji="1" lang="en-US" altLang="ko-KR" sz="24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endParaRPr kumimoji="1" lang="en-US" altLang="ko-KR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C34F3A41-971D-6932-D466-29EE2F37C5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4"/>
                <a:stretch>
                  <a:fillRect l="-937" b="-129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2765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24AB-A21D-3DA5-4360-B29C177B7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2B509A-061E-707C-3A18-76582E5B6A43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1417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The BN-only </a:t>
                </a:r>
                <a14:m>
                  <m:oMath xmlns:m="http://schemas.openxmlformats.org/officeDocument/2006/math">
                    <m:r>
                      <a:rPr kumimoji="1" lang="en-US" altLang="ko-KR" sz="2000" b="1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l-GR" altLang="ko-KR" sz="2000" b="1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values have a spike at </a:t>
                </a:r>
                <a14:m>
                  <m:oMath xmlns:m="http://schemas.openxmlformats.org/officeDocument/2006/math">
                    <m:r>
                      <a:rPr kumimoji="1" lang="en-US" altLang="ko-KR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: </a:t>
                </a:r>
                <a:b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</a:b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27% (ResNet-110) and 33% (ResNet101) of all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l-GR" altLang="ko-KR" sz="20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values have a magnitude &lt; 0.01 </a:t>
                </a:r>
                <a:b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</a:b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(compared with 4% and 5% when training all parameters).”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2B509A-061E-707C-3A18-76582E5B6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1417824"/>
              </a:xfrm>
              <a:prstGeom prst="rect">
                <a:avLst/>
              </a:prstGeom>
              <a:blipFill>
                <a:blip r:embed="rId3"/>
                <a:stretch>
                  <a:fillRect l="-425" b="-6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33F3D5DD-30BC-6F22-5E8F-ECB1C3B88BF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3. </a:t>
                </a:r>
                <a:r>
                  <a:rPr kumimoji="1" lang="en-US" altLang="ko-KR" sz="2800" dirty="0"/>
                  <a:t>Examining The Values of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n-US" altLang="ko-KR" sz="2800" dirty="0"/>
                  <a:t> and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1" lang="en-US" altLang="ko-KR" dirty="0"/>
                  <a:t> – Examining </a:t>
                </a:r>
                <a14:m>
                  <m:oMath xmlns:m="http://schemas.openxmlformats.org/officeDocument/2006/math">
                    <m:r>
                      <a:rPr kumimoji="1" lang="en-US" altLang="ko-KR" sz="24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endParaRPr kumimoji="1" lang="en-US" altLang="ko-KR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33F3D5DD-30BC-6F22-5E8F-ECB1C3B88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4"/>
                <a:stretch>
                  <a:fillRect l="-937" b="-129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>
            <a:extLst>
              <a:ext uri="{FF2B5EF4-FFF2-40B4-BE49-F238E27FC236}">
                <a16:creationId xmlns:a16="http://schemas.microsoft.com/office/drawing/2014/main" id="{160030BD-BDE0-6106-121F-39CFBCE658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98"/>
          <a:stretch>
            <a:fillRect/>
          </a:stretch>
        </p:blipFill>
        <p:spPr bwMode="auto">
          <a:xfrm>
            <a:off x="0" y="2772150"/>
            <a:ext cx="12192000" cy="329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042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DCA65-C49C-986C-A4D4-DA9C20DC3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B0535F-8A8D-D9A2-8587-BF42A618FAED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956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“The BN-only </a:t>
                </a:r>
                <a14:m>
                  <m:oMath xmlns:m="http://schemas.openxmlformats.org/officeDocument/2006/math">
                    <m:r>
                      <a:rPr kumimoji="1" lang="en-US" altLang="ko-KR" sz="2000" b="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l-GR" altLang="ko-KR" sz="20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values have a spike at </a:t>
                </a:r>
                <a14:m>
                  <m:oMath xmlns:m="http://schemas.openxmlformats.org/officeDocument/2006/math">
                    <m:r>
                      <a:rPr kumimoji="1" lang="en-US" altLang="ko-KR" sz="2000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:“</a:t>
                </a:r>
                <a:b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</a:b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 “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The same behavior holds across all depths and widths”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B0535F-8A8D-D9A2-8587-BF42A618F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956159"/>
              </a:xfrm>
              <a:prstGeom prst="rect">
                <a:avLst/>
              </a:prstGeom>
              <a:blipFill>
                <a:blip r:embed="rId3"/>
                <a:stretch>
                  <a:fillRect l="-425" b="-118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AEA82EBE-CA44-EAA6-2007-C3C1778882E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3. </a:t>
                </a:r>
                <a:r>
                  <a:rPr kumimoji="1" lang="en-US" altLang="ko-KR" sz="2800" dirty="0"/>
                  <a:t>Examining The Values of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n-US" altLang="ko-KR" sz="2800" dirty="0"/>
                  <a:t> and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1" lang="en-US" altLang="ko-KR" dirty="0"/>
                  <a:t> – Examining </a:t>
                </a:r>
                <a14:m>
                  <m:oMath xmlns:m="http://schemas.openxmlformats.org/officeDocument/2006/math">
                    <m:r>
                      <a:rPr kumimoji="1" lang="en-US" altLang="ko-KR" sz="24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endParaRPr kumimoji="1" lang="en-US" altLang="ko-KR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AEA82EBE-CA44-EAA6-2007-C3C1778882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4"/>
                <a:stretch>
                  <a:fillRect l="-937" b="-129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 descr="라인, 그래프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FE1D8D-D4D7-C2F0-59B0-422F6E51E0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7" y="2468986"/>
            <a:ext cx="12074486" cy="371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40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B746F-591A-BD64-E166-89CB49887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94FBB2-BBF7-EEFE-2133-89E0018A18DC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1880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저자들은 이 현상을 어떻게 설명하는가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?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“This behavior indicates that an important part of the network’s representation is the set of random features that it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learns to ignore.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”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“suggesting that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disabling features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is a natural behavior of </a:t>
                </a:r>
                <a14:m>
                  <m:oMath xmlns:m="http://schemas.openxmlformats.org/officeDocument/2006/math">
                    <m:r>
                      <a:rPr kumimoji="1" lang="en-US" altLang="ko-KR" sz="2000" b="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”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94FBB2-BBF7-EEFE-2133-89E0018A1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1880387"/>
              </a:xfrm>
              <a:prstGeom prst="rect">
                <a:avLst/>
              </a:prstGeom>
              <a:blipFill>
                <a:blip r:embed="rId3"/>
                <a:stretch>
                  <a:fillRect l="-425" b="-46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683D8C3C-973A-3921-44C3-58CF008E221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3. </a:t>
                </a:r>
                <a:r>
                  <a:rPr kumimoji="1" lang="en-US" altLang="ko-KR" sz="2800" dirty="0"/>
                  <a:t>Examining The Values of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n-US" altLang="ko-KR" sz="2800" dirty="0"/>
                  <a:t> and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1" lang="en-US" altLang="ko-KR" dirty="0"/>
                  <a:t> – Examining </a:t>
                </a:r>
                <a14:m>
                  <m:oMath xmlns:m="http://schemas.openxmlformats.org/officeDocument/2006/math">
                    <m:r>
                      <a:rPr kumimoji="1" lang="en-US" altLang="ko-KR" sz="24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endParaRPr kumimoji="1" lang="en-US" altLang="ko-KR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683D8C3C-973A-3921-44C3-58CF008E22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4"/>
                <a:stretch>
                  <a:fillRect l="-937" b="-129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127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6BFA8-4894-73D2-FED7-B6876C1D3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2BFDC6-0CC9-2A29-C44E-245E8553FA22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41878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저자들은 이 현상을 어떻게 설명하는가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?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“This behavior indicates that an important part of the network’s representation is the set of random features that it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learns to ignore.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”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“suggesting that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disabling features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is a natural behavior of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”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kumimoji="1" lang="en-US" altLang="ko-KR" sz="2000" dirty="0">
                  <a:latin typeface="+mn-ea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endParaRPr kumimoji="1" lang="en-US" altLang="ko-KR" sz="2000" dirty="0">
                  <a:latin typeface="+mn-ea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à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(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내 생각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) 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위 주장은 납득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 X. </a:t>
                </a:r>
                <a:b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β</m:t>
                    </m:r>
                  </m:oMath>
                </a14:m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값이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0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 근처에 있다면 위 주장을 그나마 동의할 수 있겠지만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,</a:t>
                </a:r>
                <a:r>
                  <a:rPr kumimoji="1" lang="en-US" altLang="ko-KR" sz="2000" dirty="0"/>
                  <a:t> </a:t>
                </a:r>
                <a:br>
                  <a:rPr kumimoji="1" lang="en-US" altLang="ko-KR" sz="2000" dirty="0"/>
                </a:br>
                <a14:m>
                  <m:oMath xmlns:m="http://schemas.openxmlformats.org/officeDocument/2006/math">
                    <m:r>
                      <a:rPr kumimoji="1" lang="en-US" altLang="ko-KR" sz="2000" b="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값만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0 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근처에 몰려 있다고 해서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feature</a:t>
                </a:r>
                <a:r>
                  <a:rPr kumimoji="1" lang="ko-KR" altLang="en-US" sz="2000" dirty="0" err="1">
                    <a:latin typeface="+mn-ea"/>
                    <a:cs typeface="Times New Roman" panose="02020603050405020304" pitchFamily="18" charset="0"/>
                  </a:rPr>
                  <a:t>를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disabling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한다는 것은 아님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2BFDC6-0CC9-2A29-C44E-245E8553F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4187813"/>
              </a:xfrm>
              <a:prstGeom prst="rect">
                <a:avLst/>
              </a:prstGeom>
              <a:blipFill>
                <a:blip r:embed="rId3"/>
                <a:stretch>
                  <a:fillRect l="-425" b="-15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357D129D-8DAA-88CE-DC75-19B3227AB22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3. </a:t>
                </a:r>
                <a:r>
                  <a:rPr kumimoji="1" lang="en-US" altLang="ko-KR" sz="2800" dirty="0"/>
                  <a:t>Examining The Values of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n-US" altLang="ko-KR" sz="2800" dirty="0"/>
                  <a:t> and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1" lang="en-US" altLang="ko-KR" dirty="0"/>
                  <a:t> – Examining </a:t>
                </a:r>
                <a14:m>
                  <m:oMath xmlns:m="http://schemas.openxmlformats.org/officeDocument/2006/math">
                    <m:r>
                      <a:rPr kumimoji="1" lang="en-US" altLang="ko-KR" sz="24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endParaRPr kumimoji="1" lang="en-US" altLang="ko-KR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357D129D-8DAA-88CE-DC75-19B3227AB2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4"/>
                <a:stretch>
                  <a:fillRect l="-937" b="-129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133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EBEC0-197B-F225-19EA-17FABBED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18DD1B-3E6F-EBCE-28D3-95742CFF0DDF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5572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저자들은 이 현상을 어떻게 설명하는가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?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“This behavior indicates that an important part of the network’s representation is the set of random features that it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learns to ignore.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”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“suggesting that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disabling features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is a natural behavior of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”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kumimoji="1" lang="en-US" altLang="ko-KR" sz="2000" dirty="0">
                  <a:latin typeface="+mn-ea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endParaRPr kumimoji="1" lang="en-US" altLang="ko-KR" sz="2000" dirty="0">
                  <a:latin typeface="+mn-ea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à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(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내 생각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) 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위 주장은 납득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 X. </a:t>
                </a:r>
                <a:b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β</m:t>
                    </m:r>
                  </m:oMath>
                </a14:m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값이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0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 근처에 있다면 위 주장을 그나마 동의할 수 있겠지만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,</a:t>
                </a:r>
                <a:r>
                  <a:rPr kumimoji="1" lang="en-US" altLang="ko-KR" sz="2000" dirty="0"/>
                  <a:t> </a:t>
                </a:r>
                <a:br>
                  <a:rPr kumimoji="1" lang="en-US" altLang="ko-KR" sz="2000" dirty="0"/>
                </a:br>
                <a14:m>
                  <m:oMath xmlns:m="http://schemas.openxmlformats.org/officeDocument/2006/math">
                    <m:r>
                      <a:rPr kumimoji="1" lang="en-US" altLang="ko-KR" sz="2000" b="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값만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0 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근처에 몰려 있다고 해서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feature</a:t>
                </a:r>
                <a:r>
                  <a:rPr kumimoji="1" lang="ko-KR" altLang="en-US" sz="2000" dirty="0" err="1">
                    <a:latin typeface="+mn-ea"/>
                    <a:cs typeface="Times New Roman" panose="02020603050405020304" pitchFamily="18" charset="0"/>
                  </a:rPr>
                  <a:t>를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disabling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한다는 것은 아님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.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à"/>
                </a:pPr>
                <a:endParaRPr kumimoji="1" lang="en-US" altLang="ko-KR" sz="2000" dirty="0">
                  <a:latin typeface="+mn-ea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à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(</a:t>
                </a:r>
                <a:r>
                  <a:rPr kumimoji="1" lang="ko-KR" altLang="en-US" sz="2000" dirty="0">
                    <a:latin typeface="+mn-ea"/>
                    <a:cs typeface="Times New Roman" panose="02020603050405020304" pitchFamily="18" charset="0"/>
                  </a:rPr>
                  <a:t>저자들도 위 내용을 인지하고 있었음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) </a:t>
                </a:r>
                <a:b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</a:b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“Just because values of </a:t>
                </a:r>
                <a14:m>
                  <m:oMath xmlns:m="http://schemas.openxmlformats.org/officeDocument/2006/math">
                    <m:r>
                      <a:rPr kumimoji="1" lang="en-US" altLang="ko-KR" sz="2000" b="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l-GR" altLang="ko-KR" sz="20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are </a:t>
                </a:r>
                <a:r>
                  <a:rPr kumimoji="1" lang="en-US" altLang="ko-KR" sz="2000" i="1" dirty="0">
                    <a:latin typeface="+mn-ea"/>
                    <a:cs typeface="Times New Roman" panose="02020603050405020304" pitchFamily="18" charset="0"/>
                  </a:rPr>
                  <a:t>close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to zero does not necessarily mean they disable features”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18DD1B-3E6F-EBCE-28D3-95742CFF0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5572808"/>
              </a:xfrm>
              <a:prstGeom prst="rect">
                <a:avLst/>
              </a:prstGeom>
              <a:blipFill>
                <a:blip r:embed="rId3"/>
                <a:stretch>
                  <a:fillRect l="-425" b="-9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696E7AD0-2915-9974-EDA1-2D119E5AFC3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3. </a:t>
                </a:r>
                <a:r>
                  <a:rPr kumimoji="1" lang="en-US" altLang="ko-KR" sz="2800" dirty="0"/>
                  <a:t>Examining The Values of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n-US" altLang="ko-KR" sz="2800" dirty="0"/>
                  <a:t> and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1" lang="en-US" altLang="ko-KR" dirty="0"/>
                  <a:t> – Examining </a:t>
                </a:r>
                <a14:m>
                  <m:oMath xmlns:m="http://schemas.openxmlformats.org/officeDocument/2006/math">
                    <m:r>
                      <a:rPr kumimoji="1" lang="en-US" altLang="ko-KR" sz="24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endParaRPr kumimoji="1" lang="en-US" altLang="ko-KR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696E7AD0-2915-9974-EDA1-2D119E5AFC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4"/>
                <a:stretch>
                  <a:fillRect l="-937" b="-129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9180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308C9-992A-1273-086D-5FEF74E12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C504B9-424E-960E-7F3D-1C8B024E9E63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956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“To evaluate the extent to which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small values of </a:t>
                </a:r>
                <a14:m>
                  <m:oMath xmlns:m="http://schemas.openxmlformats.org/officeDocument/2006/math">
                    <m:r>
                      <a:rPr kumimoji="1" lang="en-US" altLang="ko-KR" sz="2000" b="1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l-GR" altLang="ko-KR" sz="2000" b="1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are, in fact, removing features, </a:t>
                </a:r>
                <a:b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</a:b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we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explicitly set these parameters to zero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and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measure the accuracy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of the network”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C504B9-424E-960E-7F3D-1C8B024E9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956159"/>
              </a:xfrm>
              <a:prstGeom prst="rect">
                <a:avLst/>
              </a:prstGeom>
              <a:blipFill>
                <a:blip r:embed="rId3"/>
                <a:stretch>
                  <a:fillRect l="-425" b="-105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515055EE-F165-5998-F823-18EBB5486C2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3. </a:t>
                </a:r>
                <a:r>
                  <a:rPr kumimoji="1" lang="en-US" altLang="ko-KR" sz="2800" dirty="0"/>
                  <a:t>Examining The Values of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n-US" altLang="ko-KR" sz="2800" dirty="0"/>
                  <a:t> and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1" lang="en-US" altLang="ko-KR" dirty="0"/>
                  <a:t> – Small values of </a:t>
                </a:r>
                <a14:m>
                  <m:oMath xmlns:m="http://schemas.openxmlformats.org/officeDocument/2006/math">
                    <m:r>
                      <a:rPr kumimoji="1" lang="en-US" altLang="ko-KR" sz="24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n-US" altLang="ko-KR" b="1" dirty="0">
                    <a:latin typeface="+mj-lt"/>
                    <a:cs typeface="Times New Roman" panose="02020603050405020304" pitchFamily="18" charset="0"/>
                  </a:rPr>
                  <a:t> disable features</a:t>
                </a:r>
              </a:p>
            </p:txBody>
          </p:sp>
        </mc:Choice>
        <mc:Fallback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515055EE-F165-5998-F823-18EBB5486C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4"/>
                <a:stretch>
                  <a:fillRect l="-937" b="-129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212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16B06-3AA9-9E74-C33A-EC1DD80B7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457DFF-2F17-EAB9-EC1E-90A669D1B081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956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“To evaluate the extent to which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small values of </a:t>
                </a:r>
                <a14:m>
                  <m:oMath xmlns:m="http://schemas.openxmlformats.org/officeDocument/2006/math">
                    <m:r>
                      <a:rPr kumimoji="1" lang="en-US" altLang="ko-KR" sz="2000" b="1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l-GR" altLang="ko-KR" sz="2000" b="1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are, in fact, removing features, </a:t>
                </a:r>
                <a:b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</a:b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we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explicitly set these parameters to zero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and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measure the accuracy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of the network”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457DFF-2F17-EAB9-EC1E-90A669D1B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956159"/>
              </a:xfrm>
              <a:prstGeom prst="rect">
                <a:avLst/>
              </a:prstGeom>
              <a:blipFill>
                <a:blip r:embed="rId3"/>
                <a:stretch>
                  <a:fillRect l="-425" b="-105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9A3E2484-77B6-FDFC-776B-DF61C4AC117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3. </a:t>
                </a:r>
                <a:r>
                  <a:rPr kumimoji="1" lang="en-US" altLang="ko-KR" sz="2800" dirty="0"/>
                  <a:t>Examining The Values of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n-US" altLang="ko-KR" sz="2800" dirty="0"/>
                  <a:t> and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1" lang="en-US" altLang="ko-KR" dirty="0"/>
                  <a:t> – Small values of </a:t>
                </a:r>
                <a14:m>
                  <m:oMath xmlns:m="http://schemas.openxmlformats.org/officeDocument/2006/math">
                    <m:r>
                      <a:rPr kumimoji="1" lang="en-US" altLang="ko-KR" sz="24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n-US" altLang="ko-KR" b="1" dirty="0">
                    <a:latin typeface="+mj-lt"/>
                    <a:cs typeface="Times New Roman" panose="02020603050405020304" pitchFamily="18" charset="0"/>
                  </a:rPr>
                  <a:t> disable features</a:t>
                </a:r>
              </a:p>
            </p:txBody>
          </p:sp>
        </mc:Choice>
        <mc:Fallback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9A3E2484-77B6-FDFC-776B-DF61C4AC1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4"/>
                <a:stretch>
                  <a:fillRect l="-937" b="-129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>
            <a:extLst>
              <a:ext uri="{FF2B5EF4-FFF2-40B4-BE49-F238E27FC236}">
                <a16:creationId xmlns:a16="http://schemas.microsoft.com/office/drawing/2014/main" id="{6DE12201-A2D5-0520-5968-596C53F1A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0681"/>
            <a:ext cx="12192000" cy="357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A36679-5079-F5AF-36EB-86D21AFC1E73}"/>
                  </a:ext>
                </a:extLst>
              </p:cNvPr>
              <p:cNvSpPr txBox="1"/>
              <p:nvPr/>
            </p:nvSpPr>
            <p:spPr>
              <a:xfrm>
                <a:off x="117513" y="5333859"/>
                <a:ext cx="11952383" cy="1152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ko-KR" sz="16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 “Clamping all values of |</a:t>
                </a:r>
                <a:r>
                  <a:rPr kumimoji="1" lang="en-US" altLang="ko-KR" sz="1600" b="1" dirty="0"/>
                  <a:t> </a:t>
                </a:r>
                <a14:m>
                  <m:oMath xmlns:m="http://schemas.openxmlformats.org/officeDocument/2006/math">
                    <m:r>
                      <a:rPr kumimoji="1" lang="en-US" altLang="ko-KR" sz="1600" b="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n-US" altLang="ko-KR" sz="16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kumimoji="1" lang="el-GR" altLang="ko-KR" sz="16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| &lt; 0.01 </a:t>
                </a:r>
                <a:r>
                  <a:rPr kumimoji="1" lang="en-US" altLang="ko-KR" sz="16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to zero does not affect accuracy, suggesting that these features are indeed expendable”</a:t>
                </a:r>
                <a:br>
                  <a:rPr kumimoji="1" lang="en-US" altLang="ko-KR" sz="16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</a:br>
                <a:r>
                  <a:rPr kumimoji="1" lang="en-US" altLang="ko-KR" sz="16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 “This confirms our hypothesis that </a:t>
                </a:r>
                <a14:m>
                  <m:oMath xmlns:m="http://schemas.openxmlformats.org/officeDocument/2006/math">
                    <m:r>
                      <a:rPr kumimoji="1" lang="en-US" altLang="ko-KR" sz="16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l-GR" altLang="ko-KR" sz="16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kumimoji="1" lang="en-US" altLang="ko-KR" sz="16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values closest to zero reflect features that are irrelevant to the network’s representation.”</a:t>
                </a:r>
                <a:endParaRPr kumimoji="1" lang="en-US" altLang="ko-KR" sz="16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A36679-5079-F5AF-36EB-86D21AFC1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13" y="5333859"/>
                <a:ext cx="11952383" cy="1152751"/>
              </a:xfrm>
              <a:prstGeom prst="rect">
                <a:avLst/>
              </a:prstGeom>
              <a:blipFill>
                <a:blip r:embed="rId6"/>
                <a:stretch>
                  <a:fillRect l="-318" r="-106" b="-54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8073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729D9-0905-CBA7-1EB3-810B10187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49E196-DBEE-6326-F298-2D559E681561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1417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“So far, we have focused solely on the role of </a:t>
                </a:r>
                <a14:m>
                  <m:oMath xmlns:m="http://schemas.openxmlformats.org/officeDocument/2006/math">
                    <m:r>
                      <a:rPr kumimoji="1" lang="en-US" altLang="ko-KR" sz="2000" b="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l-GR" altLang="ko-KR" sz="2000" dirty="0">
                    <a:latin typeface="+mn-ea"/>
                    <a:cs typeface="Times New Roman" panose="02020603050405020304" pitchFamily="18" charset="0"/>
                  </a:rPr>
                  <a:t>. </a:t>
                </a:r>
                <a:b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</a:b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However,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l-GR" altLang="ko-KR" sz="20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works collaboratively with </a:t>
                </a: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kumimoji="1" lang="el-GR" altLang="ko-KR" sz="20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to change the distribution of normalized pre-activations.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To understand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the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joint role of </a:t>
                </a:r>
                <a14:m>
                  <m:oMath xmlns:m="http://schemas.openxmlformats.org/officeDocument/2006/math">
                    <m:r>
                      <a:rPr kumimoji="1" lang="en-US" altLang="ko-KR" sz="2000" b="1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l-GR" altLang="ko-KR" sz="2000" b="1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kumimoji="1" lang="en-US" altLang="ko-KR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kumimoji="1" lang="el-GR" altLang="ko-KR" sz="2000" dirty="0">
                    <a:latin typeface="+mn-ea"/>
                    <a:cs typeface="Times New Roman" panose="02020603050405020304" pitchFamily="18" charset="0"/>
                  </a:rPr>
                  <a:t>,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we study the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behavior of the activations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themselves.”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49E196-DBEE-6326-F298-2D559E681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1417824"/>
              </a:xfrm>
              <a:prstGeom prst="rect">
                <a:avLst/>
              </a:prstGeom>
              <a:blipFill>
                <a:blip r:embed="rId3"/>
                <a:stretch>
                  <a:fillRect l="-425" b="-6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70DB6606-5C46-539E-9D9D-8E99CFCFFFF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6" y="0"/>
                <a:ext cx="12400483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3. </a:t>
                </a:r>
                <a:r>
                  <a:rPr kumimoji="1" lang="en-US" altLang="ko-KR" sz="2800" dirty="0"/>
                  <a:t>Examining The Values of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n-US" altLang="ko-KR" sz="2800" dirty="0"/>
                  <a:t> and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1" lang="en-US" altLang="ko-KR" dirty="0"/>
                  <a:t> </a:t>
                </a:r>
                <a:br>
                  <a:rPr kumimoji="1" lang="en-US" altLang="ko-KR" dirty="0"/>
                </a:br>
                <a:r>
                  <a:rPr kumimoji="1" lang="en-US" altLang="ko-KR" dirty="0"/>
                  <a:t>– Training only BN </a:t>
                </a:r>
                <a:r>
                  <a:rPr kumimoji="1" lang="en-US" altLang="ko-KR" dirty="0" err="1"/>
                  <a:t>sparsifies</a:t>
                </a:r>
                <a:r>
                  <a:rPr kumimoji="1" lang="en-US" altLang="ko-KR" dirty="0"/>
                  <a:t> activations</a:t>
                </a:r>
                <a:endParaRPr kumimoji="1" lang="en-US" altLang="ko-KR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70DB6606-5C46-539E-9D9D-8E99CFCFFF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6" y="0"/>
                <a:ext cx="12400483" cy="677163"/>
              </a:xfrm>
              <a:blipFill>
                <a:blip r:embed="rId4"/>
                <a:stretch>
                  <a:fillRect l="-921" t="-25926" b="-35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966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BFA2B-B383-E380-7DA2-A45B08820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6E8E92-8212-270D-3232-68341D92A2FE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1417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“So far, we have focused solely on the role of </a:t>
                </a:r>
                <a14:m>
                  <m:oMath xmlns:m="http://schemas.openxmlformats.org/officeDocument/2006/math">
                    <m:r>
                      <a:rPr kumimoji="1" lang="en-US" altLang="ko-KR" sz="2000" b="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l-GR" altLang="ko-KR" sz="2000" dirty="0">
                    <a:latin typeface="+mn-ea"/>
                    <a:cs typeface="Times New Roman" panose="02020603050405020304" pitchFamily="18" charset="0"/>
                  </a:rPr>
                  <a:t>. </a:t>
                </a:r>
                <a:b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</a:b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However,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l-GR" altLang="ko-KR" sz="20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works collaboratively with </a:t>
                </a: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kumimoji="1" lang="el-GR" altLang="ko-KR" sz="20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to change the distribution of normalized pre-activations.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To understand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the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joint role of </a:t>
                </a:r>
                <a14:m>
                  <m:oMath xmlns:m="http://schemas.openxmlformats.org/officeDocument/2006/math">
                    <m:r>
                      <a:rPr kumimoji="1" lang="en-US" altLang="ko-KR" sz="2000" b="1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l-GR" altLang="ko-KR" sz="2000" b="1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kumimoji="1" lang="en-US" altLang="ko-KR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kumimoji="1" lang="el-GR" altLang="ko-KR" sz="2000" dirty="0">
                    <a:latin typeface="+mn-ea"/>
                    <a:cs typeface="Times New Roman" panose="02020603050405020304" pitchFamily="18" charset="0"/>
                  </a:rPr>
                  <a:t>,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we study the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behavior of the activations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themselves.”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6E8E92-8212-270D-3232-68341D92A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1417824"/>
              </a:xfrm>
              <a:prstGeom prst="rect">
                <a:avLst/>
              </a:prstGeom>
              <a:blipFill>
                <a:blip r:embed="rId3"/>
                <a:stretch>
                  <a:fillRect l="-425" b="-6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895F2853-7E10-AAE2-16F1-A69E8D73ACA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6" y="0"/>
                <a:ext cx="12400483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3. </a:t>
                </a:r>
                <a:r>
                  <a:rPr kumimoji="1" lang="en-US" altLang="ko-KR" sz="2800" dirty="0"/>
                  <a:t>Examining The Values of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n-US" altLang="ko-KR" sz="2800" dirty="0"/>
                  <a:t> and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1" lang="en-US" altLang="ko-KR" dirty="0"/>
                  <a:t> </a:t>
                </a:r>
                <a:br>
                  <a:rPr kumimoji="1" lang="en-US" altLang="ko-KR" dirty="0"/>
                </a:br>
                <a:r>
                  <a:rPr kumimoji="1" lang="en-US" altLang="ko-KR" dirty="0"/>
                  <a:t>– Training only BN </a:t>
                </a:r>
                <a:r>
                  <a:rPr kumimoji="1" lang="en-US" altLang="ko-KR" dirty="0" err="1"/>
                  <a:t>sparsifies</a:t>
                </a:r>
                <a:r>
                  <a:rPr kumimoji="1" lang="en-US" altLang="ko-KR" dirty="0"/>
                  <a:t> activations</a:t>
                </a:r>
                <a:endParaRPr kumimoji="1" lang="en-US" altLang="ko-KR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895F2853-7E10-AAE2-16F1-A69E8D73AC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6" y="0"/>
                <a:ext cx="12400483" cy="677163"/>
              </a:xfrm>
              <a:blipFill>
                <a:blip r:embed="rId4"/>
                <a:stretch>
                  <a:fillRect l="-921" t="-25926" b="-35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 descr="그래프, 라인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EDEBD1-0351-1F6E-B2F9-283C6D00FD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682" y="2094987"/>
            <a:ext cx="11268635" cy="35069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D2C95F-A9DD-FF67-4083-8F035A287439}"/>
                  </a:ext>
                </a:extLst>
              </p:cNvPr>
              <p:cNvSpPr txBox="1"/>
              <p:nvPr/>
            </p:nvSpPr>
            <p:spPr>
              <a:xfrm>
                <a:off x="0" y="5601891"/>
                <a:ext cx="11952383" cy="956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 “When training only </a:t>
                </a:r>
                <a:r>
                  <a:rPr kumimoji="1" lang="en-US" altLang="ko-KR" sz="2000" dirty="0" err="1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BatchNorm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, 28% to 39% of activations are disabled, </a:t>
                </a:r>
                <a:br>
                  <a:rPr kumimoji="1" lang="en-US" altLang="ko-KR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</a:b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meaning </a:t>
                </a:r>
                <a14:m>
                  <m:oMath xmlns:m="http://schemas.openxmlformats.org/officeDocument/2006/math">
                    <m:r>
                      <a:rPr kumimoji="1" lang="en-US" altLang="ko-KR" sz="2000" b="1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l-GR" altLang="ko-KR" sz="2000" b="1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and </a:t>
                </a:r>
                <a14:m>
                  <m:oMath xmlns:m="http://schemas.openxmlformats.org/officeDocument/2006/math">
                    <m:r>
                      <a:rPr kumimoji="1" lang="en-US" altLang="ko-KR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kumimoji="1" lang="el-GR" altLang="ko-KR" sz="2000" b="1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indeed </a:t>
                </a:r>
                <a:r>
                  <a:rPr kumimoji="1" lang="en-US" altLang="ko-KR" sz="2000" b="1" dirty="0" err="1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sparsify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 activations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  <a:sym typeface="Wingdings" pitchFamily="2" charset="2"/>
                  </a:rPr>
                  <a:t> in practice.”</a:t>
                </a:r>
                <a:endParaRPr kumimoji="1" lang="en-US" altLang="ko-KR" sz="20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D2C95F-A9DD-FF67-4083-8F035A287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601891"/>
                <a:ext cx="11952383" cy="956159"/>
              </a:xfrm>
              <a:prstGeom prst="rect">
                <a:avLst/>
              </a:prstGeom>
              <a:blipFill>
                <a:blip r:embed="rId6"/>
                <a:stretch>
                  <a:fillRect l="-531" b="-105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5829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0C415-9BC4-0479-5479-6B4D445A9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66064574-AFAB-996C-D4D5-562CBC1D13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6" y="0"/>
                <a:ext cx="12400483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3. </a:t>
                </a:r>
                <a:r>
                  <a:rPr kumimoji="1" lang="en-US" altLang="ko-KR" sz="2800" dirty="0"/>
                  <a:t>Examining The Values of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n-US" altLang="ko-KR" sz="2800" dirty="0"/>
                  <a:t> and </a:t>
                </a:r>
                <a14:m>
                  <m:oMath xmlns:m="http://schemas.openxmlformats.org/officeDocument/2006/math">
                    <m:r>
                      <a:rPr kumimoji="1" lang="en-US" altLang="ko-KR" sz="2800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1" lang="en-US" altLang="ko-KR" dirty="0"/>
                  <a:t> – Summary</a:t>
                </a:r>
                <a:endParaRPr kumimoji="1" lang="en-US" altLang="ko-KR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제목 26">
                <a:extLst>
                  <a:ext uri="{FF2B5EF4-FFF2-40B4-BE49-F238E27FC236}">
                    <a16:creationId xmlns:a16="http://schemas.microsoft.com/office/drawing/2014/main" id="{66064574-AFAB-996C-D4D5-562CBC1D1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6" y="0"/>
                <a:ext cx="12400483" cy="677163"/>
              </a:xfrm>
              <a:blipFill>
                <a:blip r:embed="rId3"/>
                <a:stretch>
                  <a:fillRect l="-921" b="-129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DB25EA-8317-757A-3878-508A6F26CC63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869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“When training only </a:t>
                </a:r>
                <a:r>
                  <a:rPr kumimoji="1" lang="en-US" altLang="ko-KR" dirty="0" err="1">
                    <a:latin typeface="+mn-ea"/>
                    <a:cs typeface="Times New Roman" panose="02020603050405020304" pitchFamily="18" charset="0"/>
                  </a:rPr>
                  <a:t>BatchNorm</a:t>
                </a:r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, we found </a:t>
                </a:r>
                <a14:m>
                  <m:oMath xmlns:m="http://schemas.openxmlformats.org/officeDocument/2006/math">
                    <m:r>
                      <a:rPr kumimoji="1" lang="en-US" altLang="ko-KR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kumimoji="1" lang="el-GR" altLang="ko-KR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to have a larger variance and a spike at 0 and that </a:t>
                </a:r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kumimoji="1" lang="el-GR" altLang="ko-KR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dirty="0">
                    <a:latin typeface="+mn-ea"/>
                    <a:cs typeface="Times New Roman" panose="02020603050405020304" pitchFamily="18" charset="0"/>
                  </a:rPr>
                  <a:t>was learning to disable entire features.”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DB25EA-8317-757A-3878-508A6F26C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869790"/>
              </a:xfrm>
              <a:prstGeom prst="rect">
                <a:avLst/>
              </a:prstGeom>
              <a:blipFill>
                <a:blip r:embed="rId4"/>
                <a:stretch>
                  <a:fillRect l="-318" b="-115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0808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27405-FD89-0E28-D994-D27DA009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BB2F1-9D8E-3764-6081-632869175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87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sz="3000" dirty="0"/>
              <a:t>4. Discussion</a:t>
            </a:r>
            <a:endParaRPr kumimoji="1" lang="ko-KR" altLang="en-US" sz="30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6AEC77-6199-BF40-B2A4-56DEBDCCF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725" y="654269"/>
            <a:ext cx="11516710" cy="5880537"/>
          </a:xfrm>
        </p:spPr>
        <p:txBody>
          <a:bodyPr anchor="ctr">
            <a:normAutofit/>
          </a:bodyPr>
          <a:lstStyle/>
          <a:p>
            <a:pPr lvl="1">
              <a:lnSpc>
                <a:spcPct val="200000"/>
              </a:lnSpc>
            </a:pPr>
            <a:r>
              <a:rPr kumimoji="1" lang="ko-KR" altLang="en-US" sz="2100" dirty="0">
                <a:cs typeface="Times New Roman" panose="02020603050405020304" pitchFamily="18" charset="0"/>
              </a:rPr>
              <a:t>이 논문에 대해 어떻게 리뷰하셨는지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?</a:t>
            </a:r>
          </a:p>
          <a:p>
            <a:pPr lvl="1">
              <a:lnSpc>
                <a:spcPct val="200000"/>
              </a:lnSpc>
            </a:pPr>
            <a:r>
              <a:rPr kumimoji="1" lang="ko-KR" altLang="en-US" sz="2100" dirty="0">
                <a:cs typeface="Times New Roman" panose="02020603050405020304" pitchFamily="18" charset="0"/>
              </a:rPr>
              <a:t>왜 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normalization layer</a:t>
            </a:r>
            <a:r>
              <a:rPr kumimoji="1" lang="ko-KR" altLang="en-US" sz="2100" dirty="0" err="1">
                <a:cs typeface="Times New Roman" panose="02020603050405020304" pitchFamily="18" charset="0"/>
              </a:rPr>
              <a:t>를</a:t>
            </a:r>
            <a:r>
              <a:rPr kumimoji="1" lang="ko-KR" altLang="en-US" sz="2100" dirty="0">
                <a:cs typeface="Times New Roman" panose="02020603050405020304" pitchFamily="18" charset="0"/>
              </a:rPr>
              <a:t> 없애려는 연구를 하는 걸까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?</a:t>
            </a:r>
            <a:br>
              <a:rPr kumimoji="1" lang="en-US" altLang="ko-KR" sz="2100" dirty="0">
                <a:cs typeface="Times New Roman" panose="02020603050405020304" pitchFamily="18" charset="0"/>
              </a:rPr>
            </a:br>
            <a:r>
              <a:rPr kumimoji="1" lang="en-US" altLang="ko-KR" sz="2100" dirty="0"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normalization layer</a:t>
            </a:r>
            <a:r>
              <a:rPr kumimoji="1" lang="ko-KR" altLang="en-US" sz="2100" dirty="0" err="1">
                <a:cs typeface="Times New Roman" panose="02020603050405020304" pitchFamily="18" charset="0"/>
              </a:rPr>
              <a:t>를</a:t>
            </a:r>
            <a:r>
              <a:rPr kumimoji="1" lang="ko-KR" altLang="en-US" sz="2100" dirty="0">
                <a:cs typeface="Times New Roman" panose="02020603050405020304" pitchFamily="18" charset="0"/>
              </a:rPr>
              <a:t> 없애는 것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(statistics </a:t>
            </a:r>
            <a:r>
              <a:rPr kumimoji="1" lang="ko-KR" altLang="en-US" sz="2100" dirty="0">
                <a:cs typeface="Times New Roman" panose="02020603050405020304" pitchFamily="18" charset="0"/>
              </a:rPr>
              <a:t>학습이 없어지는 것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)</a:t>
            </a:r>
            <a:r>
              <a:rPr kumimoji="1" lang="ko-KR" altLang="en-US" sz="2100" dirty="0" err="1">
                <a:cs typeface="Times New Roman" panose="02020603050405020304" pitchFamily="18" charset="0"/>
              </a:rPr>
              <a:t>으로</a:t>
            </a:r>
            <a:r>
              <a:rPr kumimoji="1" lang="ko-KR" altLang="en-US" sz="2100" dirty="0">
                <a:cs typeface="Times New Roman" panose="02020603050405020304" pitchFamily="18" charset="0"/>
              </a:rPr>
              <a:t> 할 수 있는 것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66265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18499</TotalTime>
  <Words>1621</Words>
  <Application>Microsoft Macintosh PowerPoint</Application>
  <PresentationFormat>와이드스크린</PresentationFormat>
  <Paragraphs>135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맑은 고딕</vt:lpstr>
      <vt:lpstr>Arial</vt:lpstr>
      <vt:lpstr>Cambria Math</vt:lpstr>
      <vt:lpstr>Times New Roman</vt:lpstr>
      <vt:lpstr>Wingdings</vt:lpstr>
      <vt:lpstr>Office 테마</vt:lpstr>
      <vt:lpstr>PowerPoint 프레젠테이션</vt:lpstr>
      <vt:lpstr>Outline</vt:lpstr>
      <vt:lpstr>1. Intro &amp; Related Works - BatchNorm</vt:lpstr>
      <vt:lpstr>1. Intro &amp; Related Works – The expressive power of affine transformations</vt:lpstr>
      <vt:lpstr>2. Training Only BatchNorm – Settings</vt:lpstr>
      <vt:lpstr>2. Training Only BatchNorm – Settings</vt:lpstr>
      <vt:lpstr>2. Training Only BatchNorm – Settings</vt:lpstr>
      <vt:lpstr>2. Training Only BatchNorm – Case Study: ResNet-110</vt:lpstr>
      <vt:lpstr>2. Training Only BatchNorm  – Increasing available features by varying depth and width</vt:lpstr>
      <vt:lpstr>2. Training Only BatchNorm  – Increasing available features by varying depth and width</vt:lpstr>
      <vt:lpstr>2. Training Only BatchNorm – Are affine parameters special?</vt:lpstr>
      <vt:lpstr>2. Training Only BatchNorm – Summary</vt:lpstr>
      <vt:lpstr>3. Examining The Values of γ and β – Examining γ</vt:lpstr>
      <vt:lpstr>3. Examining The Values of γ and β – Examining γ</vt:lpstr>
      <vt:lpstr>3. Examining The Values of γ and β – Examining γ</vt:lpstr>
      <vt:lpstr>3. Examining The Values of γ and β – Examining γ</vt:lpstr>
      <vt:lpstr>3. Examining The Values of γ and β – Examining γ</vt:lpstr>
      <vt:lpstr>3. Examining The Values of γ and β – Examining γ</vt:lpstr>
      <vt:lpstr>3. Examining The Values of γ and β – Small values of γ disable features</vt:lpstr>
      <vt:lpstr>3. Examining The Values of γ and β – Small values of γ disable features</vt:lpstr>
      <vt:lpstr>3. Examining The Values of γ and β  – Training only BN sparsifies activations</vt:lpstr>
      <vt:lpstr>3. Examining The Values of γ and β  – Training only BN sparsifies activations</vt:lpstr>
      <vt:lpstr>3. Examining The Values of γ and β – Summary</vt:lpstr>
      <vt:lpstr>4.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형섭 이</dc:creator>
  <cp:lastModifiedBy>이형섭/임베디드시스템공학과</cp:lastModifiedBy>
  <cp:revision>3810</cp:revision>
  <cp:lastPrinted>2025-10-29T03:35:47Z</cp:lastPrinted>
  <dcterms:created xsi:type="dcterms:W3CDTF">2023-10-11T13:31:20Z</dcterms:created>
  <dcterms:modified xsi:type="dcterms:W3CDTF">2026-01-15T05:16:56Z</dcterms:modified>
</cp:coreProperties>
</file>