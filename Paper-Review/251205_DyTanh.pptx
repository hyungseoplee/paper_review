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432" r:id="rId2"/>
    <p:sldId id="257" r:id="rId3"/>
    <p:sldId id="470" r:id="rId4"/>
    <p:sldId id="471" r:id="rId5"/>
    <p:sldId id="433" r:id="rId6"/>
    <p:sldId id="434" r:id="rId7"/>
    <p:sldId id="436" r:id="rId8"/>
    <p:sldId id="437" r:id="rId9"/>
    <p:sldId id="438" r:id="rId10"/>
    <p:sldId id="439" r:id="rId11"/>
    <p:sldId id="440" r:id="rId12"/>
    <p:sldId id="441" r:id="rId13"/>
    <p:sldId id="445" r:id="rId14"/>
    <p:sldId id="447" r:id="rId15"/>
    <p:sldId id="448" r:id="rId16"/>
    <p:sldId id="449" r:id="rId17"/>
    <p:sldId id="453" r:id="rId18"/>
    <p:sldId id="454" r:id="rId19"/>
    <p:sldId id="451" r:id="rId20"/>
    <p:sldId id="455" r:id="rId21"/>
    <p:sldId id="456" r:id="rId22"/>
    <p:sldId id="457" r:id="rId23"/>
    <p:sldId id="458" r:id="rId24"/>
    <p:sldId id="462" r:id="rId25"/>
    <p:sldId id="459" r:id="rId26"/>
    <p:sldId id="460" r:id="rId27"/>
    <p:sldId id="461" r:id="rId28"/>
    <p:sldId id="464" r:id="rId29"/>
    <p:sldId id="463" r:id="rId30"/>
    <p:sldId id="467" r:id="rId31"/>
    <p:sldId id="468" r:id="rId32"/>
    <p:sldId id="469" r:id="rId33"/>
    <p:sldId id="465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A00"/>
    <a:srgbClr val="D88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43"/>
    <p:restoredTop sz="86312"/>
  </p:normalViewPr>
  <p:slideViewPr>
    <p:cSldViewPr snapToGrid="0">
      <p:cViewPr varScale="1">
        <p:scale>
          <a:sx n="129" d="100"/>
          <a:sy n="129" d="100"/>
        </p:scale>
        <p:origin x="2032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166" d="100"/>
          <a:sy n="166" d="100"/>
        </p:scale>
        <p:origin x="59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286FC00A-97F0-39BF-52F7-11F602711C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0FD6ABF-0873-92EE-6C5D-6B7A7DAD41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6566-C4C8-864D-9390-3796A3A9C061}" type="datetimeFigureOut">
              <a:rPr kumimoji="1" lang="ko-KR" altLang="en-US" smtClean="0"/>
              <a:t>2025. 12. 5.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809309-5735-A218-61DF-E20BB6572D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D20361-3F09-9084-DC5F-B674AC2805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94AFA-983E-D740-B6B2-A1532ECE876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6020888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2T06:15:45.626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0,'66'0,"-1"0,-7 0,-2 0,7 0,-3 0,24 0,-21 0,29 0,-29 0,4 0,5 0,-1 0,-7 0,-6 0,16 0,-40 0,-17 0,3 0,4 0,4 0,4 0,12 4,-24-3,10 3,-12-4,-1 0,13 0,-9 0,6 0,-3 0,-1 3,-1-2,-1 2,-2-3,0 0,6 0,0 0,-5 2,6-1,-3 2,0-3,1 0,0 0,-6 0,5 0,-4 0,3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2T06:15:50.596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7,'67'0,"0"0,0 0,10 0,1 0,2 0,-1 0,0 0,-1 0,2 0,-1 0,-9 0,-13 0,-8 0,37 0,-40 0,-3 0,5 0,0 0,-8 0,5 0,-14-3,15 2,-22-2,-2 3,-4 0,-2 0,18 0,-10 0,9 0,-19 0,6 3,1-2,-2 1,4-2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2T06:16:10.412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58,'77'0,"-1"0,-4 1,1-2,8-3,-1-1,-9 4,-2 0,-8-4,-4 1,28 4,-18 0,-25 0,38 0,-32 0,16 0,-36 0,-4 3,-4-3,8 3,-9 0,3-2,9 2,-9-3,9 0,-15 0,4 0,3 0,-3 0,6 0,-6 0,2 0,2 0,-4 0,2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2T07:19:19.633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58,'77'0,"-1"0,-4 1,1-2,8-3,-1-1,-9 4,-2 0,-8-4,-4 1,28 4,-18 0,-25 0,38 0,-32 0,16 0,-36 0,-4 3,-4-3,8 3,-9 0,3-2,9 2,-9-3,9 0,-15 0,4 0,3 0,-3 0,6 0,-6 0,2 0,2 0,-4 0,2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CCD09A-058A-C54B-8839-AF06743A1D5A}" type="datetimeFigureOut">
              <a:rPr kumimoji="1" lang="ko-KR" altLang="en-US" smtClean="0"/>
              <a:t>2025. 12. 5.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D3C5E-06BF-4547-A315-150B76FC98D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29802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48900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49912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4970E-F7F1-7ABC-0580-B5E0DBCA2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EAFEEC-748E-FB0E-599C-6FB2BDDF01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6B404E-9DDB-82C0-1A92-31C8299D8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어떤 </a:t>
            </a:r>
            <a:r>
              <a:rPr kumimoji="1" lang="en-US" altLang="ko-KR" sz="1200" b="0" dirty="0">
                <a:latin typeface="+mj-lt"/>
              </a:rPr>
              <a:t>forward pass</a:t>
            </a:r>
            <a:r>
              <a:rPr kumimoji="1" lang="ko-KR" altLang="en-US" sz="1200" b="0" dirty="0">
                <a:latin typeface="+mj-lt"/>
              </a:rPr>
              <a:t>에서는 빨간색 분포를 갖는 </a:t>
            </a:r>
            <a:r>
              <a:rPr kumimoji="1" lang="en-US" altLang="ko-KR" sz="1200" b="0" dirty="0">
                <a:latin typeface="+mj-lt"/>
              </a:rPr>
              <a:t>activation..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어떤 </a:t>
            </a:r>
            <a:r>
              <a:rPr kumimoji="1" lang="en-US" altLang="ko-KR" sz="1200" b="0" dirty="0">
                <a:latin typeface="+mj-lt"/>
              </a:rPr>
              <a:t>forward pass</a:t>
            </a:r>
            <a:r>
              <a:rPr kumimoji="1" lang="ko-KR" altLang="en-US" sz="1200" b="0" dirty="0">
                <a:latin typeface="+mj-lt"/>
              </a:rPr>
              <a:t>에서는 파란색 분포를 갖는 </a:t>
            </a:r>
            <a:r>
              <a:rPr kumimoji="1" lang="en-US" altLang="ko-KR" sz="1200" b="0" dirty="0">
                <a:latin typeface="+mj-lt"/>
              </a:rPr>
              <a:t>activation…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  <a:sym typeface="Wingdings" pitchFamily="2" charset="2"/>
              </a:rPr>
              <a:t> </a:t>
            </a:r>
            <a:r>
              <a:rPr kumimoji="1" lang="ko-KR" altLang="en-US" sz="1200" b="0" dirty="0">
                <a:latin typeface="+mj-lt"/>
              </a:rPr>
              <a:t>새로운 </a:t>
            </a:r>
            <a:r>
              <a:rPr kumimoji="1" lang="en-US" altLang="ko-KR" sz="1200" b="0" dirty="0">
                <a:latin typeface="+mj-lt"/>
              </a:rPr>
              <a:t>distribution</a:t>
            </a:r>
            <a:r>
              <a:rPr kumimoji="1" lang="ko-KR" altLang="en-US" sz="1200" b="0" dirty="0">
                <a:latin typeface="+mj-lt"/>
              </a:rPr>
              <a:t>을 계속해서 학습해야 함</a:t>
            </a:r>
            <a:r>
              <a:rPr kumimoji="1" lang="en-US" altLang="ko-KR" sz="1200" b="0" dirty="0">
                <a:latin typeface="+mj-lt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그리고 분포에 따라 </a:t>
            </a:r>
            <a:r>
              <a:rPr kumimoji="1" lang="en-US" altLang="ko-KR" sz="1200" b="0" dirty="0">
                <a:latin typeface="+mj-lt"/>
              </a:rPr>
              <a:t>gradient exploding, </a:t>
            </a:r>
            <a:r>
              <a:rPr kumimoji="1" lang="en-US" altLang="ko-KR" sz="1200" b="0" dirty="0" err="1">
                <a:latin typeface="+mj-lt"/>
              </a:rPr>
              <a:t>vanshing</a:t>
            </a:r>
            <a:r>
              <a:rPr kumimoji="1" lang="ko-KR" altLang="en-US" sz="1200" b="0" dirty="0">
                <a:latin typeface="+mj-lt"/>
              </a:rPr>
              <a:t>하는 </a:t>
            </a:r>
            <a:r>
              <a:rPr kumimoji="1" lang="en-US" altLang="ko-KR" sz="1200" b="0" dirty="0">
                <a:latin typeface="+mj-lt"/>
              </a:rPr>
              <a:t>training </a:t>
            </a:r>
            <a:r>
              <a:rPr kumimoji="1" lang="ko-KR" altLang="en-US" sz="1200" b="0" dirty="0">
                <a:latin typeface="+mj-lt"/>
              </a:rPr>
              <a:t>안정성 문제도 있음</a:t>
            </a: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3DC2AF-371C-03BA-6B00-C6CCF41857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82158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7E762-1F8D-358E-2A7C-CC64A6D5B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35B55E-1977-EE66-43E2-BD393F99E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7867AA-A304-26F8-42AE-27BC4E7BA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39EDA5-A565-C1B1-0D5A-208B8F3F4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97855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A6BCB-7406-E1F6-8766-EAA047618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095650-CE5E-D735-0638-48BA05BFC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598592-1A0D-D01D-C145-E08CFECF5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ko-KR" dirty="0"/>
              <a:t>”BN computes </a:t>
            </a:r>
          </a:p>
          <a:p>
            <a:pPr>
              <a:lnSpc>
                <a:spcPct val="150000"/>
              </a:lnSpc>
            </a:pPr>
            <a:r>
              <a:rPr kumimoji="1" lang="en-US" altLang="ko-KR" dirty="0"/>
              <a:t>the mean and variance across both the batch and token dimension”</a:t>
            </a:r>
          </a:p>
          <a:p>
            <a:pPr>
              <a:lnSpc>
                <a:spcPct val="150000"/>
              </a:lnSpc>
            </a:pPr>
            <a:r>
              <a:rPr kumimoji="1" lang="en-US" altLang="ko-KR" dirty="0">
                <a:sym typeface="Wingdings" pitchFamily="2" charset="2"/>
              </a:rPr>
              <a:t> per-channel</a:t>
            </a:r>
            <a:endParaRPr kumimoji="1" lang="ko-KR" altLang="en-US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0EB3EE-21FC-1190-1B48-7EF1E43C69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56964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A3A8B-1069-61DF-5B44-C1DD6CDAA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DA13EB-9D60-4B5F-3102-71BDE0224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5C0CAB-1E07-423B-F8CB-CAF385CEC2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Layer normalization</a:t>
            </a:r>
            <a:r>
              <a:rPr kumimoji="1" lang="ko-KR" altLang="en-US" sz="1200" b="0" dirty="0">
                <a:latin typeface="+mj-lt"/>
              </a:rPr>
              <a:t>은</a:t>
            </a:r>
            <a:r>
              <a:rPr kumimoji="1" lang="en-US" altLang="ko-KR" sz="1200" b="0" dirty="0">
                <a:latin typeface="+mj-lt"/>
              </a:rPr>
              <a:t> </a:t>
            </a:r>
            <a:r>
              <a:rPr kumimoji="1" lang="ko-KR" altLang="en-US" sz="1200" b="0" dirty="0">
                <a:latin typeface="+mj-lt"/>
              </a:rPr>
              <a:t>각 </a:t>
            </a:r>
            <a:r>
              <a:rPr kumimoji="1" lang="en-US" altLang="ko-KR" sz="1200" b="0" dirty="0">
                <a:latin typeface="+mj-lt"/>
              </a:rPr>
              <a:t>sample </a:t>
            </a:r>
            <a:r>
              <a:rPr kumimoji="1" lang="ko-KR" altLang="en-US" sz="1200" b="0" dirty="0">
                <a:latin typeface="+mj-lt"/>
              </a:rPr>
              <a:t>마다 각 </a:t>
            </a:r>
            <a:r>
              <a:rPr kumimoji="1" lang="en-US" altLang="ko-KR" sz="1200" b="0" dirty="0">
                <a:latin typeface="+mj-lt"/>
              </a:rPr>
              <a:t>token</a:t>
            </a:r>
            <a:r>
              <a:rPr kumimoji="1" lang="ko-KR" altLang="en-US" sz="1200" b="0" dirty="0" err="1">
                <a:latin typeface="+mj-lt"/>
              </a:rPr>
              <a:t>에</a:t>
            </a:r>
            <a:r>
              <a:rPr kumimoji="1" lang="ko-KR" altLang="en-US" sz="1200" b="0" dirty="0">
                <a:latin typeface="+mj-lt"/>
              </a:rPr>
              <a:t> 대해 </a:t>
            </a:r>
            <a:r>
              <a:rPr kumimoji="1" lang="en-US" altLang="ko-KR" sz="1200" b="0" dirty="0">
                <a:latin typeface="+mj-lt"/>
              </a:rPr>
              <a:t>statistics</a:t>
            </a:r>
            <a:r>
              <a:rPr kumimoji="1" lang="ko-KR" altLang="en-US" sz="1200" b="0" dirty="0" err="1">
                <a:latin typeface="+mj-lt"/>
              </a:rPr>
              <a:t>를</a:t>
            </a:r>
            <a:r>
              <a:rPr kumimoji="1" lang="ko-KR" altLang="en-US" sz="1200" b="0" dirty="0">
                <a:latin typeface="+mj-lt"/>
              </a:rPr>
              <a:t> 구함</a:t>
            </a: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C9CCF0-453E-CF2E-4C4E-0B2AFEEAF3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22437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65F3A-F5B6-C1C7-D962-6F500CB84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4B3AB2-77EE-C8E1-232A-158EC3132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59BE8E-A755-EE7B-B243-C21AAAFDD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E87DE6-69DA-1882-F571-90F4C64C21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07100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84C5D-2F37-47F2-DAD4-3C590D8C6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54E58A-A5C8-C9D4-6D08-A5A32EB88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C6DA15-69E6-F90D-CC15-5C8579836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B7E0A4-9D9B-927C-C87E-3275B80F0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479235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A665A-A615-A38A-3675-ADC141717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06F65A-67B6-EA00-192C-8A0CB8B8B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27A903-C763-2B0E-2FBE-4C77F7333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88F87F-03D5-D729-D0E2-DA3CDD758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45191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3F56E-9826-6ACC-32F6-2A0DDFFF7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64D485-693A-F3BC-3A08-56C25A327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557E54-8A36-DE7A-B402-B62E559A2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AE187D-3C0A-863D-0CC7-7C70713CD5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53831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3F35B-2FFC-F0CC-AF42-6E032F878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224B94-37AA-6D80-B9E6-931049DBA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CC21E0-990B-33F0-1F0D-6307E58E3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A1D1E2-EDE2-9D5B-657C-1578EBA188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939061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8D1D3-7E85-EF7C-031E-2651FCB92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0A9F66-ACC4-40AD-56F9-0392CBC7FE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A97AD3-B832-F1C0-3A8A-EFFD88323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0" dirty="0">
                <a:latin typeface="+mj-lt"/>
              </a:rPr>
              <a:t>오른쪽으로 갈수록 </a:t>
            </a:r>
            <a:r>
              <a:rPr kumimoji="1" lang="en-US" altLang="ko-KR" sz="2000" b="0" dirty="0" err="1">
                <a:latin typeface="+mj-lt"/>
              </a:rPr>
              <a:t>deepr</a:t>
            </a:r>
            <a:r>
              <a:rPr kumimoji="1" lang="en-US" altLang="ko-KR" sz="2000" b="0" dirty="0">
                <a:latin typeface="+mj-lt"/>
              </a:rPr>
              <a:t> layer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B930B2-E583-FBDC-929A-5A8F2584A7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027311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8E34-9D23-0273-261A-A3D23838F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A86A92-6C1D-4851-0A58-DA9DB5F908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A8F8EB-668B-B590-49CE-21812E3F9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719629-2FE6-3B66-06A6-385B7A4BBE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68340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23643-83CD-8D0B-4754-B3A32EA78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AD1FCE-BF6D-3D66-2F5F-7EB5761C7C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911F05-1969-972C-9D55-0621E44AC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똑같은 </a:t>
            </a:r>
            <a:r>
              <a:rPr kumimoji="1" lang="en-US" altLang="ko-KR" sz="1200" b="0" dirty="0">
                <a:latin typeface="+mj-lt"/>
              </a:rPr>
              <a:t>5</a:t>
            </a:r>
            <a:r>
              <a:rPr kumimoji="1" lang="ko-KR" altLang="en-US" sz="1200" b="0" dirty="0">
                <a:latin typeface="+mj-lt"/>
              </a:rPr>
              <a:t>인데</a:t>
            </a:r>
            <a:r>
              <a:rPr kumimoji="1" lang="en-US" altLang="ko-KR" sz="1200" b="0" dirty="0">
                <a:latin typeface="+mj-lt"/>
              </a:rPr>
              <a:t>, output</a:t>
            </a:r>
            <a:r>
              <a:rPr kumimoji="1" lang="ko-KR" altLang="en-US" sz="1200" b="0" dirty="0">
                <a:latin typeface="+mj-lt"/>
              </a:rPr>
              <a:t>은 </a:t>
            </a:r>
            <a:r>
              <a:rPr kumimoji="1" lang="en-US" altLang="ko-KR" sz="1200" b="0" dirty="0">
                <a:latin typeface="+mj-lt"/>
              </a:rPr>
              <a:t>0.3, -1.2</a:t>
            </a:r>
            <a:r>
              <a:rPr kumimoji="1" lang="ko-KR" altLang="en-US" sz="1200" b="0" dirty="0" err="1">
                <a:latin typeface="+mj-lt"/>
              </a:rPr>
              <a:t>를</a:t>
            </a:r>
            <a:r>
              <a:rPr kumimoji="1" lang="ko-KR" altLang="en-US" sz="1200" b="0" dirty="0">
                <a:latin typeface="+mj-lt"/>
              </a:rPr>
              <a:t> 갖게 됨</a:t>
            </a: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이 이유는 </a:t>
            </a:r>
            <a:r>
              <a:rPr kumimoji="1" lang="en-US" altLang="ko-KR" sz="1200" b="0" dirty="0">
                <a:latin typeface="+mj-lt"/>
              </a:rPr>
              <a:t>Per-token</a:t>
            </a:r>
            <a:r>
              <a:rPr kumimoji="1" lang="ko-KR" altLang="en-US" sz="1200" b="0" dirty="0" err="1">
                <a:latin typeface="+mj-lt"/>
              </a:rPr>
              <a:t>으로</a:t>
            </a:r>
            <a:r>
              <a:rPr kumimoji="1" lang="ko-KR" altLang="en-US" sz="1200" b="0" dirty="0">
                <a:latin typeface="+mj-lt"/>
              </a:rPr>
              <a:t> </a:t>
            </a:r>
            <a:r>
              <a:rPr kumimoji="1" lang="en-US" altLang="ko-KR" sz="1200" b="0" dirty="0">
                <a:latin typeface="+mj-lt"/>
              </a:rPr>
              <a:t>mu, variance</a:t>
            </a:r>
            <a:r>
              <a:rPr kumimoji="1" lang="ko-KR" altLang="en-US" sz="1200" b="0" dirty="0" err="1">
                <a:latin typeface="+mj-lt"/>
              </a:rPr>
              <a:t>를</a:t>
            </a:r>
            <a:r>
              <a:rPr kumimoji="1" lang="ko-KR" altLang="en-US" sz="1200" b="0" dirty="0">
                <a:latin typeface="+mj-lt"/>
              </a:rPr>
              <a:t> 구하기 때문에</a:t>
            </a:r>
            <a:r>
              <a:rPr kumimoji="1" lang="en-US" altLang="ko-KR" sz="1200" b="0" dirty="0">
                <a:latin typeface="+mj-lt"/>
              </a:rPr>
              <a:t>..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1CCCE9-DEC7-E21F-FB23-1A9F77ABA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923527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D7146-9515-AE83-4EEC-09C1E9D38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0B5746-8BEE-7DEC-5FC2-74FBC557A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916079-B3B6-9AD4-6DAE-F9FF5B18F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Per token</a:t>
            </a:r>
            <a:r>
              <a:rPr kumimoji="1" lang="ko-KR" altLang="en-US" sz="1200" b="0" dirty="0" err="1">
                <a:latin typeface="+mj-lt"/>
              </a:rPr>
              <a:t>끼리는</a:t>
            </a:r>
            <a:r>
              <a:rPr kumimoji="1" lang="ko-KR" altLang="en-US" sz="1200" b="0" dirty="0">
                <a:latin typeface="+mj-lt"/>
              </a:rPr>
              <a:t> </a:t>
            </a:r>
            <a:r>
              <a:rPr kumimoji="1" lang="en-US" altLang="ko-KR" sz="1200" b="0" dirty="0">
                <a:latin typeface="+mj-lt"/>
              </a:rPr>
              <a:t>linear</a:t>
            </a:r>
            <a:r>
              <a:rPr kumimoji="1" lang="ko-KR" altLang="en-US" sz="1200" b="0" dirty="0">
                <a:latin typeface="+mj-lt"/>
              </a:rPr>
              <a:t>하지만 전체 </a:t>
            </a:r>
            <a:r>
              <a:rPr kumimoji="1" lang="en-US" altLang="ko-KR" sz="1200" b="0" dirty="0">
                <a:latin typeface="+mj-lt"/>
              </a:rPr>
              <a:t>token</a:t>
            </a:r>
            <a:r>
              <a:rPr kumimoji="1" lang="ko-KR" altLang="en-US" sz="1200" b="0" dirty="0">
                <a:latin typeface="+mj-lt"/>
              </a:rPr>
              <a:t>을 </a:t>
            </a:r>
            <a:r>
              <a:rPr kumimoji="1" lang="en-US" altLang="ko-KR" sz="1200" b="0" dirty="0">
                <a:latin typeface="+mj-lt"/>
              </a:rPr>
              <a:t>plot</a:t>
            </a:r>
            <a:r>
              <a:rPr kumimoji="1" lang="ko-KR" altLang="en-US" sz="1200" b="0" dirty="0">
                <a:latin typeface="+mj-lt"/>
              </a:rPr>
              <a:t>했을 때</a:t>
            </a:r>
            <a:r>
              <a:rPr kumimoji="1" lang="en-US" altLang="ko-KR" sz="1200" b="0" dirty="0">
                <a:latin typeface="+mj-lt"/>
              </a:rPr>
              <a:t>,</a:t>
            </a:r>
            <a:r>
              <a:rPr kumimoji="1" lang="ko-KR" altLang="en-US" sz="1200" b="0" dirty="0">
                <a:latin typeface="+mj-lt"/>
              </a:rPr>
              <a:t> </a:t>
            </a: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전체 입력 </a:t>
            </a:r>
            <a:r>
              <a:rPr kumimoji="1" lang="en-US" altLang="ko-KR" sz="1200" b="0" dirty="0">
                <a:latin typeface="+mj-lt"/>
              </a:rPr>
              <a:t>x</a:t>
            </a:r>
            <a:r>
              <a:rPr kumimoji="1" lang="ko-KR" altLang="en-US" sz="1200" b="0" dirty="0" err="1">
                <a:latin typeface="+mj-lt"/>
              </a:rPr>
              <a:t>에</a:t>
            </a:r>
            <a:r>
              <a:rPr kumimoji="1" lang="ko-KR" altLang="en-US" sz="1200" b="0" dirty="0">
                <a:latin typeface="+mj-lt"/>
              </a:rPr>
              <a:t> 대해 </a:t>
            </a:r>
            <a:r>
              <a:rPr kumimoji="1" lang="en-US" altLang="ko-KR" sz="1200" b="0" dirty="0" err="1">
                <a:latin typeface="+mj-lt"/>
              </a:rPr>
              <a:t>LayerNorm</a:t>
            </a:r>
            <a:r>
              <a:rPr kumimoji="1" lang="ko-KR" altLang="en-US" sz="1200" b="0" dirty="0">
                <a:latin typeface="+mj-lt"/>
              </a:rPr>
              <a:t>을 거친 후 </a:t>
            </a:r>
            <a:r>
              <a:rPr kumimoji="1" lang="en-US" altLang="ko-KR" sz="1200" b="0" dirty="0">
                <a:latin typeface="+mj-lt"/>
              </a:rPr>
              <a:t>output</a:t>
            </a:r>
            <a:r>
              <a:rPr kumimoji="1" lang="ko-KR" altLang="en-US" sz="1200" b="0" dirty="0">
                <a:latin typeface="+mj-lt"/>
              </a:rPr>
              <a:t>은 </a:t>
            </a:r>
            <a:r>
              <a:rPr kumimoji="1" lang="en-US" altLang="ko-KR" sz="1200" b="0" dirty="0">
                <a:latin typeface="+mj-lt"/>
              </a:rPr>
              <a:t>nonlinear</a:t>
            </a:r>
            <a:r>
              <a:rPr kumimoji="1" lang="ko-KR" altLang="en-US" sz="1200" b="0" dirty="0">
                <a:latin typeface="+mj-lt"/>
              </a:rPr>
              <a:t>하다</a:t>
            </a:r>
            <a:r>
              <a:rPr kumimoji="1" lang="en-US" altLang="ko-KR" sz="1200" b="0" dirty="0">
                <a:latin typeface="+mj-lt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이 설명을 논문에서는 </a:t>
            </a:r>
            <a:r>
              <a:rPr kumimoji="1" lang="en-US" altLang="ko-KR" sz="1200" b="0" dirty="0">
                <a:latin typeface="+mj-lt"/>
              </a:rPr>
              <a:t>Figure 3</a:t>
            </a:r>
            <a:r>
              <a:rPr kumimoji="1" lang="ko-KR" altLang="en-US" sz="1200" b="0" dirty="0">
                <a:latin typeface="+mj-lt"/>
              </a:rPr>
              <a:t>에서 자세히 한다</a:t>
            </a:r>
            <a:r>
              <a:rPr kumimoji="1" lang="en-US" altLang="ko-KR" sz="1200" b="0" dirty="0">
                <a:latin typeface="+mj-lt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1C3E93-2D36-5C68-BD86-783A904E2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304251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C99C8-D767-70C4-FED2-C94B99DFB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7528A7-BCF6-0B71-3AC8-1B491E6447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A00F2F-6D9A-45D9-8F2F-9196442B0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전체 </a:t>
            </a:r>
            <a:r>
              <a:rPr kumimoji="1" lang="en-US" altLang="ko-KR" sz="1200" b="0" dirty="0">
                <a:latin typeface="+mj-lt"/>
              </a:rPr>
              <a:t>token</a:t>
            </a:r>
            <a:r>
              <a:rPr kumimoji="1" lang="ko-KR" altLang="en-US" sz="1200" b="0" dirty="0" err="1">
                <a:latin typeface="+mj-lt"/>
              </a:rPr>
              <a:t>에</a:t>
            </a:r>
            <a:r>
              <a:rPr kumimoji="1" lang="ko-KR" altLang="en-US" sz="1200" b="0" dirty="0">
                <a:latin typeface="+mj-lt"/>
              </a:rPr>
              <a:t> 대해서 </a:t>
            </a:r>
            <a:r>
              <a:rPr kumimoji="1" lang="en-US" altLang="ko-KR" sz="1200" b="0" dirty="0">
                <a:latin typeface="+mj-lt"/>
              </a:rPr>
              <a:t>x-y plot</a:t>
            </a:r>
            <a:r>
              <a:rPr kumimoji="1" lang="ko-KR" altLang="en-US" sz="1200" b="0" dirty="0">
                <a:latin typeface="+mj-lt"/>
              </a:rPr>
              <a:t>이 </a:t>
            </a:r>
            <a:r>
              <a:rPr kumimoji="1" lang="en-US" altLang="ko-KR" sz="1200" b="0" dirty="0">
                <a:latin typeface="+mj-lt"/>
              </a:rPr>
              <a:t>non-linear transformation</a:t>
            </a:r>
            <a:r>
              <a:rPr kumimoji="1" lang="ko-KR" altLang="en-US" sz="1200" b="0" dirty="0">
                <a:latin typeface="+mj-lt"/>
              </a:rPr>
              <a:t>된다는 것은 이제 </a:t>
            </a:r>
            <a:r>
              <a:rPr kumimoji="1" lang="en-US" altLang="ko-KR" sz="1200" b="0" dirty="0">
                <a:latin typeface="+mj-lt"/>
              </a:rPr>
              <a:t>OK.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81386F-F0FC-FBD6-BAE2-A038EF666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388676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1C264-0327-CA8C-C903-F99B7C29B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590433-2CFD-E9C3-4943-DF27B3080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9CFA11-5493-E130-9C04-6AB7D01D9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16596D-C795-5738-0693-FEE0DA3C4E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909933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29532-7E69-FF46-2489-4339DC59E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6D676A-3375-BE28-C29B-A75F6DD88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A37C69-3DB2-3DD8-374E-8132B3563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48D011-1891-84F7-9F72-82DEE73EEA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967344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7F530-D97C-5934-6625-A324C9F4E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B8F30C-458F-9E84-FD57-B7ACF2D25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B75747-3448-EBFE-C748-24A23973C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Normalization layer</a:t>
            </a:r>
            <a:r>
              <a:rPr kumimoji="1" lang="ko-KR" altLang="en-US" sz="1200" b="0" dirty="0">
                <a:latin typeface="+mj-lt"/>
              </a:rPr>
              <a:t>가 </a:t>
            </a:r>
            <a:r>
              <a:rPr kumimoji="1" lang="en-US" altLang="ko-KR" sz="1200" b="0" dirty="0" err="1">
                <a:latin typeface="+mj-lt"/>
              </a:rPr>
              <a:t>extremem</a:t>
            </a:r>
            <a:r>
              <a:rPr kumimoji="1" lang="en-US" altLang="ko-KR" sz="1200" b="0" dirty="0">
                <a:latin typeface="+mj-lt"/>
              </a:rPr>
              <a:t> values</a:t>
            </a:r>
            <a:r>
              <a:rPr kumimoji="1" lang="ko-KR" altLang="en-US" sz="1200" b="0" dirty="0" err="1">
                <a:latin typeface="+mj-lt"/>
              </a:rPr>
              <a:t>를</a:t>
            </a:r>
            <a:r>
              <a:rPr kumimoji="1" lang="ko-KR" altLang="en-US" sz="1200" b="0" dirty="0">
                <a:latin typeface="+mj-lt"/>
              </a:rPr>
              <a:t> </a:t>
            </a:r>
            <a:r>
              <a:rPr kumimoji="1" lang="en-US" altLang="ko-KR" sz="1200" b="0" dirty="0">
                <a:latin typeface="+mj-lt"/>
              </a:rPr>
              <a:t>squash</a:t>
            </a:r>
            <a:r>
              <a:rPr kumimoji="1" lang="ko-KR" altLang="en-US" sz="1200" b="0" dirty="0">
                <a:latin typeface="+mj-lt"/>
              </a:rPr>
              <a:t>해주는 역할로 인해</a:t>
            </a:r>
            <a:r>
              <a:rPr kumimoji="1" lang="en-US" altLang="ko-KR" sz="1200" b="0" dirty="0">
                <a:latin typeface="+mj-lt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이러한 </a:t>
            </a:r>
            <a:r>
              <a:rPr kumimoji="1" lang="en-US" altLang="ko-KR" sz="1200" b="0" dirty="0">
                <a:latin typeface="+mj-lt"/>
              </a:rPr>
              <a:t>normalization layer</a:t>
            </a:r>
            <a:r>
              <a:rPr kumimoji="1" lang="ko-KR" altLang="en-US" sz="1200" b="0" dirty="0" err="1">
                <a:latin typeface="+mj-lt"/>
              </a:rPr>
              <a:t>를</a:t>
            </a:r>
            <a:r>
              <a:rPr kumimoji="1" lang="ko-KR" altLang="en-US" sz="1200" b="0" dirty="0">
                <a:latin typeface="+mj-lt"/>
              </a:rPr>
              <a:t> 간단한 </a:t>
            </a:r>
            <a:r>
              <a:rPr kumimoji="1" lang="en-US" altLang="ko-KR" sz="1200" b="0" dirty="0">
                <a:latin typeface="+mj-lt"/>
              </a:rPr>
              <a:t>affine transformation layer</a:t>
            </a:r>
            <a:r>
              <a:rPr kumimoji="1" lang="ko-KR" altLang="en-US" sz="1200" b="0" dirty="0">
                <a:latin typeface="+mj-lt"/>
              </a:rPr>
              <a:t>로 </a:t>
            </a:r>
            <a:r>
              <a:rPr kumimoji="1" lang="en-US" altLang="ko-KR" sz="1200" b="0" dirty="0">
                <a:latin typeface="+mj-lt"/>
              </a:rPr>
              <a:t>approximation</a:t>
            </a:r>
            <a:r>
              <a:rPr kumimoji="1" lang="ko-KR" altLang="en-US" sz="1200" b="0" dirty="0">
                <a:latin typeface="+mj-lt"/>
              </a:rPr>
              <a:t>할 수 없다고 주장</a:t>
            </a:r>
            <a:r>
              <a:rPr kumimoji="1" lang="en-US" altLang="ko-KR" sz="1200" b="0" dirty="0">
                <a:latin typeface="+mj-lt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그래서 이후 </a:t>
            </a:r>
            <a:r>
              <a:rPr kumimoji="1" lang="en-US" altLang="ko-KR" sz="1200" b="0" dirty="0">
                <a:latin typeface="+mj-lt"/>
              </a:rPr>
              <a:t>method</a:t>
            </a:r>
            <a:r>
              <a:rPr kumimoji="1" lang="ko-KR" altLang="en-US" sz="1200" b="0" dirty="0">
                <a:latin typeface="+mj-lt"/>
              </a:rPr>
              <a:t>에서 본인들이 왜 </a:t>
            </a:r>
            <a:r>
              <a:rPr kumimoji="1" lang="en-US" altLang="ko-KR" sz="1200" b="0" dirty="0">
                <a:latin typeface="+mj-lt"/>
              </a:rPr>
              <a:t>non-linearity </a:t>
            </a:r>
            <a:r>
              <a:rPr kumimoji="1" lang="ko-KR" altLang="en-US" sz="1200" b="0" dirty="0">
                <a:latin typeface="+mj-lt"/>
              </a:rPr>
              <a:t>인 </a:t>
            </a:r>
            <a:r>
              <a:rPr kumimoji="1" lang="en-US" altLang="ko-KR" sz="1200" b="0" dirty="0">
                <a:latin typeface="+mj-lt"/>
              </a:rPr>
              <a:t>tanh</a:t>
            </a:r>
            <a:r>
              <a:rPr kumimoji="1" lang="ko-KR" altLang="en-US" sz="1200" b="0" dirty="0" err="1">
                <a:latin typeface="+mj-lt"/>
              </a:rPr>
              <a:t>를</a:t>
            </a:r>
            <a:r>
              <a:rPr kumimoji="1" lang="ko-KR" altLang="en-US" sz="1200" b="0" dirty="0">
                <a:latin typeface="+mj-lt"/>
              </a:rPr>
              <a:t> 썼는지를 정당화함</a:t>
            </a:r>
            <a:r>
              <a:rPr kumimoji="1" lang="en-US" altLang="ko-KR" sz="1200" b="0" dirty="0">
                <a:latin typeface="+mj-lt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13C149-39FC-5EF5-9343-1C106AEF77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077043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90E52-24DE-2A86-62D9-8EC458655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F4653B-CA19-3DFA-7C87-E886D7934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4BC17F-3C85-036E-7AE2-5E6AF5440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기존에 </a:t>
            </a:r>
            <a:r>
              <a:rPr kumimoji="1" lang="en-US" altLang="ko-KR" sz="1200" b="0" dirty="0" err="1">
                <a:latin typeface="+mj-lt"/>
              </a:rPr>
              <a:t>normalizae</a:t>
            </a:r>
            <a:r>
              <a:rPr kumimoji="1" lang="ko-KR" altLang="en-US" sz="1200" b="0" dirty="0">
                <a:latin typeface="+mj-lt"/>
              </a:rPr>
              <a:t>하는 부분을 </a:t>
            </a:r>
            <a:r>
              <a:rPr kumimoji="1" lang="en-US" altLang="ko-KR" sz="1200" b="0" dirty="0">
                <a:latin typeface="+mj-lt"/>
              </a:rPr>
              <a:t>dynamic tanh</a:t>
            </a:r>
            <a:r>
              <a:rPr kumimoji="1" lang="ko-KR" altLang="en-US" sz="1200" b="0" dirty="0">
                <a:latin typeface="+mj-lt"/>
              </a:rPr>
              <a:t>로 대체</a:t>
            </a: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여기서</a:t>
            </a:r>
            <a:r>
              <a:rPr kumimoji="1" lang="en-US" altLang="ko-KR" sz="1200" b="0" dirty="0">
                <a:latin typeface="+mj-lt"/>
              </a:rPr>
              <a:t>, alpha</a:t>
            </a:r>
            <a:r>
              <a:rPr kumimoji="1" lang="ko-KR" altLang="en-US" sz="1200" b="0" dirty="0">
                <a:latin typeface="+mj-lt"/>
              </a:rPr>
              <a:t>가 </a:t>
            </a:r>
            <a:r>
              <a:rPr kumimoji="1" lang="ko-KR" altLang="en-US" sz="1200" b="0" dirty="0" err="1">
                <a:latin typeface="+mj-lt"/>
              </a:rPr>
              <a:t>뭐냐면</a:t>
            </a:r>
            <a:r>
              <a:rPr kumimoji="1" lang="en-US" altLang="ko-KR" sz="1200" b="0" dirty="0">
                <a:latin typeface="+mj-lt"/>
              </a:rPr>
              <a:t>?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3533B4-793D-52EA-ACA6-9EE2454481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404861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F927D-2831-8C64-2877-8455B435B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7A34CE-CB97-262F-E594-5D2F74165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29FD99-7A48-BD3D-2E97-74A01AC71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Earlier layer</a:t>
            </a:r>
            <a:r>
              <a:rPr kumimoji="1" lang="ko-KR" altLang="en-US" sz="1200" b="0" dirty="0">
                <a:latin typeface="+mj-lt"/>
              </a:rPr>
              <a:t>에는 </a:t>
            </a:r>
            <a:r>
              <a:rPr kumimoji="1" lang="en-US" altLang="ko-KR" sz="1200" b="0" dirty="0">
                <a:latin typeface="+mj-lt"/>
              </a:rPr>
              <a:t>central part</a:t>
            </a:r>
            <a:r>
              <a:rPr kumimoji="1" lang="ko-KR" altLang="en-US" sz="1200" b="0" dirty="0" err="1">
                <a:latin typeface="+mj-lt"/>
              </a:rPr>
              <a:t>에</a:t>
            </a:r>
            <a:r>
              <a:rPr kumimoji="1" lang="ko-KR" altLang="en-US" sz="1200" b="0" dirty="0">
                <a:latin typeface="+mj-lt"/>
              </a:rPr>
              <a:t> </a:t>
            </a:r>
            <a:r>
              <a:rPr kumimoji="1" lang="ko-KR" altLang="en-US" sz="1200" b="0" dirty="0" err="1">
                <a:latin typeface="+mj-lt"/>
              </a:rPr>
              <a:t>몰려있어</a:t>
            </a:r>
            <a:r>
              <a:rPr kumimoji="1" lang="ko-KR" altLang="en-US" sz="1200" b="0" dirty="0">
                <a:latin typeface="+mj-lt"/>
              </a:rPr>
              <a:t> </a:t>
            </a:r>
            <a:r>
              <a:rPr kumimoji="1" lang="en-US" altLang="ko-KR" sz="1200" b="0" dirty="0">
                <a:latin typeface="+mj-lt"/>
              </a:rPr>
              <a:t>linear</a:t>
            </a:r>
            <a:r>
              <a:rPr kumimoji="1" lang="ko-KR" altLang="en-US" sz="1200" b="0" dirty="0">
                <a:latin typeface="+mj-lt"/>
              </a:rPr>
              <a:t>한 형태이고</a:t>
            </a: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deeper layer</a:t>
            </a:r>
            <a:r>
              <a:rPr kumimoji="1" lang="ko-KR" altLang="en-US" sz="1200" b="0" dirty="0">
                <a:latin typeface="+mj-lt"/>
              </a:rPr>
              <a:t>에는 </a:t>
            </a:r>
            <a:r>
              <a:rPr kumimoji="1" lang="en-US" altLang="ko-KR" sz="1200" b="0" dirty="0">
                <a:latin typeface="+mj-lt"/>
              </a:rPr>
              <a:t>extreme value</a:t>
            </a:r>
            <a:r>
              <a:rPr kumimoji="1" lang="ko-KR" altLang="en-US" sz="1200" b="0" dirty="0">
                <a:latin typeface="+mj-lt"/>
              </a:rPr>
              <a:t>들이 </a:t>
            </a:r>
            <a:r>
              <a:rPr kumimoji="1" lang="en-US" altLang="ko-KR" sz="1200" b="0" dirty="0">
                <a:latin typeface="+mj-lt"/>
              </a:rPr>
              <a:t>squashing</a:t>
            </a:r>
            <a:r>
              <a:rPr kumimoji="1" lang="ko-KR" altLang="en-US" sz="1200" b="0" dirty="0">
                <a:latin typeface="+mj-lt"/>
              </a:rPr>
              <a:t>된 </a:t>
            </a:r>
            <a:r>
              <a:rPr kumimoji="1" lang="en-US" altLang="ko-KR" sz="1200" b="0" dirty="0">
                <a:latin typeface="+mj-lt"/>
              </a:rPr>
              <a:t>S-shaped curve </a:t>
            </a:r>
            <a:r>
              <a:rPr kumimoji="1" lang="ko-KR" altLang="en-US" sz="1200" b="0" dirty="0">
                <a:latin typeface="+mj-lt"/>
              </a:rPr>
              <a:t>형태임</a:t>
            </a:r>
            <a:r>
              <a:rPr kumimoji="1" lang="en-US" altLang="ko-KR" sz="1200" b="0" dirty="0">
                <a:latin typeface="+mj-lt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이 </a:t>
            </a:r>
            <a:r>
              <a:rPr kumimoji="1" lang="en-US" altLang="ko-KR" sz="1200" b="0" dirty="0">
                <a:latin typeface="+mj-lt"/>
              </a:rPr>
              <a:t>LN layer</a:t>
            </a:r>
            <a:r>
              <a:rPr kumimoji="1" lang="ko-KR" altLang="en-US" sz="1200" b="0" dirty="0">
                <a:latin typeface="+mj-lt"/>
              </a:rPr>
              <a:t>에서 했던 </a:t>
            </a:r>
            <a:r>
              <a:rPr kumimoji="1" lang="en-US" altLang="ko-KR" sz="1200" b="0" dirty="0">
                <a:latin typeface="+mj-lt"/>
              </a:rPr>
              <a:t>scaling</a:t>
            </a:r>
            <a:r>
              <a:rPr kumimoji="1" lang="ko-KR" altLang="en-US" sz="1200" b="0" dirty="0">
                <a:latin typeface="+mj-lt"/>
              </a:rPr>
              <a:t>을 </a:t>
            </a:r>
            <a:r>
              <a:rPr kumimoji="1" lang="en-US" altLang="ko-KR" sz="1200" b="0" dirty="0">
                <a:latin typeface="+mj-lt"/>
              </a:rPr>
              <a:t>\alpha</a:t>
            </a:r>
            <a:r>
              <a:rPr kumimoji="1" lang="ko-KR" altLang="en-US" sz="1200" b="0" dirty="0" err="1">
                <a:latin typeface="+mj-lt"/>
              </a:rPr>
              <a:t>를</a:t>
            </a:r>
            <a:r>
              <a:rPr kumimoji="1" lang="ko-KR" altLang="en-US" sz="1200" b="0" dirty="0">
                <a:latin typeface="+mj-lt"/>
              </a:rPr>
              <a:t> 통해 할 수 있다는 말</a:t>
            </a:r>
            <a:r>
              <a:rPr kumimoji="1" lang="en-US" altLang="ko-KR" sz="1200" b="0" dirty="0">
                <a:latin typeface="+mj-lt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이게 뒤에 분석 부분을 참고해서</a:t>
            </a:r>
            <a:r>
              <a:rPr kumimoji="1" lang="en-US" altLang="ko-KR" sz="1200" b="0" dirty="0">
                <a:latin typeface="+mj-lt"/>
              </a:rPr>
              <a:t>, </a:t>
            </a:r>
            <a:r>
              <a:rPr kumimoji="1" lang="ko-KR" altLang="en-US" sz="1200" b="0" dirty="0">
                <a:latin typeface="+mj-lt"/>
              </a:rPr>
              <a:t>구체적으로 어떤 의미를 </a:t>
            </a:r>
            <a:r>
              <a:rPr kumimoji="1" lang="ko-KR" altLang="en-US" sz="1200" b="0" dirty="0" err="1">
                <a:latin typeface="+mj-lt"/>
              </a:rPr>
              <a:t>갖냐면</a:t>
            </a:r>
            <a:r>
              <a:rPr kumimoji="1" lang="en-US" altLang="ko-KR" sz="1200" b="0" dirty="0">
                <a:latin typeface="+mj-lt"/>
              </a:rPr>
              <a:t>...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006A40-313C-B905-55BF-BEFAC8D5EA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48543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AC51D-BB8F-9512-2CF5-ED9E39BD7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F5A925-0BB4-5193-6D31-F06BA72DE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DE41F1-1722-6204-FAB6-454B34F47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나중에 </a:t>
            </a:r>
            <a:r>
              <a:rPr kumimoji="1" lang="en-US" altLang="ko-KR" sz="1200" b="0" dirty="0">
                <a:latin typeface="+mj-lt"/>
              </a:rPr>
              <a:t>experiment &gt; analysis</a:t>
            </a:r>
            <a:r>
              <a:rPr kumimoji="1" lang="ko-KR" altLang="en-US" sz="1200" b="0" dirty="0">
                <a:latin typeface="+mj-lt"/>
              </a:rPr>
              <a:t>에서 나오는 </a:t>
            </a:r>
            <a:r>
              <a:rPr kumimoji="1" lang="en-US" altLang="ko-KR" sz="1200" b="0" dirty="0">
                <a:latin typeface="+mj-lt"/>
              </a:rPr>
              <a:t>figure</a:t>
            </a:r>
            <a:r>
              <a:rPr kumimoji="1" lang="ko-KR" altLang="en-US" sz="1200" b="0" dirty="0">
                <a:latin typeface="+mj-lt"/>
              </a:rPr>
              <a:t>인데</a:t>
            </a:r>
            <a:r>
              <a:rPr kumimoji="1" lang="en-US" altLang="ko-KR" sz="1200" b="0" dirty="0">
                <a:latin typeface="+mj-lt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(left) </a:t>
            </a:r>
            <a:r>
              <a:rPr kumimoji="1" lang="ko-KR" altLang="en-US" sz="1200" b="0" dirty="0">
                <a:latin typeface="+mj-lt"/>
              </a:rPr>
              <a:t>학습 중에 </a:t>
            </a:r>
            <a:r>
              <a:rPr kumimoji="1" lang="en-US" altLang="ko-KR" sz="1200" b="0" dirty="0">
                <a:latin typeface="+mj-lt"/>
              </a:rPr>
              <a:t>epoch</a:t>
            </a:r>
            <a:r>
              <a:rPr kumimoji="1" lang="ko-KR" altLang="en-US" sz="1200" b="0" dirty="0">
                <a:latin typeface="+mj-lt"/>
              </a:rPr>
              <a:t>마다 </a:t>
            </a:r>
            <a:r>
              <a:rPr kumimoji="1" lang="en-US" altLang="ko-KR" sz="1200" b="0" dirty="0">
                <a:latin typeface="+mj-lt"/>
              </a:rPr>
              <a:t>alpha</a:t>
            </a:r>
            <a:r>
              <a:rPr kumimoji="1" lang="ko-KR" altLang="en-US" sz="1200" b="0" dirty="0">
                <a:latin typeface="+mj-lt"/>
              </a:rPr>
              <a:t>와 </a:t>
            </a:r>
            <a:r>
              <a:rPr kumimoji="1" lang="en-US" altLang="ko-KR" sz="1200" b="0" dirty="0">
                <a:latin typeface="+mj-lt"/>
              </a:rPr>
              <a:t>1/std</a:t>
            </a:r>
            <a:r>
              <a:rPr kumimoji="1" lang="ko-KR" altLang="en-US" sz="1200" b="0" dirty="0">
                <a:latin typeface="+mj-lt"/>
              </a:rPr>
              <a:t>의 값을 </a:t>
            </a:r>
            <a:r>
              <a:rPr kumimoji="1" lang="en-US" altLang="ko-KR" sz="1200" b="0" dirty="0">
                <a:latin typeface="+mj-lt"/>
              </a:rPr>
              <a:t>plot</a:t>
            </a:r>
            <a:r>
              <a:rPr kumimoji="1" lang="ko-KR" altLang="en-US" sz="1200" b="0" dirty="0">
                <a:latin typeface="+mj-lt"/>
              </a:rPr>
              <a:t>하여 얼마나 유사한지 </a:t>
            </a:r>
            <a:r>
              <a:rPr kumimoji="1" lang="ko-KR" altLang="en-US" sz="1200" b="0" dirty="0" err="1">
                <a:latin typeface="+mj-lt"/>
              </a:rPr>
              <a:t>확인해봄</a:t>
            </a: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(right) </a:t>
            </a:r>
            <a:r>
              <a:rPr kumimoji="1" lang="ko-KR" altLang="en-US" sz="1200" b="0" dirty="0">
                <a:latin typeface="+mj-lt"/>
              </a:rPr>
              <a:t>학습이 끝난 이후에</a:t>
            </a:r>
            <a:r>
              <a:rPr kumimoji="1" lang="en-US" altLang="ko-KR" sz="1200" b="0" dirty="0">
                <a:latin typeface="+mj-lt"/>
              </a:rPr>
              <a:t>, alpha</a:t>
            </a:r>
            <a:r>
              <a:rPr kumimoji="1" lang="ko-KR" altLang="en-US" sz="1200" b="0" dirty="0">
                <a:latin typeface="+mj-lt"/>
              </a:rPr>
              <a:t>와 </a:t>
            </a:r>
            <a:r>
              <a:rPr kumimoji="1" lang="en-US" altLang="ko-KR" sz="1200" b="0" dirty="0">
                <a:latin typeface="+mj-lt"/>
              </a:rPr>
              <a:t>1/std</a:t>
            </a:r>
            <a:r>
              <a:rPr kumimoji="1" lang="ko-KR" altLang="en-US" sz="1200" b="0" dirty="0">
                <a:latin typeface="+mj-lt"/>
              </a:rPr>
              <a:t>의 값을 </a:t>
            </a:r>
            <a:r>
              <a:rPr kumimoji="1" lang="en-US" altLang="ko-KR" sz="1200" b="0" dirty="0">
                <a:latin typeface="+mj-lt"/>
              </a:rPr>
              <a:t>plot</a:t>
            </a:r>
            <a:r>
              <a:rPr kumimoji="1" lang="ko-KR" altLang="en-US" sz="1200" b="0" dirty="0">
                <a:latin typeface="+mj-lt"/>
              </a:rPr>
              <a:t>했더니</a:t>
            </a:r>
            <a:r>
              <a:rPr kumimoji="1" lang="en-US" altLang="ko-KR" sz="1200" b="0" dirty="0">
                <a:latin typeface="+mj-lt"/>
              </a:rPr>
              <a:t>, </a:t>
            </a:r>
            <a:r>
              <a:rPr kumimoji="1" lang="ko-KR" altLang="en-US" sz="1200" b="0" dirty="0">
                <a:latin typeface="+mj-lt"/>
              </a:rPr>
              <a:t>양의 </a:t>
            </a:r>
            <a:r>
              <a:rPr kumimoji="1" lang="en-US" altLang="ko-KR" sz="1200" b="0" dirty="0">
                <a:latin typeface="+mj-lt"/>
              </a:rPr>
              <a:t>correlation</a:t>
            </a:r>
            <a:r>
              <a:rPr kumimoji="1" lang="ko-KR" altLang="en-US" sz="1200" b="0" dirty="0">
                <a:latin typeface="+mj-lt"/>
              </a:rPr>
              <a:t>을 갖더라</a:t>
            </a:r>
            <a:r>
              <a:rPr kumimoji="1" lang="en-US" altLang="ko-KR" sz="1200" b="0" dirty="0">
                <a:latin typeface="+mj-lt"/>
              </a:rPr>
              <a:t>..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결국 </a:t>
            </a:r>
            <a:r>
              <a:rPr kumimoji="1" lang="en-US" altLang="ko-KR" sz="1200" b="0" dirty="0">
                <a:latin typeface="+mj-lt"/>
              </a:rPr>
              <a:t>alpha</a:t>
            </a:r>
            <a:r>
              <a:rPr kumimoji="1" lang="ko-KR" altLang="en-US" sz="1200" b="0" dirty="0">
                <a:latin typeface="+mj-lt"/>
              </a:rPr>
              <a:t>는 </a:t>
            </a:r>
            <a:r>
              <a:rPr kumimoji="1" lang="ko-KR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기존의 </a:t>
            </a:r>
            <a:r>
              <a:rPr kumimoji="1"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LN layer</a:t>
            </a:r>
            <a:r>
              <a:rPr kumimoji="1" lang="ko-KR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 </a:t>
            </a:r>
            <a:r>
              <a:rPr kumimoji="1"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1/\sigma</a:t>
            </a:r>
            <a:r>
              <a:rPr kumimoji="1" lang="ko-KR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값에 근접하는 값을 학습해서</a:t>
            </a:r>
            <a:r>
              <a:rPr kumimoji="1"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입력 </a:t>
            </a:r>
            <a:r>
              <a:rPr kumimoji="1"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kumimoji="1" lang="ko-KR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 분포가 </a:t>
            </a:r>
            <a:r>
              <a:rPr kumimoji="1" lang="ko-KR" alt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어떤지</a:t>
            </a:r>
            <a:r>
              <a:rPr kumimoji="1" lang="ko-KR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판단하고 그에 맞게 </a:t>
            </a:r>
            <a:r>
              <a:rPr kumimoji="1"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kumimoji="1" lang="ko-KR" alt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를</a:t>
            </a:r>
            <a:r>
              <a:rPr kumimoji="1" lang="ko-KR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1"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kumimoji="1" lang="en-US" altLang="ko-KR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alphax</a:t>
            </a:r>
            <a:r>
              <a:rPr kumimoji="1" lang="ko-KR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로 조정</a:t>
            </a:r>
            <a:endParaRPr kumimoji="1" lang="en-US" altLang="ko-KR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BA32CF-FF59-C8E7-ABB4-EC58E1425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290193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F2D0F-40F5-02B2-F0DE-3A130D421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8C5134-918A-7A4C-7BA9-073485A30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262946-433D-DAA6-D85B-368F9017E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DCF3F0-D012-7667-69E8-7F9E4F91ED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553374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4120F-5865-00FE-8E83-B5B8531DD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349FA5-7CC0-2880-680F-0F0E4073B4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D79C82-42BE-F0B3-643A-B5209E866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experiments</a:t>
            </a:r>
            <a:r>
              <a:rPr kumimoji="1" lang="ko-KR" altLang="en-US" sz="1200" b="0" dirty="0">
                <a:latin typeface="+mj-lt"/>
              </a:rPr>
              <a:t>에서는 다양한 </a:t>
            </a:r>
            <a:r>
              <a:rPr kumimoji="1" lang="en-US" altLang="ko-KR" sz="1200" b="0" dirty="0">
                <a:latin typeface="+mj-lt"/>
              </a:rPr>
              <a:t>task</a:t>
            </a:r>
            <a:r>
              <a:rPr kumimoji="1" lang="ko-KR" altLang="en-US" sz="1200" b="0" dirty="0" err="1">
                <a:latin typeface="+mj-lt"/>
              </a:rPr>
              <a:t>에</a:t>
            </a:r>
            <a:r>
              <a:rPr kumimoji="1" lang="ko-KR" altLang="en-US" sz="1200" b="0" dirty="0">
                <a:latin typeface="+mj-lt"/>
              </a:rPr>
              <a:t> 적용한 결과들을 보여주는데</a:t>
            </a:r>
            <a:r>
              <a:rPr kumimoji="1" lang="en-US" altLang="ko-KR" sz="1200" b="0" dirty="0">
                <a:latin typeface="+mj-lt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이때 기존의 </a:t>
            </a:r>
            <a:r>
              <a:rPr kumimoji="1" lang="en-US" altLang="ko-KR" sz="1200" b="0" dirty="0">
                <a:latin typeface="+mj-lt"/>
              </a:rPr>
              <a:t>normalization layer</a:t>
            </a:r>
            <a:r>
              <a:rPr kumimoji="1" lang="ko-KR" altLang="en-US" sz="1200" b="0" dirty="0">
                <a:latin typeface="+mj-lt"/>
              </a:rPr>
              <a:t> 대신 </a:t>
            </a:r>
            <a:r>
              <a:rPr kumimoji="1" lang="en-US" altLang="ko-KR" sz="1200" b="0" dirty="0">
                <a:latin typeface="+mj-lt"/>
              </a:rPr>
              <a:t>DyT</a:t>
            </a:r>
            <a:r>
              <a:rPr kumimoji="1" lang="ko-KR" altLang="en-US" sz="1200" b="0" dirty="0">
                <a:latin typeface="+mj-lt"/>
              </a:rPr>
              <a:t>로 바꾸기만 하고</a:t>
            </a:r>
            <a:r>
              <a:rPr kumimoji="1" lang="en-US" altLang="ko-KR" sz="1200" b="0" dirty="0">
                <a:latin typeface="+mj-lt"/>
              </a:rPr>
              <a:t>, hyperparameters</a:t>
            </a:r>
            <a:r>
              <a:rPr kumimoji="1" lang="ko-KR" altLang="en-US" sz="1200" b="0" dirty="0" err="1">
                <a:latin typeface="+mj-lt"/>
              </a:rPr>
              <a:t>를</a:t>
            </a:r>
            <a:r>
              <a:rPr kumimoji="1" lang="ko-KR" altLang="en-US" sz="1200" b="0" dirty="0">
                <a:latin typeface="+mj-lt"/>
              </a:rPr>
              <a:t> 그대로 사용했다고 한다</a:t>
            </a:r>
            <a:r>
              <a:rPr kumimoji="1" lang="en-US" altLang="ko-KR" sz="1200" b="0" dirty="0">
                <a:latin typeface="+mj-lt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E83E25-99A0-5D2B-48C9-E21084A18E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890419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EF60A-7924-19F9-67B1-872F19D68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081D9D-9F04-EC49-647C-D1A9DFCE6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1132C2-9DD5-E49B-FC0A-16EA37ED3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여러 </a:t>
            </a:r>
            <a:r>
              <a:rPr kumimoji="1" lang="en-US" altLang="ko-KR" sz="1200" b="0" dirty="0">
                <a:latin typeface="+mj-lt"/>
              </a:rPr>
              <a:t>task</a:t>
            </a:r>
            <a:r>
              <a:rPr kumimoji="1" lang="ko-KR" altLang="en-US" sz="1200" b="0" dirty="0" err="1">
                <a:latin typeface="+mj-lt"/>
              </a:rPr>
              <a:t>에</a:t>
            </a:r>
            <a:r>
              <a:rPr kumimoji="1" lang="ko-KR" altLang="en-US" sz="1200" b="0" dirty="0">
                <a:latin typeface="+mj-lt"/>
              </a:rPr>
              <a:t> 실험을 해봤다</a:t>
            </a:r>
            <a:r>
              <a:rPr kumimoji="1" lang="en-US" altLang="ko-KR" sz="1200" b="0" dirty="0">
                <a:latin typeface="+mj-lt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LN layer</a:t>
            </a:r>
            <a:r>
              <a:rPr kumimoji="1" lang="ko-KR" altLang="en-US" sz="1200" b="0" dirty="0" err="1">
                <a:latin typeface="+mj-lt"/>
              </a:rPr>
              <a:t>를</a:t>
            </a:r>
            <a:r>
              <a:rPr kumimoji="1" lang="ko-KR" altLang="en-US" sz="1200" b="0" dirty="0">
                <a:latin typeface="+mj-lt"/>
              </a:rPr>
              <a:t> 모두 </a:t>
            </a:r>
            <a:r>
              <a:rPr kumimoji="1" lang="en-US" altLang="ko-KR" sz="1200" b="0" dirty="0">
                <a:latin typeface="+mj-lt"/>
              </a:rPr>
              <a:t>DyT</a:t>
            </a:r>
            <a:r>
              <a:rPr kumimoji="1" lang="ko-KR" altLang="en-US" sz="1200" b="0" dirty="0">
                <a:latin typeface="+mj-lt"/>
              </a:rPr>
              <a:t>로 바꿔서 실험</a:t>
            </a:r>
            <a:r>
              <a:rPr kumimoji="1" lang="en-US" altLang="ko-KR" sz="1200" b="0" dirty="0">
                <a:latin typeface="+mj-lt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D49137-4F0A-2261-3BC9-062A8CE38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455844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E25EC-1EE8-2359-8FA1-731B0B1DC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C48089-01AD-1A23-3A27-0FF3BB371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D59943-9305-0D48-30A3-B22A5E5DC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3830C2-21E8-D991-8630-D351CCD7B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934094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0E299-07BF-7566-8114-3730DC8CC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8DE704-1984-5BDF-BB7A-421639001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E62A2B-B496-44C7-CEC8-C5BDFD9C4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ablation study</a:t>
            </a:r>
            <a:r>
              <a:rPr kumimoji="1" lang="ko-KR" altLang="en-US" sz="1200" b="0" dirty="0" err="1">
                <a:latin typeface="+mj-lt"/>
              </a:rPr>
              <a:t>를</a:t>
            </a:r>
            <a:r>
              <a:rPr kumimoji="1" lang="ko-KR" altLang="en-US" sz="1200" b="0" dirty="0">
                <a:latin typeface="+mj-lt"/>
              </a:rPr>
              <a:t> 통해 </a:t>
            </a:r>
            <a:r>
              <a:rPr kumimoji="1" lang="en-US" altLang="ko-KR" sz="1200" b="0" dirty="0">
                <a:latin typeface="+mj-lt"/>
              </a:rPr>
              <a:t>analysis</a:t>
            </a:r>
            <a:r>
              <a:rPr kumimoji="1" lang="ko-KR" altLang="en-US" sz="1200" b="0" dirty="0" err="1">
                <a:latin typeface="+mj-lt"/>
              </a:rPr>
              <a:t>를</a:t>
            </a:r>
            <a:r>
              <a:rPr kumimoji="1" lang="ko-KR" altLang="en-US" sz="1200" b="0" dirty="0">
                <a:latin typeface="+mj-lt"/>
              </a:rPr>
              <a:t> 했다</a:t>
            </a:r>
            <a:r>
              <a:rPr kumimoji="1" lang="en-US" altLang="ko-KR" sz="1200" b="0" dirty="0">
                <a:latin typeface="+mj-lt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첫번째로</a:t>
            </a:r>
            <a:r>
              <a:rPr kumimoji="1" lang="en-US" altLang="ko-KR" sz="1200" b="0" dirty="0">
                <a:latin typeface="+mj-lt"/>
              </a:rPr>
              <a:t>, tanh </a:t>
            </a:r>
            <a:r>
              <a:rPr kumimoji="1" lang="ko-KR" altLang="en-US" sz="1200" b="0" dirty="0">
                <a:latin typeface="+mj-lt"/>
              </a:rPr>
              <a:t>함수를 교체하거나 제거해보는 실험</a:t>
            </a: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먼저 </a:t>
            </a:r>
            <a:r>
              <a:rPr kumimoji="1" lang="en-US" altLang="ko-KR" sz="1200" b="0" dirty="0">
                <a:latin typeface="+mj-lt"/>
              </a:rPr>
              <a:t>tanh </a:t>
            </a:r>
            <a:r>
              <a:rPr kumimoji="1" lang="ko-KR" altLang="en-US" sz="1200" b="0" dirty="0">
                <a:latin typeface="+mj-lt"/>
              </a:rPr>
              <a:t>함수를 제거해서 그냥 </a:t>
            </a:r>
            <a:r>
              <a:rPr kumimoji="1" lang="en-US" altLang="ko-KR" sz="1200" b="0" dirty="0">
                <a:latin typeface="+mj-lt"/>
              </a:rPr>
              <a:t>identity Function</a:t>
            </a:r>
            <a:r>
              <a:rPr kumimoji="1" lang="ko-KR" altLang="en-US" sz="1200" b="0" dirty="0">
                <a:latin typeface="+mj-lt"/>
              </a:rPr>
              <a:t>을 썼더니</a:t>
            </a:r>
            <a:r>
              <a:rPr kumimoji="1" lang="en-US" altLang="ko-KR" sz="1200" b="0" dirty="0">
                <a:latin typeface="+mj-lt"/>
              </a:rPr>
              <a:t>, </a:t>
            </a:r>
            <a:r>
              <a:rPr kumimoji="1" lang="ko-KR" altLang="en-US" sz="1200" b="0" dirty="0">
                <a:latin typeface="+mj-lt"/>
              </a:rPr>
              <a:t>발산</a:t>
            </a:r>
            <a:r>
              <a:rPr kumimoji="1" lang="en-US" altLang="ko-KR" sz="1200" b="0" dirty="0">
                <a:latin typeface="+mj-lt"/>
              </a:rPr>
              <a:t>. </a:t>
            </a:r>
            <a:r>
              <a:rPr kumimoji="1" lang="en-US" altLang="ko-KR" sz="1200" b="0" dirty="0">
                <a:latin typeface="+mj-lt"/>
                <a:sym typeface="Wingdings" pitchFamily="2" charset="2"/>
              </a:rPr>
              <a:t></a:t>
            </a:r>
            <a:r>
              <a:rPr kumimoji="1" lang="en-US" altLang="ko-KR" sz="1200" b="0" dirty="0">
                <a:latin typeface="+mj-lt"/>
              </a:rPr>
              <a:t> DyT</a:t>
            </a:r>
            <a:r>
              <a:rPr kumimoji="1" lang="ko-KR" altLang="en-US" sz="1200" b="0" dirty="0">
                <a:latin typeface="+mj-lt"/>
              </a:rPr>
              <a:t>의 </a:t>
            </a:r>
            <a:r>
              <a:rPr kumimoji="1" lang="en-US" altLang="ko-KR" sz="1200" b="0" dirty="0" err="1">
                <a:latin typeface="+mj-lt"/>
              </a:rPr>
              <a:t>squahsing</a:t>
            </a:r>
            <a:r>
              <a:rPr kumimoji="1" lang="en-US" altLang="ko-KR" sz="1200" b="0" dirty="0">
                <a:latin typeface="+mj-lt"/>
              </a:rPr>
              <a:t> </a:t>
            </a:r>
            <a:r>
              <a:rPr kumimoji="1" lang="ko-KR" altLang="en-US" sz="1200" b="0" dirty="0">
                <a:latin typeface="+mj-lt"/>
              </a:rPr>
              <a:t>효과가 중요함</a:t>
            </a:r>
            <a:r>
              <a:rPr kumimoji="1" lang="en-US" altLang="ko-KR" sz="1200" b="0" dirty="0">
                <a:latin typeface="+mj-lt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그리고 </a:t>
            </a:r>
            <a:r>
              <a:rPr kumimoji="1" lang="en-US" altLang="ko-KR" sz="1200" b="0" dirty="0">
                <a:latin typeface="+mj-lt"/>
              </a:rPr>
              <a:t>squashing </a:t>
            </a:r>
            <a:r>
              <a:rPr kumimoji="1" lang="ko-KR" altLang="en-US" sz="1200" b="0" dirty="0">
                <a:latin typeface="+mj-lt"/>
              </a:rPr>
              <a:t>함수의 대안으로 다른 함수들을 </a:t>
            </a:r>
            <a:r>
              <a:rPr kumimoji="1" lang="ko-KR" altLang="en-US" sz="1200" b="0" dirty="0" err="1">
                <a:latin typeface="+mj-lt"/>
              </a:rPr>
              <a:t>사용해봄</a:t>
            </a:r>
            <a:r>
              <a:rPr kumimoji="1" lang="en-US" altLang="ko-KR" sz="1200" b="0" dirty="0">
                <a:latin typeface="+mj-lt"/>
              </a:rPr>
              <a:t> (Figure 6)</a:t>
            </a:r>
            <a:r>
              <a:rPr kumimoji="1" lang="ko-KR" altLang="en-US" sz="1200" b="0" dirty="0">
                <a:latin typeface="+mj-lt"/>
              </a:rPr>
              <a:t> </a:t>
            </a: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그 중에 </a:t>
            </a:r>
            <a:r>
              <a:rPr kumimoji="1" lang="en-US" altLang="ko-KR" sz="1200" b="0" dirty="0">
                <a:latin typeface="+mj-lt"/>
              </a:rPr>
              <a:t>tanh</a:t>
            </a:r>
            <a:r>
              <a:rPr kumimoji="1" lang="ko-KR" altLang="en-US" sz="1200" b="0" dirty="0">
                <a:latin typeface="+mj-lt"/>
              </a:rPr>
              <a:t>가 가장 효과가 있었던 것은 아마 </a:t>
            </a:r>
            <a:r>
              <a:rPr kumimoji="1" lang="en-US" altLang="ko-KR" sz="1200" b="0" dirty="0">
                <a:latin typeface="+mj-lt"/>
              </a:rPr>
              <a:t>tanh</a:t>
            </a:r>
            <a:r>
              <a:rPr kumimoji="1" lang="ko-KR" altLang="en-US" sz="1200" b="0" dirty="0">
                <a:latin typeface="+mj-lt"/>
              </a:rPr>
              <a:t>가 </a:t>
            </a:r>
            <a:r>
              <a:rPr kumimoji="1" lang="en-US" altLang="ko-KR" sz="1200" b="0" dirty="0" err="1">
                <a:latin typeface="+mj-lt"/>
              </a:rPr>
              <a:t>hardtanh</a:t>
            </a:r>
            <a:r>
              <a:rPr kumimoji="1" lang="ko-KR" altLang="en-US" sz="1200" b="0" dirty="0">
                <a:latin typeface="+mj-lt"/>
              </a:rPr>
              <a:t>보다 </a:t>
            </a:r>
            <a:r>
              <a:rPr kumimoji="1" lang="en-US" altLang="ko-KR" sz="1200" b="0" dirty="0">
                <a:latin typeface="+mj-lt"/>
              </a:rPr>
              <a:t>smooth</a:t>
            </a:r>
            <a:r>
              <a:rPr kumimoji="1" lang="ko-KR" altLang="en-US" sz="1200" b="0" dirty="0">
                <a:latin typeface="+mj-lt"/>
              </a:rPr>
              <a:t>하고</a:t>
            </a:r>
            <a:r>
              <a:rPr kumimoji="1" lang="en-US" altLang="ko-KR" sz="1200" b="0" dirty="0">
                <a:latin typeface="+mj-lt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Sigmoid</a:t>
            </a:r>
            <a:r>
              <a:rPr kumimoji="1" lang="ko-KR" altLang="en-US" sz="1200" b="0" dirty="0" err="1">
                <a:latin typeface="+mj-lt"/>
              </a:rPr>
              <a:t>에</a:t>
            </a:r>
            <a:r>
              <a:rPr kumimoji="1" lang="ko-KR" altLang="en-US" sz="1200" b="0" dirty="0">
                <a:latin typeface="+mj-lt"/>
              </a:rPr>
              <a:t> 없는 </a:t>
            </a:r>
            <a:r>
              <a:rPr kumimoji="1" lang="en-US" altLang="ko-KR" sz="1200" b="0" dirty="0">
                <a:latin typeface="+mj-lt"/>
              </a:rPr>
              <a:t>zero-centered </a:t>
            </a:r>
            <a:r>
              <a:rPr kumimoji="1" lang="ko-KR" altLang="en-US" sz="1200" b="0" dirty="0">
                <a:latin typeface="+mj-lt"/>
              </a:rPr>
              <a:t>속성 때문이라고 추측함</a:t>
            </a:r>
            <a:r>
              <a:rPr kumimoji="1" lang="en-US" altLang="ko-KR" sz="1200" b="0" dirty="0">
                <a:latin typeface="+mj-lt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9D4252-2A6C-7F12-56E7-027B31FD42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745164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A4F17-6718-B7E2-7A79-CBB383ECB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1DC500-E7D5-76EC-8CD8-24E9CD436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BE6BDF-C27F-B00A-D3CE-8C1EC21EC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972513-63E1-DF11-C36C-3B0FBD9247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400553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CFAB9-FD26-2A76-5A62-DC83812BB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D0B384-3874-72A4-34C4-15B9CE2FF0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2617BF-F694-F644-4637-C40AB4F28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각 </a:t>
            </a:r>
            <a:r>
              <a:rPr kumimoji="1" lang="en-US" altLang="ko-KR" sz="1200" b="0" dirty="0">
                <a:latin typeface="+mj-lt"/>
              </a:rPr>
              <a:t>figure</a:t>
            </a:r>
            <a:r>
              <a:rPr kumimoji="1" lang="ko-KR" altLang="en-US" sz="1200" b="0" dirty="0">
                <a:latin typeface="+mj-lt"/>
              </a:rPr>
              <a:t>에서 </a:t>
            </a: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X</a:t>
            </a:r>
            <a:r>
              <a:rPr kumimoji="1" lang="ko-KR" altLang="en-US" sz="1200" b="0" dirty="0">
                <a:latin typeface="+mj-lt"/>
              </a:rPr>
              <a:t>축은 </a:t>
            </a:r>
            <a:r>
              <a:rPr kumimoji="1" lang="en-US" altLang="ko-KR" sz="1200" b="0" dirty="0">
                <a:latin typeface="+mj-lt"/>
              </a:rPr>
              <a:t>model</a:t>
            </a:r>
            <a:r>
              <a:rPr kumimoji="1" lang="ko-KR" altLang="en-US" sz="1200" b="0" dirty="0">
                <a:latin typeface="+mj-lt"/>
              </a:rPr>
              <a:t>의 </a:t>
            </a:r>
            <a:r>
              <a:rPr kumimoji="1" lang="en-US" altLang="ko-KR" sz="1200" b="0" dirty="0">
                <a:latin typeface="+mj-lt"/>
              </a:rPr>
              <a:t>depth.</a:t>
            </a:r>
            <a:r>
              <a:rPr kumimoji="1" lang="ko-KR" altLang="en-US" sz="1200" b="0" dirty="0">
                <a:latin typeface="+mj-lt"/>
              </a:rPr>
              <a:t> 즉</a:t>
            </a:r>
            <a:r>
              <a:rPr kumimoji="1" lang="en-US" altLang="ko-KR" sz="1200" b="0" dirty="0">
                <a:latin typeface="+mj-lt"/>
              </a:rPr>
              <a:t>, layer </a:t>
            </a:r>
            <a:r>
              <a:rPr kumimoji="1" lang="ko-KR" altLang="en-US" sz="1200" b="0" dirty="0">
                <a:latin typeface="+mj-lt"/>
              </a:rPr>
              <a:t>개수를 의미하고</a:t>
            </a:r>
            <a:r>
              <a:rPr kumimoji="1" lang="en-US" altLang="ko-KR" sz="1200" b="0" dirty="0">
                <a:latin typeface="+mj-lt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y</a:t>
            </a:r>
            <a:r>
              <a:rPr kumimoji="1" lang="ko-KR" altLang="en-US" sz="1200" b="0" dirty="0">
                <a:latin typeface="+mj-lt"/>
              </a:rPr>
              <a:t>축은 </a:t>
            </a:r>
            <a:r>
              <a:rPr kumimoji="1" lang="en-US" altLang="ko-KR" sz="1200" b="0" dirty="0">
                <a:latin typeface="+mj-lt"/>
              </a:rPr>
              <a:t>model</a:t>
            </a:r>
            <a:r>
              <a:rPr kumimoji="1" lang="ko-KR" altLang="en-US" sz="1200" b="0" dirty="0">
                <a:latin typeface="+mj-lt"/>
              </a:rPr>
              <a:t>의 </a:t>
            </a:r>
            <a:r>
              <a:rPr kumimoji="1" lang="en-US" altLang="ko-KR" sz="1200" b="0" dirty="0">
                <a:latin typeface="+mj-lt"/>
              </a:rPr>
              <a:t>width. </a:t>
            </a:r>
            <a:r>
              <a:rPr kumimoji="1" lang="ko-KR" altLang="en-US" sz="1200" b="0" dirty="0">
                <a:latin typeface="+mj-lt"/>
              </a:rPr>
              <a:t>즉</a:t>
            </a:r>
            <a:r>
              <a:rPr kumimoji="1" lang="en-US" altLang="ko-KR" sz="1200" b="0" dirty="0">
                <a:latin typeface="+mj-lt"/>
              </a:rPr>
              <a:t>, token</a:t>
            </a:r>
            <a:r>
              <a:rPr kumimoji="1" lang="ko-KR" altLang="en-US" sz="1200" b="0" dirty="0">
                <a:latin typeface="+mj-lt"/>
              </a:rPr>
              <a:t>의 </a:t>
            </a:r>
            <a:r>
              <a:rPr kumimoji="1" lang="en-US" altLang="ko-KR" sz="1200" b="0" dirty="0">
                <a:latin typeface="+mj-lt"/>
              </a:rPr>
              <a:t>embedding dimension</a:t>
            </a:r>
            <a:r>
              <a:rPr kumimoji="1" lang="ko-KR" altLang="en-US" sz="1200" b="0" dirty="0">
                <a:latin typeface="+mj-lt"/>
              </a:rPr>
              <a:t>을 의미</a:t>
            </a:r>
            <a:br>
              <a:rPr kumimoji="1" lang="en-US" altLang="ko-KR" sz="1200" b="0" dirty="0">
                <a:latin typeface="+mj-lt"/>
              </a:rPr>
            </a:br>
            <a:br>
              <a:rPr kumimoji="1" lang="en-US" altLang="ko-KR" sz="1200" b="0" dirty="0">
                <a:latin typeface="+mj-lt"/>
              </a:rPr>
            </a:br>
            <a:r>
              <a:rPr kumimoji="1" lang="ko-KR" altLang="en-US" sz="1200" b="0" dirty="0">
                <a:latin typeface="+mj-lt"/>
              </a:rPr>
              <a:t>저자들이 실험한 결과</a:t>
            </a:r>
            <a:r>
              <a:rPr kumimoji="1" lang="en-US" altLang="ko-KR" sz="1200" b="0" dirty="0">
                <a:latin typeface="+mj-lt"/>
              </a:rPr>
              <a:t>, size</a:t>
            </a:r>
            <a:r>
              <a:rPr kumimoji="1" lang="ko-KR" altLang="en-US" sz="1200" b="0" dirty="0">
                <a:latin typeface="+mj-lt"/>
              </a:rPr>
              <a:t>가 큰 모델일수록 </a:t>
            </a:r>
            <a:r>
              <a:rPr kumimoji="1" lang="en-US" altLang="ko-KR" sz="1200" b="0" dirty="0">
                <a:latin typeface="+mj-lt"/>
              </a:rPr>
              <a:t>smaller alpha</a:t>
            </a:r>
            <a:r>
              <a:rPr kumimoji="1" lang="ko-KR" altLang="en-US" sz="1200" b="0" dirty="0">
                <a:latin typeface="+mj-lt"/>
              </a:rPr>
              <a:t>로 초기화하거나</a:t>
            </a:r>
            <a:r>
              <a:rPr kumimoji="1" lang="en-US" altLang="ko-KR" sz="1200" b="0" dirty="0">
                <a:latin typeface="+mj-lt"/>
              </a:rPr>
              <a:t> smaller </a:t>
            </a:r>
            <a:r>
              <a:rPr kumimoji="1" lang="en-US" altLang="ko-KR" sz="1200" b="0" dirty="0" err="1">
                <a:latin typeface="+mj-lt"/>
              </a:rPr>
              <a:t>lr</a:t>
            </a:r>
            <a:r>
              <a:rPr kumimoji="1" lang="ko-KR" altLang="en-US" sz="1200" b="0" dirty="0">
                <a:latin typeface="+mj-lt"/>
              </a:rPr>
              <a:t>로 </a:t>
            </a:r>
            <a:r>
              <a:rPr kumimoji="1" lang="ko-KR" altLang="en-US" sz="1200" b="0" dirty="0" err="1">
                <a:latin typeface="+mj-lt"/>
              </a:rPr>
              <a:t>초기화하는게</a:t>
            </a:r>
            <a:r>
              <a:rPr kumimoji="1" lang="ko-KR" altLang="en-US" sz="1200" b="0" dirty="0">
                <a:latin typeface="+mj-lt"/>
              </a:rPr>
              <a:t> 더 안정된 학습을 돕는다고 분석함</a:t>
            </a:r>
            <a:r>
              <a:rPr kumimoji="1" lang="en-US" altLang="ko-KR" sz="1200" b="0" dirty="0">
                <a:latin typeface="+mj-lt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C6350B-DCE7-9A74-6F16-20A6D38C44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957684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5B430-2044-BE0F-7A42-DBA13F775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E1801E-9400-AD4F-514E-1F41B6037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F096B7-64CE-F39F-5815-D2746B6F0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LLM</a:t>
            </a:r>
            <a:r>
              <a:rPr kumimoji="1" lang="ko-KR" altLang="en-US" sz="1200" b="0" dirty="0">
                <a:latin typeface="+mj-lt"/>
              </a:rPr>
              <a:t>에서만 </a:t>
            </a:r>
            <a:r>
              <a:rPr kumimoji="1" lang="ko-KR" altLang="en-US" sz="1200" b="0" dirty="0" err="1">
                <a:latin typeface="+mj-lt"/>
              </a:rPr>
              <a:t>센서티브한게</a:t>
            </a:r>
            <a:r>
              <a:rPr kumimoji="1" lang="ko-KR" altLang="en-US" sz="1200" b="0" dirty="0">
                <a:latin typeface="+mj-lt"/>
              </a:rPr>
              <a:t> 아니라</a:t>
            </a:r>
            <a:r>
              <a:rPr kumimoji="1" lang="en-US" altLang="ko-KR" sz="1200" b="0" dirty="0">
                <a:latin typeface="+mj-lt"/>
              </a:rPr>
              <a:t>, </a:t>
            </a:r>
            <a:r>
              <a:rPr kumimoji="1" lang="en-US" altLang="ko-KR" sz="1200" b="0" dirty="0" err="1">
                <a:latin typeface="+mj-lt"/>
              </a:rPr>
              <a:t>RMSNorm</a:t>
            </a:r>
            <a:r>
              <a:rPr kumimoji="1" lang="ko-KR" altLang="en-US" sz="1200" b="0" dirty="0">
                <a:latin typeface="+mj-lt"/>
              </a:rPr>
              <a:t>이라서 </a:t>
            </a:r>
            <a:r>
              <a:rPr kumimoji="1" lang="en-US" altLang="ko-KR" sz="1200" b="0" dirty="0">
                <a:latin typeface="+mj-lt"/>
              </a:rPr>
              <a:t>sensitive</a:t>
            </a:r>
            <a:r>
              <a:rPr kumimoji="1" lang="ko-KR" altLang="en-US" sz="1200" b="0" dirty="0" err="1">
                <a:latin typeface="+mj-lt"/>
              </a:rPr>
              <a:t>한게</a:t>
            </a:r>
            <a:r>
              <a:rPr kumimoji="1" lang="ko-KR" altLang="en-US" sz="1200" b="0" dirty="0">
                <a:latin typeface="+mj-lt"/>
              </a:rPr>
              <a:t> 아닐까</a:t>
            </a:r>
            <a:r>
              <a:rPr kumimoji="1" lang="en-US" altLang="ko-KR" sz="1200" b="0" dirty="0">
                <a:latin typeface="+mj-lt"/>
              </a:rPr>
              <a:t>?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D1DD52-DF2B-126A-E3E0-42BBFC871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30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807386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562A3-36F9-5120-A7EF-2CA213D3E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4997E7-6A31-5089-7CB8-C7E5E58F41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B30FB2CA-079B-59F3-2160-6D62FDB9031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dirty="0">
                    <a:latin typeface="+mj-lt"/>
                  </a:rPr>
                  <a:t>Table 12</a:t>
                </a:r>
                <a:r>
                  <a:rPr kumimoji="1" lang="ko-KR" altLang="en-US" sz="1200" b="0" dirty="0">
                    <a:latin typeface="+mj-lt"/>
                  </a:rPr>
                  <a:t>는 </a:t>
                </a:r>
                <a:r>
                  <a:rPr kumimoji="1" lang="en-US" altLang="ko-KR" sz="1200" b="0" dirty="0">
                    <a:latin typeface="+mj-lt"/>
                  </a:rPr>
                  <a:t>appendix</a:t>
                </a:r>
                <a:r>
                  <a:rPr kumimoji="1" lang="ko-KR" altLang="en-US" sz="1200" b="0" dirty="0">
                    <a:latin typeface="+mj-lt"/>
                  </a:rPr>
                  <a:t>에서 가져온 </a:t>
                </a:r>
                <a:r>
                  <a:rPr kumimoji="1" lang="en-US" altLang="ko-KR" sz="1200" b="0" dirty="0">
                    <a:latin typeface="+mj-lt"/>
                  </a:rPr>
                  <a:t>table</a:t>
                </a:r>
                <a:r>
                  <a:rPr kumimoji="1" lang="ko-KR" altLang="en-US" sz="1200" b="0" dirty="0">
                    <a:latin typeface="+mj-lt"/>
                  </a:rPr>
                  <a:t>임</a:t>
                </a:r>
                <a:r>
                  <a:rPr kumimoji="1" lang="en-US" altLang="ko-KR" sz="1200" b="0" dirty="0">
                    <a:latin typeface="+mj-lt"/>
                  </a:rPr>
                  <a:t>.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dirty="0">
                    <a:latin typeface="+mj-lt"/>
                  </a:rPr>
                  <a:t>Depth</a:t>
                </a:r>
                <a:r>
                  <a:rPr kumimoji="1" lang="ko-KR" altLang="en-US" sz="1200" b="0" dirty="0">
                    <a:latin typeface="+mj-lt"/>
                  </a:rPr>
                  <a:t>는 아무 상관 없고</a:t>
                </a:r>
                <a:r>
                  <a:rPr kumimoji="1" lang="en-US" altLang="ko-KR" sz="1200" b="0" dirty="0">
                    <a:latin typeface="+mj-lt"/>
                  </a:rPr>
                  <a:t>, width</a:t>
                </a:r>
                <a:r>
                  <a:rPr kumimoji="1" lang="ko-KR" altLang="en-US" sz="1200" b="0" dirty="0" err="1">
                    <a:latin typeface="+mj-lt"/>
                  </a:rPr>
                  <a:t>에</a:t>
                </a:r>
                <a:r>
                  <a:rPr kumimoji="1" lang="ko-KR" altLang="en-US" sz="1200" b="0" dirty="0">
                    <a:latin typeface="+mj-lt"/>
                  </a:rPr>
                  <a:t> 따라 </a:t>
                </a:r>
                <a:r>
                  <a:rPr kumimoji="1" lang="en-US" altLang="ko-KR" sz="1200" b="0" dirty="0">
                    <a:latin typeface="+mj-lt"/>
                  </a:rPr>
                  <a:t>optimal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kumimoji="1" lang="en-US" altLang="ko-K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ko-KR" sz="1200" dirty="0">
                    <a:cs typeface="Times New Roman" panose="02020603050405020304" pitchFamily="18" charset="0"/>
                  </a:rPr>
                  <a:t> </a:t>
                </a:r>
                <a:r>
                  <a:rPr kumimoji="1" lang="ko-KR" altLang="en-US" sz="1200" dirty="0">
                    <a:cs typeface="Times New Roman" panose="02020603050405020304" pitchFamily="18" charset="0"/>
                  </a:rPr>
                  <a:t>변동이 크다</a:t>
                </a:r>
                <a:r>
                  <a:rPr kumimoji="1" lang="en-US" altLang="ko-KR" sz="1200" dirty="0">
                    <a:cs typeface="Times New Roman" panose="02020603050405020304" pitchFamily="18" charset="0"/>
                  </a:rPr>
                  <a:t>.</a:t>
                </a:r>
                <a:endParaRPr kumimoji="1" lang="en-US" altLang="ko-KR" sz="1200" b="0" dirty="0">
                  <a:latin typeface="+mj-lt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ko-KR" sz="1200" b="0" dirty="0">
                  <a:latin typeface="+mj-lt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200" b="0" dirty="0">
                    <a:latin typeface="+mj-lt"/>
                  </a:rPr>
                  <a:t>근데</a:t>
                </a:r>
                <a:r>
                  <a:rPr kumimoji="1" lang="en-US" altLang="ko-KR" sz="1200" b="0" dirty="0">
                    <a:latin typeface="+mj-lt"/>
                  </a:rPr>
                  <a:t>… </a:t>
                </a:r>
                <a:r>
                  <a:rPr kumimoji="1" lang="ko-KR" altLang="en-US" sz="1200" b="0" dirty="0">
                    <a:latin typeface="+mj-lt"/>
                  </a:rPr>
                  <a:t>내 생각에는</a:t>
                </a:r>
                <a:endParaRPr kumimoji="1" lang="en-US" altLang="ko-KR" sz="1200" b="0" dirty="0">
                  <a:latin typeface="+mj-lt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dirty="0">
                    <a:latin typeface="+mj-lt"/>
                  </a:rPr>
                  <a:t>LLM</a:t>
                </a:r>
                <a:r>
                  <a:rPr kumimoji="1" lang="ko-KR" altLang="en-US" sz="1200" b="0" dirty="0">
                    <a:latin typeface="+mj-lt"/>
                  </a:rPr>
                  <a:t>에서만 </a:t>
                </a:r>
                <a:r>
                  <a:rPr kumimoji="1" lang="ko-KR" altLang="en-US" sz="1200" b="0" dirty="0" err="1">
                    <a:latin typeface="+mj-lt"/>
                  </a:rPr>
                  <a:t>센서티브한게</a:t>
                </a:r>
                <a:r>
                  <a:rPr kumimoji="1" lang="ko-KR" altLang="en-US" sz="1200" b="0" dirty="0">
                    <a:latin typeface="+mj-lt"/>
                  </a:rPr>
                  <a:t> 아니라</a:t>
                </a:r>
                <a:r>
                  <a:rPr kumimoji="1" lang="en-US" altLang="ko-KR" sz="1200" b="0" dirty="0">
                    <a:latin typeface="+mj-lt"/>
                  </a:rPr>
                  <a:t>, </a:t>
                </a:r>
                <a:r>
                  <a:rPr kumimoji="1" lang="en-US" altLang="ko-KR" sz="1200" b="0" dirty="0" err="1">
                    <a:latin typeface="+mj-lt"/>
                  </a:rPr>
                  <a:t>RMSNorm</a:t>
                </a:r>
                <a:r>
                  <a:rPr kumimoji="1" lang="ko-KR" altLang="en-US" sz="1200" b="0" dirty="0">
                    <a:latin typeface="+mj-lt"/>
                  </a:rPr>
                  <a:t>이라서 </a:t>
                </a:r>
                <a:r>
                  <a:rPr kumimoji="1" lang="en-US" altLang="ko-KR" sz="1200" b="0" dirty="0">
                    <a:latin typeface="+mj-lt"/>
                  </a:rPr>
                  <a:t>sensitive</a:t>
                </a:r>
                <a:r>
                  <a:rPr kumimoji="1" lang="ko-KR" altLang="en-US" sz="1200" b="0" dirty="0" err="1">
                    <a:latin typeface="+mj-lt"/>
                  </a:rPr>
                  <a:t>한게</a:t>
                </a:r>
                <a:r>
                  <a:rPr kumimoji="1" lang="ko-KR" altLang="en-US" sz="1200" b="0" dirty="0">
                    <a:latin typeface="+mj-lt"/>
                  </a:rPr>
                  <a:t> 아닐까</a:t>
                </a:r>
                <a:r>
                  <a:rPr kumimoji="1" lang="en-US" altLang="ko-KR" sz="1200" b="0" dirty="0">
                    <a:latin typeface="+mj-lt"/>
                  </a:rPr>
                  <a:t>?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dirty="0">
                    <a:latin typeface="+mj-lt"/>
                  </a:rPr>
                  <a:t>LLM</a:t>
                </a:r>
                <a:r>
                  <a:rPr kumimoji="1" lang="ko-KR" altLang="en-US" sz="1200" b="0" dirty="0">
                    <a:latin typeface="+mj-lt"/>
                  </a:rPr>
                  <a:t>이라고 해서 </a:t>
                </a:r>
                <a:r>
                  <a:rPr kumimoji="1" lang="en-US" altLang="ko-KR" sz="1200" b="0" dirty="0" err="1">
                    <a:latin typeface="+mj-lt"/>
                  </a:rPr>
                  <a:t>RMSNorm</a:t>
                </a:r>
                <a:r>
                  <a:rPr kumimoji="1" lang="ko-KR" altLang="en-US" sz="1200" b="0" dirty="0">
                    <a:latin typeface="+mj-lt"/>
                  </a:rPr>
                  <a:t>을 쓰는 </a:t>
                </a:r>
                <a:r>
                  <a:rPr kumimoji="1" lang="en-US" altLang="ko-KR" sz="1200" b="0" dirty="0" err="1">
                    <a:latin typeface="+mj-lt"/>
                  </a:rPr>
                  <a:t>LLaMA</a:t>
                </a:r>
                <a:r>
                  <a:rPr kumimoji="1" lang="ko-KR" altLang="en-US" sz="1200" b="0" dirty="0">
                    <a:latin typeface="+mj-lt"/>
                  </a:rPr>
                  <a:t>에서만 실험했으니 일반화하기는 힘들어 보임</a:t>
                </a:r>
                <a:r>
                  <a:rPr kumimoji="1" lang="en-US" altLang="ko-KR" sz="1200" b="0" dirty="0">
                    <a:latin typeface="+mj-lt"/>
                  </a:rPr>
                  <a:t>.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ko-KR" sz="1200" b="0" dirty="0">
                  <a:latin typeface="+mj-lt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200" b="0" dirty="0">
                    <a:latin typeface="+mj-lt"/>
                  </a:rPr>
                  <a:t>하나 말씀드리고 싶은 것은 지금 </a:t>
                </a:r>
                <a:r>
                  <a:rPr kumimoji="1" lang="en-US" altLang="ko-KR" sz="1200" b="0" dirty="0">
                    <a:latin typeface="+mj-lt"/>
                  </a:rPr>
                  <a:t>CLIP</a:t>
                </a:r>
                <a:r>
                  <a:rPr kumimoji="1" lang="ko-KR" altLang="en-US" sz="1200" b="0" dirty="0">
                    <a:latin typeface="+mj-lt"/>
                  </a:rPr>
                  <a:t>이라는 </a:t>
                </a:r>
                <a:r>
                  <a:rPr kumimoji="1" lang="en-US" altLang="ko-KR" sz="1200" b="0" dirty="0">
                    <a:latin typeface="+mj-lt"/>
                  </a:rPr>
                  <a:t>Vision-Language Model </a:t>
                </a:r>
                <a:r>
                  <a:rPr kumimoji="1" lang="ko-KR" altLang="en-US" sz="1200" b="0" dirty="0">
                    <a:latin typeface="+mj-lt"/>
                  </a:rPr>
                  <a:t>관련 초기 논문을 읽고 있는데</a:t>
                </a:r>
                <a:endParaRPr kumimoji="1" lang="en-US" altLang="ko-KR" sz="1200" b="0" dirty="0">
                  <a:latin typeface="+mj-lt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200" b="0" dirty="0">
                    <a:latin typeface="+mj-lt"/>
                  </a:rPr>
                  <a:t>여기서도 </a:t>
                </a:r>
                <a:r>
                  <a:rPr kumimoji="1" lang="en-US" altLang="ko-KR" sz="1200" b="0" dirty="0">
                    <a:latin typeface="+mj-lt"/>
                  </a:rPr>
                  <a:t>text encoder</a:t>
                </a:r>
                <a:r>
                  <a:rPr kumimoji="1" lang="ko-KR" altLang="en-US" sz="1200" b="0" dirty="0">
                    <a:latin typeface="+mj-lt"/>
                  </a:rPr>
                  <a:t>로 </a:t>
                </a:r>
                <a:r>
                  <a:rPr kumimoji="1" lang="en-US" altLang="ko-KR" sz="1200" b="0" dirty="0">
                    <a:latin typeface="+mj-lt"/>
                  </a:rPr>
                  <a:t>Transformer</a:t>
                </a:r>
                <a:r>
                  <a:rPr kumimoji="1" lang="ko-KR" altLang="en-US" sz="1200" b="0" dirty="0" err="1">
                    <a:latin typeface="+mj-lt"/>
                  </a:rPr>
                  <a:t>를</a:t>
                </a:r>
                <a:r>
                  <a:rPr kumimoji="1" lang="ko-KR" altLang="en-US" sz="1200" b="0" dirty="0">
                    <a:latin typeface="+mj-lt"/>
                  </a:rPr>
                  <a:t> 사용했는데</a:t>
                </a:r>
                <a:r>
                  <a:rPr kumimoji="1" lang="en-US" altLang="ko-KR" sz="1200" b="0" dirty="0">
                    <a:latin typeface="+mj-lt"/>
                  </a:rPr>
                  <a:t>,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dirty="0">
                    <a:latin typeface="+mj-lt"/>
                  </a:rPr>
                  <a:t>Model scaling</a:t>
                </a:r>
                <a:r>
                  <a:rPr kumimoji="1" lang="ko-KR" altLang="en-US" sz="1200" b="0" dirty="0">
                    <a:latin typeface="+mj-lt"/>
                  </a:rPr>
                  <a:t>할 때</a:t>
                </a:r>
                <a:r>
                  <a:rPr kumimoji="1" lang="en-US" altLang="ko-KR" sz="1200" b="0" dirty="0">
                    <a:latin typeface="+mj-lt"/>
                  </a:rPr>
                  <a:t>, Transformer</a:t>
                </a:r>
                <a:r>
                  <a:rPr kumimoji="1" lang="ko-KR" altLang="en-US" sz="1200" b="0" dirty="0">
                    <a:latin typeface="+mj-lt"/>
                  </a:rPr>
                  <a:t>에서는 </a:t>
                </a:r>
                <a:r>
                  <a:rPr kumimoji="1" lang="en-US" altLang="ko-KR" sz="1200" b="0" dirty="0">
                    <a:latin typeface="+mj-lt"/>
                  </a:rPr>
                  <a:t>Depth</a:t>
                </a:r>
                <a:r>
                  <a:rPr kumimoji="1" lang="ko-KR" altLang="en-US" sz="1200" b="0" dirty="0">
                    <a:latin typeface="+mj-lt"/>
                  </a:rPr>
                  <a:t>보다 </a:t>
                </a:r>
                <a:r>
                  <a:rPr kumimoji="1" lang="en-US" altLang="ko-KR" sz="1200" b="0" dirty="0">
                    <a:latin typeface="+mj-lt"/>
                  </a:rPr>
                  <a:t>width</a:t>
                </a:r>
                <a:r>
                  <a:rPr kumimoji="1" lang="ko-KR" altLang="en-US" sz="1200" b="0" dirty="0">
                    <a:latin typeface="+mj-lt"/>
                  </a:rPr>
                  <a:t>가 더</a:t>
                </a:r>
                <a:r>
                  <a:rPr kumimoji="1" lang="en-US" altLang="ko-KR" sz="1200" b="0" dirty="0">
                    <a:latin typeface="+mj-lt"/>
                  </a:rPr>
                  <a:t> </a:t>
                </a:r>
                <a:r>
                  <a:rPr kumimoji="1" lang="ko-KR" altLang="en-US" sz="1200" b="0" dirty="0">
                    <a:latin typeface="+mj-lt"/>
                  </a:rPr>
                  <a:t>성능에 </a:t>
                </a:r>
                <a:r>
                  <a:rPr kumimoji="1" lang="en-US" altLang="ko-KR" sz="1200" b="0" dirty="0">
                    <a:latin typeface="+mj-lt"/>
                  </a:rPr>
                  <a:t>sensitive</a:t>
                </a:r>
                <a:r>
                  <a:rPr kumimoji="1" lang="ko-KR" altLang="en-US" sz="1200" b="0" dirty="0">
                    <a:latin typeface="+mj-lt"/>
                  </a:rPr>
                  <a:t>했다고 함</a:t>
                </a:r>
                <a:r>
                  <a:rPr kumimoji="1" lang="en-US" altLang="ko-KR" sz="1200" b="0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B30FB2CA-079B-59F3-2160-6D62FDB9031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dirty="0">
                    <a:latin typeface="+mj-lt"/>
                  </a:rPr>
                  <a:t>Table 12</a:t>
                </a:r>
                <a:r>
                  <a:rPr kumimoji="1" lang="ko-KR" altLang="en-US" sz="1200" b="0" dirty="0">
                    <a:latin typeface="+mj-lt"/>
                  </a:rPr>
                  <a:t>는 </a:t>
                </a:r>
                <a:r>
                  <a:rPr kumimoji="1" lang="en-US" altLang="ko-KR" sz="1200" b="0" dirty="0">
                    <a:latin typeface="+mj-lt"/>
                  </a:rPr>
                  <a:t>appendix</a:t>
                </a:r>
                <a:r>
                  <a:rPr kumimoji="1" lang="ko-KR" altLang="en-US" sz="1200" b="0" dirty="0">
                    <a:latin typeface="+mj-lt"/>
                  </a:rPr>
                  <a:t>에서 가져온 </a:t>
                </a:r>
                <a:r>
                  <a:rPr kumimoji="1" lang="en-US" altLang="ko-KR" sz="1200" b="0" dirty="0">
                    <a:latin typeface="+mj-lt"/>
                  </a:rPr>
                  <a:t>table</a:t>
                </a:r>
                <a:r>
                  <a:rPr kumimoji="1" lang="ko-KR" altLang="en-US" sz="1200" b="0" dirty="0">
                    <a:latin typeface="+mj-lt"/>
                  </a:rPr>
                  <a:t>임</a:t>
                </a:r>
                <a:r>
                  <a:rPr kumimoji="1" lang="en-US" altLang="ko-KR" sz="1200" b="0" dirty="0">
                    <a:latin typeface="+mj-lt"/>
                  </a:rPr>
                  <a:t>.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dirty="0">
                    <a:latin typeface="+mj-lt"/>
                  </a:rPr>
                  <a:t>Depth</a:t>
                </a:r>
                <a:r>
                  <a:rPr kumimoji="1" lang="ko-KR" altLang="en-US" sz="1200" b="0" dirty="0">
                    <a:latin typeface="+mj-lt"/>
                  </a:rPr>
                  <a:t>는 아무 상관 없고</a:t>
                </a:r>
                <a:r>
                  <a:rPr kumimoji="1" lang="en-US" altLang="ko-KR" sz="1200" b="0" dirty="0">
                    <a:latin typeface="+mj-lt"/>
                  </a:rPr>
                  <a:t>, width</a:t>
                </a:r>
                <a:r>
                  <a:rPr kumimoji="1" lang="ko-KR" altLang="en-US" sz="1200" b="0" dirty="0" err="1">
                    <a:latin typeface="+mj-lt"/>
                  </a:rPr>
                  <a:t>에</a:t>
                </a:r>
                <a:r>
                  <a:rPr kumimoji="1" lang="ko-KR" altLang="en-US" sz="1200" b="0" dirty="0">
                    <a:latin typeface="+mj-lt"/>
                  </a:rPr>
                  <a:t> 따라 </a:t>
                </a:r>
                <a:r>
                  <a:rPr kumimoji="1" lang="en-US" altLang="ko-KR" sz="1200" b="0" dirty="0">
                    <a:latin typeface="+mj-lt"/>
                  </a:rPr>
                  <a:t>optimal </a:t>
                </a:r>
                <a:r>
                  <a:rPr kumimoji="1" lang="en-US" altLang="ko-KR" sz="1200" i="0">
                    <a:latin typeface="Cambria Math" panose="02040503050406030204" pitchFamily="18" charset="0"/>
                  </a:rPr>
                  <a:t>𝛼_0</a:t>
                </a:r>
                <a:r>
                  <a:rPr kumimoji="1" lang="en-US" altLang="ko-KR" sz="1200" dirty="0">
                    <a:cs typeface="Times New Roman" panose="02020603050405020304" pitchFamily="18" charset="0"/>
                  </a:rPr>
                  <a:t> </a:t>
                </a:r>
                <a:r>
                  <a:rPr kumimoji="1" lang="ko-KR" altLang="en-US" sz="1200" dirty="0">
                    <a:cs typeface="Times New Roman" panose="02020603050405020304" pitchFamily="18" charset="0"/>
                  </a:rPr>
                  <a:t>변동이 크다</a:t>
                </a:r>
                <a:r>
                  <a:rPr kumimoji="1" lang="en-US" altLang="ko-KR" sz="1200" dirty="0">
                    <a:cs typeface="Times New Roman" panose="02020603050405020304" pitchFamily="18" charset="0"/>
                  </a:rPr>
                  <a:t>.</a:t>
                </a:r>
                <a:endParaRPr kumimoji="1" lang="en-US" altLang="ko-KR" sz="1200" b="0" dirty="0">
                  <a:latin typeface="+mj-lt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ko-KR" sz="1200" b="0" dirty="0">
                  <a:latin typeface="+mj-lt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200" b="0" dirty="0">
                    <a:latin typeface="+mj-lt"/>
                  </a:rPr>
                  <a:t>근데</a:t>
                </a:r>
                <a:r>
                  <a:rPr kumimoji="1" lang="en-US" altLang="ko-KR" sz="1200" b="0" dirty="0">
                    <a:latin typeface="+mj-lt"/>
                  </a:rPr>
                  <a:t>… </a:t>
                </a:r>
                <a:r>
                  <a:rPr kumimoji="1" lang="ko-KR" altLang="en-US" sz="1200" b="0" dirty="0">
                    <a:latin typeface="+mj-lt"/>
                  </a:rPr>
                  <a:t>내 생각에는</a:t>
                </a:r>
                <a:endParaRPr kumimoji="1" lang="en-US" altLang="ko-KR" sz="1200" b="0" dirty="0">
                  <a:latin typeface="+mj-lt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dirty="0">
                    <a:latin typeface="+mj-lt"/>
                  </a:rPr>
                  <a:t>LLM</a:t>
                </a:r>
                <a:r>
                  <a:rPr kumimoji="1" lang="ko-KR" altLang="en-US" sz="1200" b="0" dirty="0">
                    <a:latin typeface="+mj-lt"/>
                  </a:rPr>
                  <a:t>에서만 </a:t>
                </a:r>
                <a:r>
                  <a:rPr kumimoji="1" lang="ko-KR" altLang="en-US" sz="1200" b="0" dirty="0" err="1">
                    <a:latin typeface="+mj-lt"/>
                  </a:rPr>
                  <a:t>센서티브한게</a:t>
                </a:r>
                <a:r>
                  <a:rPr kumimoji="1" lang="ko-KR" altLang="en-US" sz="1200" b="0" dirty="0">
                    <a:latin typeface="+mj-lt"/>
                  </a:rPr>
                  <a:t> 아니라</a:t>
                </a:r>
                <a:r>
                  <a:rPr kumimoji="1" lang="en-US" altLang="ko-KR" sz="1200" b="0" dirty="0">
                    <a:latin typeface="+mj-lt"/>
                  </a:rPr>
                  <a:t>, </a:t>
                </a:r>
                <a:r>
                  <a:rPr kumimoji="1" lang="en-US" altLang="ko-KR" sz="1200" b="0" dirty="0" err="1">
                    <a:latin typeface="+mj-lt"/>
                  </a:rPr>
                  <a:t>RMSNorm</a:t>
                </a:r>
                <a:r>
                  <a:rPr kumimoji="1" lang="ko-KR" altLang="en-US" sz="1200" b="0" dirty="0">
                    <a:latin typeface="+mj-lt"/>
                  </a:rPr>
                  <a:t>이라서 </a:t>
                </a:r>
                <a:r>
                  <a:rPr kumimoji="1" lang="en-US" altLang="ko-KR" sz="1200" b="0" dirty="0">
                    <a:latin typeface="+mj-lt"/>
                  </a:rPr>
                  <a:t>sensitive</a:t>
                </a:r>
                <a:r>
                  <a:rPr kumimoji="1" lang="ko-KR" altLang="en-US" sz="1200" b="0" dirty="0" err="1">
                    <a:latin typeface="+mj-lt"/>
                  </a:rPr>
                  <a:t>한게</a:t>
                </a:r>
                <a:r>
                  <a:rPr kumimoji="1" lang="ko-KR" altLang="en-US" sz="1200" b="0" dirty="0">
                    <a:latin typeface="+mj-lt"/>
                  </a:rPr>
                  <a:t> 아닐까</a:t>
                </a:r>
                <a:r>
                  <a:rPr kumimoji="1" lang="en-US" altLang="ko-KR" sz="1200" b="0" dirty="0">
                    <a:latin typeface="+mj-lt"/>
                  </a:rPr>
                  <a:t>?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dirty="0">
                    <a:latin typeface="+mj-lt"/>
                  </a:rPr>
                  <a:t>LLM</a:t>
                </a:r>
                <a:r>
                  <a:rPr kumimoji="1" lang="ko-KR" altLang="en-US" sz="1200" b="0" dirty="0">
                    <a:latin typeface="+mj-lt"/>
                  </a:rPr>
                  <a:t>이라고 해서 </a:t>
                </a:r>
                <a:r>
                  <a:rPr kumimoji="1" lang="en-US" altLang="ko-KR" sz="1200" b="0" dirty="0" err="1">
                    <a:latin typeface="+mj-lt"/>
                  </a:rPr>
                  <a:t>RMSNorm</a:t>
                </a:r>
                <a:r>
                  <a:rPr kumimoji="1" lang="ko-KR" altLang="en-US" sz="1200" b="0" dirty="0">
                    <a:latin typeface="+mj-lt"/>
                  </a:rPr>
                  <a:t>을 쓰는 </a:t>
                </a:r>
                <a:r>
                  <a:rPr kumimoji="1" lang="en-US" altLang="ko-KR" sz="1200" b="0" dirty="0" err="1">
                    <a:latin typeface="+mj-lt"/>
                  </a:rPr>
                  <a:t>LLaMA</a:t>
                </a:r>
                <a:r>
                  <a:rPr kumimoji="1" lang="ko-KR" altLang="en-US" sz="1200" b="0" dirty="0">
                    <a:latin typeface="+mj-lt"/>
                  </a:rPr>
                  <a:t>에서만 실험했으니 일반화하기는 힘들어 보임</a:t>
                </a:r>
                <a:r>
                  <a:rPr kumimoji="1" lang="en-US" altLang="ko-KR" sz="1200" b="0" dirty="0">
                    <a:latin typeface="+mj-lt"/>
                  </a:rPr>
                  <a:t>.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B91ED3-626C-190D-BB9D-937370C05A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31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236511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28D03-4AFE-DB10-9D74-19ADEBFDD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FB4222-7923-531F-5A25-C1648D4DF0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63CBA8-A85A-6D4B-8E97-F98876640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Appendix</a:t>
            </a:r>
            <a:r>
              <a:rPr kumimoji="1" lang="ko-KR" altLang="en-US" sz="1200" b="0" dirty="0">
                <a:latin typeface="+mj-lt"/>
              </a:rPr>
              <a:t>에서 나름의 추측을 하지만</a:t>
            </a:r>
            <a:r>
              <a:rPr kumimoji="1" lang="en-US" altLang="ko-KR" sz="1200" b="0" dirty="0">
                <a:latin typeface="+mj-lt"/>
              </a:rPr>
              <a:t>, </a:t>
            </a:r>
            <a:r>
              <a:rPr kumimoji="1" lang="ko-KR" altLang="en-US" sz="1200" b="0" dirty="0">
                <a:latin typeface="+mj-lt"/>
              </a:rPr>
              <a:t>아직 이 연구진들도 명확히 알지는 </a:t>
            </a:r>
            <a:r>
              <a:rPr kumimoji="1" lang="ko-KR" altLang="en-US" sz="1200" b="0" dirty="0" err="1">
                <a:latin typeface="+mj-lt"/>
              </a:rPr>
              <a:t>못하는듯함</a:t>
            </a: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B5B9B8-AE00-5FFC-3B97-4E6CA7D21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32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928675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4FB09-A9FA-41D3-7FC8-74552CEBE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F8A00E-B4B2-6F5F-691E-70B29979F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3978A6-7454-F91B-B96A-A21901B1A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교수님과 지호형은 이 논문에 대해 어떻게 리뷰하셨는지</a:t>
            </a:r>
            <a:r>
              <a:rPr kumimoji="1" lang="en-US" altLang="ko-KR" dirty="0"/>
              <a:t>?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228600" indent="-228600">
              <a:buAutoNum type="arabicPeriod"/>
            </a:pPr>
            <a:r>
              <a:rPr kumimoji="1" lang="en-US" altLang="ko-KR" dirty="0"/>
              <a:t>Switchable normalization layer </a:t>
            </a:r>
            <a:r>
              <a:rPr kumimoji="1" lang="ko-KR" altLang="en-US" dirty="0"/>
              <a:t>학습 불필요</a:t>
            </a:r>
            <a:r>
              <a:rPr kumimoji="1" lang="en-US" altLang="ko-KR" dirty="0"/>
              <a:t>?</a:t>
            </a:r>
          </a:p>
          <a:p>
            <a:pPr marL="228600" indent="-228600">
              <a:buAutoNum type="arabicPeriod"/>
            </a:pPr>
            <a:endParaRPr kumimoji="1" lang="en-US" altLang="ko-KR" dirty="0"/>
          </a:p>
          <a:p>
            <a:pPr marL="228600" indent="-228600">
              <a:buAutoNum type="arabicPeriod"/>
            </a:pPr>
            <a:r>
              <a:rPr kumimoji="1" lang="en-US" altLang="ko-KR" dirty="0"/>
              <a:t>Statistics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얻기 위한 </a:t>
            </a:r>
            <a:r>
              <a:rPr kumimoji="1" lang="en-US" altLang="ko-KR" dirty="0"/>
              <a:t>calibration </a:t>
            </a:r>
            <a:r>
              <a:rPr kumimoji="1" lang="ko-KR" altLang="en-US" dirty="0"/>
              <a:t>불필요</a:t>
            </a:r>
            <a:r>
              <a:rPr kumimoji="1" lang="en-US" altLang="ko-KR"/>
              <a:t>?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4B5801-4D96-A6EB-9143-DE0C738D7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33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72550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mailto:hhss0927@inu.ac.kr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2" descr="텍스트, 폰트, 로고, 그래픽이(가) 표시된 사진&#10;&#10;자동 생성된 설명">
            <a:extLst>
              <a:ext uri="{FF2B5EF4-FFF2-40B4-BE49-F238E27FC236}">
                <a16:creationId xmlns:a16="http://schemas.microsoft.com/office/drawing/2014/main" id="{6AB210DD-1824-17DF-FBC0-45C9B94F09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375"/>
          <a:stretch>
            <a:fillRect/>
          </a:stretch>
        </p:blipFill>
        <p:spPr bwMode="auto">
          <a:xfrm>
            <a:off x="9957473" y="0"/>
            <a:ext cx="2234527" cy="62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63405D42-E259-56C1-4B5B-9CA50E12180B}"/>
              </a:ext>
            </a:extLst>
          </p:cNvPr>
          <p:cNvCxnSpPr/>
          <p:nvPr userDrawn="1"/>
        </p:nvCxnSpPr>
        <p:spPr>
          <a:xfrm>
            <a:off x="297543" y="1250938"/>
            <a:ext cx="11538857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F345676C-C4E1-C145-2DFF-EA454B22F247}"/>
              </a:ext>
            </a:extLst>
          </p:cNvPr>
          <p:cNvSpPr txBox="1">
            <a:spLocks/>
          </p:cNvSpPr>
          <p:nvPr userDrawn="1"/>
        </p:nvSpPr>
        <p:spPr>
          <a:xfrm>
            <a:off x="3326206" y="621258"/>
            <a:ext cx="2964993" cy="6263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500" b="1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endParaRPr kumimoji="1"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1102F48-3F63-68D6-96A4-C3660B1C9F38}"/>
              </a:ext>
            </a:extLst>
          </p:cNvPr>
          <p:cNvSpPr/>
          <p:nvPr userDrawn="1"/>
        </p:nvSpPr>
        <p:spPr>
          <a:xfrm>
            <a:off x="297543" y="640309"/>
            <a:ext cx="2064057" cy="4792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000" b="1" dirty="0"/>
              <a:t>PAPER REVIEW</a:t>
            </a:r>
            <a:endParaRPr kumimoji="1" lang="ko-KR" altLang="en-US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A438D8-7B05-80C4-1953-7CF1BD1F055C}"/>
              </a:ext>
            </a:extLst>
          </p:cNvPr>
          <p:cNvSpPr txBox="1"/>
          <p:nvPr userDrawn="1"/>
        </p:nvSpPr>
        <p:spPr>
          <a:xfrm>
            <a:off x="2392296" y="649754"/>
            <a:ext cx="186781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500" b="1" dirty="0"/>
              <a:t>CVPR 2025</a:t>
            </a:r>
            <a:endParaRPr kumimoji="1" lang="ko-KR" altLang="en-US" sz="2500" b="1" dirty="0"/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A5CC179D-2BEE-00B1-88B7-BE9A2B48C9F4}"/>
              </a:ext>
            </a:extLst>
          </p:cNvPr>
          <p:cNvSpPr txBox="1">
            <a:spLocks/>
          </p:cNvSpPr>
          <p:nvPr userDrawn="1"/>
        </p:nvSpPr>
        <p:spPr>
          <a:xfrm>
            <a:off x="7114308" y="4644069"/>
            <a:ext cx="4860051" cy="1893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ko-KR" sz="1700" b="1" dirty="0"/>
              <a:t>PRESENTED BY</a:t>
            </a:r>
          </a:p>
          <a:p>
            <a:pPr algn="l"/>
            <a:r>
              <a:rPr kumimoji="1" lang="en-US" altLang="ko-KR" sz="1500" dirty="0" err="1"/>
              <a:t>Hyungseop</a:t>
            </a:r>
            <a:r>
              <a:rPr kumimoji="1" lang="en-US" altLang="ko-KR" sz="1500" dirty="0"/>
              <a:t> Lee</a:t>
            </a:r>
          </a:p>
          <a:p>
            <a:pPr algn="l"/>
            <a:r>
              <a:rPr kumimoji="1" lang="en-US" altLang="ko-KR" sz="1500" dirty="0"/>
              <a:t>Department of Embedded Systems Engineering, INU</a:t>
            </a:r>
          </a:p>
          <a:p>
            <a:pPr algn="l"/>
            <a:r>
              <a:rPr kumimoji="1" lang="en-US" altLang="ko-KR" sz="1500" dirty="0">
                <a:hlinkClick r:id="rId3"/>
              </a:rPr>
              <a:t>hhss0927@inu.ac.kr</a:t>
            </a:r>
            <a:endParaRPr kumimoji="1" lang="en-US" altLang="ko-KR" sz="1500" dirty="0"/>
          </a:p>
          <a:p>
            <a:pPr algn="l"/>
            <a:r>
              <a:rPr kumimoji="1" lang="en-US" altLang="ko-KR" sz="1500" dirty="0"/>
              <a:t>2025.12.05</a:t>
            </a:r>
            <a:endParaRPr kumimoji="1" lang="ko-KR" altLang="en-US" sz="1500" dirty="0"/>
          </a:p>
        </p:txBody>
      </p: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F1589E37-6BA7-A16C-7C22-D95FDEE79B7A}"/>
              </a:ext>
            </a:extLst>
          </p:cNvPr>
          <p:cNvCxnSpPr/>
          <p:nvPr userDrawn="1"/>
        </p:nvCxnSpPr>
        <p:spPr>
          <a:xfrm>
            <a:off x="297543" y="4420802"/>
            <a:ext cx="1153885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25127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27BDD159-5E07-F9AF-6DE3-3BF9A3042BFD}"/>
              </a:ext>
            </a:extLst>
          </p:cNvPr>
          <p:cNvCxnSpPr>
            <a:cxnSpLocks/>
          </p:cNvCxnSpPr>
          <p:nvPr userDrawn="1"/>
        </p:nvCxnSpPr>
        <p:spPr>
          <a:xfrm flipV="1">
            <a:off x="7005612" y="4644069"/>
            <a:ext cx="0" cy="163436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25127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부제목 2">
            <a:extLst>
              <a:ext uri="{FF2B5EF4-FFF2-40B4-BE49-F238E27FC236}">
                <a16:creationId xmlns:a16="http://schemas.microsoft.com/office/drawing/2014/main" id="{7AD58CBE-A356-3B9A-B2A9-80E0D3A8A2F1}"/>
              </a:ext>
            </a:extLst>
          </p:cNvPr>
          <p:cNvSpPr txBox="1">
            <a:spLocks/>
          </p:cNvSpPr>
          <p:nvPr userDrawn="1"/>
        </p:nvSpPr>
        <p:spPr>
          <a:xfrm>
            <a:off x="297543" y="1913843"/>
            <a:ext cx="10716025" cy="1656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ko-KR" sz="4000" dirty="0"/>
              <a:t>Transformers without Normalization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EE5DEF-955F-8A21-37B7-22F9181B1F27}"/>
              </a:ext>
            </a:extLst>
          </p:cNvPr>
          <p:cNvSpPr txBox="1"/>
          <p:nvPr userDrawn="1"/>
        </p:nvSpPr>
        <p:spPr>
          <a:xfrm>
            <a:off x="638458" y="2700619"/>
            <a:ext cx="7561801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800" dirty="0"/>
              <a:t>Demonstrating that Transformers can achieve state-of-the-art </a:t>
            </a:r>
          </a:p>
          <a:p>
            <a:pPr>
              <a:lnSpc>
                <a:spcPct val="150000"/>
              </a:lnSpc>
            </a:pPr>
            <a:r>
              <a:rPr kumimoji="1" lang="en-US" altLang="ko-KR" sz="1800" dirty="0"/>
              <a:t>performance without normalization layers via Dynamic Tanh (DyT).</a:t>
            </a:r>
            <a:endParaRPr kumimoji="1" lang="ko-KR" altLang="en-US" sz="3600" dirty="0"/>
          </a:p>
        </p:txBody>
      </p:sp>
      <p:cxnSp>
        <p:nvCxnSpPr>
          <p:cNvPr id="20" name="직선 연결선[R] 19">
            <a:extLst>
              <a:ext uri="{FF2B5EF4-FFF2-40B4-BE49-F238E27FC236}">
                <a16:creationId xmlns:a16="http://schemas.microsoft.com/office/drawing/2014/main" id="{40A76C82-FEF6-0936-8862-B135E9537E4A}"/>
              </a:ext>
            </a:extLst>
          </p:cNvPr>
          <p:cNvCxnSpPr>
            <a:cxnSpLocks/>
          </p:cNvCxnSpPr>
          <p:nvPr userDrawn="1"/>
        </p:nvCxnSpPr>
        <p:spPr>
          <a:xfrm flipV="1">
            <a:off x="468000" y="2788780"/>
            <a:ext cx="0" cy="781629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부제목 2">
            <a:extLst>
              <a:ext uri="{FF2B5EF4-FFF2-40B4-BE49-F238E27FC236}">
                <a16:creationId xmlns:a16="http://schemas.microsoft.com/office/drawing/2014/main" id="{5222393B-93E9-E9E9-0D0C-AC1AAD263BDE}"/>
              </a:ext>
            </a:extLst>
          </p:cNvPr>
          <p:cNvSpPr txBox="1">
            <a:spLocks/>
          </p:cNvSpPr>
          <p:nvPr userDrawn="1"/>
        </p:nvSpPr>
        <p:spPr>
          <a:xfrm>
            <a:off x="297543" y="4644069"/>
            <a:ext cx="6621657" cy="1893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ko-KR" sz="1600" b="1" dirty="0"/>
              <a:t>AUTHORS</a:t>
            </a:r>
            <a:endParaRPr kumimoji="1"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378504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8DC919-D7BD-8C3F-E5C1-551E747A20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1258"/>
            <a:ext cx="12192000" cy="628777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kumimoji="1" lang="en-US" altLang="ko-KR" dirty="0"/>
              <a:t>Times New Roman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47EA45-3008-48C5-F050-43B06FD0F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102" y="788284"/>
            <a:ext cx="11952383" cy="5691344"/>
          </a:xfrm>
        </p:spPr>
        <p:txBody>
          <a:bodyPr/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F364B3AA-2176-6CB6-535F-93713FAF6867}"/>
              </a:ext>
            </a:extLst>
          </p:cNvPr>
          <p:cNvCxnSpPr>
            <a:cxnSpLocks/>
          </p:cNvCxnSpPr>
          <p:nvPr userDrawn="1"/>
        </p:nvCxnSpPr>
        <p:spPr>
          <a:xfrm>
            <a:off x="0" y="654271"/>
            <a:ext cx="12192000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072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7E16B07-36A2-5A36-5B0E-BBC4620DE0F4}"/>
              </a:ext>
            </a:extLst>
          </p:cNvPr>
          <p:cNvSpPr/>
          <p:nvPr userDrawn="1"/>
        </p:nvSpPr>
        <p:spPr>
          <a:xfrm>
            <a:off x="0" y="6611213"/>
            <a:ext cx="12192000" cy="265531"/>
          </a:xfrm>
          <a:prstGeom prst="rect">
            <a:avLst/>
          </a:prstGeom>
          <a:solidFill>
            <a:schemeClr val="tx1">
              <a:lumMod val="50000"/>
              <a:lumOff val="50000"/>
              <a:alpha val="59239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7A02AF-19FE-5223-EE42-43D4F5416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492"/>
            <a:ext cx="12192000" cy="628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ko-KR" dirty="0"/>
              <a:t>Title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6B78F7-D9F7-1A4E-0F92-C14FAADAC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808" y="772511"/>
            <a:ext cx="11952383" cy="5663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</p:txBody>
      </p:sp>
      <p:sp>
        <p:nvSpPr>
          <p:cNvPr id="12" name="날짜 개체 틀 3">
            <a:extLst>
              <a:ext uri="{FF2B5EF4-FFF2-40B4-BE49-F238E27FC236}">
                <a16:creationId xmlns:a16="http://schemas.microsoft.com/office/drawing/2014/main" id="{AED9B35F-AB58-03CF-474F-1AFEC25C27A3}"/>
              </a:ext>
            </a:extLst>
          </p:cNvPr>
          <p:cNvSpPr txBox="1">
            <a:spLocks/>
          </p:cNvSpPr>
          <p:nvPr userDrawn="1"/>
        </p:nvSpPr>
        <p:spPr>
          <a:xfrm>
            <a:off x="40978" y="6592837"/>
            <a:ext cx="1434662" cy="26552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sz="1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Embedded AI</a:t>
            </a:r>
            <a:endParaRPr kumimoji="1" lang="ko-KR" altLang="en-US" sz="1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바닥글 개체 틀 4">
            <a:extLst>
              <a:ext uri="{FF2B5EF4-FFF2-40B4-BE49-F238E27FC236}">
                <a16:creationId xmlns:a16="http://schemas.microsoft.com/office/drawing/2014/main" id="{D7807DFB-0F2F-C213-B5C9-704F44B5185E}"/>
              </a:ext>
            </a:extLst>
          </p:cNvPr>
          <p:cNvSpPr txBox="1">
            <a:spLocks/>
          </p:cNvSpPr>
          <p:nvPr userDrawn="1"/>
        </p:nvSpPr>
        <p:spPr>
          <a:xfrm>
            <a:off x="11398474" y="6606887"/>
            <a:ext cx="807728" cy="265530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346EA7-1898-7E4A-A5B3-305006AD8040}" type="slidenum">
              <a:rPr kumimoji="1" lang="ko-KR" altLang="en-US" sz="1300" b="1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pPr/>
              <a:t>‹#›</a:t>
            </a:fld>
            <a:r>
              <a:rPr kumimoji="1" lang="en-US" altLang="ko-KR" sz="13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/ 33</a:t>
            </a:r>
            <a:endParaRPr kumimoji="1" lang="ko-KR" altLang="en-US" sz="13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9980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500" b="1" kern="1200">
          <a:solidFill>
            <a:schemeClr val="tx1"/>
          </a:solidFill>
          <a:latin typeface="+mj-lt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pdf/1502.03167" TargetMode="External"/><Relationship Id="rId4" Type="http://schemas.openxmlformats.org/officeDocument/2006/relationships/hyperlink" Target="https://www.srose.biz/deep-learning/deep-learning-performance-part-3-batch-normalization-dropout-and-noise/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pdf/1502.03167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rose.biz/deep-learning/deep-learning-performance-part-3-batch-normalization-dropout-and-noise/" TargetMode="External"/><Relationship Id="rId5" Type="http://schemas.openxmlformats.org/officeDocument/2006/relationships/image" Target="../media/image3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hyperlink" Target="https://arxiv.org/pdf/1502.03167" TargetMode="External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hyperlink" Target="https://arxiv.org/pdf/1607.06450" TargetMode="External"/><Relationship Id="rId7" Type="http://schemas.openxmlformats.org/officeDocument/2006/relationships/image" Target="../media/image11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20.png"/><Relationship Id="rId5" Type="http://schemas.openxmlformats.org/officeDocument/2006/relationships/image" Target="../media/image9.png"/><Relationship Id="rId15" Type="http://schemas.openxmlformats.org/officeDocument/2006/relationships/image" Target="../media/image24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9.png"/><Relationship Id="rId18" Type="http://schemas.openxmlformats.org/officeDocument/2006/relationships/image" Target="../media/image30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28.png"/><Relationship Id="rId5" Type="http://schemas.openxmlformats.org/officeDocument/2006/relationships/image" Target="../media/image10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19" Type="http://schemas.openxmlformats.org/officeDocument/2006/relationships/hyperlink" Target="https://arxiv.org/pdf/1910.07467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40.png"/><Relationship Id="rId18" Type="http://schemas.openxmlformats.org/officeDocument/2006/relationships/image" Target="../media/image27.png"/><Relationship Id="rId3" Type="http://schemas.openxmlformats.org/officeDocument/2006/relationships/image" Target="../media/image31.png"/><Relationship Id="rId21" Type="http://schemas.openxmlformats.org/officeDocument/2006/relationships/image" Target="../media/image47.png"/><Relationship Id="rId7" Type="http://schemas.openxmlformats.org/officeDocument/2006/relationships/image" Target="../media/image35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3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8.png"/><Relationship Id="rId5" Type="http://schemas.openxmlformats.org/officeDocument/2006/relationships/image" Target="../media/image33.png"/><Relationship Id="rId15" Type="http://schemas.openxmlformats.org/officeDocument/2006/relationships/image" Target="../media/image42.png"/><Relationship Id="rId23" Type="http://schemas.openxmlformats.org/officeDocument/2006/relationships/image" Target="../media/image5.png"/><Relationship Id="rId10" Type="http://schemas.openxmlformats.org/officeDocument/2006/relationships/image" Target="../media/image37.png"/><Relationship Id="rId19" Type="http://schemas.openxmlformats.org/officeDocument/2006/relationships/image" Target="../media/image45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40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3.png"/><Relationship Id="rId5" Type="http://schemas.openxmlformats.org/officeDocument/2006/relationships/image" Target="../media/image38.png"/><Relationship Id="rId10" Type="http://schemas.openxmlformats.org/officeDocument/2006/relationships/image" Target="../media/image42.png"/><Relationship Id="rId4" Type="http://schemas.openxmlformats.org/officeDocument/2006/relationships/image" Target="../media/image32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57.png"/><Relationship Id="rId3" Type="http://schemas.openxmlformats.org/officeDocument/2006/relationships/hyperlink" Target="https://arxiv.org/pdf/1607.06450" TargetMode="External"/><Relationship Id="rId7" Type="http://schemas.openxmlformats.org/officeDocument/2006/relationships/image" Target="../media/image54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38.png"/><Relationship Id="rId5" Type="http://schemas.openxmlformats.org/officeDocument/2006/relationships/image" Target="../media/image52.png"/><Relationship Id="rId10" Type="http://schemas.openxmlformats.org/officeDocument/2006/relationships/image" Target="../media/image56.png"/><Relationship Id="rId4" Type="http://schemas.openxmlformats.org/officeDocument/2006/relationships/image" Target="../media/image51.png"/><Relationship Id="rId9" Type="http://schemas.openxmlformats.org/officeDocument/2006/relationships/image" Target="../media/image55.png"/><Relationship Id="rId14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59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63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6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67.png"/><Relationship Id="rId4" Type="http://schemas.openxmlformats.org/officeDocument/2006/relationships/image" Target="../media/image6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0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49.png"/><Relationship Id="rId4" Type="http://schemas.openxmlformats.org/officeDocument/2006/relationships/image" Target="../media/image6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5.png"/><Relationship Id="rId4" Type="http://schemas.openxmlformats.org/officeDocument/2006/relationships/image" Target="../media/image8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pdf/2103.00020" TargetMode="External"/><Relationship Id="rId3" Type="http://schemas.openxmlformats.org/officeDocument/2006/relationships/image" Target="../media/image89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1.png"/><Relationship Id="rId4" Type="http://schemas.openxmlformats.org/officeDocument/2006/relationships/image" Target="../media/image9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폰트, 화이트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11E926-5293-018A-AD6A-BB8BAD863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85" y="5096699"/>
            <a:ext cx="6499257" cy="100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842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262878-3482-178A-E776-A6670BB5D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2877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sz="3000" b="1" dirty="0">
                <a:latin typeface="+mj-lt"/>
                <a:cs typeface="Times New Roman" panose="02020603050405020304" pitchFamily="18" charset="0"/>
              </a:rPr>
              <a:t>Outline</a:t>
            </a:r>
            <a:endParaRPr kumimoji="1" lang="ko-KR" altLang="en-US" sz="3000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AF2C187-0F7B-3088-D810-FBE27C7B91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725" y="654269"/>
                <a:ext cx="11516710" cy="5880537"/>
              </a:xfrm>
            </p:spPr>
            <p:txBody>
              <a:bodyPr anchor="ctr">
                <a:normAutofit/>
              </a:bodyPr>
              <a:lstStyle/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Background: Normalization layers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Analysis: What Do Normalization Layers Do?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Dynamic Tanh (DyT)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Experiments &amp; Analysis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Initialization of </a:t>
                </a:r>
                <a14:m>
                  <m:oMath xmlns:m="http://schemas.openxmlformats.org/officeDocument/2006/math">
                    <m:r>
                      <a:rPr kumimoji="1" lang="en-US" altLang="ko-KR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endParaRPr kumimoji="1" lang="en-US" altLang="ko-KR" sz="2200" dirty="0"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Limitation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Discussion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AF2C187-0F7B-3088-D810-FBE27C7B91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725" y="654269"/>
                <a:ext cx="11516710" cy="5880537"/>
              </a:xfrm>
              <a:blipFill>
                <a:blip r:embed="rId3"/>
                <a:stretch>
                  <a:fillRect l="-7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6060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00A27-0A3B-5E6A-3024-150C269CE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6BA47404-67C4-05D3-31EF-C17EA3BD2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>
                <a:latin typeface="+mj-lt"/>
              </a:rPr>
              <a:t>1. Background: Normalization layers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026" name="Picture 2" descr="Alt text that describes the graphic">
            <a:extLst>
              <a:ext uri="{FF2B5EF4-FFF2-40B4-BE49-F238E27FC236}">
                <a16:creationId xmlns:a16="http://schemas.microsoft.com/office/drawing/2014/main" id="{4B393CD9-4384-9C0F-B726-DFBDB717AB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34" t="27321" r="2082" b="10986"/>
          <a:stretch>
            <a:fillRect/>
          </a:stretch>
        </p:blipFill>
        <p:spPr bwMode="auto">
          <a:xfrm>
            <a:off x="4297335" y="1946804"/>
            <a:ext cx="5767216" cy="3094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A87A7EF-D116-51B4-D860-80B820C095E0}"/>
              </a:ext>
            </a:extLst>
          </p:cNvPr>
          <p:cNvSpPr txBox="1"/>
          <p:nvPr/>
        </p:nvSpPr>
        <p:spPr>
          <a:xfrm>
            <a:off x="10064551" y="1946804"/>
            <a:ext cx="2127449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 err="1">
                <a:hlinkClick r:id="rId4"/>
              </a:rPr>
              <a:t>https</a:t>
            </a:r>
            <a:r>
              <a:rPr lang="ko-KR" altLang="en-US" sz="1100" dirty="0">
                <a:hlinkClick r:id="rId4"/>
              </a:rPr>
              <a:t>://</a:t>
            </a:r>
            <a:r>
              <a:rPr lang="ko-KR" altLang="en-US" sz="1100" dirty="0" err="1">
                <a:hlinkClick r:id="rId4"/>
              </a:rPr>
              <a:t>www.srose.biz</a:t>
            </a:r>
            <a:r>
              <a:rPr lang="ko-KR" altLang="en-US" sz="1100" dirty="0">
                <a:hlinkClick r:id="rId4"/>
              </a:rPr>
              <a:t>/</a:t>
            </a:r>
            <a:r>
              <a:rPr lang="ko-KR" altLang="en-US" sz="1100" dirty="0" err="1">
                <a:hlinkClick r:id="rId4"/>
              </a:rPr>
              <a:t>deep-learning</a:t>
            </a:r>
            <a:r>
              <a:rPr lang="ko-KR" altLang="en-US" sz="1100" dirty="0">
                <a:hlinkClick r:id="rId4"/>
              </a:rPr>
              <a:t>/deep-learning-performance-part-3-batch-normalization-dropout-and-noise/</a:t>
            </a:r>
            <a:endParaRPr lang="ko-KR" altLang="en-US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F82053-E352-CC75-71D7-CBBD0914AAA3}"/>
              </a:ext>
            </a:extLst>
          </p:cNvPr>
          <p:cNvSpPr txBox="1"/>
          <p:nvPr/>
        </p:nvSpPr>
        <p:spPr>
          <a:xfrm>
            <a:off x="48343" y="1946804"/>
            <a:ext cx="4248992" cy="3131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100" dirty="0">
                <a:hlinkClick r:id="rId5"/>
              </a:rPr>
              <a:t>Ioffe, Sergey, and Christian Szegedy. "Batch normalization: Accelerating deep network training by reducing internal covariate shift." </a:t>
            </a:r>
            <a:r>
              <a:rPr kumimoji="1" lang="en-US" altLang="ko-KR" sz="1100" i="1" dirty="0">
                <a:hlinkClick r:id="rId5"/>
              </a:rPr>
              <a:t>International conference on machine learning.</a:t>
            </a:r>
            <a:r>
              <a:rPr kumimoji="1" lang="en-US" altLang="ko-KR" sz="1100" dirty="0">
                <a:hlinkClick r:id="rId5"/>
              </a:rPr>
              <a:t> </a:t>
            </a:r>
            <a:r>
              <a:rPr kumimoji="1" lang="en-US" altLang="ko-KR" sz="1100" dirty="0" err="1">
                <a:hlinkClick r:id="rId5"/>
              </a:rPr>
              <a:t>pmlr</a:t>
            </a:r>
            <a:r>
              <a:rPr kumimoji="1" lang="en-US" altLang="ko-KR" sz="1100" dirty="0">
                <a:hlinkClick r:id="rId5"/>
              </a:rPr>
              <a:t>, 2015.</a:t>
            </a:r>
            <a:endParaRPr kumimoji="1" lang="en-US" altLang="ko-KR" sz="1100" dirty="0"/>
          </a:p>
          <a:p>
            <a:pPr>
              <a:lnSpc>
                <a:spcPct val="150000"/>
              </a:lnSpc>
            </a:pPr>
            <a:r>
              <a:rPr kumimoji="1" lang="en-US" altLang="ko-KR" dirty="0"/>
              <a:t>Motivation: Internal covariate shift</a:t>
            </a:r>
            <a:br>
              <a:rPr kumimoji="1" lang="en-US" altLang="ko-KR" dirty="0"/>
            </a:br>
            <a:r>
              <a:rPr kumimoji="1" lang="en-US" altLang="ko-KR" dirty="0">
                <a:sym typeface="Wingdings" pitchFamily="2" charset="2"/>
              </a:rPr>
              <a:t> </a:t>
            </a:r>
            <a:r>
              <a:rPr kumimoji="1" lang="ko-KR" altLang="en-US" dirty="0">
                <a:sym typeface="Wingdings" pitchFamily="2" charset="2"/>
              </a:rPr>
              <a:t>학습을 불안정</a:t>
            </a:r>
            <a:r>
              <a:rPr kumimoji="1" lang="en-US" altLang="ko-KR" dirty="0">
                <a:sym typeface="Wingdings" pitchFamily="2" charset="2"/>
              </a:rPr>
              <a:t>, </a:t>
            </a:r>
            <a:r>
              <a:rPr kumimoji="1" lang="ko-KR" altLang="en-US" dirty="0">
                <a:sym typeface="Wingdings" pitchFamily="2" charset="2"/>
              </a:rPr>
              <a:t>느리게 만듦</a:t>
            </a:r>
            <a:endParaRPr kumimoji="1"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ko-KR" dirty="0"/>
              <a:t>“the layers need to continuously adapt to the new distribution.”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ko-KR" dirty="0"/>
              <a:t>”Gradient exploding/vanishing”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9F6F41B-B725-E1B2-0235-23A3806CDC27}"/>
              </a:ext>
            </a:extLst>
          </p:cNvPr>
          <p:cNvSpPr/>
          <p:nvPr/>
        </p:nvSpPr>
        <p:spPr>
          <a:xfrm>
            <a:off x="6697136" y="2074333"/>
            <a:ext cx="1151467" cy="213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34937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0FBB4-87B8-07C3-D71F-BE467CBAC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F4CBBCC1-3459-6D04-0464-58B5B48CE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>
                <a:latin typeface="+mj-lt"/>
              </a:rPr>
              <a:t>1. Background: Normalization layers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806012-4B9B-E2A7-7357-48AA6DEC239B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1055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200" b="1" dirty="0">
                    <a:latin typeface="+mn-ea"/>
                    <a:cs typeface="Times New Roman" panose="02020603050405020304" pitchFamily="18" charset="0"/>
                  </a:rPr>
                  <a:t>Two statistics</a:t>
                </a:r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kumimoji="1" lang="en-US" altLang="ko-KR" sz="2200" b="1" i="1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-mean,</a:t>
                </a:r>
                <a:r>
                  <a:rPr kumimoji="1" lang="ko-KR" altLang="en-US" sz="2200" dirty="0">
                    <a:latin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2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200" b="1" i="1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kumimoji="1" lang="en-US" altLang="ko-KR" sz="22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-variance)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200" b="1" dirty="0">
                    <a:latin typeface="+mn-ea"/>
                    <a:cs typeface="Times New Roman" panose="02020603050405020304" pitchFamily="18" charset="0"/>
                  </a:rPr>
                  <a:t>Affine parameters</a:t>
                </a:r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kumimoji="1" lang="en-US" altLang="ko-KR" sz="2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𝜸</m:t>
                    </m:r>
                  </m:oMath>
                </a14:m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-”scaling”, </a:t>
                </a:r>
                <a14:m>
                  <m:oMath xmlns:m="http://schemas.openxmlformats.org/officeDocument/2006/math">
                    <m:r>
                      <a:rPr kumimoji="1" lang="en-US" altLang="ko-KR" sz="2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-”shifting”)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806012-4B9B-E2A7-7357-48AA6DEC2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1055032"/>
              </a:xfrm>
              <a:prstGeom prst="rect">
                <a:avLst/>
              </a:prstGeom>
              <a:blipFill>
                <a:blip r:embed="rId3"/>
                <a:stretch>
                  <a:fillRect l="-637" b="-95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 descr="텍스트, 폰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F707F9-BDDD-37E1-510D-1AC78DB30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112" y="5125806"/>
            <a:ext cx="9799776" cy="1468893"/>
          </a:xfrm>
          <a:prstGeom prst="rect">
            <a:avLst/>
          </a:prstGeom>
        </p:spPr>
      </p:pic>
      <p:pic>
        <p:nvPicPr>
          <p:cNvPr id="7" name="Picture 2" descr="Alt text that describes the graphic">
            <a:extLst>
              <a:ext uri="{FF2B5EF4-FFF2-40B4-BE49-F238E27FC236}">
                <a16:creationId xmlns:a16="http://schemas.microsoft.com/office/drawing/2014/main" id="{161D282E-E683-DDF6-95F8-B6CAAA353A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34" t="27321" r="2082" b="10986"/>
          <a:stretch>
            <a:fillRect/>
          </a:stretch>
        </p:blipFill>
        <p:spPr bwMode="auto">
          <a:xfrm>
            <a:off x="4297335" y="1946804"/>
            <a:ext cx="5767216" cy="3094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B0DE0F-BEDA-3CB2-52B4-2E087D85DB6C}"/>
              </a:ext>
            </a:extLst>
          </p:cNvPr>
          <p:cNvSpPr txBox="1"/>
          <p:nvPr/>
        </p:nvSpPr>
        <p:spPr>
          <a:xfrm>
            <a:off x="10064551" y="1946804"/>
            <a:ext cx="2127449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 err="1">
                <a:hlinkClick r:id="rId6"/>
              </a:rPr>
              <a:t>https</a:t>
            </a:r>
            <a:r>
              <a:rPr lang="ko-KR" altLang="en-US" sz="1100" dirty="0">
                <a:hlinkClick r:id="rId6"/>
              </a:rPr>
              <a:t>://</a:t>
            </a:r>
            <a:r>
              <a:rPr lang="ko-KR" altLang="en-US" sz="1100" dirty="0" err="1">
                <a:hlinkClick r:id="rId6"/>
              </a:rPr>
              <a:t>www.srose.biz</a:t>
            </a:r>
            <a:r>
              <a:rPr lang="ko-KR" altLang="en-US" sz="1100" dirty="0">
                <a:hlinkClick r:id="rId6"/>
              </a:rPr>
              <a:t>/</a:t>
            </a:r>
            <a:r>
              <a:rPr lang="ko-KR" altLang="en-US" sz="1100" dirty="0" err="1">
                <a:hlinkClick r:id="rId6"/>
              </a:rPr>
              <a:t>deep-learning</a:t>
            </a:r>
            <a:r>
              <a:rPr lang="ko-KR" altLang="en-US" sz="1100" dirty="0">
                <a:hlinkClick r:id="rId6"/>
              </a:rPr>
              <a:t>/deep-learning-performance-part-3-batch-normalization-dropout-and-noise/</a:t>
            </a:r>
            <a:endParaRPr lang="ko-KR" alt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40ADE8-685B-AE09-369D-9DBB103A686F}"/>
                  </a:ext>
                </a:extLst>
              </p:cNvPr>
              <p:cNvSpPr txBox="1"/>
              <p:nvPr/>
            </p:nvSpPr>
            <p:spPr>
              <a:xfrm>
                <a:off x="6885701" y="2702002"/>
                <a:ext cx="93750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200" dirty="0"/>
                  <a:t>(</a:t>
                </a:r>
                <a14:m>
                  <m:oMath xmlns:m="http://schemas.openxmlformats.org/officeDocument/2006/math"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kumimoji="1" lang="en-US" altLang="ko-KR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ko-KR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ko-KR" sz="2200" dirty="0"/>
                  <a:t>)</a:t>
                </a:r>
                <a:endParaRPr kumimoji="1" lang="ko-KR" altLang="en-US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40ADE8-685B-AE09-369D-9DBB103A6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5701" y="2702002"/>
                <a:ext cx="937501" cy="430887"/>
              </a:xfrm>
              <a:prstGeom prst="rect">
                <a:avLst/>
              </a:prstGeom>
              <a:blipFill>
                <a:blip r:embed="rId7"/>
                <a:stretch>
                  <a:fillRect l="-8108" t="-8571" r="-8108" b="-28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DB66290-A6B7-ACAB-646B-801A3E0FB053}"/>
              </a:ext>
            </a:extLst>
          </p:cNvPr>
          <p:cNvSpPr txBox="1"/>
          <p:nvPr/>
        </p:nvSpPr>
        <p:spPr>
          <a:xfrm>
            <a:off x="48343" y="1946804"/>
            <a:ext cx="4248992" cy="3131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100" dirty="0">
                <a:hlinkClick r:id="rId8"/>
              </a:rPr>
              <a:t>Ioffe, Sergey, and Christian Szegedy. "Batch normalization: Accelerating deep network training by reducing internal covariate shift." </a:t>
            </a:r>
            <a:r>
              <a:rPr kumimoji="1" lang="en-US" altLang="ko-KR" sz="1100" i="1" dirty="0">
                <a:hlinkClick r:id="rId8"/>
              </a:rPr>
              <a:t>International conference on machine learning.</a:t>
            </a:r>
            <a:r>
              <a:rPr kumimoji="1" lang="en-US" altLang="ko-KR" sz="1100" dirty="0">
                <a:hlinkClick r:id="rId8"/>
              </a:rPr>
              <a:t> </a:t>
            </a:r>
            <a:r>
              <a:rPr kumimoji="1" lang="en-US" altLang="ko-KR" sz="1100" dirty="0" err="1">
                <a:hlinkClick r:id="rId8"/>
              </a:rPr>
              <a:t>pmlr</a:t>
            </a:r>
            <a:r>
              <a:rPr kumimoji="1" lang="en-US" altLang="ko-KR" sz="1100" dirty="0">
                <a:hlinkClick r:id="rId8"/>
              </a:rPr>
              <a:t>, 2015.</a:t>
            </a:r>
            <a:endParaRPr kumimoji="1" lang="en-US" altLang="ko-KR" sz="1100" dirty="0"/>
          </a:p>
          <a:p>
            <a:pPr>
              <a:lnSpc>
                <a:spcPct val="150000"/>
              </a:lnSpc>
            </a:pPr>
            <a:r>
              <a:rPr kumimoji="1" lang="en-US" altLang="ko-KR" dirty="0"/>
              <a:t>Motivation: Internal covariate shift</a:t>
            </a:r>
            <a:br>
              <a:rPr kumimoji="1" lang="en-US" altLang="ko-KR" dirty="0"/>
            </a:br>
            <a:r>
              <a:rPr kumimoji="1" lang="en-US" altLang="ko-KR" dirty="0">
                <a:sym typeface="Wingdings" pitchFamily="2" charset="2"/>
              </a:rPr>
              <a:t> </a:t>
            </a:r>
            <a:r>
              <a:rPr kumimoji="1" lang="ko-KR" altLang="en-US" dirty="0">
                <a:sym typeface="Wingdings" pitchFamily="2" charset="2"/>
              </a:rPr>
              <a:t>학습을 불안정</a:t>
            </a:r>
            <a:r>
              <a:rPr kumimoji="1" lang="en-US" altLang="ko-KR" dirty="0">
                <a:sym typeface="Wingdings" pitchFamily="2" charset="2"/>
              </a:rPr>
              <a:t>, </a:t>
            </a:r>
            <a:r>
              <a:rPr kumimoji="1" lang="ko-KR" altLang="en-US" dirty="0">
                <a:sym typeface="Wingdings" pitchFamily="2" charset="2"/>
              </a:rPr>
              <a:t>느리게 만듦</a:t>
            </a:r>
            <a:endParaRPr kumimoji="1"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ko-KR" dirty="0"/>
              <a:t>“the layers need to continuously adapt to the new distribution.”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ko-KR" dirty="0"/>
              <a:t>”Gradient exploding/vanishing”</a:t>
            </a:r>
          </a:p>
        </p:txBody>
      </p:sp>
    </p:spTree>
    <p:extLst>
      <p:ext uri="{BB962C8B-B14F-4D97-AF65-F5344CB8AC3E}">
        <p14:creationId xmlns:p14="http://schemas.microsoft.com/office/powerpoint/2010/main" val="1807661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0FBA7-CBCF-41F3-9389-3EFA2CB35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BD49F61-B2B5-0163-AB4F-79BE9A560C7D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372313616"/>
              </p:ext>
            </p:extLst>
          </p:nvPr>
        </p:nvGraphicFramePr>
        <p:xfrm>
          <a:off x="2417499" y="1896781"/>
          <a:ext cx="102343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571212619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69508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64242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347340"/>
                  </a:ext>
                </a:extLst>
              </a:tr>
            </a:tbl>
          </a:graphicData>
        </a:graphic>
      </p:graphicFrame>
      <p:sp>
        <p:nvSpPr>
          <p:cNvPr id="27" name="제목 26">
            <a:extLst>
              <a:ext uri="{FF2B5EF4-FFF2-40B4-BE49-F238E27FC236}">
                <a16:creationId xmlns:a16="http://schemas.microsoft.com/office/drawing/2014/main" id="{DC0D8391-2BCE-5C5E-C4C5-5BE77F783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>
                <a:latin typeface="+mj-lt"/>
              </a:rPr>
              <a:t>1. Background: Normalization layers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830A1DB-6761-6DD2-D884-68365DADF162}"/>
              </a:ext>
            </a:extLst>
          </p:cNvPr>
          <p:cNvSpPr txBox="1"/>
          <p:nvPr/>
        </p:nvSpPr>
        <p:spPr>
          <a:xfrm>
            <a:off x="119808" y="677163"/>
            <a:ext cx="11952383" cy="775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Batch normalization</a:t>
            </a: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 </a:t>
            </a:r>
            <a:r>
              <a:rPr kumimoji="1" lang="en-US" altLang="ko-KR" sz="1100" dirty="0">
                <a:latin typeface="+mn-ea"/>
                <a:cs typeface="Times New Roman" panose="02020603050405020304" pitchFamily="18" charset="0"/>
                <a:hlinkClick r:id="rId3"/>
              </a:rPr>
              <a:t>(Ioffe, Sergey, and Christian Szegedy. "Batch normalization: Accelerating deep network training by reducing internal covariate shift." </a:t>
            </a:r>
            <a:r>
              <a:rPr kumimoji="1" lang="en-US" altLang="ko-KR" sz="1100" i="1" dirty="0">
                <a:latin typeface="+mn-ea"/>
                <a:cs typeface="Times New Roman" panose="02020603050405020304" pitchFamily="18" charset="0"/>
                <a:hlinkClick r:id="rId3"/>
              </a:rPr>
              <a:t>International conference on machine learning</a:t>
            </a:r>
            <a:r>
              <a:rPr kumimoji="1" lang="en-US" altLang="ko-KR" sz="1100" dirty="0">
                <a:latin typeface="+mn-ea"/>
                <a:cs typeface="Times New Roman" panose="02020603050405020304" pitchFamily="18" charset="0"/>
                <a:hlinkClick r:id="rId3"/>
              </a:rPr>
              <a:t>. </a:t>
            </a:r>
            <a:r>
              <a:rPr kumimoji="1" lang="en-US" altLang="ko-KR" sz="1100" dirty="0" err="1">
                <a:latin typeface="+mn-ea"/>
                <a:cs typeface="Times New Roman" panose="02020603050405020304" pitchFamily="18" charset="0"/>
                <a:hlinkClick r:id="rId3"/>
              </a:rPr>
              <a:t>pmlr</a:t>
            </a:r>
            <a:r>
              <a:rPr kumimoji="1" lang="en-US" altLang="ko-KR" sz="1100" dirty="0">
                <a:latin typeface="+mn-ea"/>
                <a:cs typeface="Times New Roman" panose="02020603050405020304" pitchFamily="18" charset="0"/>
                <a:hlinkClick r:id="rId3"/>
              </a:rPr>
              <a:t>, 2015.)</a:t>
            </a:r>
            <a:endParaRPr kumimoji="1" lang="en-US" altLang="ko-KR" sz="1100" dirty="0"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D0DEC50-0C39-AA60-3F04-DB7F0D59712F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940530746"/>
              </p:ext>
            </p:extLst>
          </p:nvPr>
        </p:nvGraphicFramePr>
        <p:xfrm>
          <a:off x="983786" y="2488000"/>
          <a:ext cx="102343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571212619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69508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64242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34734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50B605-42F5-47A2-1BA4-114D0E35F72E}"/>
                  </a:ext>
                </a:extLst>
              </p:cNvPr>
              <p:cNvSpPr txBox="1"/>
              <p:nvPr/>
            </p:nvSpPr>
            <p:spPr>
              <a:xfrm>
                <a:off x="1343024" y="2093378"/>
                <a:ext cx="37112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50B605-42F5-47A2-1BA4-114D0E35F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024" y="2093378"/>
                <a:ext cx="371127" cy="338554"/>
              </a:xfrm>
              <a:prstGeom prst="rect">
                <a:avLst/>
              </a:prstGeom>
              <a:blipFill>
                <a:blip r:embed="rId4"/>
                <a:stretch>
                  <a:fillRect l="-3333" r="-3333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E5FEFA-B60E-48B1-0C28-C31EFA4931C4}"/>
                  </a:ext>
                </a:extLst>
              </p:cNvPr>
              <p:cNvSpPr txBox="1"/>
              <p:nvPr/>
            </p:nvSpPr>
            <p:spPr>
              <a:xfrm>
                <a:off x="2727204" y="1498002"/>
                <a:ext cx="404021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E5FEFA-B60E-48B1-0C28-C31EFA493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204" y="1498002"/>
                <a:ext cx="404021" cy="338554"/>
              </a:xfrm>
              <a:prstGeom prst="rect">
                <a:avLst/>
              </a:prstGeom>
              <a:blipFill>
                <a:blip r:embed="rId5"/>
                <a:stretch>
                  <a:fillRect l="-3030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BB92BE8-2FE3-7061-F312-4B570D2EE998}"/>
              </a:ext>
            </a:extLst>
          </p:cNvPr>
          <p:cNvSpPr txBox="1"/>
          <p:nvPr/>
        </p:nvSpPr>
        <p:spPr>
          <a:xfrm rot="19693468">
            <a:off x="1556076" y="1743533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...............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0AE2B4-E942-BC86-4091-4B28120D281F}"/>
                  </a:ext>
                </a:extLst>
              </p:cNvPr>
              <p:cNvSpPr txBox="1"/>
              <p:nvPr/>
            </p:nvSpPr>
            <p:spPr>
              <a:xfrm>
                <a:off x="620129" y="3400614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0AE2B4-E942-BC86-4091-4B28120D2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29" y="3400614"/>
                <a:ext cx="4664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3EEC37-7151-CF11-7F77-C5C06D758050}"/>
                  </a:ext>
                </a:extLst>
              </p:cNvPr>
              <p:cNvSpPr txBox="1"/>
              <p:nvPr/>
            </p:nvSpPr>
            <p:spPr>
              <a:xfrm>
                <a:off x="1295340" y="4682560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3EEC37-7151-CF11-7F77-C5C06D758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340" y="4682560"/>
                <a:ext cx="46649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9E6D03-532C-9DA1-EE15-42CC5AEF7BA8}"/>
                  </a:ext>
                </a:extLst>
              </p:cNvPr>
              <p:cNvSpPr txBox="1"/>
              <p:nvPr/>
            </p:nvSpPr>
            <p:spPr>
              <a:xfrm>
                <a:off x="2727204" y="4120788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9E6D03-532C-9DA1-EE15-42CC5AEF7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204" y="4120788"/>
                <a:ext cx="46649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F9DAA1-E004-AFE4-42B5-FBCB934B9AEF}"/>
                  </a:ext>
                </a:extLst>
              </p:cNvPr>
              <p:cNvSpPr txBox="1"/>
              <p:nvPr/>
            </p:nvSpPr>
            <p:spPr>
              <a:xfrm>
                <a:off x="2062510" y="2807560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F9DAA1-E004-AFE4-42B5-FBCB934B9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510" y="2807560"/>
                <a:ext cx="46649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938827-6572-3271-2F51-E1A47624BCA3}"/>
                  </a:ext>
                </a:extLst>
              </p:cNvPr>
              <p:cNvSpPr txBox="1"/>
              <p:nvPr/>
            </p:nvSpPr>
            <p:spPr>
              <a:xfrm>
                <a:off x="239285" y="5131724"/>
                <a:ext cx="5299153" cy="13724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0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ko-KR" sz="200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</m:oMath>
                  </m:oMathPara>
                </a14:m>
                <a:endParaRPr lang="en-US" altLang="ko-KR" sz="2000" b="0" i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ko-KR" sz="2000" b="0" dirty="0"/>
                  <a:t>:</a:t>
                </a:r>
                <a:r>
                  <a:rPr lang="en-US" altLang="ko-KR" sz="2000" b="0" i="1" dirty="0"/>
                  <a:t> </a:t>
                </a:r>
                <a:r>
                  <a:rPr lang="en-US" altLang="ko-KR" sz="2000" b="0" dirty="0"/>
                  <a:t>the </a:t>
                </a:r>
                <a:r>
                  <a:rPr lang="en-US" altLang="ko-KR" sz="2000" dirty="0"/>
                  <a:t>b</a:t>
                </a:r>
                <a:r>
                  <a:rPr lang="en-US" altLang="ko-KR" sz="2000" b="0" dirty="0"/>
                  <a:t>atch size</a:t>
                </a:r>
                <a:endParaRPr lang="en-US" altLang="ko-KR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sz="2000" dirty="0"/>
                  <a:t>: the number of tokens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ko-KR" sz="2000" dirty="0"/>
                  <a:t>: the embedding dimension per token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938827-6572-3271-2F51-E1A47624B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285" y="5131724"/>
                <a:ext cx="5299153" cy="1372427"/>
              </a:xfrm>
              <a:prstGeom prst="rect">
                <a:avLst/>
              </a:prstGeom>
              <a:blipFill>
                <a:blip r:embed="rId10"/>
                <a:stretch>
                  <a:fillRect l="-955" b="-27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A49DFE-F988-4C92-38E3-1F71F5EE5DA3}"/>
                  </a:ext>
                </a:extLst>
              </p:cNvPr>
              <p:cNvSpPr txBox="1"/>
              <p:nvPr/>
            </p:nvSpPr>
            <p:spPr>
              <a:xfrm>
                <a:off x="5319599" y="1508851"/>
                <a:ext cx="3032973" cy="3938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1×</m:t>
                        </m:r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kumimoji="1" lang="en-US" altLang="ko-KR" sz="2500" i="1" dirty="0"/>
                  <a:t>: </a:t>
                </a:r>
                <a:r>
                  <a:rPr kumimoji="1" lang="en-US" altLang="ko-KR" sz="2500" dirty="0"/>
                  <a:t>mean</a:t>
                </a:r>
                <a:endParaRPr kumimoji="1" lang="ko-KR" alt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A49DFE-F988-4C92-38E3-1F71F5EE5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599" y="1508851"/>
                <a:ext cx="3032973" cy="393826"/>
              </a:xfrm>
              <a:prstGeom prst="rect">
                <a:avLst/>
              </a:prstGeom>
              <a:blipFill>
                <a:blip r:embed="rId11"/>
                <a:stretch>
                  <a:fillRect t="-29032" b="-483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C5F860B-CE13-79A4-C59C-41B3E85BD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126417"/>
              </p:ext>
            </p:extLst>
          </p:nvPr>
        </p:nvGraphicFramePr>
        <p:xfrm>
          <a:off x="5718098" y="2015014"/>
          <a:ext cx="1023432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461056418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198554836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4143911730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11239930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246069021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49132095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49304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EE6AB5-8B0C-A3C9-0306-324C0FCFC255}"/>
                  </a:ext>
                </a:extLst>
              </p:cNvPr>
              <p:cNvSpPr txBox="1"/>
              <p:nvPr/>
            </p:nvSpPr>
            <p:spPr>
              <a:xfrm>
                <a:off x="5996567" y="2280082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EE6AB5-8B0C-A3C9-0306-324C0FCFC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567" y="2280082"/>
                <a:ext cx="46649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오른쪽 중괄호[R] 18">
            <a:extLst>
              <a:ext uri="{FF2B5EF4-FFF2-40B4-BE49-F238E27FC236}">
                <a16:creationId xmlns:a16="http://schemas.microsoft.com/office/drawing/2014/main" id="{B7B60980-BF54-4740-8A0F-A3B1A5B50713}"/>
              </a:ext>
            </a:extLst>
          </p:cNvPr>
          <p:cNvSpPr/>
          <p:nvPr/>
        </p:nvSpPr>
        <p:spPr>
          <a:xfrm>
            <a:off x="2613205" y="2015014"/>
            <a:ext cx="113999" cy="1984557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오른쪽 중괄호[R] 19">
            <a:extLst>
              <a:ext uri="{FF2B5EF4-FFF2-40B4-BE49-F238E27FC236}">
                <a16:creationId xmlns:a16="http://schemas.microsoft.com/office/drawing/2014/main" id="{6F869FFA-6D4D-9EA9-F12E-CDF5E4355B25}"/>
              </a:ext>
            </a:extLst>
          </p:cNvPr>
          <p:cNvSpPr/>
          <p:nvPr/>
        </p:nvSpPr>
        <p:spPr>
          <a:xfrm>
            <a:off x="1221388" y="2581343"/>
            <a:ext cx="113999" cy="1984557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2" name="구부러진 연결선[U] 21">
            <a:extLst>
              <a:ext uri="{FF2B5EF4-FFF2-40B4-BE49-F238E27FC236}">
                <a16:creationId xmlns:a16="http://schemas.microsoft.com/office/drawing/2014/main" id="{20900364-3145-3BED-6D05-1F57DD59F251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1343024" y="2152174"/>
            <a:ext cx="4375074" cy="1421447"/>
          </a:xfrm>
          <a:prstGeom prst="curvedConnector3">
            <a:avLst/>
          </a:prstGeom>
          <a:ln w="254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구부러진 연결선[U] 23">
            <a:extLst>
              <a:ext uri="{FF2B5EF4-FFF2-40B4-BE49-F238E27FC236}">
                <a16:creationId xmlns:a16="http://schemas.microsoft.com/office/drawing/2014/main" id="{635C533F-126A-C870-2A8A-F009400DFAB0}"/>
              </a:ext>
            </a:extLst>
          </p:cNvPr>
          <p:cNvCxnSpPr>
            <a:cxnSpLocks/>
            <a:stCxn id="19" idx="1"/>
            <a:endCxn id="8" idx="1"/>
          </p:cNvCxnSpPr>
          <p:nvPr/>
        </p:nvCxnSpPr>
        <p:spPr>
          <a:xfrm rot="10800000" flipH="1">
            <a:off x="2727204" y="2152175"/>
            <a:ext cx="2990894" cy="855119"/>
          </a:xfrm>
          <a:prstGeom prst="curvedConnector5">
            <a:avLst>
              <a:gd name="adj1" fmla="val 20693"/>
              <a:gd name="adj2" fmla="val 95827"/>
              <a:gd name="adj3" fmla="val 66488"/>
            </a:avLst>
          </a:prstGeom>
          <a:ln w="254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60B01DB-F404-978D-D10E-B44D3E472EDF}"/>
                  </a:ext>
                </a:extLst>
              </p:cNvPr>
              <p:cNvSpPr txBox="1"/>
              <p:nvPr/>
            </p:nvSpPr>
            <p:spPr>
              <a:xfrm>
                <a:off x="6327368" y="2495520"/>
                <a:ext cx="2864896" cy="956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3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𝐵𝑇</m:t>
                          </m:r>
                        </m:den>
                      </m:f>
                      <m:sSub>
                        <m:sSubPr>
                          <m:ctrlPr>
                            <a:rPr lang="en-US" altLang="ko-KR" sz="3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𝛴</m:t>
                          </m:r>
                        </m:e>
                        <m:sub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altLang="ko-KR" sz="3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𝑖𝑗𝑘</m:t>
                          </m:r>
                        </m:sub>
                      </m:sSub>
                    </m:oMath>
                  </m:oMathPara>
                </a14:m>
                <a:endParaRPr lang="ko-KR" altLang="en-US" sz="3000" i="1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60B01DB-F404-978D-D10E-B44D3E472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368" y="2495520"/>
                <a:ext cx="2864896" cy="956672"/>
              </a:xfrm>
              <a:prstGeom prst="rect">
                <a:avLst/>
              </a:prstGeom>
              <a:blipFill>
                <a:blip r:embed="rId13"/>
                <a:stretch>
                  <a:fillRect l="-1327" b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꺾인 연결선[E] 36">
            <a:extLst>
              <a:ext uri="{FF2B5EF4-FFF2-40B4-BE49-F238E27FC236}">
                <a16:creationId xmlns:a16="http://schemas.microsoft.com/office/drawing/2014/main" id="{2E9D0E50-7701-0D65-C709-6BA6C8F379C2}"/>
              </a:ext>
            </a:extLst>
          </p:cNvPr>
          <p:cNvCxnSpPr>
            <a:cxnSpLocks/>
            <a:endCxn id="35" idx="1"/>
          </p:cNvCxnSpPr>
          <p:nvPr/>
        </p:nvCxnSpPr>
        <p:spPr>
          <a:xfrm rot="16200000" flipH="1">
            <a:off x="5588531" y="2341439"/>
            <a:ext cx="947883" cy="529792"/>
          </a:xfrm>
          <a:prstGeom prst="bentConnector2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B889730-2C6E-E6B6-3FD6-3A7A74C3FC46}"/>
                  </a:ext>
                </a:extLst>
              </p:cNvPr>
              <p:cNvSpPr txBox="1"/>
              <p:nvPr/>
            </p:nvSpPr>
            <p:spPr>
              <a:xfrm>
                <a:off x="5419492" y="3992458"/>
                <a:ext cx="3227213" cy="3938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1×</m:t>
                        </m:r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kumimoji="1" lang="en-US" altLang="ko-KR" sz="2500" i="1" dirty="0"/>
                  <a:t>: </a:t>
                </a:r>
                <a:r>
                  <a:rPr kumimoji="1" lang="en-US" altLang="ko-KR" sz="2500" dirty="0"/>
                  <a:t>variance</a:t>
                </a:r>
                <a:endParaRPr kumimoji="1" lang="ko-KR" altLang="en-US" sz="25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B889730-2C6E-E6B6-3FD6-3A7A74C3F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492" y="3992458"/>
                <a:ext cx="3227213" cy="393826"/>
              </a:xfrm>
              <a:prstGeom prst="rect">
                <a:avLst/>
              </a:prstGeom>
              <a:blipFill>
                <a:blip r:embed="rId14"/>
                <a:stretch>
                  <a:fillRect t="-25000" b="-437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9970F5D-1DE7-4CAC-9E74-BD28F022032A}"/>
                  </a:ext>
                </a:extLst>
              </p:cNvPr>
              <p:cNvSpPr txBox="1"/>
              <p:nvPr/>
            </p:nvSpPr>
            <p:spPr>
              <a:xfrm>
                <a:off x="6258424" y="4437355"/>
                <a:ext cx="4675459" cy="1418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kumimoji="1" lang="en-US" altLang="ko-KR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kumimoji="1" lang="en-US" altLang="ko-KR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altLang="ko-K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3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𝐵𝑇</m:t>
                          </m:r>
                        </m:den>
                      </m:f>
                      <m:sSub>
                        <m:sSubPr>
                          <m:ctrlPr>
                            <a:rPr lang="en-US" altLang="ko-KR" sz="3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i="1">
                              <a:latin typeface="Cambria Math" panose="02040503050406030204" pitchFamily="18" charset="0"/>
                            </a:rPr>
                            <m:t>𝛴</m:t>
                          </m:r>
                        </m:e>
                        <m:sub>
                          <m:r>
                            <a:rPr lang="en-US" altLang="ko-KR" sz="3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3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3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p>
                        <m:sSupPr>
                          <m:ctrlP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3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3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3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3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𝑖𝑗𝑘</m:t>
                                  </m:r>
                                </m:sub>
                              </m:sSub>
                              <m:r>
                                <a:rPr lang="en-US" altLang="ko-KR" sz="3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3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3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ko-KR" sz="3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ko-KR" sz="3000" b="0" i="1" dirty="0"/>
              </a:p>
              <a:p>
                <a:endParaRPr lang="en-US" altLang="ko-KR" sz="3000" b="0" i="1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9970F5D-1DE7-4CAC-9E74-BD28F0220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424" y="4437355"/>
                <a:ext cx="4675459" cy="141833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641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799A6-10FB-236F-3E89-719606C6C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5DF7134-5BD0-94A0-24D5-0B7E8B28A2C7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704839569"/>
              </p:ext>
            </p:extLst>
          </p:nvPr>
        </p:nvGraphicFramePr>
        <p:xfrm>
          <a:off x="2417499" y="1896781"/>
          <a:ext cx="102343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571212619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69508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64242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347340"/>
                  </a:ext>
                </a:extLst>
              </a:tr>
            </a:tbl>
          </a:graphicData>
        </a:graphic>
      </p:graphicFrame>
      <p:sp>
        <p:nvSpPr>
          <p:cNvPr id="27" name="제목 26">
            <a:extLst>
              <a:ext uri="{FF2B5EF4-FFF2-40B4-BE49-F238E27FC236}">
                <a16:creationId xmlns:a16="http://schemas.microsoft.com/office/drawing/2014/main" id="{F3815EFD-30F0-31D5-4725-4343C6DF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>
                <a:latin typeface="+mj-lt"/>
              </a:rPr>
              <a:t>1. Background: Normalization layers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CBB55E9-FC0A-C3F7-646E-A096F645D768}"/>
              </a:ext>
            </a:extLst>
          </p:cNvPr>
          <p:cNvSpPr txBox="1"/>
          <p:nvPr/>
        </p:nvSpPr>
        <p:spPr>
          <a:xfrm>
            <a:off x="119808" y="677163"/>
            <a:ext cx="11952383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Layer normalization </a:t>
            </a:r>
            <a:r>
              <a:rPr kumimoji="1" lang="en-US" altLang="ko-KR" sz="1100" dirty="0">
                <a:latin typeface="+mj-lt"/>
                <a:cs typeface="Times New Roman" panose="02020603050405020304" pitchFamily="18" charset="0"/>
                <a:hlinkClick r:id="rId3"/>
              </a:rPr>
              <a:t>(</a:t>
            </a:r>
            <a:r>
              <a:rPr lang="en" altLang="ko-KR" sz="1100" dirty="0">
                <a:latin typeface="+mj-lt"/>
                <a:hlinkClick r:id="rId3"/>
              </a:rPr>
              <a:t>Ba, Jimmy Lei, Jamie Ryan Kiros, and Geoffrey E. Hinton. "Layer normalization." </a:t>
            </a:r>
            <a:r>
              <a:rPr lang="en" altLang="ko-KR" sz="1100" i="1" dirty="0" err="1">
                <a:latin typeface="+mj-lt"/>
                <a:hlinkClick r:id="rId3"/>
              </a:rPr>
              <a:t>arXiv</a:t>
            </a:r>
            <a:r>
              <a:rPr lang="en" altLang="ko-KR" sz="1100" i="1" dirty="0">
                <a:latin typeface="+mj-lt"/>
                <a:hlinkClick r:id="rId3"/>
              </a:rPr>
              <a:t> preprint arXiv:1607.06450</a:t>
            </a:r>
            <a:r>
              <a:rPr lang="en" altLang="ko-KR" sz="1100" dirty="0">
                <a:latin typeface="+mj-lt"/>
                <a:hlinkClick r:id="rId3"/>
              </a:rPr>
              <a:t> (2016).</a:t>
            </a:r>
            <a:r>
              <a:rPr kumimoji="1" lang="en-US" altLang="ko-KR" sz="1100" dirty="0">
                <a:latin typeface="+mj-lt"/>
                <a:cs typeface="Times New Roman" panose="02020603050405020304" pitchFamily="18" charset="0"/>
                <a:hlinkClick r:id="rId3"/>
              </a:rPr>
              <a:t>)</a:t>
            </a:r>
            <a:endParaRPr kumimoji="1" lang="en-US" altLang="ko-KR" sz="1100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0B24AE9-25B7-24A1-471D-35A4D3538123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54291031"/>
              </p:ext>
            </p:extLst>
          </p:nvPr>
        </p:nvGraphicFramePr>
        <p:xfrm>
          <a:off x="983786" y="2488000"/>
          <a:ext cx="102343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571212619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69508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64242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34734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CA44A8-ECB5-59A9-2D01-71642813EA39}"/>
                  </a:ext>
                </a:extLst>
              </p:cNvPr>
              <p:cNvSpPr txBox="1"/>
              <p:nvPr/>
            </p:nvSpPr>
            <p:spPr>
              <a:xfrm>
                <a:off x="1343024" y="2093378"/>
                <a:ext cx="37112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CA44A8-ECB5-59A9-2D01-71642813E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024" y="2093378"/>
                <a:ext cx="371127" cy="338554"/>
              </a:xfrm>
              <a:prstGeom prst="rect">
                <a:avLst/>
              </a:prstGeom>
              <a:blipFill>
                <a:blip r:embed="rId4"/>
                <a:stretch>
                  <a:fillRect l="-3333" r="-3333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7934A9-CE2A-9A1D-4685-B3492F1176C2}"/>
                  </a:ext>
                </a:extLst>
              </p:cNvPr>
              <p:cNvSpPr txBox="1"/>
              <p:nvPr/>
            </p:nvSpPr>
            <p:spPr>
              <a:xfrm>
                <a:off x="2727204" y="1498002"/>
                <a:ext cx="404021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7934A9-CE2A-9A1D-4685-B3492F117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204" y="1498002"/>
                <a:ext cx="404021" cy="338554"/>
              </a:xfrm>
              <a:prstGeom prst="rect">
                <a:avLst/>
              </a:prstGeom>
              <a:blipFill>
                <a:blip r:embed="rId5"/>
                <a:stretch>
                  <a:fillRect l="-3030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98FB2C7-CAC9-A6CE-2CB0-947A2A9B7778}"/>
              </a:ext>
            </a:extLst>
          </p:cNvPr>
          <p:cNvSpPr txBox="1"/>
          <p:nvPr/>
        </p:nvSpPr>
        <p:spPr>
          <a:xfrm rot="19693468">
            <a:off x="1556076" y="1743533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...............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0B7AFD-B68F-01B5-3B9E-AB4EA6E7694A}"/>
                  </a:ext>
                </a:extLst>
              </p:cNvPr>
              <p:cNvSpPr txBox="1"/>
              <p:nvPr/>
            </p:nvSpPr>
            <p:spPr>
              <a:xfrm>
                <a:off x="620129" y="3400614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0B7AFD-B68F-01B5-3B9E-AB4EA6E76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29" y="3400614"/>
                <a:ext cx="4664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CF2201-3445-5DD3-7320-1AE164DABB63}"/>
                  </a:ext>
                </a:extLst>
              </p:cNvPr>
              <p:cNvSpPr txBox="1"/>
              <p:nvPr/>
            </p:nvSpPr>
            <p:spPr>
              <a:xfrm>
                <a:off x="1295340" y="4682560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CF2201-3445-5DD3-7320-1AE164DAB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340" y="4682560"/>
                <a:ext cx="46649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CB7B41-7C84-FEB4-2DEB-2C41A6A4AEE4}"/>
                  </a:ext>
                </a:extLst>
              </p:cNvPr>
              <p:cNvSpPr txBox="1"/>
              <p:nvPr/>
            </p:nvSpPr>
            <p:spPr>
              <a:xfrm>
                <a:off x="2727204" y="4120788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CB7B41-7C84-FEB4-2DEB-2C41A6A4A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204" y="4120788"/>
                <a:ext cx="46649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8EC984-C199-3B75-61E6-32662178D681}"/>
                  </a:ext>
                </a:extLst>
              </p:cNvPr>
              <p:cNvSpPr txBox="1"/>
              <p:nvPr/>
            </p:nvSpPr>
            <p:spPr>
              <a:xfrm>
                <a:off x="2062510" y="2807560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8EC984-C199-3B75-61E6-32662178D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510" y="2807560"/>
                <a:ext cx="46649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F7AD32-3426-E5F8-5128-B51C3A7FE241}"/>
                  </a:ext>
                </a:extLst>
              </p:cNvPr>
              <p:cNvSpPr txBox="1"/>
              <p:nvPr/>
            </p:nvSpPr>
            <p:spPr>
              <a:xfrm>
                <a:off x="239285" y="5131724"/>
                <a:ext cx="5299153" cy="13724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0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ko-KR" sz="200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</m:oMath>
                  </m:oMathPara>
                </a14:m>
                <a:endParaRPr lang="en-US" altLang="ko-KR" sz="2000" b="0" i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ko-KR" sz="2000" b="0" dirty="0"/>
                  <a:t>:</a:t>
                </a:r>
                <a:r>
                  <a:rPr lang="en-US" altLang="ko-KR" sz="2000" b="0" i="1" dirty="0"/>
                  <a:t> </a:t>
                </a:r>
                <a:r>
                  <a:rPr lang="en-US" altLang="ko-KR" sz="2000" b="0" dirty="0"/>
                  <a:t>the </a:t>
                </a:r>
                <a:r>
                  <a:rPr lang="en-US" altLang="ko-KR" sz="2000" dirty="0"/>
                  <a:t>b</a:t>
                </a:r>
                <a:r>
                  <a:rPr lang="en-US" altLang="ko-KR" sz="2000" b="0" dirty="0"/>
                  <a:t>atch size</a:t>
                </a:r>
                <a:endParaRPr lang="en-US" altLang="ko-KR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sz="2000" dirty="0"/>
                  <a:t>: the number of tokens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ko-KR" sz="2000" dirty="0"/>
                  <a:t>: the embedding dimension per token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F7AD32-3426-E5F8-5128-B51C3A7FE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285" y="5131724"/>
                <a:ext cx="5299153" cy="1372427"/>
              </a:xfrm>
              <a:prstGeom prst="rect">
                <a:avLst/>
              </a:prstGeom>
              <a:blipFill>
                <a:blip r:embed="rId10"/>
                <a:stretch>
                  <a:fillRect l="-955" b="-27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B60C40-58A8-D8C0-11BD-6D80C62B8B9B}"/>
                  </a:ext>
                </a:extLst>
              </p:cNvPr>
              <p:cNvSpPr txBox="1"/>
              <p:nvPr/>
            </p:nvSpPr>
            <p:spPr>
              <a:xfrm>
                <a:off x="5015554" y="2093378"/>
                <a:ext cx="506796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B60C40-58A8-D8C0-11BD-6D80C62B8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554" y="2093378"/>
                <a:ext cx="506796" cy="338554"/>
              </a:xfrm>
              <a:prstGeom prst="rect">
                <a:avLst/>
              </a:prstGeom>
              <a:blipFill>
                <a:blip r:embed="rId11"/>
                <a:stretch>
                  <a:fillRect l="-7500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C0C6511-B982-2A1B-3FE1-347DBDD5EF52}"/>
                  </a:ext>
                </a:extLst>
              </p:cNvPr>
              <p:cNvSpPr txBox="1"/>
              <p:nvPr/>
            </p:nvSpPr>
            <p:spPr>
              <a:xfrm>
                <a:off x="7792621" y="1989178"/>
                <a:ext cx="2864896" cy="956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ko-K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3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sSub>
                        <m:sSubPr>
                          <m:ctrlPr>
                            <a:rPr lang="en-US" altLang="ko-KR" sz="3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𝛴</m:t>
                          </m:r>
                        </m:e>
                        <m:sub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altLang="ko-KR" sz="3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𝑖𝑗𝑘</m:t>
                          </m:r>
                        </m:sub>
                      </m:sSub>
                    </m:oMath>
                  </m:oMathPara>
                </a14:m>
                <a:endParaRPr lang="ko-KR" altLang="en-US" sz="3000" i="1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C0C6511-B982-2A1B-3FE1-347DBDD5E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2621" y="1989178"/>
                <a:ext cx="2864896" cy="956672"/>
              </a:xfrm>
              <a:prstGeom prst="rect">
                <a:avLst/>
              </a:prstGeom>
              <a:blipFill>
                <a:blip r:embed="rId12"/>
                <a:stretch>
                  <a:fillRect l="-1322" b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19D3D96-4D5F-2D89-C45A-101D4058A174}"/>
                  </a:ext>
                </a:extLst>
              </p:cNvPr>
              <p:cNvSpPr txBox="1"/>
              <p:nvPr/>
            </p:nvSpPr>
            <p:spPr>
              <a:xfrm>
                <a:off x="7243304" y="3474031"/>
                <a:ext cx="3260731" cy="3915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1" lang="en-US" altLang="ko-KR" sz="2500" dirty="0"/>
                  <a:t>: variance</a:t>
                </a:r>
                <a:endParaRPr kumimoji="1" lang="ko-KR" altLang="en-US" sz="25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19D3D96-4D5F-2D89-C45A-101D4058A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304" y="3474031"/>
                <a:ext cx="3260731" cy="391582"/>
              </a:xfrm>
              <a:prstGeom prst="rect">
                <a:avLst/>
              </a:prstGeom>
              <a:blipFill>
                <a:blip r:embed="rId13"/>
                <a:stretch>
                  <a:fillRect t="-28125" b="-406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FAEA11D-9F0E-8609-517D-734A2EDA460E}"/>
                  </a:ext>
                </a:extLst>
              </p:cNvPr>
              <p:cNvSpPr txBox="1"/>
              <p:nvPr/>
            </p:nvSpPr>
            <p:spPr>
              <a:xfrm>
                <a:off x="7899780" y="3915458"/>
                <a:ext cx="4418600" cy="1421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kumimoji="1" lang="en-US" altLang="ko-KR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kumimoji="1" lang="en-US" altLang="ko-KR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altLang="ko-K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ko-K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3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sSub>
                        <m:sSubPr>
                          <m:ctrlPr>
                            <a:rPr lang="en-US" altLang="ko-KR" sz="3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i="1">
                              <a:latin typeface="Cambria Math" panose="02040503050406030204" pitchFamily="18" charset="0"/>
                            </a:rPr>
                            <m:t>𝛴</m:t>
                          </m:r>
                        </m:e>
                        <m:sub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3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3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3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3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𝑖𝑗𝑘</m:t>
                                  </m:r>
                                </m:sub>
                              </m:sSub>
                              <m:r>
                                <a:rPr lang="en-US" altLang="ko-KR" sz="3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3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3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ko-K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ko-KR" sz="3000" b="0" i="1" dirty="0"/>
              </a:p>
              <a:p>
                <a:endParaRPr lang="en-US" altLang="ko-KR" sz="3000" b="0" i="1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FAEA11D-9F0E-8609-517D-734A2EDA4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780" y="3915458"/>
                <a:ext cx="4418600" cy="1421351"/>
              </a:xfrm>
              <a:prstGeom prst="rect">
                <a:avLst/>
              </a:prstGeom>
              <a:blipFill>
                <a:blip r:embed="rId14"/>
                <a:stretch>
                  <a:fillRect l="-2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12B8DD7-E4E8-341B-E146-93F5C0B087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074545"/>
              </p:ext>
            </p:extLst>
          </p:nvPr>
        </p:nvGraphicFramePr>
        <p:xfrm>
          <a:off x="5098380" y="2488000"/>
          <a:ext cx="17057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1060356647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55815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233348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375747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24891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613113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628318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48892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296962"/>
                  </a:ext>
                </a:extLst>
              </a:tr>
            </a:tbl>
          </a:graphicData>
        </a:graphic>
      </p:graphicFrame>
      <p:sp>
        <p:nvSpPr>
          <p:cNvPr id="16" name="오른쪽 중괄호[R] 15">
            <a:extLst>
              <a:ext uri="{FF2B5EF4-FFF2-40B4-BE49-F238E27FC236}">
                <a16:creationId xmlns:a16="http://schemas.microsoft.com/office/drawing/2014/main" id="{9B39ED86-6982-E4BC-7C6E-1C5E6628C91B}"/>
              </a:ext>
            </a:extLst>
          </p:cNvPr>
          <p:cNvSpPr/>
          <p:nvPr/>
        </p:nvSpPr>
        <p:spPr>
          <a:xfrm rot="5400000">
            <a:off x="1445942" y="2413567"/>
            <a:ext cx="105173" cy="879933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5457FE6-500B-E573-D010-6F909BAE0A34}"/>
                  </a:ext>
                </a:extLst>
              </p:cNvPr>
              <p:cNvSpPr txBox="1"/>
              <p:nvPr/>
            </p:nvSpPr>
            <p:spPr>
              <a:xfrm>
                <a:off x="7109612" y="1425321"/>
                <a:ext cx="2949392" cy="483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1" lang="en-US" altLang="ko-KR" sz="2500" dirty="0"/>
                  <a:t>: mean</a:t>
                </a:r>
                <a:endParaRPr kumimoji="1" lang="ko-KR" altLang="en-US" sz="25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5457FE6-500B-E573-D010-6F909BAE0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9612" y="1425321"/>
                <a:ext cx="2949392" cy="483915"/>
              </a:xfrm>
              <a:prstGeom prst="rect">
                <a:avLst/>
              </a:prstGeom>
              <a:blipFill>
                <a:blip r:embed="rId15"/>
                <a:stretch>
                  <a:fillRect t="-12821" b="-2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D3A76B7D-0E46-29B5-D791-B6B6F76EC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136597"/>
              </p:ext>
            </p:extLst>
          </p:nvPr>
        </p:nvGraphicFramePr>
        <p:xfrm>
          <a:off x="6499080" y="1896781"/>
          <a:ext cx="17057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1151862433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14291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557222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397699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92332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210932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605139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71464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775408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BDDD19F9-2840-CC40-7075-42BCA5B214F2}"/>
              </a:ext>
            </a:extLst>
          </p:cNvPr>
          <p:cNvSpPr txBox="1"/>
          <p:nvPr/>
        </p:nvSpPr>
        <p:spPr>
          <a:xfrm rot="19693468">
            <a:off x="5338943" y="1764471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...............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F138E50-B7B0-6DD7-B3D7-4EBDD08F226A}"/>
                  </a:ext>
                </a:extLst>
              </p:cNvPr>
              <p:cNvSpPr txBox="1"/>
              <p:nvPr/>
            </p:nvSpPr>
            <p:spPr>
              <a:xfrm>
                <a:off x="6416254" y="1474413"/>
                <a:ext cx="506796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F138E50-B7B0-6DD7-B3D7-4EBDD08F2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254" y="1474413"/>
                <a:ext cx="506796" cy="338554"/>
              </a:xfrm>
              <a:prstGeom prst="rect">
                <a:avLst/>
              </a:prstGeom>
              <a:blipFill>
                <a:blip r:embed="rId16"/>
                <a:stretch>
                  <a:fillRect l="-7317" b="-25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CFC4D1F-8F18-A3E4-969B-EE53C7838FB9}"/>
                  </a:ext>
                </a:extLst>
              </p:cNvPr>
              <p:cNvSpPr txBox="1"/>
              <p:nvPr/>
            </p:nvSpPr>
            <p:spPr>
              <a:xfrm>
                <a:off x="4653619" y="3378873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CFC4D1F-8F18-A3E4-969B-EE53C7838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3619" y="3378873"/>
                <a:ext cx="466493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09DD4D9-0CDA-2F4D-CC8A-82375FB2E66B}"/>
                  </a:ext>
                </a:extLst>
              </p:cNvPr>
              <p:cNvSpPr txBox="1"/>
              <p:nvPr/>
            </p:nvSpPr>
            <p:spPr>
              <a:xfrm>
                <a:off x="6096000" y="2785819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09DD4D9-0CDA-2F4D-CC8A-82375FB2E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785819"/>
                <a:ext cx="466493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오른쪽 중괄호[R] 50">
            <a:extLst>
              <a:ext uri="{FF2B5EF4-FFF2-40B4-BE49-F238E27FC236}">
                <a16:creationId xmlns:a16="http://schemas.microsoft.com/office/drawing/2014/main" id="{9886EA94-F634-ED69-B40F-5271A5E38E30}"/>
              </a:ext>
            </a:extLst>
          </p:cNvPr>
          <p:cNvSpPr/>
          <p:nvPr/>
        </p:nvSpPr>
        <p:spPr>
          <a:xfrm rot="5400000">
            <a:off x="1442915" y="4317776"/>
            <a:ext cx="105173" cy="879933"/>
          </a:xfrm>
          <a:prstGeom prst="rightBrac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2" name="오른쪽 중괄호[R] 51">
            <a:extLst>
              <a:ext uri="{FF2B5EF4-FFF2-40B4-BE49-F238E27FC236}">
                <a16:creationId xmlns:a16="http://schemas.microsoft.com/office/drawing/2014/main" id="{61DA3D4A-0357-33B7-6403-4C2DC1DB309C}"/>
              </a:ext>
            </a:extLst>
          </p:cNvPr>
          <p:cNvSpPr/>
          <p:nvPr/>
        </p:nvSpPr>
        <p:spPr>
          <a:xfrm rot="5400000">
            <a:off x="2876627" y="1822688"/>
            <a:ext cx="105173" cy="879933"/>
          </a:xfrm>
          <a:prstGeom prst="righ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53" name="구부러진 연결선[U] 52">
            <a:extLst>
              <a:ext uri="{FF2B5EF4-FFF2-40B4-BE49-F238E27FC236}">
                <a16:creationId xmlns:a16="http://schemas.microsoft.com/office/drawing/2014/main" id="{DE97ADFB-347D-05BC-115F-E3EF6EEDD831}"/>
              </a:ext>
            </a:extLst>
          </p:cNvPr>
          <p:cNvCxnSpPr>
            <a:cxnSpLocks/>
          </p:cNvCxnSpPr>
          <p:nvPr/>
        </p:nvCxnSpPr>
        <p:spPr>
          <a:xfrm flipV="1">
            <a:off x="1449659" y="2616820"/>
            <a:ext cx="3648151" cy="289300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prstDash val="sys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구부러진 연결선[U] 56">
            <a:extLst>
              <a:ext uri="{FF2B5EF4-FFF2-40B4-BE49-F238E27FC236}">
                <a16:creationId xmlns:a16="http://schemas.microsoft.com/office/drawing/2014/main" id="{5F938F3A-E973-12E4-C058-4C191474414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15356" y="2800107"/>
            <a:ext cx="140297" cy="3624610"/>
          </a:xfrm>
          <a:prstGeom prst="curvedConnector4">
            <a:avLst>
              <a:gd name="adj1" fmla="val -162940"/>
              <a:gd name="adj2" fmla="val 57059"/>
            </a:avLst>
          </a:prstGeom>
          <a:ln w="25400">
            <a:solidFill>
              <a:schemeClr val="accent6"/>
            </a:solidFill>
            <a:prstDash val="sys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구부러진 연결선[U] 59">
            <a:extLst>
              <a:ext uri="{FF2B5EF4-FFF2-40B4-BE49-F238E27FC236}">
                <a16:creationId xmlns:a16="http://schemas.microsoft.com/office/drawing/2014/main" id="{27AE884B-C051-E590-40BB-99BD45015A4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543681" y="367277"/>
            <a:ext cx="326063" cy="3569867"/>
          </a:xfrm>
          <a:prstGeom prst="curvedConnector4">
            <a:avLst>
              <a:gd name="adj1" fmla="val -2850"/>
              <a:gd name="adj2" fmla="val 30954"/>
            </a:avLst>
          </a:prstGeom>
          <a:ln w="25400">
            <a:solidFill>
              <a:schemeClr val="accent1"/>
            </a:solidFill>
            <a:prstDash val="sys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795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31B13-6120-594E-A252-52B07ADA7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6DB32F7-5F33-33D0-5A2D-3A9F06E44FD2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2417499" y="1896781"/>
          <a:ext cx="102343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571212619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69508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64242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347340"/>
                  </a:ext>
                </a:extLst>
              </a:tr>
            </a:tbl>
          </a:graphicData>
        </a:graphic>
      </p:graphicFrame>
      <p:sp>
        <p:nvSpPr>
          <p:cNvPr id="27" name="제목 26">
            <a:extLst>
              <a:ext uri="{FF2B5EF4-FFF2-40B4-BE49-F238E27FC236}">
                <a16:creationId xmlns:a16="http://schemas.microsoft.com/office/drawing/2014/main" id="{D30FEAB8-4FF3-5536-37FB-1251D53FD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>
                <a:latin typeface="+mj-lt"/>
              </a:rPr>
              <a:t>1. Background: Normalization layers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449609E-1D4F-2A80-B6F9-16265CDDEF87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983786" y="2488000"/>
          <a:ext cx="102343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571212619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69508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64242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34734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B3E2B3-F634-45E6-AFFC-1995CACF5E50}"/>
                  </a:ext>
                </a:extLst>
              </p:cNvPr>
              <p:cNvSpPr txBox="1"/>
              <p:nvPr/>
            </p:nvSpPr>
            <p:spPr>
              <a:xfrm>
                <a:off x="1343024" y="2093378"/>
                <a:ext cx="37112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B3E2B3-F634-45E6-AFFC-1995CACF5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024" y="2093378"/>
                <a:ext cx="371127" cy="338554"/>
              </a:xfrm>
              <a:prstGeom prst="rect">
                <a:avLst/>
              </a:prstGeom>
              <a:blipFill>
                <a:blip r:embed="rId3"/>
                <a:stretch>
                  <a:fillRect l="-3333" r="-3333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61A9EF-EC59-6B88-43AF-4A34C0F75E56}"/>
                  </a:ext>
                </a:extLst>
              </p:cNvPr>
              <p:cNvSpPr txBox="1"/>
              <p:nvPr/>
            </p:nvSpPr>
            <p:spPr>
              <a:xfrm>
                <a:off x="2727204" y="1498002"/>
                <a:ext cx="404021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61A9EF-EC59-6B88-43AF-4A34C0F75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204" y="1498002"/>
                <a:ext cx="404021" cy="338554"/>
              </a:xfrm>
              <a:prstGeom prst="rect">
                <a:avLst/>
              </a:prstGeom>
              <a:blipFill>
                <a:blip r:embed="rId4"/>
                <a:stretch>
                  <a:fillRect l="-3030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71684F8-F208-8F26-AE11-F611C1F46DFF}"/>
              </a:ext>
            </a:extLst>
          </p:cNvPr>
          <p:cNvSpPr txBox="1"/>
          <p:nvPr/>
        </p:nvSpPr>
        <p:spPr>
          <a:xfrm rot="19693468">
            <a:off x="1556076" y="1743533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...............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6CEAAB-D99A-93AD-E81B-DCDEC79617FF}"/>
                  </a:ext>
                </a:extLst>
              </p:cNvPr>
              <p:cNvSpPr txBox="1"/>
              <p:nvPr/>
            </p:nvSpPr>
            <p:spPr>
              <a:xfrm>
                <a:off x="620129" y="3400614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6CEAAB-D99A-93AD-E81B-DCDEC7961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29" y="3400614"/>
                <a:ext cx="46649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CBAE87-70E4-E2B9-B57E-6030C19AEC34}"/>
                  </a:ext>
                </a:extLst>
              </p:cNvPr>
              <p:cNvSpPr txBox="1"/>
              <p:nvPr/>
            </p:nvSpPr>
            <p:spPr>
              <a:xfrm>
                <a:off x="1295340" y="4682560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CBAE87-70E4-E2B9-B57E-6030C19AE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340" y="4682560"/>
                <a:ext cx="4664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D8DAFE-0792-0CFA-F804-F078DD73CC69}"/>
                  </a:ext>
                </a:extLst>
              </p:cNvPr>
              <p:cNvSpPr txBox="1"/>
              <p:nvPr/>
            </p:nvSpPr>
            <p:spPr>
              <a:xfrm>
                <a:off x="2727204" y="4120788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D8DAFE-0792-0CFA-F804-F078DD73C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204" y="4120788"/>
                <a:ext cx="46649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982087-1A85-74FD-140B-144CFB71FD96}"/>
                  </a:ext>
                </a:extLst>
              </p:cNvPr>
              <p:cNvSpPr txBox="1"/>
              <p:nvPr/>
            </p:nvSpPr>
            <p:spPr>
              <a:xfrm>
                <a:off x="2062510" y="2807560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982087-1A85-74FD-140B-144CFB71F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510" y="2807560"/>
                <a:ext cx="46649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568BC5-B95A-B292-01EE-BDB6C9BF5153}"/>
                  </a:ext>
                </a:extLst>
              </p:cNvPr>
              <p:cNvSpPr txBox="1"/>
              <p:nvPr/>
            </p:nvSpPr>
            <p:spPr>
              <a:xfrm>
                <a:off x="239285" y="5131724"/>
                <a:ext cx="5299153" cy="13724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0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ko-KR" sz="200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</m:oMath>
                  </m:oMathPara>
                </a14:m>
                <a:endParaRPr lang="en-US" altLang="ko-KR" sz="2000" b="0" i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ko-KR" sz="2000" b="0" dirty="0"/>
                  <a:t>:</a:t>
                </a:r>
                <a:r>
                  <a:rPr lang="en-US" altLang="ko-KR" sz="2000" b="0" i="1" dirty="0"/>
                  <a:t> </a:t>
                </a:r>
                <a:r>
                  <a:rPr lang="en-US" altLang="ko-KR" sz="2000" b="0" dirty="0"/>
                  <a:t>the </a:t>
                </a:r>
                <a:r>
                  <a:rPr lang="en-US" altLang="ko-KR" sz="2000" dirty="0"/>
                  <a:t>b</a:t>
                </a:r>
                <a:r>
                  <a:rPr lang="en-US" altLang="ko-KR" sz="2000" b="0" dirty="0"/>
                  <a:t>atch size</a:t>
                </a:r>
                <a:endParaRPr lang="en-US" altLang="ko-KR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sz="2000" dirty="0"/>
                  <a:t>: the number of tokens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ko-KR" sz="2000" dirty="0"/>
                  <a:t>: the embedding dimension per token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568BC5-B95A-B292-01EE-BDB6C9BF5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285" y="5131724"/>
                <a:ext cx="5299153" cy="1372427"/>
              </a:xfrm>
              <a:prstGeom prst="rect">
                <a:avLst/>
              </a:prstGeom>
              <a:blipFill>
                <a:blip r:embed="rId9"/>
                <a:stretch>
                  <a:fillRect l="-955" b="-27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812455-10DE-C49D-6376-8F71B92150D7}"/>
                  </a:ext>
                </a:extLst>
              </p:cNvPr>
              <p:cNvSpPr txBox="1"/>
              <p:nvPr/>
            </p:nvSpPr>
            <p:spPr>
              <a:xfrm>
                <a:off x="5015554" y="2093378"/>
                <a:ext cx="506796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812455-10DE-C49D-6376-8F71B9215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554" y="2093378"/>
                <a:ext cx="506796" cy="338554"/>
              </a:xfrm>
              <a:prstGeom prst="rect">
                <a:avLst/>
              </a:prstGeom>
              <a:blipFill>
                <a:blip r:embed="rId10"/>
                <a:stretch>
                  <a:fillRect l="-7500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383F36E-1643-F5EB-30C0-A5A3055CB896}"/>
                  </a:ext>
                </a:extLst>
              </p:cNvPr>
              <p:cNvSpPr txBox="1"/>
              <p:nvPr/>
            </p:nvSpPr>
            <p:spPr>
              <a:xfrm>
                <a:off x="7792621" y="1989178"/>
                <a:ext cx="2864896" cy="591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ko-K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300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ko-KR" altLang="en-US" sz="3000" i="1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383F36E-1643-F5EB-30C0-A5A3055CB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2621" y="1989178"/>
                <a:ext cx="2864896" cy="591124"/>
              </a:xfrm>
              <a:prstGeom prst="rect">
                <a:avLst/>
              </a:prstGeom>
              <a:blipFill>
                <a:blip r:embed="rId11"/>
                <a:stretch>
                  <a:fillRect l="-1322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2CC397F-5AF9-637A-7A9C-463AFF19CA7B}"/>
                  </a:ext>
                </a:extLst>
              </p:cNvPr>
              <p:cNvSpPr txBox="1"/>
              <p:nvPr/>
            </p:nvSpPr>
            <p:spPr>
              <a:xfrm>
                <a:off x="7243304" y="3474031"/>
                <a:ext cx="3260731" cy="3915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1" lang="en-US" altLang="ko-KR" sz="2500" dirty="0"/>
                  <a:t>: variance</a:t>
                </a:r>
                <a:endParaRPr kumimoji="1" lang="ko-KR" altLang="en-US" sz="25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2CC397F-5AF9-637A-7A9C-463AFF19C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304" y="3474031"/>
                <a:ext cx="3260731" cy="391582"/>
              </a:xfrm>
              <a:prstGeom prst="rect">
                <a:avLst/>
              </a:prstGeom>
              <a:blipFill>
                <a:blip r:embed="rId12"/>
                <a:stretch>
                  <a:fillRect t="-28125" b="-406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A56234-7F44-2B20-F5E7-BE1CAD99658D}"/>
                  </a:ext>
                </a:extLst>
              </p:cNvPr>
              <p:cNvSpPr txBox="1"/>
              <p:nvPr/>
            </p:nvSpPr>
            <p:spPr>
              <a:xfrm>
                <a:off x="7899780" y="3915458"/>
                <a:ext cx="4140199" cy="1421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kumimoji="1" lang="en-US" altLang="ko-KR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kumimoji="1" lang="en-US" altLang="ko-KR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altLang="ko-K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ko-K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3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sSub>
                        <m:sSubPr>
                          <m:ctrlPr>
                            <a:rPr lang="en-US" altLang="ko-KR" sz="3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i="1">
                              <a:latin typeface="Cambria Math" panose="02040503050406030204" pitchFamily="18" charset="0"/>
                            </a:rPr>
                            <m:t>𝛴</m:t>
                          </m:r>
                        </m:e>
                        <m:sub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3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3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3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3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𝑖𝑗𝑘</m:t>
                                  </m:r>
                                </m:sub>
                              </m:sSub>
                              <m:r>
                                <a:rPr lang="en-US" altLang="ko-KR" sz="3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3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p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ko-KR" sz="3000" b="0" i="1" dirty="0"/>
              </a:p>
              <a:p>
                <a:endParaRPr lang="en-US" altLang="ko-KR" sz="3000" b="0" i="1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A56234-7F44-2B20-F5E7-BE1CAD996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780" y="3915458"/>
                <a:ext cx="4140199" cy="1421351"/>
              </a:xfrm>
              <a:prstGeom prst="rect">
                <a:avLst/>
              </a:prstGeom>
              <a:blipFill>
                <a:blip r:embed="rId13"/>
                <a:stretch>
                  <a:fillRect l="-3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899DDD3B-984E-B4CB-FC66-830C0DD1BC31}"/>
              </a:ext>
            </a:extLst>
          </p:cNvPr>
          <p:cNvGraphicFramePr>
            <a:graphicFrameLocks noGrp="1"/>
          </p:cNvGraphicFramePr>
          <p:nvPr/>
        </p:nvGraphicFramePr>
        <p:xfrm>
          <a:off x="5098380" y="2488000"/>
          <a:ext cx="17057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1060356647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55815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233348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375747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24891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613113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628318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48892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296962"/>
                  </a:ext>
                </a:extLst>
              </a:tr>
            </a:tbl>
          </a:graphicData>
        </a:graphic>
      </p:graphicFrame>
      <p:sp>
        <p:nvSpPr>
          <p:cNvPr id="16" name="오른쪽 중괄호[R] 15">
            <a:extLst>
              <a:ext uri="{FF2B5EF4-FFF2-40B4-BE49-F238E27FC236}">
                <a16:creationId xmlns:a16="http://schemas.microsoft.com/office/drawing/2014/main" id="{229B3098-A5BE-2C2A-CC57-D562394CE85A}"/>
              </a:ext>
            </a:extLst>
          </p:cNvPr>
          <p:cNvSpPr/>
          <p:nvPr/>
        </p:nvSpPr>
        <p:spPr>
          <a:xfrm rot="5400000">
            <a:off x="1445942" y="2413567"/>
            <a:ext cx="105173" cy="879933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EEC4945-C87F-B74D-D962-75D87D47F2C1}"/>
                  </a:ext>
                </a:extLst>
              </p:cNvPr>
              <p:cNvSpPr txBox="1"/>
              <p:nvPr/>
            </p:nvSpPr>
            <p:spPr>
              <a:xfrm>
                <a:off x="7109612" y="1425321"/>
                <a:ext cx="2949392" cy="483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1" lang="en-US" altLang="ko-KR" sz="2500" dirty="0"/>
                  <a:t>: mean</a:t>
                </a:r>
                <a:endParaRPr kumimoji="1" lang="ko-KR" altLang="en-US" sz="25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EEC4945-C87F-B74D-D962-75D87D47F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9612" y="1425321"/>
                <a:ext cx="2949392" cy="483915"/>
              </a:xfrm>
              <a:prstGeom prst="rect">
                <a:avLst/>
              </a:prstGeom>
              <a:blipFill>
                <a:blip r:embed="rId14"/>
                <a:stretch>
                  <a:fillRect t="-12821" b="-2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F2D1C851-EB06-DE32-2F4B-F96B6955233B}"/>
              </a:ext>
            </a:extLst>
          </p:cNvPr>
          <p:cNvGraphicFramePr>
            <a:graphicFrameLocks noGrp="1"/>
          </p:cNvGraphicFramePr>
          <p:nvPr/>
        </p:nvGraphicFramePr>
        <p:xfrm>
          <a:off x="6499080" y="1896781"/>
          <a:ext cx="17057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1151862433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14291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557222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397699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92332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210932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605139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71464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775408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A79A74EA-099D-AAB4-ACDF-1FB3EA5604D9}"/>
              </a:ext>
            </a:extLst>
          </p:cNvPr>
          <p:cNvSpPr txBox="1"/>
          <p:nvPr/>
        </p:nvSpPr>
        <p:spPr>
          <a:xfrm rot="19693468">
            <a:off x="5338943" y="1764471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...............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5D86EA-F32C-2C27-092C-797486BC39A9}"/>
                  </a:ext>
                </a:extLst>
              </p:cNvPr>
              <p:cNvSpPr txBox="1"/>
              <p:nvPr/>
            </p:nvSpPr>
            <p:spPr>
              <a:xfrm>
                <a:off x="6416254" y="1474413"/>
                <a:ext cx="506796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5D86EA-F32C-2C27-092C-797486BC3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254" y="1474413"/>
                <a:ext cx="506796" cy="338554"/>
              </a:xfrm>
              <a:prstGeom prst="rect">
                <a:avLst/>
              </a:prstGeom>
              <a:blipFill>
                <a:blip r:embed="rId15"/>
                <a:stretch>
                  <a:fillRect l="-7317" b="-25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2CD0B58-3B13-17A5-65B5-6F73EA6F80FA}"/>
                  </a:ext>
                </a:extLst>
              </p:cNvPr>
              <p:cNvSpPr txBox="1"/>
              <p:nvPr/>
            </p:nvSpPr>
            <p:spPr>
              <a:xfrm>
                <a:off x="4653619" y="3378873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2CD0B58-3B13-17A5-65B5-6F73EA6F8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3619" y="3378873"/>
                <a:ext cx="46649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647ECCB-53F4-2856-936D-8450F1161F33}"/>
                  </a:ext>
                </a:extLst>
              </p:cNvPr>
              <p:cNvSpPr txBox="1"/>
              <p:nvPr/>
            </p:nvSpPr>
            <p:spPr>
              <a:xfrm>
                <a:off x="6096000" y="2785819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647ECCB-53F4-2856-936D-8450F1161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785819"/>
                <a:ext cx="466493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4F928C-5AE1-B5F9-A156-72E64B902B13}"/>
                  </a:ext>
                </a:extLst>
              </p:cNvPr>
              <p:cNvSpPr txBox="1"/>
              <p:nvPr/>
            </p:nvSpPr>
            <p:spPr>
              <a:xfrm>
                <a:off x="5857766" y="5639747"/>
                <a:ext cx="6338833" cy="8644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 algn="ctr">
                  <a:buFont typeface="Wingdings" pitchFamily="2" charset="2"/>
                  <a:buChar char="à"/>
                </a:pPr>
                <a:r>
                  <a:rPr kumimoji="1" lang="en-US" altLang="ko-KR" sz="2500" b="0" dirty="0" err="1">
                    <a:sym typeface="Wingdings" pitchFamily="2" charset="2"/>
                  </a:rPr>
                  <a:t>RMSNorm</a:t>
                </a:r>
                <a:r>
                  <a:rPr kumimoji="1" lang="en-US" altLang="ko-KR" sz="2500" b="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ko-KR" sz="25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r>
                  <a:rPr kumimoji="1" lang="en-US" altLang="ko-KR" sz="2500" b="0" dirty="0">
                    <a:sym typeface="Wingdings" pitchFamily="2" charset="2"/>
                  </a:rPr>
                  <a:t>)=</a:t>
                </a:r>
                <a:r>
                  <a:rPr lang="en-US" altLang="ko-KR" sz="25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ko-KR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ko-KR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5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ko-KR" sz="25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altLang="ko-KR" sz="25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−0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5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ko-KR" sz="25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25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25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den>
                                </m:f>
                                <m:r>
                                  <a:rPr lang="en-US" altLang="ko-KR" sz="25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25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5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𝛴</m:t>
                                    </m:r>
                                  </m:e>
                                  <m:sub>
                                    <m:r>
                                      <a:rPr lang="en-US" altLang="ko-KR" sz="25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altLang="ko-KR" sz="25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25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25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5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5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𝑖𝑗𝑘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25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ko-KR" sz="250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25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  <m:r>
                      <a:rPr lang="en-US" altLang="ko-KR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endParaRPr lang="en-US" altLang="ko-KR" sz="25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4F928C-5AE1-B5F9-A156-72E64B902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766" y="5639747"/>
                <a:ext cx="6338833" cy="864404"/>
              </a:xfrm>
              <a:prstGeom prst="rect">
                <a:avLst/>
              </a:prstGeom>
              <a:blipFill>
                <a:blip r:embed="rId18"/>
                <a:stretch>
                  <a:fillRect t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C3CDDD3A-69ED-9944-9389-DD2C3F19BD44}"/>
              </a:ext>
            </a:extLst>
          </p:cNvPr>
          <p:cNvSpPr txBox="1"/>
          <p:nvPr/>
        </p:nvSpPr>
        <p:spPr>
          <a:xfrm>
            <a:off x="9474240" y="1968539"/>
            <a:ext cx="2749471" cy="9561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000" dirty="0"/>
              <a:t>mean-</a:t>
            </a:r>
            <a:r>
              <a:rPr kumimoji="1" lang="en-US" altLang="ko-KR" sz="2000" dirty="0" err="1"/>
              <a:t>centring</a:t>
            </a:r>
            <a:r>
              <a:rPr kumimoji="1" lang="en-US" altLang="ko-KR" sz="2000" dirty="0"/>
              <a:t> </a:t>
            </a:r>
            <a:r>
              <a:rPr kumimoji="1" lang="ko-KR" altLang="en-US" sz="2000" dirty="0"/>
              <a:t>제거된</a:t>
            </a:r>
            <a:endParaRPr kumimoji="1" lang="en-US" altLang="ko-KR" sz="2000" dirty="0"/>
          </a:p>
          <a:p>
            <a:pPr>
              <a:lnSpc>
                <a:spcPct val="150000"/>
              </a:lnSpc>
            </a:pPr>
            <a:r>
              <a:rPr kumimoji="1" lang="en-US" altLang="ko-KR" sz="2000" dirty="0" err="1"/>
              <a:t>LayerNorm</a:t>
            </a:r>
            <a:endParaRPr kumimoji="1" lang="ko-KR" altLang="en-US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AA226A-BB07-7609-B20C-6C7B0672B8EA}"/>
              </a:ext>
            </a:extLst>
          </p:cNvPr>
          <p:cNvSpPr txBox="1"/>
          <p:nvPr/>
        </p:nvSpPr>
        <p:spPr>
          <a:xfrm>
            <a:off x="119808" y="677163"/>
            <a:ext cx="11952383" cy="775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Root Mean Square normalization </a:t>
            </a:r>
            <a:r>
              <a:rPr kumimoji="1" lang="en-US" altLang="ko-KR" sz="1100" dirty="0">
                <a:latin typeface="+mj-lt"/>
                <a:cs typeface="Times New Roman" panose="02020603050405020304" pitchFamily="18" charset="0"/>
                <a:hlinkClick r:id="rId19"/>
              </a:rPr>
              <a:t>(Zhang, Biao, and Rico Sennrich. "Root mean square layer normalization." </a:t>
            </a:r>
            <a:r>
              <a:rPr kumimoji="1" lang="en-US" altLang="ko-KR" sz="1100" i="1" dirty="0">
                <a:latin typeface="+mj-lt"/>
                <a:cs typeface="Times New Roman" panose="02020603050405020304" pitchFamily="18" charset="0"/>
                <a:hlinkClick r:id="rId19"/>
              </a:rPr>
              <a:t>Advances in neural information processing systems</a:t>
            </a:r>
            <a:r>
              <a:rPr kumimoji="1" lang="en-US" altLang="ko-KR" sz="1100" dirty="0">
                <a:latin typeface="+mj-lt"/>
                <a:cs typeface="Times New Roman" panose="02020603050405020304" pitchFamily="18" charset="0"/>
                <a:hlinkClick r:id="rId19"/>
              </a:rPr>
              <a:t> 32 (2019).)</a:t>
            </a:r>
            <a:endParaRPr kumimoji="1" lang="en-US" altLang="ko-KR" sz="11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830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3FD9F-D42E-1108-0275-F79A59C55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41FF65B6-C606-6535-40FE-7BB56420F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>
                <a:latin typeface="+mj-lt"/>
              </a:rPr>
              <a:t>1. Background: Normalization layers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9426BF0-E59B-7093-AB02-4A729F1CABA7}"/>
              </a:ext>
            </a:extLst>
          </p:cNvPr>
          <p:cNvSpPr txBox="1"/>
          <p:nvPr/>
        </p:nvSpPr>
        <p:spPr>
          <a:xfrm>
            <a:off x="40300" y="1546959"/>
            <a:ext cx="20937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atin typeface="+mn-ea"/>
                <a:cs typeface="Times New Roman" panose="02020603050405020304" pitchFamily="18" charset="0"/>
              </a:rPr>
              <a:t>BatchNorm</a:t>
            </a:r>
            <a:endParaRPr kumimoji="1" lang="en-US" altLang="ko-KR" sz="1100" b="1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92CDB48-73FD-49BC-CF30-66B77B2C1FD1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161729787"/>
              </p:ext>
            </p:extLst>
          </p:nvPr>
        </p:nvGraphicFramePr>
        <p:xfrm>
          <a:off x="2197513" y="2092239"/>
          <a:ext cx="8528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69508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347340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61F4F2B6-0019-0B74-2EB5-4647498FFF6B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938942090"/>
              </p:ext>
            </p:extLst>
          </p:nvPr>
        </p:nvGraphicFramePr>
        <p:xfrm>
          <a:off x="763800" y="2683458"/>
          <a:ext cx="8528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69508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34734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D10C51-3981-DCAE-11ED-30FE2F6C958F}"/>
                  </a:ext>
                </a:extLst>
              </p:cNvPr>
              <p:cNvSpPr txBox="1"/>
              <p:nvPr/>
            </p:nvSpPr>
            <p:spPr>
              <a:xfrm>
                <a:off x="1123038" y="2288836"/>
                <a:ext cx="37112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D10C51-3981-DCAE-11ED-30FE2F6C9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038" y="2288836"/>
                <a:ext cx="371127" cy="338554"/>
              </a:xfrm>
              <a:prstGeom prst="rect">
                <a:avLst/>
              </a:prstGeom>
              <a:blipFill>
                <a:blip r:embed="rId3"/>
                <a:stretch>
                  <a:fillRect l="-3333" r="-3333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2223090-ADCA-584F-B387-DFA24E323E76}"/>
                  </a:ext>
                </a:extLst>
              </p:cNvPr>
              <p:cNvSpPr txBox="1"/>
              <p:nvPr/>
            </p:nvSpPr>
            <p:spPr>
              <a:xfrm>
                <a:off x="2507218" y="1693460"/>
                <a:ext cx="404021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2223090-ADCA-584F-B387-DFA24E323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218" y="1693460"/>
                <a:ext cx="404021" cy="338554"/>
              </a:xfrm>
              <a:prstGeom prst="rect">
                <a:avLst/>
              </a:prstGeom>
              <a:blipFill>
                <a:blip r:embed="rId4"/>
                <a:stretch>
                  <a:fillRect l="-3030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3EC2C4A6-4670-3C9B-4DDC-DC48BC87454D}"/>
              </a:ext>
            </a:extLst>
          </p:cNvPr>
          <p:cNvSpPr txBox="1"/>
          <p:nvPr/>
        </p:nvSpPr>
        <p:spPr>
          <a:xfrm rot="19693468">
            <a:off x="1336090" y="1938991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...............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ED73117-23B9-99AA-2BC6-A07D2AE72581}"/>
                  </a:ext>
                </a:extLst>
              </p:cNvPr>
              <p:cNvSpPr txBox="1"/>
              <p:nvPr/>
            </p:nvSpPr>
            <p:spPr>
              <a:xfrm>
                <a:off x="408675" y="3321752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ED73117-23B9-99AA-2BC6-A07D2AE72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75" y="3321752"/>
                <a:ext cx="46649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9098DCB-80AA-967E-C072-C24D80B1F8F6}"/>
                  </a:ext>
                </a:extLst>
              </p:cNvPr>
              <p:cNvSpPr txBox="1"/>
              <p:nvPr/>
            </p:nvSpPr>
            <p:spPr>
              <a:xfrm>
                <a:off x="965309" y="4064237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9098DCB-80AA-967E-C072-C24D80B1F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309" y="4064237"/>
                <a:ext cx="4664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30C55F3-1749-F10C-E633-AB4433E48661}"/>
                  </a:ext>
                </a:extLst>
              </p:cNvPr>
              <p:cNvSpPr txBox="1"/>
              <p:nvPr/>
            </p:nvSpPr>
            <p:spPr>
              <a:xfrm>
                <a:off x="2390696" y="3472226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30C55F3-1749-F10C-E633-AB4433E48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0696" y="3472226"/>
                <a:ext cx="46649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A721AE6-7EE8-3571-E41D-D1027BA64A6C}"/>
                  </a:ext>
                </a:extLst>
              </p:cNvPr>
              <p:cNvSpPr txBox="1"/>
              <p:nvPr/>
            </p:nvSpPr>
            <p:spPr>
              <a:xfrm>
                <a:off x="1849127" y="2730533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A721AE6-7EE8-3571-E41D-D1027BA64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127" y="2730533"/>
                <a:ext cx="46649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3E0BE986-7BC9-727B-5CF9-267502A1E06D}"/>
              </a:ext>
            </a:extLst>
          </p:cNvPr>
          <p:cNvSpPr txBox="1"/>
          <p:nvPr/>
        </p:nvSpPr>
        <p:spPr>
          <a:xfrm>
            <a:off x="3887648" y="1537777"/>
            <a:ext cx="20937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atin typeface="+mn-ea"/>
                <a:cs typeface="Times New Roman" panose="02020603050405020304" pitchFamily="18" charset="0"/>
              </a:rPr>
              <a:t>LayerNorm</a:t>
            </a:r>
            <a:endParaRPr kumimoji="1" lang="en-US" altLang="ko-KR" sz="1100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F90DC99-5471-5B20-CED2-D6DC0A4D7CDF}"/>
                  </a:ext>
                </a:extLst>
              </p:cNvPr>
              <p:cNvSpPr txBox="1"/>
              <p:nvPr/>
            </p:nvSpPr>
            <p:spPr>
              <a:xfrm>
                <a:off x="1824362" y="4632063"/>
                <a:ext cx="1838881" cy="15844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500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kumimoji="1" lang="en-US" altLang="ko-KR" sz="2500" b="1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</m:oMath>
                  </m:oMathPara>
                </a14:m>
                <a:endParaRPr kumimoji="1" lang="en-US" altLang="ko-KR" sz="2500" b="1" i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kumimoji="1" lang="en-US" altLang="ko-KR" sz="2500" b="1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5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</m:oMath>
                  </m:oMathPara>
                </a14:m>
                <a:endParaRPr kumimoji="1" lang="en-US" altLang="ko-KR" sz="2500" b="1" i="1" dirty="0"/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sz="2000" b="1" dirty="0">
                    <a:sym typeface="Wingdings" pitchFamily="2" charset="2"/>
                  </a:rPr>
                  <a:t> per-channel</a:t>
                </a:r>
                <a:endParaRPr kumimoji="1" lang="ko-KR" altLang="en-US" sz="2000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F90DC99-5471-5B20-CED2-D6DC0A4D7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4362" y="4632063"/>
                <a:ext cx="1838881" cy="1584408"/>
              </a:xfrm>
              <a:prstGeom prst="rect">
                <a:avLst/>
              </a:prstGeom>
              <a:blipFill>
                <a:blip r:embed="rId9"/>
                <a:stretch>
                  <a:fillRect l="-8219" r="-4110" b="-95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C9EA225-9068-494E-5292-7FBC36572408}"/>
                  </a:ext>
                </a:extLst>
              </p:cNvPr>
              <p:cNvSpPr txBox="1"/>
              <p:nvPr/>
            </p:nvSpPr>
            <p:spPr>
              <a:xfrm>
                <a:off x="896525" y="5094447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C9EA225-9068-494E-5292-7FBC36572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525" y="5094447"/>
                <a:ext cx="46649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A6350DA1-590B-3E1E-99BB-7C61FC9B0F3C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21078190"/>
              </p:ext>
            </p:extLst>
          </p:nvPr>
        </p:nvGraphicFramePr>
        <p:xfrm>
          <a:off x="5956508" y="2080744"/>
          <a:ext cx="8528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</a:tbl>
          </a:graphicData>
        </a:graphic>
      </p:graphicFrame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24CB6DC1-0329-98E6-D758-DEE9B4D42C39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547148713"/>
              </p:ext>
            </p:extLst>
          </p:nvPr>
        </p:nvGraphicFramePr>
        <p:xfrm>
          <a:off x="4522795" y="2671963"/>
          <a:ext cx="8528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E461A3E-32E0-B33E-F1F9-5E26C2FB0958}"/>
                  </a:ext>
                </a:extLst>
              </p:cNvPr>
              <p:cNvSpPr txBox="1"/>
              <p:nvPr/>
            </p:nvSpPr>
            <p:spPr>
              <a:xfrm>
                <a:off x="4882033" y="2277341"/>
                <a:ext cx="37112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E461A3E-32E0-B33E-F1F9-5E26C2FB0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033" y="2277341"/>
                <a:ext cx="371127" cy="338554"/>
              </a:xfrm>
              <a:prstGeom prst="rect">
                <a:avLst/>
              </a:prstGeom>
              <a:blipFill>
                <a:blip r:embed="rId3"/>
                <a:stretch>
                  <a:fillRect l="-3333" r="-3333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1AFE862-7A95-E823-1A60-6B8CEB0A1906}"/>
                  </a:ext>
                </a:extLst>
              </p:cNvPr>
              <p:cNvSpPr txBox="1"/>
              <p:nvPr/>
            </p:nvSpPr>
            <p:spPr>
              <a:xfrm>
                <a:off x="6266213" y="1681965"/>
                <a:ext cx="404021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1AFE862-7A95-E823-1A60-6B8CEB0A1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213" y="1681965"/>
                <a:ext cx="404021" cy="338554"/>
              </a:xfrm>
              <a:prstGeom prst="rect">
                <a:avLst/>
              </a:prstGeom>
              <a:blipFill>
                <a:blip r:embed="rId4"/>
                <a:stretch>
                  <a:fillRect l="-3030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9BD58405-C020-F52F-A79C-1BE8036E7A66}"/>
              </a:ext>
            </a:extLst>
          </p:cNvPr>
          <p:cNvSpPr txBox="1"/>
          <p:nvPr/>
        </p:nvSpPr>
        <p:spPr>
          <a:xfrm rot="19693468">
            <a:off x="5095085" y="1927496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...............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96EE35D-CA4B-91C1-FE49-4EB5D45A0D19}"/>
                  </a:ext>
                </a:extLst>
              </p:cNvPr>
              <p:cNvSpPr txBox="1"/>
              <p:nvPr/>
            </p:nvSpPr>
            <p:spPr>
              <a:xfrm>
                <a:off x="4161934" y="3191013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96EE35D-CA4B-91C1-FE49-4EB5D45A0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1934" y="3191013"/>
                <a:ext cx="46649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F35CE1E-F3CA-76C4-7DB5-A65997F7BD0B}"/>
                  </a:ext>
                </a:extLst>
              </p:cNvPr>
              <p:cNvSpPr txBox="1"/>
              <p:nvPr/>
            </p:nvSpPr>
            <p:spPr>
              <a:xfrm>
                <a:off x="4716068" y="4037789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F35CE1E-F3CA-76C4-7DB5-A65997F7B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68" y="4037789"/>
                <a:ext cx="46649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21BDF3A-3EBD-CDAD-CBE5-BFB26D8F9C57}"/>
                  </a:ext>
                </a:extLst>
              </p:cNvPr>
              <p:cNvSpPr txBox="1"/>
              <p:nvPr/>
            </p:nvSpPr>
            <p:spPr>
              <a:xfrm>
                <a:off x="6136194" y="3427700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21BDF3A-3EBD-CDAD-CBE5-BFB26D8F9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194" y="3427700"/>
                <a:ext cx="46649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FB31B80-A52B-5EB2-5E9D-24C65B44E3DC}"/>
                  </a:ext>
                </a:extLst>
              </p:cNvPr>
              <p:cNvSpPr txBox="1"/>
              <p:nvPr/>
            </p:nvSpPr>
            <p:spPr>
              <a:xfrm>
                <a:off x="5593874" y="2599213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FB31B80-A52B-5EB2-5E9D-24C65B44E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3874" y="2599213"/>
                <a:ext cx="466493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5F9018AE-5312-9F25-C5C3-3B8406878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948606"/>
              </p:ext>
            </p:extLst>
          </p:nvPr>
        </p:nvGraphicFramePr>
        <p:xfrm>
          <a:off x="4558993" y="4850711"/>
          <a:ext cx="17057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3370270689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98630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50862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921088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42927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01450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773850"/>
                  </a:ext>
                </a:extLst>
              </a:tr>
            </a:tbl>
          </a:graphicData>
        </a:graphic>
      </p:graphicFrame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D4773A69-5815-CAC4-9875-6BB536EA7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112296"/>
              </p:ext>
            </p:extLst>
          </p:nvPr>
        </p:nvGraphicFramePr>
        <p:xfrm>
          <a:off x="5897440" y="4508279"/>
          <a:ext cx="17057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888537155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91362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19540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12575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082584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486673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874246"/>
                  </a:ext>
                </a:extLst>
              </a:tr>
            </a:tbl>
          </a:graphicData>
        </a:graphic>
      </p:graphicFrame>
      <p:sp>
        <p:nvSpPr>
          <p:cNvPr id="59" name="TextBox 58">
            <a:extLst>
              <a:ext uri="{FF2B5EF4-FFF2-40B4-BE49-F238E27FC236}">
                <a16:creationId xmlns:a16="http://schemas.microsoft.com/office/drawing/2014/main" id="{4A404C44-DC8A-ABC0-09B8-A08299BFE7A4}"/>
              </a:ext>
            </a:extLst>
          </p:cNvPr>
          <p:cNvSpPr txBox="1"/>
          <p:nvPr/>
        </p:nvSpPr>
        <p:spPr>
          <a:xfrm rot="19693468">
            <a:off x="4782776" y="4533930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...............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28872F6-BDCB-2F09-B08B-831C543F5679}"/>
                  </a:ext>
                </a:extLst>
              </p:cNvPr>
              <p:cNvSpPr txBox="1"/>
              <p:nvPr/>
            </p:nvSpPr>
            <p:spPr>
              <a:xfrm>
                <a:off x="4181722" y="5489005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28872F6-BDCB-2F09-B08B-831C543F5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722" y="5489005"/>
                <a:ext cx="46649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4998906-8BC8-89F9-C0C3-B655F2EA74B4}"/>
                  </a:ext>
                </a:extLst>
              </p:cNvPr>
              <p:cNvSpPr txBox="1"/>
              <p:nvPr/>
            </p:nvSpPr>
            <p:spPr>
              <a:xfrm>
                <a:off x="5516232" y="5146390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4998906-8BC8-89F9-C0C3-B655F2EA7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232" y="5146390"/>
                <a:ext cx="466493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30479B04-8E71-3D62-2B9C-F3BDC6319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677942"/>
              </p:ext>
            </p:extLst>
          </p:nvPr>
        </p:nvGraphicFramePr>
        <p:xfrm>
          <a:off x="704934" y="4820127"/>
          <a:ext cx="8528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313500948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105814479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874219856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154870319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713220846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8231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3346D32-0235-C5F1-0F6C-0A5E71C57DEB}"/>
                  </a:ext>
                </a:extLst>
              </p:cNvPr>
              <p:cNvSpPr txBox="1"/>
              <p:nvPr/>
            </p:nvSpPr>
            <p:spPr>
              <a:xfrm>
                <a:off x="6222008" y="4632063"/>
                <a:ext cx="1604242" cy="15967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500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kumimoji="1" lang="en-US" altLang="ko-KR" sz="2500" b="1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kumimoji="1" lang="en-US" altLang="ko-KR" sz="2500" b="1" i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kumimoji="1" lang="en-US" altLang="ko-KR" sz="2500" b="1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5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ko-KR" sz="25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kumimoji="1" lang="en-US" altLang="ko-KR" sz="2500" b="1" i="1" dirty="0"/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sz="2000" b="1" dirty="0">
                    <a:sym typeface="Wingdings" pitchFamily="2" charset="2"/>
                  </a:rPr>
                  <a:t> per-token</a:t>
                </a:r>
                <a:endParaRPr kumimoji="1" lang="ko-KR" altLang="en-US" sz="2000" b="1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3346D32-0235-C5F1-0F6C-0A5E71C57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2008" y="4632063"/>
                <a:ext cx="1604242" cy="1596784"/>
              </a:xfrm>
              <a:prstGeom prst="rect">
                <a:avLst/>
              </a:prstGeom>
              <a:blipFill>
                <a:blip r:embed="rId16"/>
                <a:stretch>
                  <a:fillRect l="-10236" r="-3937" b="-86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0B071CD1-F5FC-04C3-3AD9-3C3D5433DDFA}"/>
              </a:ext>
            </a:extLst>
          </p:cNvPr>
          <p:cNvSpPr txBox="1"/>
          <p:nvPr/>
        </p:nvSpPr>
        <p:spPr>
          <a:xfrm>
            <a:off x="8049237" y="1546959"/>
            <a:ext cx="20937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atin typeface="+mn-ea"/>
                <a:cs typeface="Times New Roman" panose="02020603050405020304" pitchFamily="18" charset="0"/>
              </a:rPr>
              <a:t>RMSNorm</a:t>
            </a:r>
            <a:endParaRPr kumimoji="1" lang="en-US" altLang="ko-KR" sz="1100" b="1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2D6DB541-1695-8DBB-8470-1827AACF2213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440564525"/>
              </p:ext>
            </p:extLst>
          </p:nvPr>
        </p:nvGraphicFramePr>
        <p:xfrm>
          <a:off x="9970335" y="2095568"/>
          <a:ext cx="8528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</a:tbl>
          </a:graphicData>
        </a:graphic>
      </p:graphicFrame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D690DB19-0D54-4114-ED5B-929E028CA588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238798538"/>
              </p:ext>
            </p:extLst>
          </p:nvPr>
        </p:nvGraphicFramePr>
        <p:xfrm>
          <a:off x="8536622" y="2686787"/>
          <a:ext cx="8528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47B311E-4A50-A506-21E5-BB75847EAD81}"/>
                  </a:ext>
                </a:extLst>
              </p:cNvPr>
              <p:cNvSpPr txBox="1"/>
              <p:nvPr/>
            </p:nvSpPr>
            <p:spPr>
              <a:xfrm>
                <a:off x="8895860" y="2292165"/>
                <a:ext cx="37112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47B311E-4A50-A506-21E5-BB75847EA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860" y="2292165"/>
                <a:ext cx="371127" cy="338554"/>
              </a:xfrm>
              <a:prstGeom prst="rect">
                <a:avLst/>
              </a:prstGeom>
              <a:blipFill>
                <a:blip r:embed="rId17"/>
                <a:stretch>
                  <a:fillRect l="-3333" r="-3333" b="-17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C49C923-D795-A7C6-BB54-EB15EE136FB8}"/>
                  </a:ext>
                </a:extLst>
              </p:cNvPr>
              <p:cNvSpPr txBox="1"/>
              <p:nvPr/>
            </p:nvSpPr>
            <p:spPr>
              <a:xfrm>
                <a:off x="10280040" y="1696789"/>
                <a:ext cx="404021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C49C923-D795-A7C6-BB54-EB15EE136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0040" y="1696789"/>
                <a:ext cx="404021" cy="338554"/>
              </a:xfrm>
              <a:prstGeom prst="rect">
                <a:avLst/>
              </a:prstGeom>
              <a:blipFill>
                <a:blip r:embed="rId4"/>
                <a:stretch>
                  <a:fillRect l="-3030" b="-17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90DBFA5D-2981-CD23-9E39-EEECDEF0C35F}"/>
              </a:ext>
            </a:extLst>
          </p:cNvPr>
          <p:cNvSpPr txBox="1"/>
          <p:nvPr/>
        </p:nvSpPr>
        <p:spPr>
          <a:xfrm rot="19693468">
            <a:off x="9108912" y="1942320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...............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C30EACA-1ED0-CC1D-8389-ABD8920E05B0}"/>
                  </a:ext>
                </a:extLst>
              </p:cNvPr>
              <p:cNvSpPr txBox="1"/>
              <p:nvPr/>
            </p:nvSpPr>
            <p:spPr>
              <a:xfrm>
                <a:off x="8168331" y="3191013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C30EACA-1ED0-CC1D-8389-ABD8920E0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8331" y="3191013"/>
                <a:ext cx="466493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51553344-7A33-5FEF-819E-0D5228A54A62}"/>
                  </a:ext>
                </a:extLst>
              </p:cNvPr>
              <p:cNvSpPr txBox="1"/>
              <p:nvPr/>
            </p:nvSpPr>
            <p:spPr>
              <a:xfrm>
                <a:off x="8729895" y="4052613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51553344-7A33-5FEF-819E-0D5228A54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9895" y="4052613"/>
                <a:ext cx="466493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20BD1F6-3277-C643-D007-4109E0EA73BA}"/>
                  </a:ext>
                </a:extLst>
              </p:cNvPr>
              <p:cNvSpPr txBox="1"/>
              <p:nvPr/>
            </p:nvSpPr>
            <p:spPr>
              <a:xfrm>
                <a:off x="10150021" y="3442524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20BD1F6-3277-C643-D007-4109E0EA7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0021" y="3442524"/>
                <a:ext cx="466493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4700428-01D1-40B3-D906-7F02DDDB1C6B}"/>
                  </a:ext>
                </a:extLst>
              </p:cNvPr>
              <p:cNvSpPr txBox="1"/>
              <p:nvPr/>
            </p:nvSpPr>
            <p:spPr>
              <a:xfrm>
                <a:off x="9623623" y="2577079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4700428-01D1-40B3-D906-7F02DDDB1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3623" y="2577079"/>
                <a:ext cx="466493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7" name="표 76">
            <a:extLst>
              <a:ext uri="{FF2B5EF4-FFF2-40B4-BE49-F238E27FC236}">
                <a16:creationId xmlns:a16="http://schemas.microsoft.com/office/drawing/2014/main" id="{DFBE1DFA-9951-D7C0-166B-2E9031530A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807675"/>
              </p:ext>
            </p:extLst>
          </p:nvPr>
        </p:nvGraphicFramePr>
        <p:xfrm>
          <a:off x="8514525" y="4844090"/>
          <a:ext cx="17057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3370270689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98630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50862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921088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42927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01450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773850"/>
                  </a:ext>
                </a:extLst>
              </a:tr>
            </a:tbl>
          </a:graphicData>
        </a:graphic>
      </p:graphicFrame>
      <p:graphicFrame>
        <p:nvGraphicFramePr>
          <p:cNvPr id="78" name="표 77">
            <a:extLst>
              <a:ext uri="{FF2B5EF4-FFF2-40B4-BE49-F238E27FC236}">
                <a16:creationId xmlns:a16="http://schemas.microsoft.com/office/drawing/2014/main" id="{2CB756FD-2311-33C0-3D98-A32385841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134099"/>
              </p:ext>
            </p:extLst>
          </p:nvPr>
        </p:nvGraphicFramePr>
        <p:xfrm>
          <a:off x="9970335" y="4508279"/>
          <a:ext cx="17057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888537155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0</a:t>
                      </a:r>
                      <a:endParaRPr lang="ko-KR" altLang="en-US" b="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91362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19540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12575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082584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486673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874246"/>
                  </a:ext>
                </a:extLst>
              </a:tr>
            </a:tbl>
          </a:graphicData>
        </a:graphic>
      </p:graphicFrame>
      <p:sp>
        <p:nvSpPr>
          <p:cNvPr id="79" name="TextBox 78">
            <a:extLst>
              <a:ext uri="{FF2B5EF4-FFF2-40B4-BE49-F238E27FC236}">
                <a16:creationId xmlns:a16="http://schemas.microsoft.com/office/drawing/2014/main" id="{DBAF87CB-735A-BB54-71EF-1891543DC9B4}"/>
              </a:ext>
            </a:extLst>
          </p:cNvPr>
          <p:cNvSpPr txBox="1"/>
          <p:nvPr/>
        </p:nvSpPr>
        <p:spPr>
          <a:xfrm rot="19693468">
            <a:off x="8893245" y="4526452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...............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8433EAC-85C8-3D01-880C-D5EF164A5ACB}"/>
                  </a:ext>
                </a:extLst>
              </p:cNvPr>
              <p:cNvSpPr txBox="1"/>
              <p:nvPr/>
            </p:nvSpPr>
            <p:spPr>
              <a:xfrm>
                <a:off x="8137254" y="5482384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8433EAC-85C8-3D01-880C-D5EF164A5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7254" y="5482384"/>
                <a:ext cx="46649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352BA4C-BCF1-404C-830E-B58B00714CEF}"/>
                  </a:ext>
                </a:extLst>
              </p:cNvPr>
              <p:cNvSpPr txBox="1"/>
              <p:nvPr/>
            </p:nvSpPr>
            <p:spPr>
              <a:xfrm>
                <a:off x="9589127" y="5146390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352BA4C-BCF1-404C-830E-B58B00714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9127" y="5146390"/>
                <a:ext cx="466493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A786ADC3-06B3-5496-F73E-03DDC0AE24C0}"/>
                  </a:ext>
                </a:extLst>
              </p:cNvPr>
              <p:cNvSpPr txBox="1"/>
              <p:nvPr/>
            </p:nvSpPr>
            <p:spPr>
              <a:xfrm>
                <a:off x="10280040" y="4592006"/>
                <a:ext cx="2172142" cy="20308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500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kumimoji="1" lang="en-US" altLang="ko-KR" sz="25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sz="25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kumimoji="1" lang="en-US" altLang="ko-KR" sz="25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kumimoji="1" lang="en-US" altLang="ko-KR" sz="2500" b="1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5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ko-KR" sz="25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kumimoji="1" lang="en-US" altLang="ko-KR" sz="2500" b="1" i="1" strike="sngStrike" dirty="0"/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sz="2000" b="1" dirty="0">
                    <a:sym typeface="Wingdings" pitchFamily="2" charset="2"/>
                  </a:rPr>
                  <a:t> </a:t>
                </a:r>
                <a:r>
                  <a:rPr kumimoji="1" lang="en-US" altLang="ko-KR" sz="2000" b="1" dirty="0"/>
                  <a:t>per-token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sz="2000" b="1" dirty="0">
                    <a:sym typeface="Wingdings" pitchFamily="2" charset="2"/>
                  </a:rPr>
                  <a:t></a:t>
                </a:r>
                <a:r>
                  <a:rPr kumimoji="1" lang="en-US" altLang="ko-KR" sz="1500" b="1" dirty="0">
                    <a:sym typeface="Wingdings" pitchFamily="2" charset="2"/>
                  </a:rPr>
                  <a:t> </a:t>
                </a:r>
                <a:r>
                  <a:rPr kumimoji="1" lang="en-US" altLang="ko-KR" sz="1700" b="1" strike="sngStrike" dirty="0">
                    <a:sym typeface="Wingdings" pitchFamily="2" charset="2"/>
                  </a:rPr>
                  <a:t>mean-centering</a:t>
                </a:r>
                <a:endParaRPr kumimoji="1" lang="en-US" altLang="ko-KR" sz="1700" b="1" strike="sngStrike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A786ADC3-06B3-5496-F73E-03DDC0AE2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0040" y="4592006"/>
                <a:ext cx="2172142" cy="2030877"/>
              </a:xfrm>
              <a:prstGeom prst="rect">
                <a:avLst/>
              </a:prstGeom>
              <a:blipFill>
                <a:blip r:embed="rId22"/>
                <a:stretch>
                  <a:fillRect l="-6977" b="-68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5" name="그림 84" descr="텍스트, 폰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5BF6C6-3D9D-1FCB-3809-AC80AC6D7626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t="11886" b="7429"/>
          <a:stretch>
            <a:fillRect/>
          </a:stretch>
        </p:blipFill>
        <p:spPr>
          <a:xfrm>
            <a:off x="3045563" y="725636"/>
            <a:ext cx="6076892" cy="734924"/>
          </a:xfrm>
          <a:prstGeom prst="rect">
            <a:avLst/>
          </a:prstGeom>
        </p:spPr>
      </p:pic>
      <p:cxnSp>
        <p:nvCxnSpPr>
          <p:cNvPr id="87" name="직선 연결선[R] 86">
            <a:extLst>
              <a:ext uri="{FF2B5EF4-FFF2-40B4-BE49-F238E27FC236}">
                <a16:creationId xmlns:a16="http://schemas.microsoft.com/office/drawing/2014/main" id="{EFC94AE0-7D15-9778-E246-027E07BD28FB}"/>
              </a:ext>
            </a:extLst>
          </p:cNvPr>
          <p:cNvCxnSpPr/>
          <p:nvPr/>
        </p:nvCxnSpPr>
        <p:spPr>
          <a:xfrm>
            <a:off x="3706852" y="1693717"/>
            <a:ext cx="0" cy="47962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[R] 87">
            <a:extLst>
              <a:ext uri="{FF2B5EF4-FFF2-40B4-BE49-F238E27FC236}">
                <a16:creationId xmlns:a16="http://schemas.microsoft.com/office/drawing/2014/main" id="{A40E49F4-F16C-6A7C-884F-F4EAE0A30899}"/>
              </a:ext>
            </a:extLst>
          </p:cNvPr>
          <p:cNvCxnSpPr/>
          <p:nvPr/>
        </p:nvCxnSpPr>
        <p:spPr>
          <a:xfrm>
            <a:off x="7935033" y="1699496"/>
            <a:ext cx="0" cy="47962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030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3822B-3A90-E053-070F-C0406733F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B608870A-398C-D0D6-86CE-8D3060FD0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>
                <a:latin typeface="+mj-lt"/>
              </a:rPr>
              <a:t>1. Background: Normalization layers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A8A0EA-99D5-0337-AF57-7E2FCD1EC25E}"/>
              </a:ext>
            </a:extLst>
          </p:cNvPr>
          <p:cNvSpPr txBox="1"/>
          <p:nvPr/>
        </p:nvSpPr>
        <p:spPr>
          <a:xfrm>
            <a:off x="3887648" y="1537777"/>
            <a:ext cx="20937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atin typeface="+mn-ea"/>
                <a:cs typeface="Times New Roman" panose="02020603050405020304" pitchFamily="18" charset="0"/>
              </a:rPr>
              <a:t>LayerNorm</a:t>
            </a:r>
            <a:endParaRPr kumimoji="1" lang="en-US" altLang="ko-KR" sz="1100" b="1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520A3F85-0542-81B5-56FA-E3773875E759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5956508" y="2080744"/>
          <a:ext cx="8528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</a:tbl>
          </a:graphicData>
        </a:graphic>
      </p:graphicFrame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496F16FD-1760-95E2-D1C7-AE807296062F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4522795" y="2671963"/>
          <a:ext cx="8528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A52DDE8-2410-CE7D-ACB6-32CE64595B34}"/>
                  </a:ext>
                </a:extLst>
              </p:cNvPr>
              <p:cNvSpPr txBox="1"/>
              <p:nvPr/>
            </p:nvSpPr>
            <p:spPr>
              <a:xfrm>
                <a:off x="4882033" y="2277341"/>
                <a:ext cx="37112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A52DDE8-2410-CE7D-ACB6-32CE64595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033" y="2277341"/>
                <a:ext cx="371127" cy="338554"/>
              </a:xfrm>
              <a:prstGeom prst="rect">
                <a:avLst/>
              </a:prstGeom>
              <a:blipFill>
                <a:blip r:embed="rId3"/>
                <a:stretch>
                  <a:fillRect l="-3333" r="-3333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DAFD9E3-4EE2-AF5A-C7B7-506A12E72E9B}"/>
                  </a:ext>
                </a:extLst>
              </p:cNvPr>
              <p:cNvSpPr txBox="1"/>
              <p:nvPr/>
            </p:nvSpPr>
            <p:spPr>
              <a:xfrm>
                <a:off x="6266213" y="1681965"/>
                <a:ext cx="404021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DAFD9E3-4EE2-AF5A-C7B7-506A12E72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213" y="1681965"/>
                <a:ext cx="404021" cy="338554"/>
              </a:xfrm>
              <a:prstGeom prst="rect">
                <a:avLst/>
              </a:prstGeom>
              <a:blipFill>
                <a:blip r:embed="rId4"/>
                <a:stretch>
                  <a:fillRect l="-3030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9EBA4620-E1B4-5554-0675-CB67829D0B3D}"/>
              </a:ext>
            </a:extLst>
          </p:cNvPr>
          <p:cNvSpPr txBox="1"/>
          <p:nvPr/>
        </p:nvSpPr>
        <p:spPr>
          <a:xfrm rot="19693468">
            <a:off x="5095085" y="1927496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...............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595920C-7233-ACF6-8E83-644070DF9382}"/>
                  </a:ext>
                </a:extLst>
              </p:cNvPr>
              <p:cNvSpPr txBox="1"/>
              <p:nvPr/>
            </p:nvSpPr>
            <p:spPr>
              <a:xfrm>
                <a:off x="4161934" y="3191013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595920C-7233-ACF6-8E83-644070DF9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1934" y="3191013"/>
                <a:ext cx="46649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4B60E10-07A9-C829-DA60-8EE36DCB291B}"/>
                  </a:ext>
                </a:extLst>
              </p:cNvPr>
              <p:cNvSpPr txBox="1"/>
              <p:nvPr/>
            </p:nvSpPr>
            <p:spPr>
              <a:xfrm>
                <a:off x="4716068" y="4037789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4B60E10-07A9-C829-DA60-8EE36DCB2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68" y="4037789"/>
                <a:ext cx="4664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AD81B97-6AA5-EF45-CEC5-5B48EFE78844}"/>
                  </a:ext>
                </a:extLst>
              </p:cNvPr>
              <p:cNvSpPr txBox="1"/>
              <p:nvPr/>
            </p:nvSpPr>
            <p:spPr>
              <a:xfrm>
                <a:off x="6136194" y="3427700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AD81B97-6AA5-EF45-CEC5-5B48EFE78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194" y="3427700"/>
                <a:ext cx="46649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6FC52AC-989C-38F8-D1C3-D5545FC3E6B9}"/>
                  </a:ext>
                </a:extLst>
              </p:cNvPr>
              <p:cNvSpPr txBox="1"/>
              <p:nvPr/>
            </p:nvSpPr>
            <p:spPr>
              <a:xfrm>
                <a:off x="5593874" y="2599213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6FC52AC-989C-38F8-D1C3-D5545FC3E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3874" y="2599213"/>
                <a:ext cx="46649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6E80A350-AEE6-A73E-F9DF-356B81CF9FCB}"/>
              </a:ext>
            </a:extLst>
          </p:cNvPr>
          <p:cNvGraphicFramePr>
            <a:graphicFrameLocks noGrp="1"/>
          </p:cNvGraphicFramePr>
          <p:nvPr/>
        </p:nvGraphicFramePr>
        <p:xfrm>
          <a:off x="4558993" y="4850711"/>
          <a:ext cx="17057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3370270689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98630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50862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921088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42927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01450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773850"/>
                  </a:ext>
                </a:extLst>
              </a:tr>
            </a:tbl>
          </a:graphicData>
        </a:graphic>
      </p:graphicFrame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3503DFFD-E22D-BB19-BAD9-0A2172464088}"/>
              </a:ext>
            </a:extLst>
          </p:cNvPr>
          <p:cNvGraphicFramePr>
            <a:graphicFrameLocks noGrp="1"/>
          </p:cNvGraphicFramePr>
          <p:nvPr/>
        </p:nvGraphicFramePr>
        <p:xfrm>
          <a:off x="5897440" y="4508279"/>
          <a:ext cx="17057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888537155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91362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19540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12575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082584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486673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874246"/>
                  </a:ext>
                </a:extLst>
              </a:tr>
            </a:tbl>
          </a:graphicData>
        </a:graphic>
      </p:graphicFrame>
      <p:sp>
        <p:nvSpPr>
          <p:cNvPr id="59" name="TextBox 58">
            <a:extLst>
              <a:ext uri="{FF2B5EF4-FFF2-40B4-BE49-F238E27FC236}">
                <a16:creationId xmlns:a16="http://schemas.microsoft.com/office/drawing/2014/main" id="{1DC0788F-F97A-47E5-95BF-FBACF1B19E89}"/>
              </a:ext>
            </a:extLst>
          </p:cNvPr>
          <p:cNvSpPr txBox="1"/>
          <p:nvPr/>
        </p:nvSpPr>
        <p:spPr>
          <a:xfrm rot="19693468">
            <a:off x="4782776" y="4533930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...............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9823729-6405-233D-0F59-6CF789EABC57}"/>
                  </a:ext>
                </a:extLst>
              </p:cNvPr>
              <p:cNvSpPr txBox="1"/>
              <p:nvPr/>
            </p:nvSpPr>
            <p:spPr>
              <a:xfrm>
                <a:off x="4181722" y="5489005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9823729-6405-233D-0F59-6CF789EAB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722" y="5489005"/>
                <a:ext cx="46649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B4125FB-C2AC-EEBE-77AD-CA70956AAD98}"/>
                  </a:ext>
                </a:extLst>
              </p:cNvPr>
              <p:cNvSpPr txBox="1"/>
              <p:nvPr/>
            </p:nvSpPr>
            <p:spPr>
              <a:xfrm>
                <a:off x="5516232" y="5146390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B4125FB-C2AC-EEBE-77AD-CA70956AA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232" y="5146390"/>
                <a:ext cx="46649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59A8018-C0F1-88BD-0AB8-68BF9E14441F}"/>
                  </a:ext>
                </a:extLst>
              </p:cNvPr>
              <p:cNvSpPr txBox="1"/>
              <p:nvPr/>
            </p:nvSpPr>
            <p:spPr>
              <a:xfrm>
                <a:off x="6222008" y="4632063"/>
                <a:ext cx="1604242" cy="15967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500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kumimoji="1" lang="en-US" altLang="ko-KR" sz="2500" b="1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kumimoji="1" lang="en-US" altLang="ko-KR" sz="2500" b="1" i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kumimoji="1" lang="en-US" altLang="ko-KR" sz="2500" b="1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5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ko-KR" sz="25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kumimoji="1" lang="en-US" altLang="ko-KR" sz="2500" b="1" i="1" dirty="0"/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sz="2000" b="1" dirty="0">
                    <a:sym typeface="Wingdings" pitchFamily="2" charset="2"/>
                  </a:rPr>
                  <a:t> per-token</a:t>
                </a:r>
                <a:endParaRPr kumimoji="1" lang="ko-KR" altLang="en-US" sz="2000" b="1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59A8018-C0F1-88BD-0AB8-68BF9E144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2008" y="4632063"/>
                <a:ext cx="1604242" cy="1596784"/>
              </a:xfrm>
              <a:prstGeom prst="rect">
                <a:avLst/>
              </a:prstGeom>
              <a:blipFill>
                <a:blip r:embed="rId11"/>
                <a:stretch>
                  <a:fillRect l="-10236" r="-3937" b="-86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5" name="그림 84" descr="텍스트, 폰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46E2FC-47B0-9769-6D47-B34A0D82FCA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11886" b="7429"/>
          <a:stretch>
            <a:fillRect/>
          </a:stretch>
        </p:blipFill>
        <p:spPr>
          <a:xfrm>
            <a:off x="3045563" y="725636"/>
            <a:ext cx="6076892" cy="734924"/>
          </a:xfrm>
          <a:prstGeom prst="rect">
            <a:avLst/>
          </a:prstGeom>
        </p:spPr>
      </p:pic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B247819A-99D2-7C85-D67D-1F0766F1430B}"/>
              </a:ext>
            </a:extLst>
          </p:cNvPr>
          <p:cNvCxnSpPr/>
          <p:nvPr/>
        </p:nvCxnSpPr>
        <p:spPr>
          <a:xfrm>
            <a:off x="7935033" y="1699496"/>
            <a:ext cx="0" cy="47962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97D3A8D-F31F-9F31-C4CF-FE61BAC28E59}"/>
              </a:ext>
            </a:extLst>
          </p:cNvPr>
          <p:cNvSpPr txBox="1"/>
          <p:nvPr/>
        </p:nvSpPr>
        <p:spPr>
          <a:xfrm>
            <a:off x="77418" y="1711253"/>
            <a:ext cx="3571793" cy="4193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“</a:t>
            </a:r>
            <a:r>
              <a:rPr lang="ko-KR" altLang="en-US" dirty="0" err="1"/>
              <a:t>Today</a:t>
            </a:r>
            <a:r>
              <a:rPr lang="ko-KR" altLang="en-US" dirty="0"/>
              <a:t>, </a:t>
            </a:r>
            <a:r>
              <a:rPr lang="ko-KR" altLang="en-US" dirty="0" err="1"/>
              <a:t>most</a:t>
            </a:r>
            <a:r>
              <a:rPr lang="ko-KR" altLang="en-US" dirty="0"/>
              <a:t> </a:t>
            </a:r>
            <a:r>
              <a:rPr lang="ko-KR" altLang="en-US" dirty="0" err="1"/>
              <a:t>modern</a:t>
            </a:r>
            <a:r>
              <a:rPr lang="en-US" altLang="ko-KR" dirty="0"/>
              <a:t> </a:t>
            </a:r>
            <a:r>
              <a:rPr lang="ko-KR" altLang="en-US" dirty="0" err="1"/>
              <a:t>neural</a:t>
            </a:r>
            <a:r>
              <a:rPr lang="ko-KR" altLang="en-US" dirty="0"/>
              <a:t> </a:t>
            </a:r>
            <a:r>
              <a:rPr lang="ko-KR" altLang="en-US" dirty="0" err="1"/>
              <a:t>networks</a:t>
            </a:r>
            <a:r>
              <a:rPr lang="ko-KR" altLang="en-US" dirty="0"/>
              <a:t> </a:t>
            </a:r>
            <a:r>
              <a:rPr lang="ko-KR" altLang="en-US" dirty="0" err="1"/>
              <a:t>use</a:t>
            </a:r>
            <a:r>
              <a:rPr lang="ko-KR" altLang="en-US" dirty="0"/>
              <a:t> </a:t>
            </a:r>
            <a:r>
              <a:rPr lang="ko-KR" altLang="en-US" b="1" dirty="0"/>
              <a:t>LN</a:t>
            </a:r>
            <a:r>
              <a:rPr lang="ko-KR" altLang="en-US" dirty="0"/>
              <a:t> </a:t>
            </a:r>
            <a:r>
              <a:rPr lang="ko-KR" altLang="en-US" dirty="0" err="1"/>
              <a:t>due</a:t>
            </a:r>
            <a:r>
              <a:rPr lang="ko-KR" altLang="en-US" dirty="0"/>
              <a:t> </a:t>
            </a:r>
            <a:r>
              <a:rPr lang="ko-KR" altLang="en-US" dirty="0" err="1"/>
              <a:t>to</a:t>
            </a:r>
            <a:r>
              <a:rPr lang="ko-KR" altLang="en-US" dirty="0"/>
              <a:t> </a:t>
            </a:r>
            <a:r>
              <a:rPr lang="ko-KR" altLang="en-US" dirty="0" err="1"/>
              <a:t>its</a:t>
            </a:r>
            <a:r>
              <a:rPr lang="ko-KR" altLang="en-US" dirty="0"/>
              <a:t> </a:t>
            </a:r>
            <a:r>
              <a:rPr lang="ko-KR" altLang="en-US" dirty="0" err="1"/>
              <a:t>simplicity</a:t>
            </a:r>
            <a:r>
              <a:rPr lang="ko-KR" altLang="en-US" dirty="0"/>
              <a:t> and </a:t>
            </a:r>
            <a:r>
              <a:rPr lang="ko-KR" altLang="en-US" dirty="0" err="1"/>
              <a:t>universality</a:t>
            </a:r>
            <a:r>
              <a:rPr lang="ko-KR" altLang="en-US" dirty="0"/>
              <a:t>.</a:t>
            </a:r>
            <a:r>
              <a:rPr lang="en-US" altLang="ko-KR" dirty="0"/>
              <a:t>”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“The Transformers we examine in this work </a:t>
            </a:r>
            <a:r>
              <a:rPr lang="en-US" altLang="ko-KR" b="1" dirty="0"/>
              <a:t>all use LN</a:t>
            </a:r>
            <a:r>
              <a:rPr lang="en-US" altLang="ko-KR" dirty="0"/>
              <a:t>, </a:t>
            </a:r>
            <a:r>
              <a:rPr lang="en-US" altLang="ko-KR" b="1" dirty="0"/>
              <a:t>except that </a:t>
            </a:r>
            <a:r>
              <a:rPr lang="en-US" altLang="ko-KR" b="1" dirty="0" err="1"/>
              <a:t>LLaMA</a:t>
            </a:r>
            <a:r>
              <a:rPr lang="en-US" altLang="ko-KR" b="1" dirty="0"/>
              <a:t> uses </a:t>
            </a:r>
            <a:r>
              <a:rPr lang="en-US" altLang="ko-KR" b="1" dirty="0" err="1"/>
              <a:t>RMSNorm</a:t>
            </a:r>
            <a:r>
              <a:rPr lang="en-US" altLang="ko-KR" b="1" dirty="0"/>
              <a:t>.</a:t>
            </a:r>
            <a:r>
              <a:rPr lang="en-US" altLang="ko-KR" dirty="0"/>
              <a:t>”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>
                <a:sym typeface="Wingdings" pitchFamily="2" charset="2"/>
              </a:rPr>
              <a:t> </a:t>
            </a:r>
            <a:r>
              <a:rPr lang="en-US" altLang="ko-KR" dirty="0" err="1">
                <a:sym typeface="Wingdings" pitchFamily="2" charset="2"/>
              </a:rPr>
              <a:t>LayerNorm</a:t>
            </a:r>
            <a:r>
              <a:rPr lang="ko-KR" altLang="en-US" dirty="0">
                <a:sym typeface="Wingdings" pitchFamily="2" charset="2"/>
              </a:rPr>
              <a:t>을 타겟으로 연구를 진행</a:t>
            </a:r>
            <a:endParaRPr lang="ko-KR" altLang="en-US" dirty="0"/>
          </a:p>
        </p:txBody>
      </p:sp>
      <p:cxnSp>
        <p:nvCxnSpPr>
          <p:cNvPr id="34" name="직선 연결선[R] 33">
            <a:extLst>
              <a:ext uri="{FF2B5EF4-FFF2-40B4-BE49-F238E27FC236}">
                <a16:creationId xmlns:a16="http://schemas.microsoft.com/office/drawing/2014/main" id="{AD6F6C56-E1CB-95BA-429B-0041CDF2BE2F}"/>
              </a:ext>
            </a:extLst>
          </p:cNvPr>
          <p:cNvCxnSpPr/>
          <p:nvPr/>
        </p:nvCxnSpPr>
        <p:spPr>
          <a:xfrm>
            <a:off x="3706852" y="1693717"/>
            <a:ext cx="0" cy="47962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530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FCEBD-87D7-4CBF-5230-4CF281939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000607-3334-A0DB-52A5-6C7BA269F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2877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sz="3000" b="1" dirty="0">
                <a:latin typeface="+mj-lt"/>
                <a:cs typeface="Times New Roman" panose="02020603050405020304" pitchFamily="18" charset="0"/>
              </a:rPr>
              <a:t>Outline</a:t>
            </a:r>
            <a:endParaRPr kumimoji="1" lang="ko-KR" altLang="en-US" sz="3000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3D2A766-EBF8-DFFF-0FB9-D9A8CB8E53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725" y="654269"/>
                <a:ext cx="11516710" cy="5880537"/>
              </a:xfrm>
            </p:spPr>
            <p:txBody>
              <a:bodyPr anchor="ctr">
                <a:noAutofit/>
              </a:bodyPr>
              <a:lstStyle/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000" dirty="0">
                    <a:cs typeface="Times New Roman" panose="02020603050405020304" pitchFamily="18" charset="0"/>
                  </a:rPr>
                  <a:t>Background: Normalization layers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000" strike="sngStrike" dirty="0">
                    <a:cs typeface="Times New Roman" panose="02020603050405020304" pitchFamily="18" charset="0"/>
                  </a:rPr>
                  <a:t>Analysis: What Do Normalization Layers Do?</a:t>
                </a:r>
                <a:br>
                  <a:rPr kumimoji="1" lang="en-US" altLang="ko-KR" sz="2000" strike="sngStrike" dirty="0">
                    <a:cs typeface="Times New Roman" panose="02020603050405020304" pitchFamily="18" charset="0"/>
                  </a:rPr>
                </a:br>
                <a:r>
                  <a:rPr kumimoji="1" lang="en-US" altLang="ko-KR" sz="2000" b="1" dirty="0">
                    <a:cs typeface="Times New Roman" panose="02020603050405020304" pitchFamily="18" charset="0"/>
                  </a:rPr>
                  <a:t>Analysis: What Do LN Layers Do?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000" dirty="0">
                    <a:cs typeface="Times New Roman" panose="02020603050405020304" pitchFamily="18" charset="0"/>
                  </a:rPr>
                  <a:t>Dynamic Tanh (DyT)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000" dirty="0">
                    <a:cs typeface="Times New Roman" panose="02020603050405020304" pitchFamily="18" charset="0"/>
                  </a:rPr>
                  <a:t>Experiments &amp; Analysis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000" dirty="0">
                    <a:cs typeface="Times New Roman" panose="02020603050405020304" pitchFamily="18" charset="0"/>
                  </a:rPr>
                  <a:t>Initialization of </a:t>
                </a:r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endParaRPr kumimoji="1" lang="en-US" altLang="ko-KR" sz="2000" dirty="0"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000" dirty="0">
                    <a:cs typeface="Times New Roman" panose="02020603050405020304" pitchFamily="18" charset="0"/>
                  </a:rPr>
                  <a:t>Limitation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000" dirty="0">
                    <a:cs typeface="Times New Roman" panose="02020603050405020304" pitchFamily="18" charset="0"/>
                  </a:rPr>
                  <a:t>Discussion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3D2A766-EBF8-DFFF-0FB9-D9A8CB8E53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725" y="654269"/>
                <a:ext cx="11516710" cy="5880537"/>
              </a:xfrm>
              <a:blipFill>
                <a:blip r:embed="rId3"/>
                <a:stretch>
                  <a:fillRect l="-661" b="-2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2286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CAE9E-D173-27B9-EBB8-E2F1E97A3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34B055B7-2430-80D1-B10C-85D56C15C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2. Analysis: What Do LN Layers Do?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590CDF3-8930-8A6C-83CB-CD91363E33F5}"/>
              </a:ext>
            </a:extLst>
          </p:cNvPr>
          <p:cNvSpPr txBox="1"/>
          <p:nvPr/>
        </p:nvSpPr>
        <p:spPr>
          <a:xfrm>
            <a:off x="119808" y="677163"/>
            <a:ext cx="11952383" cy="3379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Analysis setup:</a:t>
            </a: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 “We first empirically study the </a:t>
            </a: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behaviors of normalization layers</a:t>
            </a: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 in three trained networks.”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500" dirty="0">
                <a:latin typeface="+mn-ea"/>
                <a:cs typeface="Times New Roman" panose="02020603050405020304" pitchFamily="18" charset="0"/>
              </a:rPr>
              <a:t>1. </a:t>
            </a:r>
            <a:r>
              <a:rPr kumimoji="1" lang="en-US" altLang="ko-KR" sz="1500" dirty="0" err="1">
                <a:latin typeface="+mn-ea"/>
                <a:cs typeface="Times New Roman" panose="02020603050405020304" pitchFamily="18" charset="0"/>
              </a:rPr>
              <a:t>ViT</a:t>
            </a:r>
            <a:r>
              <a:rPr kumimoji="1" lang="en-US" altLang="ko-KR" sz="1500" dirty="0">
                <a:latin typeface="+mn-ea"/>
                <a:cs typeface="Times New Roman" panose="02020603050405020304" pitchFamily="18" charset="0"/>
              </a:rPr>
              <a:t>-B trained on ImageNet-1K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500" dirty="0">
                <a:latin typeface="+mn-ea"/>
                <a:cs typeface="Times New Roman" panose="02020603050405020304" pitchFamily="18" charset="0"/>
              </a:rPr>
              <a:t>2. wav2vec 2.0 Large Transformer model trained on </a:t>
            </a:r>
            <a:r>
              <a:rPr kumimoji="1" lang="en-US" altLang="ko-KR" sz="1500" dirty="0" err="1">
                <a:latin typeface="+mn-ea"/>
                <a:cs typeface="Times New Roman" panose="02020603050405020304" pitchFamily="18" charset="0"/>
              </a:rPr>
              <a:t>LibriSpeech</a:t>
            </a:r>
            <a:endParaRPr kumimoji="1"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500" dirty="0">
                <a:latin typeface="+mn-ea"/>
                <a:cs typeface="Times New Roman" panose="02020603050405020304" pitchFamily="18" charset="0"/>
              </a:rPr>
              <a:t>3. Diffusion Transformer (</a:t>
            </a:r>
            <a:r>
              <a:rPr kumimoji="1" lang="en-US" altLang="ko-KR" sz="1500" dirty="0" err="1">
                <a:latin typeface="+mn-ea"/>
                <a:cs typeface="Times New Roman" panose="02020603050405020304" pitchFamily="18" charset="0"/>
              </a:rPr>
              <a:t>DiT</a:t>
            </a:r>
            <a:r>
              <a:rPr kumimoji="1" lang="en-US" altLang="ko-KR" sz="1500" dirty="0">
                <a:latin typeface="+mn-ea"/>
                <a:cs typeface="Times New Roman" panose="02020603050405020304" pitchFamily="18" charset="0"/>
              </a:rPr>
              <a:t>-XL) trained on ImageNet-1K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dirty="0">
              <a:latin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”We sample a </a:t>
            </a: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mini-batch samples</a:t>
            </a: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 and do a </a:t>
            </a: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forward pass</a:t>
            </a: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 through the network.”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“We then </a:t>
            </a: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measure</a:t>
            </a: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 the </a:t>
            </a: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input and output</a:t>
            </a: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 for the normalization layer.”</a:t>
            </a:r>
          </a:p>
        </p:txBody>
      </p:sp>
      <p:pic>
        <p:nvPicPr>
          <p:cNvPr id="17" name="그림 16" descr="텍스트, 폰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2231EA6-DF11-B208-33D5-2CC294EA2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112" y="5125806"/>
            <a:ext cx="9799776" cy="146889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DB437B0-EFFB-D2CB-09D6-8B2D2516D682}"/>
              </a:ext>
            </a:extLst>
          </p:cNvPr>
          <p:cNvSpPr/>
          <p:nvPr/>
        </p:nvSpPr>
        <p:spPr>
          <a:xfrm>
            <a:off x="6564351" y="5293112"/>
            <a:ext cx="512956" cy="54269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C81B3C3-2C27-3E6D-2E15-5D4F8B671B11}"/>
              </a:ext>
            </a:extLst>
          </p:cNvPr>
          <p:cNvSpPr/>
          <p:nvPr/>
        </p:nvSpPr>
        <p:spPr>
          <a:xfrm>
            <a:off x="6073696" y="5125806"/>
            <a:ext cx="2438401" cy="1393940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A4D5E5-9D31-C023-9A98-995EFAF8B192}"/>
              </a:ext>
            </a:extLst>
          </p:cNvPr>
          <p:cNvSpPr txBox="1"/>
          <p:nvPr/>
        </p:nvSpPr>
        <p:spPr>
          <a:xfrm>
            <a:off x="7036831" y="5164348"/>
            <a:ext cx="787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dirty="0"/>
              <a:t>input</a:t>
            </a:r>
            <a:endParaRPr kumimoji="1"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62744-D8AE-7D17-694C-194723D16B89}"/>
              </a:ext>
            </a:extLst>
          </p:cNvPr>
          <p:cNvSpPr txBox="1"/>
          <p:nvPr/>
        </p:nvSpPr>
        <p:spPr>
          <a:xfrm>
            <a:off x="8474998" y="4964293"/>
            <a:ext cx="966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dirty="0"/>
              <a:t>output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79267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E2DA6-4FCA-C792-BFAE-4DC6976D9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9ECEAD4E-DA0D-FB53-9509-B4DAEB87B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2. Analysis: What Do LN Layers Do?</a:t>
            </a:r>
          </a:p>
        </p:txBody>
      </p:sp>
      <p:pic>
        <p:nvPicPr>
          <p:cNvPr id="7" name="그림 6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ABB7BE-7F5E-E29D-2ADD-0921C930C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5711"/>
            <a:ext cx="8536543" cy="56958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899971-A7A8-28C4-BFCD-CAB77E80BC89}"/>
              </a:ext>
            </a:extLst>
          </p:cNvPr>
          <p:cNvSpPr txBox="1"/>
          <p:nvPr/>
        </p:nvSpPr>
        <p:spPr>
          <a:xfrm>
            <a:off x="8536543" y="943763"/>
            <a:ext cx="3571793" cy="4980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200" b="1" dirty="0"/>
              <a:t>관찰</a:t>
            </a:r>
            <a:r>
              <a:rPr lang="en-US" altLang="ko-KR" sz="2200" b="1" dirty="0"/>
              <a:t>:</a:t>
            </a:r>
            <a:r>
              <a:rPr lang="ko-KR" altLang="en-US" sz="2200" b="1" dirty="0"/>
              <a:t> </a:t>
            </a:r>
            <a:endParaRPr lang="en-US" altLang="ko-KR" sz="2200" b="1" dirty="0"/>
          </a:p>
          <a:p>
            <a:pPr>
              <a:lnSpc>
                <a:spcPct val="150000"/>
              </a:lnSpc>
            </a:pPr>
            <a:r>
              <a:rPr lang="en-US" altLang="ko-KR" sz="2200" b="1" dirty="0"/>
              <a:t>LN input-output relationship</a:t>
            </a:r>
          </a:p>
          <a:p>
            <a:pPr>
              <a:lnSpc>
                <a:spcPct val="150000"/>
              </a:lnSpc>
            </a:pPr>
            <a:endParaRPr lang="en-US" altLang="ko-KR" b="1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b="1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2000" b="1" dirty="0"/>
              <a:t>In earlier LN layers:</a:t>
            </a:r>
            <a:r>
              <a:rPr lang="en-US" altLang="ko-KR" sz="2000" dirty="0"/>
              <a:t> </a:t>
            </a:r>
            <a:br>
              <a:rPr lang="en-US" altLang="ko-KR" dirty="0"/>
            </a:br>
            <a:r>
              <a:rPr lang="en-US" altLang="ko-KR" dirty="0">
                <a:sym typeface="Wingdings" pitchFamily="2" charset="2"/>
              </a:rPr>
              <a:t> </a:t>
            </a:r>
            <a:r>
              <a:rPr lang="en-US" altLang="ko-KR" dirty="0"/>
              <a:t>mostly linear</a:t>
            </a:r>
            <a:br>
              <a:rPr lang="en-US" altLang="ko-KR" dirty="0"/>
            </a:b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2000" b="1" dirty="0"/>
              <a:t>In deeper LN layers:</a:t>
            </a:r>
            <a:br>
              <a:rPr lang="en-US" altLang="ko-KR" dirty="0"/>
            </a:br>
            <a:r>
              <a:rPr lang="en-US" altLang="ko-KR" dirty="0">
                <a:solidFill>
                  <a:srgbClr val="FF0000"/>
                </a:solidFill>
              </a:rPr>
              <a:t>scaled tanh, S-shaped curves</a:t>
            </a:r>
            <a:br>
              <a:rPr lang="en-US" altLang="ko-KR" dirty="0">
                <a:solidFill>
                  <a:srgbClr val="FF0000"/>
                </a:solidFill>
              </a:rPr>
            </a:br>
            <a:r>
              <a:rPr lang="en-US" altLang="ko-KR" dirty="0">
                <a:solidFill>
                  <a:srgbClr val="FF0000"/>
                </a:solidFill>
                <a:sym typeface="Wingdings" pitchFamily="2" charset="2"/>
              </a:rPr>
              <a:t> non-linear</a:t>
            </a:r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995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A5CF1-205A-6011-E795-1E035C610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99476CB8-8150-3FD2-3EF1-A38656D49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2. Analysis: What Do LN Layers Do?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6ABE2C7-82D9-CA30-DAAD-D143139FE73F}"/>
              </a:ext>
            </a:extLst>
          </p:cNvPr>
          <p:cNvSpPr txBox="1"/>
          <p:nvPr/>
        </p:nvSpPr>
        <p:spPr>
          <a:xfrm>
            <a:off x="4866285" y="3665728"/>
            <a:ext cx="7065303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2000" b="1" dirty="0">
                <a:latin typeface="+mn-ea"/>
                <a:cs typeface="Times New Roman" panose="02020603050405020304" pitchFamily="18" charset="0"/>
              </a:rPr>
              <a:t>분명 </a:t>
            </a: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linear transformation</a:t>
            </a:r>
            <a:r>
              <a:rPr kumimoji="1" lang="ko-KR" altLang="en-US" sz="2000" b="1" dirty="0">
                <a:latin typeface="+mn-ea"/>
                <a:cs typeface="Times New Roman" panose="02020603050405020304" pitchFamily="18" charset="0"/>
              </a:rPr>
              <a:t>인데</a:t>
            </a: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…</a:t>
            </a:r>
          </a:p>
          <a:p>
            <a:pPr>
              <a:lnSpc>
                <a:spcPct val="150000"/>
              </a:lnSpc>
            </a:pPr>
            <a:r>
              <a:rPr kumimoji="1" lang="ko-KR" altLang="en-US" sz="2000" b="1" dirty="0">
                <a:latin typeface="+mn-ea"/>
                <a:cs typeface="Times New Roman" panose="02020603050405020304" pitchFamily="18" charset="0"/>
              </a:rPr>
              <a:t>어떻게</a:t>
            </a: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 input-output relationship</a:t>
            </a:r>
            <a:r>
              <a:rPr kumimoji="1" lang="ko-KR" altLang="en-US" sz="2000" b="1" dirty="0">
                <a:latin typeface="+mn-ea"/>
                <a:cs typeface="Times New Roman" panose="02020603050405020304" pitchFamily="18" charset="0"/>
              </a:rPr>
              <a:t>이 </a:t>
            </a: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nonlinear</a:t>
            </a:r>
            <a:r>
              <a:rPr kumimoji="1" lang="ko-KR" altLang="en-US" sz="2000" b="1" dirty="0">
                <a:latin typeface="+mn-ea"/>
                <a:cs typeface="Times New Roman" panose="02020603050405020304" pitchFamily="18" charset="0"/>
              </a:rPr>
              <a:t>한가</a:t>
            </a: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?</a:t>
            </a:r>
            <a:endParaRPr kumimoji="1" lang="en-US" altLang="ko-KR" sz="20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17" name="그림 16" descr="텍스트, 폰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B57A81-3094-3B08-EBEE-4AD21901A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112" y="5125806"/>
            <a:ext cx="9799776" cy="146889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34A958D-C2A3-94E1-A95C-09E5392E6B0E}"/>
              </a:ext>
            </a:extLst>
          </p:cNvPr>
          <p:cNvSpPr/>
          <p:nvPr/>
        </p:nvSpPr>
        <p:spPr>
          <a:xfrm>
            <a:off x="6564351" y="5293112"/>
            <a:ext cx="512956" cy="54269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38D83B1-D57B-6A1A-E19E-7A1B05234B0B}"/>
              </a:ext>
            </a:extLst>
          </p:cNvPr>
          <p:cNvSpPr/>
          <p:nvPr/>
        </p:nvSpPr>
        <p:spPr>
          <a:xfrm>
            <a:off x="6073696" y="5125806"/>
            <a:ext cx="2438401" cy="1393940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F02F2-8625-9C8D-89EB-9903195933C8}"/>
              </a:ext>
            </a:extLst>
          </p:cNvPr>
          <p:cNvSpPr txBox="1"/>
          <p:nvPr/>
        </p:nvSpPr>
        <p:spPr>
          <a:xfrm>
            <a:off x="7036831" y="5164348"/>
            <a:ext cx="787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dirty="0"/>
              <a:t>input</a:t>
            </a:r>
            <a:endParaRPr kumimoji="1"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E57306-98B6-ADFC-45A2-629814DFECC1}"/>
              </a:ext>
            </a:extLst>
          </p:cNvPr>
          <p:cNvSpPr txBox="1"/>
          <p:nvPr/>
        </p:nvSpPr>
        <p:spPr>
          <a:xfrm>
            <a:off x="8474998" y="4964293"/>
            <a:ext cx="966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dirty="0"/>
              <a:t>output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90203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179F1-9885-698D-4168-192A9C273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E85BA04-FD04-A4C8-F063-B00F757DD3B6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101450258"/>
              </p:ext>
            </p:extLst>
          </p:nvPr>
        </p:nvGraphicFramePr>
        <p:xfrm>
          <a:off x="2001546" y="1879130"/>
          <a:ext cx="109249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164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364164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364164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5.</a:t>
                      </a:r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5.5</a:t>
                      </a:r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6.</a:t>
                      </a:r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69508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</a:tbl>
          </a:graphicData>
        </a:graphic>
      </p:graphicFrame>
      <p:sp>
        <p:nvSpPr>
          <p:cNvPr id="27" name="제목 26">
            <a:extLst>
              <a:ext uri="{FF2B5EF4-FFF2-40B4-BE49-F238E27FC236}">
                <a16:creationId xmlns:a16="http://schemas.microsoft.com/office/drawing/2014/main" id="{E80E4976-FE13-7EA0-B649-E1CB1B015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2. Analysis: What Do LN Layers Do?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61363E9-A54E-38B4-A968-69902179D849}"/>
              </a:ext>
            </a:extLst>
          </p:cNvPr>
          <p:cNvSpPr txBox="1"/>
          <p:nvPr/>
        </p:nvSpPr>
        <p:spPr>
          <a:xfrm>
            <a:off x="119808" y="677163"/>
            <a:ext cx="11952383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Layer normalization </a:t>
            </a:r>
            <a:r>
              <a:rPr kumimoji="1" lang="en-US" altLang="ko-KR" sz="1100" dirty="0">
                <a:latin typeface="+mj-lt"/>
                <a:cs typeface="Times New Roman" panose="02020603050405020304" pitchFamily="18" charset="0"/>
                <a:hlinkClick r:id="rId3"/>
              </a:rPr>
              <a:t>(</a:t>
            </a:r>
            <a:r>
              <a:rPr lang="en" altLang="ko-KR" sz="1100" dirty="0">
                <a:latin typeface="+mj-lt"/>
                <a:hlinkClick r:id="rId3"/>
              </a:rPr>
              <a:t>Ba, Jimmy Lei, Jamie Ryan Kiros, and Geoffrey E. Hinton. "Layer normalization." </a:t>
            </a:r>
            <a:r>
              <a:rPr lang="en" altLang="ko-KR" sz="1100" i="1" dirty="0" err="1">
                <a:latin typeface="+mj-lt"/>
                <a:hlinkClick r:id="rId3"/>
              </a:rPr>
              <a:t>arXiv</a:t>
            </a:r>
            <a:r>
              <a:rPr lang="en" altLang="ko-KR" sz="1100" i="1" dirty="0">
                <a:latin typeface="+mj-lt"/>
                <a:hlinkClick r:id="rId3"/>
              </a:rPr>
              <a:t> preprint arXiv:1607.06450</a:t>
            </a:r>
            <a:r>
              <a:rPr lang="en" altLang="ko-KR" sz="1100" dirty="0">
                <a:latin typeface="+mj-lt"/>
                <a:hlinkClick r:id="rId3"/>
              </a:rPr>
              <a:t> (2016).</a:t>
            </a:r>
            <a:r>
              <a:rPr kumimoji="1" lang="en-US" altLang="ko-KR" sz="1100" dirty="0">
                <a:latin typeface="+mj-lt"/>
                <a:cs typeface="Times New Roman" panose="02020603050405020304" pitchFamily="18" charset="0"/>
                <a:hlinkClick r:id="rId3"/>
              </a:rPr>
              <a:t>)</a:t>
            </a:r>
            <a:endParaRPr kumimoji="1" lang="en-US" altLang="ko-KR" sz="1100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F58EA56-5850-5EE8-D23D-AA59F23F5604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411124990"/>
              </p:ext>
            </p:extLst>
          </p:nvPr>
        </p:nvGraphicFramePr>
        <p:xfrm>
          <a:off x="524384" y="2471429"/>
          <a:ext cx="109249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164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364164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364164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5.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-5.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10.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69508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096D32-F380-371F-BEF0-7EDFCFB78F59}"/>
                  </a:ext>
                </a:extLst>
              </p:cNvPr>
              <p:cNvSpPr txBox="1"/>
              <p:nvPr/>
            </p:nvSpPr>
            <p:spPr>
              <a:xfrm>
                <a:off x="706203" y="2083933"/>
                <a:ext cx="37112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096D32-F380-371F-BEF0-7EDFCFB78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03" y="2083933"/>
                <a:ext cx="371127" cy="338554"/>
              </a:xfrm>
              <a:prstGeom prst="rect">
                <a:avLst/>
              </a:prstGeom>
              <a:blipFill>
                <a:blip r:embed="rId4"/>
                <a:stretch>
                  <a:fillRect l="-3333" r="-3333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23FE24-2B0C-71BD-03E2-86BE22A8D65C}"/>
                  </a:ext>
                </a:extLst>
              </p:cNvPr>
              <p:cNvSpPr txBox="1"/>
              <p:nvPr/>
            </p:nvSpPr>
            <p:spPr>
              <a:xfrm>
                <a:off x="2311252" y="1480351"/>
                <a:ext cx="404021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23FE24-2B0C-71BD-03E2-86BE22A8D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252" y="1480351"/>
                <a:ext cx="404021" cy="338554"/>
              </a:xfrm>
              <a:prstGeom prst="rect">
                <a:avLst/>
              </a:prstGeom>
              <a:blipFill>
                <a:blip r:embed="rId5"/>
                <a:stretch>
                  <a:fillRect l="-3030" r="-3030" b="-17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AC05EB4-3ADC-3781-8CEB-AA45AB466DD6}"/>
              </a:ext>
            </a:extLst>
          </p:cNvPr>
          <p:cNvSpPr txBox="1"/>
          <p:nvPr/>
        </p:nvSpPr>
        <p:spPr>
          <a:xfrm rot="19693468">
            <a:off x="968285" y="1757357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...............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3504B4-3066-F3C4-7D2D-DA60225FD301}"/>
                  </a:ext>
                </a:extLst>
              </p:cNvPr>
              <p:cNvSpPr txBox="1"/>
              <p:nvPr/>
            </p:nvSpPr>
            <p:spPr>
              <a:xfrm>
                <a:off x="77325" y="3074841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3504B4-3066-F3C4-7D2D-DA60225FD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25" y="3074841"/>
                <a:ext cx="4664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ADEC88-5F80-AFCC-C5E0-C88C9FBEA599}"/>
                  </a:ext>
                </a:extLst>
              </p:cNvPr>
              <p:cNvSpPr txBox="1"/>
              <p:nvPr/>
            </p:nvSpPr>
            <p:spPr>
              <a:xfrm>
                <a:off x="752199" y="4115146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ADEC88-5F80-AFCC-C5E0-C88C9FBEA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199" y="4115146"/>
                <a:ext cx="46649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5D56160-B4CF-EC96-8687-FAF49195BBED}"/>
                  </a:ext>
                </a:extLst>
              </p:cNvPr>
              <p:cNvSpPr txBox="1"/>
              <p:nvPr/>
            </p:nvSpPr>
            <p:spPr>
              <a:xfrm>
                <a:off x="2133472" y="3558924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5D56160-B4CF-EC96-8687-FAF49195B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472" y="3558924"/>
                <a:ext cx="46649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69E3D89-6576-A30C-36D6-498353B168FE}"/>
                  </a:ext>
                </a:extLst>
              </p:cNvPr>
              <p:cNvSpPr txBox="1"/>
              <p:nvPr/>
            </p:nvSpPr>
            <p:spPr>
              <a:xfrm>
                <a:off x="239285" y="5131724"/>
                <a:ext cx="5299153" cy="13724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0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ko-KR" sz="200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</m:oMath>
                  </m:oMathPara>
                </a14:m>
                <a:endParaRPr lang="en-US" altLang="ko-KR" sz="2000" b="0" i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ko-KR" sz="2000" b="0" dirty="0"/>
                  <a:t>:</a:t>
                </a:r>
                <a:r>
                  <a:rPr lang="en-US" altLang="ko-KR" sz="2000" b="0" i="1" dirty="0"/>
                  <a:t> </a:t>
                </a:r>
                <a:r>
                  <a:rPr lang="en-US" altLang="ko-KR" sz="2000" b="0" dirty="0"/>
                  <a:t>the </a:t>
                </a:r>
                <a:r>
                  <a:rPr lang="en-US" altLang="ko-KR" sz="2000" dirty="0"/>
                  <a:t>b</a:t>
                </a:r>
                <a:r>
                  <a:rPr lang="en-US" altLang="ko-KR" sz="2000" b="0" dirty="0"/>
                  <a:t>atch size</a:t>
                </a:r>
                <a:endParaRPr lang="en-US" altLang="ko-KR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sz="2000" dirty="0"/>
                  <a:t>: the number of tokens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ko-KR" sz="2000" dirty="0"/>
                  <a:t>: the embedding dimension per token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69E3D89-6576-A30C-36D6-498353B16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285" y="5131724"/>
                <a:ext cx="5299153" cy="1372427"/>
              </a:xfrm>
              <a:prstGeom prst="rect">
                <a:avLst/>
              </a:prstGeom>
              <a:blipFill>
                <a:blip r:embed="rId8"/>
                <a:stretch>
                  <a:fillRect l="-955" b="-27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6E0F95E-F358-3A38-FBCB-DA17A6A22F68}"/>
                  </a:ext>
                </a:extLst>
              </p:cNvPr>
              <p:cNvSpPr txBox="1"/>
              <p:nvPr/>
            </p:nvSpPr>
            <p:spPr>
              <a:xfrm>
                <a:off x="3710535" y="2093378"/>
                <a:ext cx="506796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6E0F95E-F358-3A38-FBCB-DA17A6A22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535" y="2093378"/>
                <a:ext cx="506796" cy="338554"/>
              </a:xfrm>
              <a:prstGeom prst="rect">
                <a:avLst/>
              </a:prstGeom>
              <a:blipFill>
                <a:blip r:embed="rId9"/>
                <a:stretch>
                  <a:fillRect l="-7317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4552FB1-33A5-BCA3-F7C0-74D9B8DB6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765717"/>
              </p:ext>
            </p:extLst>
          </p:nvPr>
        </p:nvGraphicFramePr>
        <p:xfrm>
          <a:off x="3793361" y="2488000"/>
          <a:ext cx="17057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1060356647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55815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233348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375747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24891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613113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628318"/>
                  </a:ext>
                </a:extLst>
              </a:tr>
            </a:tbl>
          </a:graphicData>
        </a:graphic>
      </p:graphicFrame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4213E0E3-2230-8C06-7BD0-804CBD4D1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286670"/>
              </p:ext>
            </p:extLst>
          </p:nvPr>
        </p:nvGraphicFramePr>
        <p:xfrm>
          <a:off x="4643640" y="1896781"/>
          <a:ext cx="17057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1151862433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14291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557222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397699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92332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210932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605139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1A238DAA-DDF4-0B43-80B2-1B5FFF89E456}"/>
              </a:ext>
            </a:extLst>
          </p:cNvPr>
          <p:cNvSpPr txBox="1"/>
          <p:nvPr/>
        </p:nvSpPr>
        <p:spPr>
          <a:xfrm rot="19693468">
            <a:off x="3799027" y="1745593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BA39C67-2704-84E0-195F-D0A81BFCA456}"/>
                  </a:ext>
                </a:extLst>
              </p:cNvPr>
              <p:cNvSpPr txBox="1"/>
              <p:nvPr/>
            </p:nvSpPr>
            <p:spPr>
              <a:xfrm>
                <a:off x="4569692" y="1474413"/>
                <a:ext cx="506796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BA39C67-2704-84E0-195F-D0A81BFCA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9692" y="1474413"/>
                <a:ext cx="506796" cy="338554"/>
              </a:xfrm>
              <a:prstGeom prst="rect">
                <a:avLst/>
              </a:prstGeom>
              <a:blipFill>
                <a:blip r:embed="rId10"/>
                <a:stretch>
                  <a:fillRect l="-10000" b="-25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54B6D79-6ED5-8886-2892-59BBC0AAD742}"/>
                  </a:ext>
                </a:extLst>
              </p:cNvPr>
              <p:cNvSpPr txBox="1"/>
              <p:nvPr/>
            </p:nvSpPr>
            <p:spPr>
              <a:xfrm>
                <a:off x="3399895" y="3103014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54B6D79-6ED5-8886-2892-59BBC0AAD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895" y="3103014"/>
                <a:ext cx="46649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5FBD28B-A0AF-74AA-8A93-42309E22071D}"/>
                  </a:ext>
                </a:extLst>
              </p:cNvPr>
              <p:cNvSpPr txBox="1"/>
              <p:nvPr/>
            </p:nvSpPr>
            <p:spPr>
              <a:xfrm>
                <a:off x="4257817" y="2527196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5FBD28B-A0AF-74AA-8A93-42309E220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817" y="2527196"/>
                <a:ext cx="46649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D530CAA-C4E1-F9A1-0909-AA53A007C046}"/>
                  </a:ext>
                </a:extLst>
              </p:cNvPr>
              <p:cNvSpPr txBox="1"/>
              <p:nvPr/>
            </p:nvSpPr>
            <p:spPr>
              <a:xfrm>
                <a:off x="5623770" y="1380720"/>
                <a:ext cx="3509094" cy="37324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b="0" i="1" dirty="0">
                    <a:solidFill>
                      <a:srgbClr val="FF0000"/>
                    </a:solidFill>
                  </a:rPr>
                  <a:t>Let.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b="1" dirty="0">
                    <a:solidFill>
                      <a:srgbClr val="FF0000"/>
                    </a:solidFill>
                  </a:rPr>
                  <a:t>Input</a:t>
                </a:r>
                <a:r>
                  <a:rPr lang="en-US" altLang="ko-KR" sz="2000" i="1" dirty="0">
                    <a:solidFill>
                      <a:srgbClr val="FF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(5., −5., 10.)</m:t>
                    </m:r>
                  </m:oMath>
                </a14:m>
                <a:endParaRPr lang="en-US" altLang="ko-KR" sz="2000" i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000" b="0" i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≃3.33</m:t>
                      </m:r>
                    </m:oMath>
                  </m:oMathPara>
                </a14:m>
                <a:endParaRPr lang="en-US" altLang="ko-KR" sz="2000" i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38.89</m:t>
                      </m:r>
                    </m:oMath>
                  </m:oMathPara>
                </a14:m>
                <a:endParaRPr lang="en-US" altLang="ko-KR" sz="2000" b="1" dirty="0"/>
              </a:p>
              <a:p>
                <a:pPr>
                  <a:lnSpc>
                    <a:spcPct val="150000"/>
                  </a:lnSpc>
                </a:pPr>
                <a:endParaRPr lang="en-US" altLang="ko-KR" sz="20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b="1" dirty="0">
                    <a:solidFill>
                      <a:srgbClr val="FF0000"/>
                    </a:solidFill>
                  </a:rPr>
                  <a:t>Output</a:t>
                </a:r>
                <a:r>
                  <a:rPr lang="en-US" altLang="ko-KR" sz="2000" dirty="0">
                    <a:solidFill>
                      <a:srgbClr val="FF0000"/>
                    </a:solidFill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dirty="0">
                    <a:solidFill>
                      <a:srgbClr val="FF0000"/>
                    </a:solidFill>
                  </a:rPr>
                  <a:t>LN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≃(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3,</m:t>
                    </m:r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1.1</m:t>
                    </m:r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20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D530CAA-C4E1-F9A1-0909-AA53A007C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3770" y="1380720"/>
                <a:ext cx="3509094" cy="3732432"/>
              </a:xfrm>
              <a:prstGeom prst="rect">
                <a:avLst/>
              </a:prstGeom>
              <a:blipFill>
                <a:blip r:embed="rId13"/>
                <a:stretch>
                  <a:fillRect l="-2166" b="-16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6498B06-2FCA-9987-C7E0-462A54DA9E2E}"/>
                  </a:ext>
                </a:extLst>
              </p:cNvPr>
              <p:cNvSpPr txBox="1"/>
              <p:nvPr/>
            </p:nvSpPr>
            <p:spPr>
              <a:xfrm>
                <a:off x="9132864" y="1375366"/>
                <a:ext cx="3261028" cy="38014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b="0" i="1" dirty="0">
                    <a:solidFill>
                      <a:srgbClr val="0070C0"/>
                    </a:solidFill>
                  </a:rPr>
                  <a:t>Let.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b="1" dirty="0">
                    <a:solidFill>
                      <a:srgbClr val="0070C0"/>
                    </a:solidFill>
                  </a:rPr>
                  <a:t>Input</a:t>
                </a:r>
                <a:r>
                  <a:rPr lang="en-US" altLang="ko-KR" sz="2000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ko-KR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 (5</m:t>
                    </m:r>
                    <m:r>
                      <a:rPr lang="en-US" altLang="ko-KR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5.5</m:t>
                    </m:r>
                    <m:r>
                      <a:rPr lang="en-US" altLang="ko-KR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6.</m:t>
                    </m:r>
                    <m:r>
                      <a:rPr lang="en-US" altLang="ko-KR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2000" i="1" dirty="0">
                  <a:solidFill>
                    <a:srgbClr val="0070C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000" b="0" i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≃5.5</m:t>
                      </m:r>
                    </m:oMath>
                  </m:oMathPara>
                </a14:m>
                <a:endParaRPr lang="en-US" altLang="ko-KR" sz="2000" i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0.17</m:t>
                      </m:r>
                    </m:oMath>
                  </m:oMathPara>
                </a14:m>
                <a:endParaRPr lang="en-US" altLang="ko-KR" sz="2000" i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000" b="1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b="1" dirty="0">
                    <a:solidFill>
                      <a:srgbClr val="0070C0"/>
                    </a:solidFill>
                  </a:rPr>
                  <a:t>Output</a:t>
                </a:r>
                <a:r>
                  <a:rPr lang="en-US" altLang="ko-KR" sz="2000" dirty="0">
                    <a:solidFill>
                      <a:srgbClr val="0070C0"/>
                    </a:solidFill>
                  </a:rPr>
                  <a:t>:</a:t>
                </a:r>
                <a:br>
                  <a:rPr lang="en-US" altLang="ko-KR" sz="2000" b="0" dirty="0">
                    <a:solidFill>
                      <a:srgbClr val="0070C0"/>
                    </a:solidFill>
                  </a:rPr>
                </a:br>
                <a:r>
                  <a:rPr lang="en-US" altLang="ko-KR" sz="2000" b="0" dirty="0">
                    <a:solidFill>
                      <a:srgbClr val="0070C0"/>
                    </a:solidFill>
                  </a:rPr>
                  <a:t>LN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ko-KR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≃(−1.2, 0.0, 1.2)</m:t>
                    </m:r>
                  </m:oMath>
                </a14:m>
                <a:endParaRPr lang="en-US" altLang="ko-KR" sz="2000" i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6498B06-2FCA-9987-C7E0-462A54DA9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2864" y="1375366"/>
                <a:ext cx="3261028" cy="3801425"/>
              </a:xfrm>
              <a:prstGeom prst="rect">
                <a:avLst/>
              </a:prstGeom>
              <a:blipFill>
                <a:blip r:embed="rId14"/>
                <a:stretch>
                  <a:fillRect l="-1946" b="-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1061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64665-C4AA-1CB6-F843-AD071E23A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BE32F0C5-1ED7-BADD-9140-004108CB8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2. Analysis: What Do LN Layers Do?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C42123-1E89-1F92-0B3E-0B2DFA8A4D64}"/>
                  </a:ext>
                </a:extLst>
              </p:cNvPr>
              <p:cNvSpPr txBox="1"/>
              <p:nvPr/>
            </p:nvSpPr>
            <p:spPr>
              <a:xfrm>
                <a:off x="5623770" y="1380720"/>
                <a:ext cx="3509094" cy="37324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b="0" i="1" dirty="0">
                    <a:solidFill>
                      <a:srgbClr val="FF0000"/>
                    </a:solidFill>
                  </a:rPr>
                  <a:t>Let.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b="1" dirty="0">
                    <a:solidFill>
                      <a:srgbClr val="FF0000"/>
                    </a:solidFill>
                  </a:rPr>
                  <a:t>Input</a:t>
                </a:r>
                <a:r>
                  <a:rPr lang="en-US" altLang="ko-KR" sz="2000" i="1" dirty="0">
                    <a:solidFill>
                      <a:srgbClr val="FF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(5., −5., 10.)</m:t>
                    </m:r>
                  </m:oMath>
                </a14:m>
                <a:endParaRPr lang="en-US" altLang="ko-KR" sz="2000" i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000" b="0" i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≃3.33</m:t>
                      </m:r>
                    </m:oMath>
                  </m:oMathPara>
                </a14:m>
                <a:endParaRPr lang="en-US" altLang="ko-KR" sz="2000" i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38.89</m:t>
                      </m:r>
                    </m:oMath>
                  </m:oMathPara>
                </a14:m>
                <a:endParaRPr lang="en-US" altLang="ko-KR" sz="2000" b="1" dirty="0"/>
              </a:p>
              <a:p>
                <a:pPr>
                  <a:lnSpc>
                    <a:spcPct val="150000"/>
                  </a:lnSpc>
                </a:pPr>
                <a:endParaRPr lang="en-US" altLang="ko-KR" sz="20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b="1" dirty="0">
                    <a:solidFill>
                      <a:srgbClr val="FF0000"/>
                    </a:solidFill>
                  </a:rPr>
                  <a:t>Output</a:t>
                </a:r>
                <a:r>
                  <a:rPr lang="en-US" altLang="ko-KR" sz="2000" dirty="0">
                    <a:solidFill>
                      <a:srgbClr val="FF0000"/>
                    </a:solidFill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dirty="0">
                    <a:solidFill>
                      <a:srgbClr val="FF0000"/>
                    </a:solidFill>
                  </a:rPr>
                  <a:t>LN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≃(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3,</m:t>
                    </m:r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1.1</m:t>
                    </m:r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20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C42123-1E89-1F92-0B3E-0B2DFA8A4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3770" y="1380720"/>
                <a:ext cx="3509094" cy="3732432"/>
              </a:xfrm>
              <a:prstGeom prst="rect">
                <a:avLst/>
              </a:prstGeom>
              <a:blipFill>
                <a:blip r:embed="rId3"/>
                <a:stretch>
                  <a:fillRect l="-2166" b="-16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F9300E4-B9A9-EBF8-FE51-893C8B3F85C8}"/>
                  </a:ext>
                </a:extLst>
              </p:cNvPr>
              <p:cNvSpPr txBox="1"/>
              <p:nvPr/>
            </p:nvSpPr>
            <p:spPr>
              <a:xfrm>
                <a:off x="9132864" y="1375366"/>
                <a:ext cx="3261028" cy="38014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b="0" i="1" dirty="0">
                    <a:solidFill>
                      <a:srgbClr val="0070C0"/>
                    </a:solidFill>
                  </a:rPr>
                  <a:t>Let.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b="1" dirty="0">
                    <a:solidFill>
                      <a:srgbClr val="0070C0"/>
                    </a:solidFill>
                  </a:rPr>
                  <a:t>Input</a:t>
                </a:r>
                <a:r>
                  <a:rPr lang="en-US" altLang="ko-KR" sz="2000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ko-KR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 (5</m:t>
                    </m:r>
                    <m:r>
                      <a:rPr lang="en-US" altLang="ko-KR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5.5</m:t>
                    </m:r>
                    <m:r>
                      <a:rPr lang="en-US" altLang="ko-KR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6.</m:t>
                    </m:r>
                    <m:r>
                      <a:rPr lang="en-US" altLang="ko-KR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2000" i="1" dirty="0">
                  <a:solidFill>
                    <a:srgbClr val="0070C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000" b="0" i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≃5.5</m:t>
                      </m:r>
                    </m:oMath>
                  </m:oMathPara>
                </a14:m>
                <a:endParaRPr lang="en-US" altLang="ko-KR" sz="2000" i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0.17</m:t>
                      </m:r>
                    </m:oMath>
                  </m:oMathPara>
                </a14:m>
                <a:endParaRPr lang="en-US" altLang="ko-KR" sz="2000" i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000" b="1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b="1" dirty="0">
                    <a:solidFill>
                      <a:srgbClr val="0070C0"/>
                    </a:solidFill>
                  </a:rPr>
                  <a:t>Output</a:t>
                </a:r>
                <a:r>
                  <a:rPr lang="en-US" altLang="ko-KR" sz="2000" dirty="0">
                    <a:solidFill>
                      <a:srgbClr val="0070C0"/>
                    </a:solidFill>
                  </a:rPr>
                  <a:t>:</a:t>
                </a:r>
                <a:br>
                  <a:rPr lang="en-US" altLang="ko-KR" sz="2000" b="0" dirty="0">
                    <a:solidFill>
                      <a:srgbClr val="0070C0"/>
                    </a:solidFill>
                  </a:rPr>
                </a:br>
                <a:r>
                  <a:rPr lang="en-US" altLang="ko-KR" sz="2000" b="0" dirty="0">
                    <a:solidFill>
                      <a:srgbClr val="0070C0"/>
                    </a:solidFill>
                  </a:rPr>
                  <a:t>LN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ko-KR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≃(−1.2, 0.0, 1.2)</m:t>
                    </m:r>
                  </m:oMath>
                </a14:m>
                <a:endParaRPr lang="en-US" altLang="ko-KR" sz="2000" i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F9300E4-B9A9-EBF8-FE51-893C8B3F8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2864" y="1375366"/>
                <a:ext cx="3261028" cy="3801425"/>
              </a:xfrm>
              <a:prstGeom prst="rect">
                <a:avLst/>
              </a:prstGeom>
              <a:blipFill>
                <a:blip r:embed="rId4"/>
                <a:stretch>
                  <a:fillRect l="-1946" b="-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그림 19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B7E043-92B2-3319-2C24-C4DBE7E421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887" y="1050138"/>
            <a:ext cx="4860348" cy="521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00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765A-8769-8399-2841-4BCFDB1AD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D6851A56-50FA-1C82-14C6-F9ED0C139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2. Analysis: What Do LN Layers Do?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3" name="그림 2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CFB399-639C-1500-53ED-3B7C631C4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5961"/>
            <a:ext cx="12192000" cy="41360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0946E2-0F43-296F-8DEF-E72079031C0E}"/>
                  </a:ext>
                </a:extLst>
              </p:cNvPr>
              <p:cNvSpPr txBox="1"/>
              <p:nvPr/>
            </p:nvSpPr>
            <p:spPr>
              <a:xfrm>
                <a:off x="177553" y="5143678"/>
                <a:ext cx="9567043" cy="9582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ko-KR" altLang="en-US" sz="2000" dirty="0"/>
                  <a:t>각 </a:t>
                </a:r>
                <a:r>
                  <a:rPr kumimoji="1" lang="en-US" altLang="ko-KR" sz="2000" dirty="0"/>
                  <a:t>token</a:t>
                </a:r>
                <a:r>
                  <a:rPr kumimoji="1" lang="ko-KR" altLang="en-US" sz="2000" dirty="0"/>
                  <a:t>마다 </a:t>
                </a:r>
                <a:r>
                  <a:rPr kumimoji="1" lang="en-US" altLang="ko-KR" sz="2000" dirty="0"/>
                  <a:t>mean, variance </a:t>
                </a:r>
                <a:r>
                  <a:rPr kumimoji="1" lang="ko-KR" altLang="en-US" sz="2000" dirty="0"/>
                  <a:t>다르기 때문에 </a:t>
                </a:r>
                <a:r>
                  <a:rPr kumimoji="1" lang="en-US" altLang="ko-KR" sz="2000" dirty="0">
                    <a:sym typeface="Wingdings" pitchFamily="2" charset="2"/>
                  </a:rPr>
                  <a:t></a:t>
                </a:r>
                <a:r>
                  <a:rPr kumimoji="1" lang="ko-KR" altLang="en-US" sz="2000" dirty="0">
                    <a:sym typeface="Wingdings" pitchFamily="2" charset="2"/>
                  </a:rPr>
                  <a:t> </a:t>
                </a:r>
                <a:r>
                  <a:rPr kumimoji="1" lang="en-US" altLang="ko-KR" sz="2000" dirty="0">
                    <a:sym typeface="Wingdings" pitchFamily="2" charset="2"/>
                  </a:rPr>
                  <a:t>slope </a:t>
                </a:r>
                <a:r>
                  <a:rPr kumimoji="1" lang="ko-KR" altLang="en-US" sz="2000" dirty="0">
                    <a:sym typeface="Wingdings" pitchFamily="2" charset="2"/>
                  </a:rPr>
                  <a:t>다름 </a:t>
                </a:r>
                <a:r>
                  <a:rPr kumimoji="1" lang="en-US" altLang="ko-KR" sz="2000" dirty="0">
                    <a:sym typeface="Wingdings" pitchFamily="2" charset="2"/>
                  </a:rPr>
                  <a:t>(variance </a:t>
                </a:r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  <a:sym typeface="Wingdings" pitchFamily="2" charset="2"/>
                      </a:rPr>
                      <m:t>↓</m:t>
                    </m:r>
                  </m:oMath>
                </a14:m>
                <a:r>
                  <a:rPr kumimoji="1" lang="en-US" altLang="ko-KR" sz="2000" dirty="0">
                    <a:sym typeface="Wingdings" pitchFamily="2" charset="2"/>
                  </a:rPr>
                  <a:t> slope </a:t>
                </a:r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  <a:sym typeface="Wingdings" pitchFamily="2" charset="2"/>
                      </a:rPr>
                      <m:t>↑</m:t>
                    </m:r>
                  </m:oMath>
                </a14:m>
                <a:r>
                  <a:rPr kumimoji="1" lang="en-US" altLang="ko-KR" sz="2000" dirty="0">
                    <a:sym typeface="Wingdings" pitchFamily="2" charset="2"/>
                  </a:rPr>
                  <a:t>)</a:t>
                </a:r>
                <a:br>
                  <a:rPr kumimoji="1" lang="en-US" altLang="ko-KR" sz="2000" dirty="0">
                    <a:sym typeface="Wingdings" pitchFamily="2" charset="2"/>
                  </a:rPr>
                </a:br>
                <a:r>
                  <a:rPr kumimoji="1" lang="en-US" altLang="ko-KR" sz="2000" dirty="0">
                    <a:sym typeface="Wingdings" pitchFamily="2" charset="2"/>
                  </a:rPr>
                  <a:t> </a:t>
                </a:r>
                <a:r>
                  <a:rPr kumimoji="1" lang="ko-KR" altLang="en-US" sz="2000" b="1" dirty="0">
                    <a:sym typeface="Wingdings" pitchFamily="2" charset="2"/>
                  </a:rPr>
                  <a:t>전체 </a:t>
                </a:r>
                <a:r>
                  <a:rPr kumimoji="1" lang="en-US" altLang="ko-KR" sz="2000" b="1" dirty="0">
                    <a:sym typeface="Wingdings" pitchFamily="2" charset="2"/>
                  </a:rPr>
                  <a:t>token</a:t>
                </a:r>
                <a:r>
                  <a:rPr kumimoji="1" lang="ko-KR" altLang="en-US" sz="2000" dirty="0" err="1">
                    <a:sym typeface="Wingdings" pitchFamily="2" charset="2"/>
                  </a:rPr>
                  <a:t>에</a:t>
                </a:r>
                <a:r>
                  <a:rPr kumimoji="1" lang="ko-KR" altLang="en-US" sz="2000" dirty="0">
                    <a:sym typeface="Wingdings" pitchFamily="2" charset="2"/>
                  </a:rPr>
                  <a:t> 대해서</a:t>
                </a:r>
                <a:r>
                  <a:rPr kumimoji="1" lang="en-US" altLang="ko-KR" sz="2000" dirty="0">
                    <a:sym typeface="Wingdings" pitchFamily="2" charset="2"/>
                  </a:rPr>
                  <a:t>,</a:t>
                </a:r>
                <a:r>
                  <a:rPr kumimoji="1" lang="ko-KR" altLang="en-US" sz="2000" dirty="0">
                    <a:sym typeface="Wingdings" pitchFamily="2" charset="2"/>
                  </a:rPr>
                  <a:t> </a:t>
                </a:r>
                <a:r>
                  <a:rPr kumimoji="1" lang="en-US" altLang="ko-KR" sz="2000" b="1" dirty="0">
                    <a:sym typeface="Wingdings" pitchFamily="2" charset="2"/>
                  </a:rPr>
                  <a:t>x-y plot</a:t>
                </a:r>
                <a:r>
                  <a:rPr kumimoji="1" lang="ko-KR" altLang="en-US" sz="2000" dirty="0">
                    <a:sym typeface="Wingdings" pitchFamily="2" charset="2"/>
                  </a:rPr>
                  <a:t>이 </a:t>
                </a:r>
                <a:r>
                  <a:rPr kumimoji="1" lang="en-US" altLang="ko-KR" sz="2000" b="1" dirty="0">
                    <a:sym typeface="Wingdings" pitchFamily="2" charset="2"/>
                  </a:rPr>
                  <a:t>non-linear transformation</a:t>
                </a:r>
                <a:r>
                  <a:rPr kumimoji="1" lang="ko-KR" altLang="en-US" sz="2000" dirty="0">
                    <a:sym typeface="Wingdings" pitchFamily="2" charset="2"/>
                  </a:rPr>
                  <a:t>이 된다</a:t>
                </a:r>
                <a:endParaRPr kumimoji="1" lang="en-US" altLang="ko-KR" sz="2000" b="1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0946E2-0F43-296F-8DEF-E72079031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3" y="5143678"/>
                <a:ext cx="9567043" cy="958211"/>
              </a:xfrm>
              <a:prstGeom prst="rect">
                <a:avLst/>
              </a:prstGeom>
              <a:blipFill>
                <a:blip r:embed="rId4"/>
                <a:stretch>
                  <a:fillRect l="-397" b="-105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B15154B4-E803-AC89-242A-86AEDBDB0466}"/>
              </a:ext>
            </a:extLst>
          </p:cNvPr>
          <p:cNvCxnSpPr>
            <a:cxnSpLocks/>
          </p:cNvCxnSpPr>
          <p:nvPr/>
        </p:nvCxnSpPr>
        <p:spPr>
          <a:xfrm flipV="1">
            <a:off x="88776" y="844311"/>
            <a:ext cx="4287915" cy="244217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E83F4FB8-D18E-CFD8-07B8-F73354C7CC04}"/>
              </a:ext>
            </a:extLst>
          </p:cNvPr>
          <p:cNvCxnSpPr>
            <a:cxnSpLocks/>
          </p:cNvCxnSpPr>
          <p:nvPr/>
        </p:nvCxnSpPr>
        <p:spPr>
          <a:xfrm flipV="1">
            <a:off x="1242874" y="603682"/>
            <a:ext cx="1402672" cy="3950563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A0CED5B-9FE0-D9EC-E984-2475C4989A64}"/>
              </a:ext>
            </a:extLst>
          </p:cNvPr>
          <p:cNvSpPr/>
          <p:nvPr/>
        </p:nvSpPr>
        <p:spPr>
          <a:xfrm>
            <a:off x="6267635" y="925961"/>
            <a:ext cx="5560381" cy="2278877"/>
          </a:xfrm>
          <a:prstGeom prst="rect">
            <a:avLst/>
          </a:prstGeom>
          <a:solidFill>
            <a:schemeClr val="bg1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16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9CB14-5685-2CA6-C49C-745D3F114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043D0942-D5AF-4B7E-E2BE-4245C1565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2. Analysis: What Do LN Layers Do?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3" name="그림 2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8C05F4-BB13-B2B4-4B41-A322EBC1E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5961"/>
            <a:ext cx="12192000" cy="41360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698A5FD-5C70-DAAF-290F-1329EE38B975}"/>
                  </a:ext>
                </a:extLst>
              </p:cNvPr>
              <p:cNvSpPr txBox="1"/>
              <p:nvPr/>
            </p:nvSpPr>
            <p:spPr>
              <a:xfrm>
                <a:off x="177553" y="5143678"/>
                <a:ext cx="10109306" cy="14198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ko-KR" altLang="en-US" sz="2000" dirty="0"/>
                  <a:t>각 </a:t>
                </a:r>
                <a:r>
                  <a:rPr kumimoji="1" lang="en-US" altLang="ko-KR" sz="2000" dirty="0"/>
                  <a:t>token</a:t>
                </a:r>
                <a:r>
                  <a:rPr kumimoji="1" lang="ko-KR" altLang="en-US" sz="2000" dirty="0"/>
                  <a:t>마다 </a:t>
                </a:r>
                <a:r>
                  <a:rPr kumimoji="1" lang="en-US" altLang="ko-KR" sz="2000" dirty="0"/>
                  <a:t>mean, variance </a:t>
                </a:r>
                <a:r>
                  <a:rPr kumimoji="1" lang="ko-KR" altLang="en-US" sz="2000" dirty="0"/>
                  <a:t>다르기 때문에 </a:t>
                </a:r>
                <a:r>
                  <a:rPr kumimoji="1" lang="en-US" altLang="ko-KR" sz="2000" dirty="0">
                    <a:sym typeface="Wingdings" pitchFamily="2" charset="2"/>
                  </a:rPr>
                  <a:t></a:t>
                </a:r>
                <a:r>
                  <a:rPr kumimoji="1" lang="ko-KR" altLang="en-US" sz="2000" dirty="0">
                    <a:sym typeface="Wingdings" pitchFamily="2" charset="2"/>
                  </a:rPr>
                  <a:t> </a:t>
                </a:r>
                <a:r>
                  <a:rPr kumimoji="1" lang="en-US" altLang="ko-KR" sz="2000" dirty="0">
                    <a:sym typeface="Wingdings" pitchFamily="2" charset="2"/>
                  </a:rPr>
                  <a:t>slope </a:t>
                </a:r>
                <a:r>
                  <a:rPr kumimoji="1" lang="ko-KR" altLang="en-US" sz="2000" dirty="0">
                    <a:sym typeface="Wingdings" pitchFamily="2" charset="2"/>
                  </a:rPr>
                  <a:t>다름 </a:t>
                </a:r>
                <a:r>
                  <a:rPr kumimoji="1" lang="en-US" altLang="ko-KR" sz="2000" dirty="0">
                    <a:sym typeface="Wingdings" pitchFamily="2" charset="2"/>
                  </a:rPr>
                  <a:t>(variance </a:t>
                </a:r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  <a:sym typeface="Wingdings" pitchFamily="2" charset="2"/>
                      </a:rPr>
                      <m:t>↓</m:t>
                    </m:r>
                  </m:oMath>
                </a14:m>
                <a:r>
                  <a:rPr kumimoji="1" lang="en-US" altLang="ko-KR" sz="2000" dirty="0">
                    <a:sym typeface="Wingdings" pitchFamily="2" charset="2"/>
                  </a:rPr>
                  <a:t> slope </a:t>
                </a:r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  <a:sym typeface="Wingdings" pitchFamily="2" charset="2"/>
                      </a:rPr>
                      <m:t>↑</m:t>
                    </m:r>
                  </m:oMath>
                </a14:m>
                <a:r>
                  <a:rPr kumimoji="1" lang="en-US" altLang="ko-KR" sz="2000" dirty="0">
                    <a:sym typeface="Wingdings" pitchFamily="2" charset="2"/>
                  </a:rPr>
                  <a:t>)</a:t>
                </a:r>
                <a:br>
                  <a:rPr kumimoji="1" lang="en-US" altLang="ko-KR" sz="2000" dirty="0">
                    <a:sym typeface="Wingdings" pitchFamily="2" charset="2"/>
                  </a:rPr>
                </a:br>
                <a:r>
                  <a:rPr kumimoji="1" lang="en-US" altLang="ko-KR" sz="2000" dirty="0">
                    <a:sym typeface="Wingdings" pitchFamily="2" charset="2"/>
                  </a:rPr>
                  <a:t> </a:t>
                </a:r>
                <a:r>
                  <a:rPr kumimoji="1" lang="ko-KR" altLang="en-US" sz="2000" b="1" dirty="0">
                    <a:sym typeface="Wingdings" pitchFamily="2" charset="2"/>
                  </a:rPr>
                  <a:t>전체 </a:t>
                </a:r>
                <a:r>
                  <a:rPr kumimoji="1" lang="en-US" altLang="ko-KR" sz="2000" b="1" dirty="0">
                    <a:sym typeface="Wingdings" pitchFamily="2" charset="2"/>
                  </a:rPr>
                  <a:t>token</a:t>
                </a:r>
                <a:r>
                  <a:rPr kumimoji="1" lang="ko-KR" altLang="en-US" sz="2000" dirty="0" err="1">
                    <a:sym typeface="Wingdings" pitchFamily="2" charset="2"/>
                  </a:rPr>
                  <a:t>에</a:t>
                </a:r>
                <a:r>
                  <a:rPr kumimoji="1" lang="ko-KR" altLang="en-US" sz="2000" dirty="0">
                    <a:sym typeface="Wingdings" pitchFamily="2" charset="2"/>
                  </a:rPr>
                  <a:t> 대해서</a:t>
                </a:r>
                <a:r>
                  <a:rPr kumimoji="1" lang="en-US" altLang="ko-KR" sz="2000" dirty="0">
                    <a:sym typeface="Wingdings" pitchFamily="2" charset="2"/>
                  </a:rPr>
                  <a:t>,</a:t>
                </a:r>
                <a:r>
                  <a:rPr kumimoji="1" lang="ko-KR" altLang="en-US" sz="2000" dirty="0">
                    <a:sym typeface="Wingdings" pitchFamily="2" charset="2"/>
                  </a:rPr>
                  <a:t> </a:t>
                </a:r>
                <a:r>
                  <a:rPr kumimoji="1" lang="en-US" altLang="ko-KR" sz="2000" b="1" dirty="0">
                    <a:sym typeface="Wingdings" pitchFamily="2" charset="2"/>
                  </a:rPr>
                  <a:t>x-y plot</a:t>
                </a:r>
                <a:r>
                  <a:rPr kumimoji="1" lang="ko-KR" altLang="en-US" sz="2000" dirty="0">
                    <a:sym typeface="Wingdings" pitchFamily="2" charset="2"/>
                  </a:rPr>
                  <a:t>이 </a:t>
                </a:r>
                <a:r>
                  <a:rPr kumimoji="1" lang="en-US" altLang="ko-KR" sz="2000" b="1" dirty="0">
                    <a:sym typeface="Wingdings" pitchFamily="2" charset="2"/>
                  </a:rPr>
                  <a:t>non-linear transformation</a:t>
                </a:r>
                <a:r>
                  <a:rPr kumimoji="1" lang="ko-KR" altLang="en-US" sz="2000" dirty="0">
                    <a:sym typeface="Wingdings" pitchFamily="2" charset="2"/>
                  </a:rPr>
                  <a:t>이 된다</a:t>
                </a:r>
                <a:br>
                  <a:rPr kumimoji="1" lang="en-US" altLang="ko-KR" sz="2000" dirty="0">
                    <a:sym typeface="Wingdings" pitchFamily="2" charset="2"/>
                  </a:rPr>
                </a:br>
                <a:r>
                  <a:rPr kumimoji="1" lang="en-US" altLang="ko-KR" sz="2000" b="1" dirty="0">
                    <a:solidFill>
                      <a:srgbClr val="FF0000"/>
                    </a:solidFill>
                    <a:sym typeface="Wingdings" pitchFamily="2" charset="2"/>
                  </a:rPr>
                  <a:t> </a:t>
                </a:r>
                <a:r>
                  <a:rPr kumimoji="1" lang="ko-KR" altLang="en-US" sz="2000" b="1" dirty="0">
                    <a:solidFill>
                      <a:srgbClr val="FF0000"/>
                    </a:solidFill>
                    <a:sym typeface="Wingdings" pitchFamily="2" charset="2"/>
                  </a:rPr>
                  <a:t>근데 왜 하필 </a:t>
                </a:r>
                <a:r>
                  <a:rPr kumimoji="1" lang="en-US" altLang="ko-KR" sz="2000" b="1" dirty="0">
                    <a:solidFill>
                      <a:srgbClr val="FF0000"/>
                    </a:solidFill>
                    <a:sym typeface="Wingdings" pitchFamily="2" charset="2"/>
                  </a:rPr>
                  <a:t>scaled tanh function</a:t>
                </a:r>
                <a:r>
                  <a:rPr kumimoji="1" lang="ko-KR" altLang="en-US" sz="2000" b="1" dirty="0">
                    <a:solidFill>
                      <a:srgbClr val="FF0000"/>
                    </a:solidFill>
                    <a:sym typeface="Wingdings" pitchFamily="2" charset="2"/>
                  </a:rPr>
                  <a:t>과 같은 </a:t>
                </a:r>
                <a:r>
                  <a:rPr kumimoji="1" lang="en-US" altLang="ko-KR" sz="2000" b="1" dirty="0">
                    <a:solidFill>
                      <a:srgbClr val="FF0000"/>
                    </a:solidFill>
                    <a:sym typeface="Wingdings" pitchFamily="2" charset="2"/>
                  </a:rPr>
                  <a:t>S-shaped curves</a:t>
                </a:r>
                <a:r>
                  <a:rPr kumimoji="1" lang="ko-KR" altLang="en-US" sz="2000" b="1" dirty="0">
                    <a:solidFill>
                      <a:srgbClr val="FF0000"/>
                    </a:solidFill>
                    <a:sym typeface="Wingdings" pitchFamily="2" charset="2"/>
                  </a:rPr>
                  <a:t> </a:t>
                </a:r>
                <a:r>
                  <a:rPr kumimoji="1" lang="ko-KR" altLang="en-US" sz="2000" b="1" dirty="0" err="1">
                    <a:solidFill>
                      <a:srgbClr val="FF0000"/>
                    </a:solidFill>
                    <a:sym typeface="Wingdings" pitchFamily="2" charset="2"/>
                  </a:rPr>
                  <a:t>처럼</a:t>
                </a:r>
                <a:r>
                  <a:rPr kumimoji="1" lang="ko-KR" altLang="en-US" sz="2000" b="1" dirty="0">
                    <a:solidFill>
                      <a:srgbClr val="FF0000"/>
                    </a:solidFill>
                    <a:sym typeface="Wingdings" pitchFamily="2" charset="2"/>
                  </a:rPr>
                  <a:t> 학습되는가</a:t>
                </a:r>
                <a:r>
                  <a:rPr kumimoji="1" lang="en-US" altLang="ko-KR" sz="2000" b="1" dirty="0">
                    <a:solidFill>
                      <a:srgbClr val="FF0000"/>
                    </a:solidFill>
                    <a:sym typeface="Wingdings" pitchFamily="2" charset="2"/>
                  </a:rPr>
                  <a:t>?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698A5FD-5C70-DAAF-290F-1329EE38B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3" y="5143678"/>
                <a:ext cx="10109306" cy="1419876"/>
              </a:xfrm>
              <a:prstGeom prst="rect">
                <a:avLst/>
              </a:prstGeom>
              <a:blipFill>
                <a:blip r:embed="rId4"/>
                <a:stretch>
                  <a:fillRect l="-376" b="-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6997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EB920-3C06-02A6-C238-9E79ECAC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05E45730-5AB0-2485-D964-CD69A7607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2. Analysis: What Do LN Layers Do?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3" name="그림 2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6E9343-F5A5-7B49-DD92-02A6EA3AB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5961"/>
            <a:ext cx="12192000" cy="413606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0A38E62-D7E3-617E-EDA7-57E94BC39E10}"/>
              </a:ext>
            </a:extLst>
          </p:cNvPr>
          <p:cNvSpPr/>
          <p:nvPr/>
        </p:nvSpPr>
        <p:spPr>
          <a:xfrm>
            <a:off x="656948" y="925961"/>
            <a:ext cx="5622524" cy="2278877"/>
          </a:xfrm>
          <a:prstGeom prst="rect">
            <a:avLst/>
          </a:prstGeom>
          <a:solidFill>
            <a:schemeClr val="bg1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FF0000"/>
              </a:solidFill>
            </a:endParaRP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3599E736-5354-AF4C-6ACB-2F6305E8B25A}"/>
              </a:ext>
            </a:extLst>
          </p:cNvPr>
          <p:cNvCxnSpPr>
            <a:cxnSpLocks/>
          </p:cNvCxnSpPr>
          <p:nvPr/>
        </p:nvCxnSpPr>
        <p:spPr>
          <a:xfrm flipV="1">
            <a:off x="7123515" y="1169632"/>
            <a:ext cx="0" cy="20352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316791E7-6056-054E-48EC-6235B75D3C6E}"/>
              </a:ext>
            </a:extLst>
          </p:cNvPr>
          <p:cNvCxnSpPr>
            <a:cxnSpLocks/>
          </p:cNvCxnSpPr>
          <p:nvPr/>
        </p:nvCxnSpPr>
        <p:spPr>
          <a:xfrm flipV="1">
            <a:off x="8305724" y="1169632"/>
            <a:ext cx="0" cy="20352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C1CC1939-8954-CE8C-0DF2-02B138CE3B70}"/>
              </a:ext>
            </a:extLst>
          </p:cNvPr>
          <p:cNvCxnSpPr>
            <a:cxnSpLocks/>
          </p:cNvCxnSpPr>
          <p:nvPr/>
        </p:nvCxnSpPr>
        <p:spPr>
          <a:xfrm flipV="1">
            <a:off x="9903705" y="1169632"/>
            <a:ext cx="0" cy="20352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2B3CCBBD-C484-AE44-3E08-C7F5700947E9}"/>
              </a:ext>
            </a:extLst>
          </p:cNvPr>
          <p:cNvCxnSpPr>
            <a:cxnSpLocks/>
          </p:cNvCxnSpPr>
          <p:nvPr/>
        </p:nvCxnSpPr>
        <p:spPr>
          <a:xfrm flipV="1">
            <a:off x="11112548" y="1169632"/>
            <a:ext cx="0" cy="20352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FDB5401-FD2D-D49B-FDCB-9D6BD50013B2}"/>
              </a:ext>
            </a:extLst>
          </p:cNvPr>
          <p:cNvCxnSpPr>
            <a:cxnSpLocks/>
          </p:cNvCxnSpPr>
          <p:nvPr/>
        </p:nvCxnSpPr>
        <p:spPr>
          <a:xfrm flipH="1">
            <a:off x="6365289" y="2119126"/>
            <a:ext cx="74047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BE5A1D7-721E-B444-561C-918E0BBE9F5F}"/>
              </a:ext>
            </a:extLst>
          </p:cNvPr>
          <p:cNvCxnSpPr>
            <a:cxnSpLocks/>
          </p:cNvCxnSpPr>
          <p:nvPr/>
        </p:nvCxnSpPr>
        <p:spPr>
          <a:xfrm>
            <a:off x="8305724" y="2121993"/>
            <a:ext cx="6696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D6FEC30-02E3-737D-2A15-40A52ABEEB0B}"/>
              </a:ext>
            </a:extLst>
          </p:cNvPr>
          <p:cNvCxnSpPr>
            <a:cxnSpLocks/>
          </p:cNvCxnSpPr>
          <p:nvPr/>
        </p:nvCxnSpPr>
        <p:spPr>
          <a:xfrm flipH="1">
            <a:off x="9163235" y="2119126"/>
            <a:ext cx="74047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5DEA9BCA-538E-8FEF-6187-DD46D8DE5537}"/>
              </a:ext>
            </a:extLst>
          </p:cNvPr>
          <p:cNvCxnSpPr>
            <a:cxnSpLocks/>
          </p:cNvCxnSpPr>
          <p:nvPr/>
        </p:nvCxnSpPr>
        <p:spPr>
          <a:xfrm>
            <a:off x="11103670" y="2121993"/>
            <a:ext cx="6696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1EF83BD-BEF9-425F-72AE-4E87304D52F4}"/>
              </a:ext>
            </a:extLst>
          </p:cNvPr>
          <p:cNvSpPr txBox="1"/>
          <p:nvPr/>
        </p:nvSpPr>
        <p:spPr>
          <a:xfrm>
            <a:off x="7139904" y="697378"/>
            <a:ext cx="1253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Central part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4AE246-957F-95BD-40C9-6CF7D3279BC9}"/>
              </a:ext>
            </a:extLst>
          </p:cNvPr>
          <p:cNvSpPr txBox="1"/>
          <p:nvPr/>
        </p:nvSpPr>
        <p:spPr>
          <a:xfrm>
            <a:off x="6812203" y="3135620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-50</a:t>
            </a:r>
            <a:endParaRPr kumimoji="1"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1AC18E-111A-79CC-E72E-14AA998DC69C}"/>
              </a:ext>
            </a:extLst>
          </p:cNvPr>
          <p:cNvSpPr txBox="1"/>
          <p:nvPr/>
        </p:nvSpPr>
        <p:spPr>
          <a:xfrm>
            <a:off x="8057972" y="314449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50</a:t>
            </a:r>
            <a:endParaRPr kumimoji="1"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B2E199-56CF-6F0B-0503-C8C53C6B092E}"/>
              </a:ext>
            </a:extLst>
          </p:cNvPr>
          <p:cNvSpPr txBox="1"/>
          <p:nvPr/>
        </p:nvSpPr>
        <p:spPr>
          <a:xfrm>
            <a:off x="9637446" y="3135658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-50</a:t>
            </a:r>
            <a:endParaRPr kumimoji="1"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536D44-DDEC-587A-757D-47E24816F172}"/>
              </a:ext>
            </a:extLst>
          </p:cNvPr>
          <p:cNvSpPr txBox="1"/>
          <p:nvPr/>
        </p:nvSpPr>
        <p:spPr>
          <a:xfrm>
            <a:off x="10883215" y="314453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50</a:t>
            </a:r>
            <a:endParaRPr kumimoji="1"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DC5752-93EE-3523-8F7E-EAD4103CC87D}"/>
              </a:ext>
            </a:extLst>
          </p:cNvPr>
          <p:cNvSpPr txBox="1"/>
          <p:nvPr/>
        </p:nvSpPr>
        <p:spPr>
          <a:xfrm>
            <a:off x="5853974" y="691767"/>
            <a:ext cx="1253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Extreme values</a:t>
            </a:r>
            <a:endParaRPr kumimoji="1" lang="ko-KR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9EE91AB-8FA3-55C8-ECAC-BDDF74C90CF5}"/>
              </a:ext>
            </a:extLst>
          </p:cNvPr>
          <p:cNvSpPr txBox="1"/>
          <p:nvPr/>
        </p:nvSpPr>
        <p:spPr>
          <a:xfrm>
            <a:off x="177553" y="5143678"/>
            <a:ext cx="8270277" cy="1419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000" dirty="0">
                <a:sym typeface="Wingdings" pitchFamily="2" charset="2"/>
              </a:rPr>
              <a:t>각 </a:t>
            </a:r>
            <a:r>
              <a:rPr kumimoji="1" lang="en-US" altLang="ko-KR" sz="2000" dirty="0">
                <a:sym typeface="Wingdings" pitchFamily="2" charset="2"/>
              </a:rPr>
              <a:t>channel</a:t>
            </a:r>
            <a:r>
              <a:rPr kumimoji="1" lang="ko-KR" altLang="en-US" sz="2000" dirty="0">
                <a:sym typeface="Wingdings" pitchFamily="2" charset="2"/>
              </a:rPr>
              <a:t>마다 </a:t>
            </a:r>
            <a:r>
              <a:rPr kumimoji="1" lang="en-US" altLang="ko-KR" sz="2000" dirty="0">
                <a:sym typeface="Wingdings" pitchFamily="2" charset="2"/>
              </a:rPr>
              <a:t>input value</a:t>
            </a:r>
            <a:r>
              <a:rPr kumimoji="1" lang="ko-KR" altLang="en-US" sz="2000" dirty="0">
                <a:sym typeface="Wingdings" pitchFamily="2" charset="2"/>
              </a:rPr>
              <a:t>의 </a:t>
            </a:r>
            <a:r>
              <a:rPr kumimoji="1" lang="en-US" altLang="ko-KR" sz="2000" dirty="0">
                <a:sym typeface="Wingdings" pitchFamily="2" charset="2"/>
              </a:rPr>
              <a:t>range</a:t>
            </a:r>
            <a:r>
              <a:rPr kumimoji="1" lang="ko-KR" altLang="en-US" sz="2000" dirty="0">
                <a:sym typeface="Wingdings" pitchFamily="2" charset="2"/>
              </a:rPr>
              <a:t>가 매우 큼</a:t>
            </a:r>
            <a:br>
              <a:rPr kumimoji="1" lang="en-US" altLang="ko-KR" sz="2000" dirty="0">
                <a:sym typeface="Wingdings" pitchFamily="2" charset="2"/>
              </a:rPr>
            </a:br>
            <a:r>
              <a:rPr kumimoji="1" lang="en-US" altLang="ko-KR" sz="2000" dirty="0">
                <a:sym typeface="Wingdings" pitchFamily="2" charset="2"/>
              </a:rPr>
              <a:t></a:t>
            </a:r>
            <a:r>
              <a:rPr kumimoji="1" lang="ko-KR" altLang="en-US" sz="2000" dirty="0">
                <a:sym typeface="Wingdings" pitchFamily="2" charset="2"/>
              </a:rPr>
              <a:t> </a:t>
            </a:r>
            <a:r>
              <a:rPr kumimoji="1" lang="ko-KR" altLang="en-US" sz="2000" b="1" dirty="0">
                <a:sym typeface="Wingdings" pitchFamily="2" charset="2"/>
              </a:rPr>
              <a:t>대부분</a:t>
            </a:r>
            <a:r>
              <a:rPr kumimoji="1" lang="ko-KR" altLang="en-US" sz="2000" dirty="0">
                <a:sym typeface="Wingdings" pitchFamily="2" charset="2"/>
              </a:rPr>
              <a:t> </a:t>
            </a:r>
            <a:r>
              <a:rPr kumimoji="1" lang="en-US" altLang="ko-KR" sz="2000" dirty="0">
                <a:sym typeface="Wingdings" pitchFamily="2" charset="2"/>
              </a:rPr>
              <a:t>(~99%)</a:t>
            </a:r>
            <a:r>
              <a:rPr kumimoji="1" lang="ko-KR" altLang="en-US" sz="2000" dirty="0">
                <a:sym typeface="Wingdings" pitchFamily="2" charset="2"/>
              </a:rPr>
              <a:t> 값들은 </a:t>
            </a:r>
            <a:r>
              <a:rPr kumimoji="1" lang="en-US" altLang="ko-KR" sz="2000" b="1" dirty="0">
                <a:sym typeface="Wingdings" pitchFamily="2" charset="2"/>
              </a:rPr>
              <a:t>linear range(central part)</a:t>
            </a:r>
            <a:r>
              <a:rPr kumimoji="1" lang="ko-KR" altLang="en-US" sz="2000" b="1" dirty="0" err="1">
                <a:sym typeface="Wingdings" pitchFamily="2" charset="2"/>
              </a:rPr>
              <a:t>에</a:t>
            </a:r>
            <a:r>
              <a:rPr kumimoji="1" lang="ko-KR" altLang="en-US" sz="2000" b="1" dirty="0">
                <a:sym typeface="Wingdings" pitchFamily="2" charset="2"/>
              </a:rPr>
              <a:t> 존재</a:t>
            </a:r>
            <a:r>
              <a:rPr kumimoji="1" lang="ko-KR" altLang="en-US" sz="2000" dirty="0">
                <a:sym typeface="Wingdings" pitchFamily="2" charset="2"/>
              </a:rPr>
              <a:t>하지만</a:t>
            </a:r>
            <a:r>
              <a:rPr kumimoji="1" lang="en-US" altLang="ko-KR" sz="2000" dirty="0">
                <a:sym typeface="Wingdings" pitchFamily="2" charset="2"/>
              </a:rPr>
              <a:t>,</a:t>
            </a:r>
            <a:br>
              <a:rPr kumimoji="1" lang="en-US" altLang="ko-KR" sz="2000" dirty="0">
                <a:sym typeface="Wingdings" pitchFamily="2" charset="2"/>
              </a:rPr>
            </a:br>
            <a:r>
              <a:rPr kumimoji="1" lang="en-US" altLang="ko-KR" sz="2000" dirty="0">
                <a:sym typeface="Wingdings" pitchFamily="2" charset="2"/>
              </a:rPr>
              <a:t></a:t>
            </a:r>
            <a:r>
              <a:rPr kumimoji="1" lang="ko-KR" altLang="en-US" sz="2000" dirty="0">
                <a:sym typeface="Wingdings" pitchFamily="2" charset="2"/>
              </a:rPr>
              <a:t> </a:t>
            </a:r>
            <a:r>
              <a:rPr kumimoji="1" lang="ko-KR" altLang="en-US" sz="2000" b="1" dirty="0">
                <a:sym typeface="Wingdings" pitchFamily="2" charset="2"/>
              </a:rPr>
              <a:t>그 밖</a:t>
            </a:r>
            <a:r>
              <a:rPr kumimoji="1" lang="ko-KR" altLang="en-US" sz="2000" dirty="0">
                <a:sym typeface="Wingdings" pitchFamily="2" charset="2"/>
              </a:rPr>
              <a:t>에 있는 </a:t>
            </a:r>
            <a:r>
              <a:rPr kumimoji="1" lang="en-US" altLang="ko-KR" sz="2000" b="1" dirty="0">
                <a:sym typeface="Wingdings" pitchFamily="2" charset="2"/>
              </a:rPr>
              <a:t>”extreme” values</a:t>
            </a:r>
            <a:r>
              <a:rPr kumimoji="1" lang="en-US" altLang="ko-KR" sz="2000" dirty="0">
                <a:sym typeface="Wingdings" pitchFamily="2" charset="2"/>
              </a:rPr>
              <a:t> </a:t>
            </a:r>
            <a:r>
              <a:rPr kumimoji="1" lang="ko-KR" altLang="en-US" sz="2000" dirty="0">
                <a:sym typeface="Wingdings" pitchFamily="2" charset="2"/>
              </a:rPr>
              <a:t>존재</a:t>
            </a:r>
            <a:r>
              <a:rPr kumimoji="1" lang="en-US" altLang="ko-KR" sz="2000" dirty="0">
                <a:sym typeface="Wingdings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9464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042B0-5034-EAE3-99A1-5310D73B2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773E48A3-156A-55B8-705B-A14FBA084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2. Analysis: What Do LN Layers Do?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3" name="그림 2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D9E27B-30AD-9A3D-49F4-7665636A9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5961"/>
            <a:ext cx="12192000" cy="413606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BC5AF22-A5F8-5BB1-7068-EB135BDE4F31}"/>
              </a:ext>
            </a:extLst>
          </p:cNvPr>
          <p:cNvSpPr/>
          <p:nvPr/>
        </p:nvSpPr>
        <p:spPr>
          <a:xfrm>
            <a:off x="656948" y="925961"/>
            <a:ext cx="5622524" cy="2278877"/>
          </a:xfrm>
          <a:prstGeom prst="rect">
            <a:avLst/>
          </a:prstGeom>
          <a:solidFill>
            <a:schemeClr val="bg1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FF0000"/>
              </a:solidFill>
            </a:endParaRP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C4CDBBFF-83D4-8C72-C403-DEF907DC0440}"/>
              </a:ext>
            </a:extLst>
          </p:cNvPr>
          <p:cNvCxnSpPr>
            <a:cxnSpLocks/>
          </p:cNvCxnSpPr>
          <p:nvPr/>
        </p:nvCxnSpPr>
        <p:spPr>
          <a:xfrm flipV="1">
            <a:off x="7123515" y="1169632"/>
            <a:ext cx="0" cy="20352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86CC582F-C2AD-7D5D-D189-2B764BE9B2A9}"/>
              </a:ext>
            </a:extLst>
          </p:cNvPr>
          <p:cNvCxnSpPr>
            <a:cxnSpLocks/>
          </p:cNvCxnSpPr>
          <p:nvPr/>
        </p:nvCxnSpPr>
        <p:spPr>
          <a:xfrm flipV="1">
            <a:off x="8305724" y="1169632"/>
            <a:ext cx="0" cy="20352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B0D69604-81D6-9084-4A03-D7123B72198F}"/>
              </a:ext>
            </a:extLst>
          </p:cNvPr>
          <p:cNvCxnSpPr>
            <a:cxnSpLocks/>
          </p:cNvCxnSpPr>
          <p:nvPr/>
        </p:nvCxnSpPr>
        <p:spPr>
          <a:xfrm flipV="1">
            <a:off x="9903705" y="1169632"/>
            <a:ext cx="0" cy="20352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B6A382C7-B1B9-C692-CC27-CF2375F1B321}"/>
              </a:ext>
            </a:extLst>
          </p:cNvPr>
          <p:cNvCxnSpPr>
            <a:cxnSpLocks/>
          </p:cNvCxnSpPr>
          <p:nvPr/>
        </p:nvCxnSpPr>
        <p:spPr>
          <a:xfrm flipV="1">
            <a:off x="11112548" y="1169632"/>
            <a:ext cx="0" cy="20352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E7E8500-7358-1616-3B96-65D4D5E90D2E}"/>
              </a:ext>
            </a:extLst>
          </p:cNvPr>
          <p:cNvCxnSpPr>
            <a:cxnSpLocks/>
          </p:cNvCxnSpPr>
          <p:nvPr/>
        </p:nvCxnSpPr>
        <p:spPr>
          <a:xfrm flipH="1">
            <a:off x="6365289" y="2119126"/>
            <a:ext cx="74047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2678F56A-C4BC-7674-8A1F-C545DB558EB9}"/>
              </a:ext>
            </a:extLst>
          </p:cNvPr>
          <p:cNvCxnSpPr>
            <a:cxnSpLocks/>
          </p:cNvCxnSpPr>
          <p:nvPr/>
        </p:nvCxnSpPr>
        <p:spPr>
          <a:xfrm>
            <a:off x="8305724" y="2121993"/>
            <a:ext cx="6696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9D94B6A3-872C-C926-D3C5-6B49056FF2F1}"/>
              </a:ext>
            </a:extLst>
          </p:cNvPr>
          <p:cNvCxnSpPr>
            <a:cxnSpLocks/>
          </p:cNvCxnSpPr>
          <p:nvPr/>
        </p:nvCxnSpPr>
        <p:spPr>
          <a:xfrm flipH="1">
            <a:off x="9163235" y="2119126"/>
            <a:ext cx="74047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44A730E-0C39-BE5E-EA51-43ECEDB5DE4C}"/>
              </a:ext>
            </a:extLst>
          </p:cNvPr>
          <p:cNvCxnSpPr>
            <a:cxnSpLocks/>
          </p:cNvCxnSpPr>
          <p:nvPr/>
        </p:nvCxnSpPr>
        <p:spPr>
          <a:xfrm>
            <a:off x="11103670" y="2121993"/>
            <a:ext cx="6696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5ED7547-1ED7-279B-0C9A-4B0B42F26291}"/>
              </a:ext>
            </a:extLst>
          </p:cNvPr>
          <p:cNvSpPr txBox="1"/>
          <p:nvPr/>
        </p:nvSpPr>
        <p:spPr>
          <a:xfrm>
            <a:off x="6812203" y="3135620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-50</a:t>
            </a:r>
            <a:endParaRPr kumimoji="1"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81043D-6437-B49E-63D7-A6587A463BA8}"/>
              </a:ext>
            </a:extLst>
          </p:cNvPr>
          <p:cNvSpPr txBox="1"/>
          <p:nvPr/>
        </p:nvSpPr>
        <p:spPr>
          <a:xfrm>
            <a:off x="8057972" y="314449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50</a:t>
            </a:r>
            <a:endParaRPr kumimoji="1"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372FCA-C2EA-8133-DC48-22FF89BB3068}"/>
              </a:ext>
            </a:extLst>
          </p:cNvPr>
          <p:cNvSpPr txBox="1"/>
          <p:nvPr/>
        </p:nvSpPr>
        <p:spPr>
          <a:xfrm>
            <a:off x="9637446" y="3135658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-50</a:t>
            </a:r>
            <a:endParaRPr kumimoji="1"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3EB04F-7D47-E443-EAF9-15ACF18A4F45}"/>
              </a:ext>
            </a:extLst>
          </p:cNvPr>
          <p:cNvSpPr txBox="1"/>
          <p:nvPr/>
        </p:nvSpPr>
        <p:spPr>
          <a:xfrm>
            <a:off x="10883215" y="314453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50</a:t>
            </a:r>
            <a:endParaRPr kumimoji="1"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830E80-D79A-9EDD-DF10-EA1B2AB25A8F}"/>
              </a:ext>
            </a:extLst>
          </p:cNvPr>
          <p:cNvSpPr txBox="1"/>
          <p:nvPr/>
        </p:nvSpPr>
        <p:spPr>
          <a:xfrm>
            <a:off x="5853974" y="691767"/>
            <a:ext cx="1253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Extreme</a:t>
            </a:r>
            <a:br>
              <a:rPr kumimoji="1"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</a:br>
            <a:r>
              <a:rPr kumimoji="1"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values</a:t>
            </a:r>
            <a:endParaRPr kumimoji="1" lang="ko-KR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91D77B-A384-E1A6-44BA-3C12880D834C}"/>
              </a:ext>
            </a:extLst>
          </p:cNvPr>
          <p:cNvSpPr txBox="1"/>
          <p:nvPr/>
        </p:nvSpPr>
        <p:spPr>
          <a:xfrm>
            <a:off x="177553" y="5143678"/>
            <a:ext cx="10963963" cy="1419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ym typeface="Wingdings" pitchFamily="2" charset="2"/>
              </a:rPr>
              <a:t>“</a:t>
            </a:r>
            <a:r>
              <a:rPr kumimoji="1" lang="en-US" altLang="ko-KR" sz="2000" b="1" dirty="0">
                <a:sym typeface="Wingdings" pitchFamily="2" charset="2"/>
              </a:rPr>
              <a:t>Normalization layer’s </a:t>
            </a:r>
            <a:r>
              <a:rPr kumimoji="1" lang="en-US" altLang="ko-KR" sz="2000" dirty="0">
                <a:sym typeface="Wingdings" pitchFamily="2" charset="2"/>
              </a:rPr>
              <a:t>main effect for these(extreme) values </a:t>
            </a:r>
            <a:br>
              <a:rPr kumimoji="1" lang="en-US" altLang="ko-KR" sz="2000" dirty="0">
                <a:sym typeface="Wingdings" pitchFamily="2" charset="2"/>
              </a:rPr>
            </a:br>
            <a:r>
              <a:rPr kumimoji="1" lang="en-US" altLang="ko-KR" sz="2000" dirty="0">
                <a:sym typeface="Wingdings" pitchFamily="2" charset="2"/>
              </a:rPr>
              <a:t>is to </a:t>
            </a:r>
            <a:r>
              <a:rPr kumimoji="1" lang="en-US" altLang="ko-KR" sz="2000" b="1" i="1" dirty="0">
                <a:sym typeface="Wingdings" pitchFamily="2" charset="2"/>
              </a:rPr>
              <a:t>squash</a:t>
            </a:r>
            <a:r>
              <a:rPr kumimoji="1" lang="en-US" altLang="ko-KR" sz="2000" dirty="0">
                <a:sym typeface="Wingdings" pitchFamily="2" charset="2"/>
              </a:rPr>
              <a:t> them </a:t>
            </a:r>
            <a:r>
              <a:rPr kumimoji="1" lang="en-US" altLang="ko-KR" sz="2000" b="1" dirty="0">
                <a:sym typeface="Wingdings" pitchFamily="2" charset="2"/>
              </a:rPr>
              <a:t>into less extreme</a:t>
            </a:r>
            <a:r>
              <a:rPr kumimoji="1" lang="en-US" altLang="ko-KR" sz="2000" dirty="0">
                <a:sym typeface="Wingdings" pitchFamily="2" charset="2"/>
              </a:rPr>
              <a:t> values.”</a:t>
            </a:r>
            <a:br>
              <a:rPr kumimoji="1" lang="en-US" altLang="ko-KR" sz="2000" dirty="0">
                <a:sym typeface="Wingdings" pitchFamily="2" charset="2"/>
              </a:rPr>
            </a:br>
            <a:r>
              <a:rPr kumimoji="1" lang="en-US" altLang="ko-KR" sz="2000" dirty="0">
                <a:sym typeface="Wingdings" pitchFamily="2" charset="2"/>
              </a:rPr>
              <a:t></a:t>
            </a:r>
            <a:r>
              <a:rPr kumimoji="1" lang="ko-KR" altLang="en-US" sz="2000" dirty="0">
                <a:sym typeface="Wingdings" pitchFamily="2" charset="2"/>
              </a:rPr>
              <a:t> </a:t>
            </a:r>
            <a:r>
              <a:rPr kumimoji="1" lang="en-US" altLang="ko-KR" sz="2000" dirty="0">
                <a:sym typeface="Wingdings" pitchFamily="2" charset="2"/>
              </a:rPr>
              <a:t>“could not approximated by a simple affine transformation layer.” (tanh</a:t>
            </a:r>
            <a:r>
              <a:rPr kumimoji="1" lang="ko-KR" altLang="en-US" sz="2000" dirty="0">
                <a:sym typeface="Wingdings" pitchFamily="2" charset="2"/>
              </a:rPr>
              <a:t> 사용을 정당화</a:t>
            </a:r>
            <a:r>
              <a:rPr kumimoji="1" lang="en-US" altLang="ko-KR" sz="2000" dirty="0">
                <a:sym typeface="Wingdings" pitchFamily="2" charset="2"/>
              </a:rPr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1" name="잉크 40">
                <a:extLst>
                  <a:ext uri="{FF2B5EF4-FFF2-40B4-BE49-F238E27FC236}">
                    <a16:creationId xmlns:a16="http://schemas.microsoft.com/office/drawing/2014/main" id="{81FB0959-C4C5-7E80-995D-41B3EDBF2950}"/>
                  </a:ext>
                </a:extLst>
              </p14:cNvPr>
              <p14:cNvContentPartPr/>
              <p14:nvPr/>
            </p14:nvContentPartPr>
            <p14:xfrm>
              <a:off x="6397231" y="2784100"/>
              <a:ext cx="662040" cy="8280"/>
            </p14:xfrm>
          </p:contentPart>
        </mc:Choice>
        <mc:Fallback xmlns="">
          <p:pic>
            <p:nvPicPr>
              <p:cNvPr id="41" name="잉크 40">
                <a:extLst>
                  <a:ext uri="{FF2B5EF4-FFF2-40B4-BE49-F238E27FC236}">
                    <a16:creationId xmlns:a16="http://schemas.microsoft.com/office/drawing/2014/main" id="{81FB0959-C4C5-7E80-995D-41B3EDBF29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25231" y="2640100"/>
                <a:ext cx="80568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2" name="잉크 41">
                <a:extLst>
                  <a:ext uri="{FF2B5EF4-FFF2-40B4-BE49-F238E27FC236}">
                    <a16:creationId xmlns:a16="http://schemas.microsoft.com/office/drawing/2014/main" id="{A2A4EB33-3989-7F0F-B6D0-87EE3B95D8F0}"/>
                  </a:ext>
                </a:extLst>
              </p14:cNvPr>
              <p14:cNvContentPartPr/>
              <p14:nvPr/>
            </p14:nvContentPartPr>
            <p14:xfrm>
              <a:off x="9205231" y="2793799"/>
              <a:ext cx="615240" cy="2520"/>
            </p14:xfrm>
          </p:contentPart>
        </mc:Choice>
        <mc:Fallback xmlns="">
          <p:pic>
            <p:nvPicPr>
              <p:cNvPr id="42" name="잉크 41">
                <a:extLst>
                  <a:ext uri="{FF2B5EF4-FFF2-40B4-BE49-F238E27FC236}">
                    <a16:creationId xmlns:a16="http://schemas.microsoft.com/office/drawing/2014/main" id="{A2A4EB33-3989-7F0F-B6D0-87EE3B95D8F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33591" y="2649799"/>
                <a:ext cx="75888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6" name="잉크 45">
                <a:extLst>
                  <a:ext uri="{FF2B5EF4-FFF2-40B4-BE49-F238E27FC236}">
                    <a16:creationId xmlns:a16="http://schemas.microsoft.com/office/drawing/2014/main" id="{878D20B9-FEFD-228D-3180-05548EBB5D36}"/>
                  </a:ext>
                </a:extLst>
              </p14:cNvPr>
              <p14:cNvContentPartPr/>
              <p14:nvPr/>
            </p14:nvContentPartPr>
            <p14:xfrm>
              <a:off x="11200827" y="1417113"/>
              <a:ext cx="555120" cy="7920"/>
            </p14:xfrm>
          </p:contentPart>
        </mc:Choice>
        <mc:Fallback xmlns="">
          <p:pic>
            <p:nvPicPr>
              <p:cNvPr id="46" name="잉크 45">
                <a:extLst>
                  <a:ext uri="{FF2B5EF4-FFF2-40B4-BE49-F238E27FC236}">
                    <a16:creationId xmlns:a16="http://schemas.microsoft.com/office/drawing/2014/main" id="{878D20B9-FEFD-228D-3180-05548EBB5D3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129187" y="1273113"/>
                <a:ext cx="698760" cy="295560"/>
              </a:xfrm>
              <a:prstGeom prst="rect">
                <a:avLst/>
              </a:prstGeom>
            </p:spPr>
          </p:pic>
        </mc:Fallback>
      </mc:AlternateContent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12FF0AAB-555E-0361-B2A4-F31351782D3F}"/>
              </a:ext>
            </a:extLst>
          </p:cNvPr>
          <p:cNvCxnSpPr>
            <a:cxnSpLocks/>
          </p:cNvCxnSpPr>
          <p:nvPr/>
        </p:nvCxnSpPr>
        <p:spPr>
          <a:xfrm flipV="1">
            <a:off x="6668609" y="2636668"/>
            <a:ext cx="0" cy="325806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9606BCB9-07C9-89B4-54F4-FF938719EE38}"/>
              </a:ext>
            </a:extLst>
          </p:cNvPr>
          <p:cNvCxnSpPr>
            <a:cxnSpLocks/>
          </p:cNvCxnSpPr>
          <p:nvPr/>
        </p:nvCxnSpPr>
        <p:spPr>
          <a:xfrm flipV="1">
            <a:off x="9466555" y="2636668"/>
            <a:ext cx="0" cy="325806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C735ACC5-6F0E-CBAC-39ED-668BDF9EB3D3}"/>
              </a:ext>
            </a:extLst>
          </p:cNvPr>
          <p:cNvCxnSpPr>
            <a:cxnSpLocks/>
          </p:cNvCxnSpPr>
          <p:nvPr/>
        </p:nvCxnSpPr>
        <p:spPr>
          <a:xfrm>
            <a:off x="11576482" y="1248742"/>
            <a:ext cx="0" cy="372558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D9901510-F246-2F89-C333-A5ED4DE1AB68}"/>
              </a:ext>
            </a:extLst>
          </p:cNvPr>
          <p:cNvCxnSpPr>
            <a:cxnSpLocks/>
          </p:cNvCxnSpPr>
          <p:nvPr/>
        </p:nvCxnSpPr>
        <p:spPr>
          <a:xfrm>
            <a:off x="8781496" y="1248742"/>
            <a:ext cx="0" cy="380478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E09BC74-E793-6FF2-AFDC-9C23DC601A9E}"/>
              </a:ext>
            </a:extLst>
          </p:cNvPr>
          <p:cNvSpPr txBox="1"/>
          <p:nvPr/>
        </p:nvSpPr>
        <p:spPr>
          <a:xfrm>
            <a:off x="10947041" y="803080"/>
            <a:ext cx="1253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squashing</a:t>
            </a:r>
            <a:endParaRPr kumimoji="1" lang="ko-KR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1" name="잉크 60">
                <a:extLst>
                  <a:ext uri="{FF2B5EF4-FFF2-40B4-BE49-F238E27FC236}">
                    <a16:creationId xmlns:a16="http://schemas.microsoft.com/office/drawing/2014/main" id="{04F50A64-AA45-9355-EB07-189C06118CC4}"/>
                  </a:ext>
                </a:extLst>
              </p14:cNvPr>
              <p14:cNvContentPartPr/>
              <p14:nvPr/>
            </p14:nvContentPartPr>
            <p14:xfrm>
              <a:off x="8388959" y="1409193"/>
              <a:ext cx="555120" cy="7920"/>
            </p14:xfrm>
          </p:contentPart>
        </mc:Choice>
        <mc:Fallback xmlns="">
          <p:pic>
            <p:nvPicPr>
              <p:cNvPr id="61" name="잉크 60">
                <a:extLst>
                  <a:ext uri="{FF2B5EF4-FFF2-40B4-BE49-F238E27FC236}">
                    <a16:creationId xmlns:a16="http://schemas.microsoft.com/office/drawing/2014/main" id="{04F50A64-AA45-9355-EB07-189C06118CC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17319" y="1265193"/>
                <a:ext cx="698760" cy="29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1145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80FE6-820B-9029-4238-CF2198256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>
            <a:extLst>
              <a:ext uri="{FF2B5EF4-FFF2-40B4-BE49-F238E27FC236}">
                <a16:creationId xmlns:a16="http://schemas.microsoft.com/office/drawing/2014/main" id="{887AF272-E73F-9AE1-F159-96819872C7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696"/>
          <a:stretch>
            <a:fillRect/>
          </a:stretch>
        </p:blipFill>
        <p:spPr bwMode="auto">
          <a:xfrm>
            <a:off x="1072702" y="4390328"/>
            <a:ext cx="4619383" cy="699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제목 26">
            <a:extLst>
              <a:ext uri="{FF2B5EF4-FFF2-40B4-BE49-F238E27FC236}">
                <a16:creationId xmlns:a16="http://schemas.microsoft.com/office/drawing/2014/main" id="{438B4A54-9967-C4B5-FB28-B9F98FACC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3. Dynamic Tanh (DyT)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8EA2E91-B04A-FC85-0CC2-534EC0C8A7DC}"/>
              </a:ext>
            </a:extLst>
          </p:cNvPr>
          <p:cNvSpPr txBox="1"/>
          <p:nvPr/>
        </p:nvSpPr>
        <p:spPr>
          <a:xfrm>
            <a:off x="119808" y="677163"/>
            <a:ext cx="11952383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LN layer</a:t>
            </a:r>
            <a:r>
              <a:rPr kumimoji="1" lang="ko-KR" altLang="en-US" sz="2000" dirty="0">
                <a:latin typeface="+mn-ea"/>
                <a:cs typeface="Times New Roman" panose="02020603050405020304" pitchFamily="18" charset="0"/>
              </a:rPr>
              <a:t>와 </a:t>
            </a: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a scaled tanh function</a:t>
            </a:r>
            <a:r>
              <a:rPr kumimoji="1" lang="ko-KR" altLang="en-US" sz="2000" dirty="0">
                <a:latin typeface="+mn-ea"/>
                <a:cs typeface="Times New Roman" panose="02020603050405020304" pitchFamily="18" charset="0"/>
              </a:rPr>
              <a:t>의</a:t>
            </a: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 (relationship)</a:t>
            </a:r>
            <a:r>
              <a:rPr kumimoji="1" lang="ko-KR" altLang="en-US" sz="2000" dirty="0">
                <a:latin typeface="+mn-ea"/>
                <a:cs typeface="Times New Roman" panose="02020603050405020304" pitchFamily="18" charset="0"/>
              </a:rPr>
              <a:t>모양이 유사한 것에 영감을 받아</a:t>
            </a: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,</a:t>
            </a:r>
            <a:r>
              <a:rPr kumimoji="1" lang="ko-KR" altLang="en-US" sz="2000" dirty="0">
                <a:latin typeface="+mn-ea"/>
                <a:cs typeface="Times New Roman" panose="02020603050405020304" pitchFamily="18" charset="0"/>
              </a:rPr>
              <a:t> </a:t>
            </a:r>
            <a:br>
              <a:rPr kumimoji="1" lang="en-US" altLang="ko-KR" sz="2000" dirty="0">
                <a:latin typeface="+mn-ea"/>
                <a:cs typeface="Times New Roman" panose="02020603050405020304" pitchFamily="18" charset="0"/>
              </a:rPr>
            </a:b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LN layer</a:t>
            </a:r>
            <a:r>
              <a:rPr kumimoji="1" lang="ko-KR" altLang="en-US" sz="2000" dirty="0" err="1">
                <a:latin typeface="+mn-ea"/>
                <a:cs typeface="Times New Roman" panose="02020603050405020304" pitchFamily="18" charset="0"/>
              </a:rPr>
              <a:t>를</a:t>
            </a:r>
            <a:r>
              <a:rPr kumimoji="1" lang="ko-KR" altLang="en-US" sz="2000" dirty="0">
                <a:latin typeface="+mn-ea"/>
                <a:cs typeface="Times New Roman" panose="02020603050405020304" pitchFamily="18" charset="0"/>
              </a:rPr>
              <a:t> 대체하기 위한 </a:t>
            </a: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Dynamic Tanh(DyT)</a:t>
            </a:r>
            <a:r>
              <a:rPr kumimoji="1" lang="ko-KR" altLang="en-US" sz="2000" dirty="0">
                <a:latin typeface="+mn-ea"/>
                <a:cs typeface="Times New Roman" panose="02020603050405020304" pitchFamily="18" charset="0"/>
              </a:rPr>
              <a:t> 제안</a:t>
            </a:r>
            <a:endParaRPr kumimoji="1" lang="en-US" altLang="ko-KR" sz="11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8" name="그림 7" descr="텍스트, 폰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4C38DD-65EB-0452-836C-7F17CA5FEF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5421"/>
          <a:stretch>
            <a:fillRect/>
          </a:stretch>
        </p:blipFill>
        <p:spPr>
          <a:xfrm>
            <a:off x="119808" y="2579474"/>
            <a:ext cx="5535267" cy="980956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B63670C9-49F0-052F-F73D-62FA21635635}"/>
              </a:ext>
            </a:extLst>
          </p:cNvPr>
          <p:cNvSpPr/>
          <p:nvPr/>
        </p:nvSpPr>
        <p:spPr>
          <a:xfrm>
            <a:off x="3355760" y="2490698"/>
            <a:ext cx="1660124" cy="1158024"/>
          </a:xfrm>
          <a:prstGeom prst="rect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967FC61-787D-F0AB-46D6-913CC89B5006}"/>
              </a:ext>
            </a:extLst>
          </p:cNvPr>
          <p:cNvSpPr/>
          <p:nvPr/>
        </p:nvSpPr>
        <p:spPr>
          <a:xfrm>
            <a:off x="3462294" y="4390328"/>
            <a:ext cx="1429304" cy="69976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D79067D-EA0D-13EB-A699-45DC61C23382}"/>
              </a:ext>
            </a:extLst>
          </p:cNvPr>
          <p:cNvCxnSpPr>
            <a:cxnSpLocks/>
            <a:stCxn id="13" idx="2"/>
            <a:endCxn id="20" idx="0"/>
          </p:cNvCxnSpPr>
          <p:nvPr/>
        </p:nvCxnSpPr>
        <p:spPr>
          <a:xfrm flipH="1">
            <a:off x="4176946" y="3648722"/>
            <a:ext cx="8876" cy="741606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그림 25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25DE88-EF91-55D7-7EFC-F1BD4AEB28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477" y="1935163"/>
            <a:ext cx="5954714" cy="390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14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CFF4F-0B31-312D-BDA5-0D6A78AA4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>
            <a:extLst>
              <a:ext uri="{FF2B5EF4-FFF2-40B4-BE49-F238E27FC236}">
                <a16:creationId xmlns:a16="http://schemas.microsoft.com/office/drawing/2014/main" id="{85A43C97-5036-9FDB-E57B-76E348952C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696"/>
          <a:stretch>
            <a:fillRect/>
          </a:stretch>
        </p:blipFill>
        <p:spPr bwMode="auto">
          <a:xfrm>
            <a:off x="1072702" y="4390328"/>
            <a:ext cx="4619383" cy="699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제목 26">
            <a:extLst>
              <a:ext uri="{FF2B5EF4-FFF2-40B4-BE49-F238E27FC236}">
                <a16:creationId xmlns:a16="http://schemas.microsoft.com/office/drawing/2014/main" id="{CE820667-8447-A07C-2DD0-32D3B9855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3. Dynamic Tanh (DyT)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D2B59AD-09F3-78D1-5CEF-08B348CC59FF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495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”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is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a learnable scalar parameter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that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allows scaling the input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differently based on its range”</a:t>
                </a:r>
                <a:endParaRPr kumimoji="1" lang="en-US" altLang="ko-KR" sz="1100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D2B59AD-09F3-78D1-5CEF-08B348CC5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495392"/>
              </a:xfrm>
              <a:prstGeom prst="rect">
                <a:avLst/>
              </a:prstGeom>
              <a:blipFill>
                <a:blip r:embed="rId4"/>
                <a:stretch>
                  <a:fillRect l="-425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직사각형 19">
            <a:extLst>
              <a:ext uri="{FF2B5EF4-FFF2-40B4-BE49-F238E27FC236}">
                <a16:creationId xmlns:a16="http://schemas.microsoft.com/office/drawing/2014/main" id="{07892F78-2BBC-5BD6-6996-812CA09177C4}"/>
              </a:ext>
            </a:extLst>
          </p:cNvPr>
          <p:cNvSpPr/>
          <p:nvPr/>
        </p:nvSpPr>
        <p:spPr>
          <a:xfrm>
            <a:off x="3462294" y="4390328"/>
            <a:ext cx="1429304" cy="69976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831208-5754-0A9A-930F-D757234F6C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781" y="1354326"/>
            <a:ext cx="5023025" cy="2758269"/>
          </a:xfrm>
          <a:prstGeom prst="rect">
            <a:avLst/>
          </a:prstGeom>
        </p:spPr>
      </p:pic>
      <p:pic>
        <p:nvPicPr>
          <p:cNvPr id="6" name="그림 5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874D47-B8FD-7A57-63F7-1D09B0A3B42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70932"/>
          <a:stretch>
            <a:fillRect/>
          </a:stretch>
        </p:blipFill>
        <p:spPr>
          <a:xfrm>
            <a:off x="119808" y="5327226"/>
            <a:ext cx="6298747" cy="122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9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92DF7-45B2-EC63-CE36-FF9F6BA60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>
            <a:extLst>
              <a:ext uri="{FF2B5EF4-FFF2-40B4-BE49-F238E27FC236}">
                <a16:creationId xmlns:a16="http://schemas.microsoft.com/office/drawing/2014/main" id="{03DDAA6C-CBE8-51BB-3BDC-9A2D5859DF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696"/>
          <a:stretch>
            <a:fillRect/>
          </a:stretch>
        </p:blipFill>
        <p:spPr bwMode="auto">
          <a:xfrm>
            <a:off x="1072702" y="4390328"/>
            <a:ext cx="4619383" cy="699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제목 26">
            <a:extLst>
              <a:ext uri="{FF2B5EF4-FFF2-40B4-BE49-F238E27FC236}">
                <a16:creationId xmlns:a16="http://schemas.microsoft.com/office/drawing/2014/main" id="{E59BDC7C-F42E-7D2E-616A-D7AC2F75C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3. Dynamic Tanh (DyT)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60E20F4-0239-6379-EBF8-B97C80FE889A}"/>
              </a:ext>
            </a:extLst>
          </p:cNvPr>
          <p:cNvSpPr/>
          <p:nvPr/>
        </p:nvSpPr>
        <p:spPr>
          <a:xfrm>
            <a:off x="3462294" y="4390328"/>
            <a:ext cx="1429304" cy="69976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38CBE4-86C6-5074-0E50-762B90FA69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781" y="1354326"/>
            <a:ext cx="5023025" cy="2758269"/>
          </a:xfrm>
          <a:prstGeom prst="rect">
            <a:avLst/>
          </a:prstGeom>
        </p:spPr>
      </p:pic>
      <p:pic>
        <p:nvPicPr>
          <p:cNvPr id="6" name="그림 5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45CB58-4420-33D7-A1B2-2946AF77E7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0932"/>
          <a:stretch>
            <a:fillRect/>
          </a:stretch>
        </p:blipFill>
        <p:spPr>
          <a:xfrm>
            <a:off x="119808" y="5327226"/>
            <a:ext cx="6298747" cy="1221631"/>
          </a:xfrm>
          <a:prstGeom prst="rect">
            <a:avLst/>
          </a:prstGeom>
        </p:spPr>
      </p:pic>
      <p:pic>
        <p:nvPicPr>
          <p:cNvPr id="9" name="그림 8" descr="텍스트, 라인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0D195F-5BE2-6C5B-54CD-7791E0EE5CB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241" r="1788"/>
          <a:stretch>
            <a:fillRect/>
          </a:stretch>
        </p:blipFill>
        <p:spPr>
          <a:xfrm>
            <a:off x="6418555" y="3457576"/>
            <a:ext cx="5722516" cy="30912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F22A8F-2014-96EE-24D7-D24C35063774}"/>
              </a:ext>
            </a:extLst>
          </p:cNvPr>
          <p:cNvSpPr txBox="1"/>
          <p:nvPr/>
        </p:nvSpPr>
        <p:spPr>
          <a:xfrm>
            <a:off x="6869182" y="2982541"/>
            <a:ext cx="2310328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200" b="1" dirty="0">
                <a:latin typeface="+mj-lt"/>
                <a:cs typeface="Times New Roman" panose="02020603050405020304" pitchFamily="18" charset="0"/>
              </a:rPr>
              <a:t>During training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A7BEC3-3843-55C0-1859-9CB9A71C1B5F}"/>
              </a:ext>
            </a:extLst>
          </p:cNvPr>
          <p:cNvSpPr txBox="1"/>
          <p:nvPr/>
        </p:nvSpPr>
        <p:spPr>
          <a:xfrm>
            <a:off x="9830743" y="2982541"/>
            <a:ext cx="2310328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200" b="1" dirty="0">
                <a:latin typeface="+mj-lt"/>
                <a:cs typeface="Times New Roman" panose="02020603050405020304" pitchFamily="18" charset="0"/>
              </a:rPr>
              <a:t>After 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B73935-DA07-0864-6311-AE60DB91E06D}"/>
                  </a:ext>
                </a:extLst>
              </p:cNvPr>
              <p:cNvSpPr txBox="1"/>
              <p:nvPr/>
            </p:nvSpPr>
            <p:spPr>
              <a:xfrm>
                <a:off x="6418555" y="1315636"/>
                <a:ext cx="5722516" cy="1417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“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 acts as a normalization mechanism, 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learning values close to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1/std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of the input activations.”</a:t>
                </a:r>
                <a:endParaRPr kumimoji="1" lang="en-US" altLang="ko-KR" sz="1100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B73935-DA07-0864-6311-AE60DB91E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555" y="1315636"/>
                <a:ext cx="5722516" cy="1417824"/>
              </a:xfrm>
              <a:prstGeom prst="rect">
                <a:avLst/>
              </a:prstGeom>
              <a:blipFill>
                <a:blip r:embed="rId7"/>
                <a:stretch>
                  <a:fillRect l="-885" b="-6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43CC8A-51F5-3F2A-BAFD-B100A153C0F0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495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”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is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a learnable scalar parameter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that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allows scaling the input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differently based on its range”</a:t>
                </a:r>
                <a:endParaRPr kumimoji="1" lang="en-US" altLang="ko-KR" sz="1100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43CC8A-51F5-3F2A-BAFD-B100A153C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495392"/>
              </a:xfrm>
              <a:prstGeom prst="rect">
                <a:avLst/>
              </a:prstGeom>
              <a:blipFill>
                <a:blip r:embed="rId8"/>
                <a:stretch>
                  <a:fillRect l="-425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2250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91C58-B44B-D966-7BEE-71A1C6EB6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C781B4-1419-1A76-D009-D4A0470A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2877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sz="3000" b="1" dirty="0">
                <a:latin typeface="+mj-lt"/>
                <a:cs typeface="Times New Roman" panose="02020603050405020304" pitchFamily="18" charset="0"/>
              </a:rPr>
              <a:t>Outline</a:t>
            </a:r>
            <a:endParaRPr kumimoji="1" lang="ko-KR" altLang="en-US" sz="3000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610F0E5-F9D8-1E00-B2EC-54B8FFF879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725" y="654269"/>
                <a:ext cx="11516710" cy="5880537"/>
              </a:xfrm>
            </p:spPr>
            <p:txBody>
              <a:bodyPr anchor="ctr">
                <a:normAutofit/>
              </a:bodyPr>
              <a:lstStyle/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Background: Normalization layers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Analysis: What Do Normalization Layers Do?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Dynamic Tanh (DyT)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b="1" dirty="0">
                    <a:cs typeface="Times New Roman" panose="02020603050405020304" pitchFamily="18" charset="0"/>
                  </a:rPr>
                  <a:t>Experiments &amp; Analysis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Initialization of </a:t>
                </a:r>
                <a14:m>
                  <m:oMath xmlns:m="http://schemas.openxmlformats.org/officeDocument/2006/math">
                    <m:r>
                      <a:rPr kumimoji="1" lang="en-US" altLang="ko-KR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endParaRPr kumimoji="1" lang="en-US" altLang="ko-KR" sz="2200" dirty="0"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Limitation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Discussion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610F0E5-F9D8-1E00-B2EC-54B8FFF879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725" y="654269"/>
                <a:ext cx="11516710" cy="5880537"/>
              </a:xfrm>
              <a:blipFill>
                <a:blip r:embed="rId3"/>
                <a:stretch>
                  <a:fillRect l="-7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47829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5AB91-3387-4AD8-7D7F-B4A1C1317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0E67816E-C925-0FA4-6C1E-2254E5958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4. Experiments </a:t>
            </a:r>
            <a:r>
              <a:rPr kumimoji="1" lang="en-US" altLang="ko-KR" b="0" dirty="0"/>
              <a:t>&amp; Analysis</a:t>
            </a:r>
            <a:endParaRPr kumimoji="1" lang="en-US" altLang="ko-KR" b="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C91A98-61D9-7F5C-A3EA-D86B4EFF4C5C}"/>
              </a:ext>
            </a:extLst>
          </p:cNvPr>
          <p:cNvSpPr txBox="1"/>
          <p:nvPr/>
        </p:nvSpPr>
        <p:spPr>
          <a:xfrm>
            <a:off x="-1" y="686345"/>
            <a:ext cx="12073632" cy="155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“Notably, to highlight the simplicity of adapting DyT, </a:t>
            </a:r>
            <a:br>
              <a:rPr kumimoji="1" lang="en-US" altLang="ko-KR" sz="2200" dirty="0">
                <a:latin typeface="+mn-ea"/>
                <a:cs typeface="Times New Roman" panose="02020603050405020304" pitchFamily="18" charset="0"/>
              </a:rPr>
            </a:br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we </a:t>
            </a:r>
            <a:r>
              <a:rPr kumimoji="1" lang="en-US" altLang="ko-KR" sz="2200" b="1" dirty="0">
                <a:latin typeface="+mn-ea"/>
                <a:cs typeface="Times New Roman" panose="02020603050405020304" pitchFamily="18" charset="0"/>
              </a:rPr>
              <a:t>use hyperparameters identical</a:t>
            </a:r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 to those used </a:t>
            </a:r>
            <a:r>
              <a:rPr kumimoji="1" lang="en-US" altLang="ko-KR" sz="2200" b="1" dirty="0">
                <a:latin typeface="+mn-ea"/>
                <a:cs typeface="Times New Roman" panose="02020603050405020304" pitchFamily="18" charset="0"/>
              </a:rPr>
              <a:t>by the normalized counterparts.</a:t>
            </a:r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2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7566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B9CA5-4C8C-8711-A41F-E2AAD14F2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594EBDB5-68C2-D259-E7E3-66A251AAA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4. Experiments </a:t>
            </a:r>
            <a:r>
              <a:rPr kumimoji="1" lang="en-US" altLang="ko-KR" b="0" dirty="0"/>
              <a:t>&amp; Analysis</a:t>
            </a:r>
            <a:endParaRPr kumimoji="1" lang="en-US" altLang="ko-KR" b="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0969C4-BDF8-5C07-994C-BD6C79C218E8}"/>
              </a:ext>
            </a:extLst>
          </p:cNvPr>
          <p:cNvSpPr txBox="1"/>
          <p:nvPr/>
        </p:nvSpPr>
        <p:spPr>
          <a:xfrm>
            <a:off x="-1" y="686345"/>
            <a:ext cx="4536489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200" b="1" dirty="0">
                <a:latin typeface="+mn-ea"/>
                <a:cs typeface="Times New Roman" panose="02020603050405020304" pitchFamily="18" charset="0"/>
              </a:rPr>
              <a:t>1. </a:t>
            </a:r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Supervised learning in vision</a:t>
            </a:r>
            <a:endParaRPr kumimoji="1" lang="en-US" altLang="ko-KR" sz="22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319782-E9E8-91A5-6014-3271D24E3255}"/>
              </a:ext>
            </a:extLst>
          </p:cNvPr>
          <p:cNvSpPr txBox="1"/>
          <p:nvPr/>
        </p:nvSpPr>
        <p:spPr>
          <a:xfrm>
            <a:off x="6096000" y="686345"/>
            <a:ext cx="4746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200" b="1" dirty="0">
                <a:latin typeface="+mn-ea"/>
                <a:cs typeface="Times New Roman" panose="02020603050405020304" pitchFamily="18" charset="0"/>
              </a:rPr>
              <a:t>2. </a:t>
            </a:r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Self-supervised learning in vision</a:t>
            </a:r>
            <a:endParaRPr kumimoji="1" lang="en-US" altLang="ko-KR" sz="2200" dirty="0"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E940AC18-AA8B-5D9C-A9BE-58CE79BFC15D}"/>
              </a:ext>
            </a:extLst>
          </p:cNvPr>
          <p:cNvCxnSpPr>
            <a:cxnSpLocks/>
          </p:cNvCxnSpPr>
          <p:nvPr/>
        </p:nvCxnSpPr>
        <p:spPr>
          <a:xfrm>
            <a:off x="6096000" y="1080350"/>
            <a:ext cx="0" cy="53951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텍스트, 라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EAE99D-B616-D8FA-87EC-4BAE5EE6C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346" y="1190021"/>
            <a:ext cx="4118900" cy="5689416"/>
          </a:xfrm>
          <a:prstGeom prst="rect">
            <a:avLst/>
          </a:prstGeom>
        </p:spPr>
      </p:pic>
      <p:pic>
        <p:nvPicPr>
          <p:cNvPr id="12" name="그림 1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122815-5AA7-4956-691A-2444AD773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761" y="2749238"/>
            <a:ext cx="5095841" cy="205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7303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9396F-FB0A-66A4-C7B2-1C3C76334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FABBD13B-840C-7AD3-5ECA-C4186ED36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4. Experiments </a:t>
            </a:r>
            <a:r>
              <a:rPr kumimoji="1" lang="en-US" altLang="ko-KR" b="0" dirty="0"/>
              <a:t>&amp; Analysis</a:t>
            </a:r>
            <a:endParaRPr kumimoji="1" lang="en-US" altLang="ko-KR" b="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375D0D-BDF1-D0B4-300A-0080762F16AD}"/>
              </a:ext>
            </a:extLst>
          </p:cNvPr>
          <p:cNvSpPr txBox="1"/>
          <p:nvPr/>
        </p:nvSpPr>
        <p:spPr>
          <a:xfrm>
            <a:off x="-1" y="686345"/>
            <a:ext cx="4536489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200" b="1" dirty="0">
                <a:latin typeface="+mn-ea"/>
                <a:cs typeface="Times New Roman" panose="02020603050405020304" pitchFamily="18" charset="0"/>
              </a:rPr>
              <a:t>3. </a:t>
            </a:r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Diffusion models</a:t>
            </a:r>
            <a:endParaRPr kumimoji="1" lang="en-US" altLang="ko-KR" sz="22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25D94-34BA-C417-4409-B8495FD0C405}"/>
              </a:ext>
            </a:extLst>
          </p:cNvPr>
          <p:cNvSpPr txBox="1"/>
          <p:nvPr/>
        </p:nvSpPr>
        <p:spPr>
          <a:xfrm>
            <a:off x="0" y="3423210"/>
            <a:ext cx="4746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200" b="1" dirty="0">
                <a:latin typeface="+mn-ea"/>
                <a:cs typeface="Times New Roman" panose="02020603050405020304" pitchFamily="18" charset="0"/>
              </a:rPr>
              <a:t>4. </a:t>
            </a:r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LLMs</a:t>
            </a:r>
            <a:endParaRPr kumimoji="1" lang="en-US" altLang="ko-KR" sz="2200" dirty="0"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44C92482-24FE-6520-8358-6E7CF2196127}"/>
              </a:ext>
            </a:extLst>
          </p:cNvPr>
          <p:cNvCxnSpPr>
            <a:cxnSpLocks/>
          </p:cNvCxnSpPr>
          <p:nvPr/>
        </p:nvCxnSpPr>
        <p:spPr>
          <a:xfrm>
            <a:off x="6096000" y="1080350"/>
            <a:ext cx="0" cy="53951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50A9BAC-0DFD-E886-4477-4DCB03475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38" y="1230225"/>
            <a:ext cx="5825971" cy="1986805"/>
          </a:xfrm>
          <a:prstGeom prst="rect">
            <a:avLst/>
          </a:prstGeom>
        </p:spPr>
      </p:pic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9AF466-6B6C-EB0D-DE34-0226A854B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178" y="3957908"/>
            <a:ext cx="5733692" cy="25176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9C554A4-0651-544D-1988-06AD63976EF1}"/>
              </a:ext>
            </a:extLst>
          </p:cNvPr>
          <p:cNvSpPr txBox="1"/>
          <p:nvPr/>
        </p:nvSpPr>
        <p:spPr>
          <a:xfrm>
            <a:off x="6152671" y="677163"/>
            <a:ext cx="6180164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200" b="1" dirty="0">
                <a:latin typeface="+mn-ea"/>
                <a:cs typeface="Times New Roman" panose="02020603050405020304" pitchFamily="18" charset="0"/>
              </a:rPr>
              <a:t>5. </a:t>
            </a:r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Self-supervised learning in speech</a:t>
            </a:r>
            <a:endParaRPr kumimoji="1" lang="en-US" altLang="ko-KR" sz="22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5" name="그림 14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575842B-75FA-0882-8DB8-4F233EB162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619" y="1354326"/>
            <a:ext cx="5756343" cy="187004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A91FDE3-1272-B0C3-59FD-CCC12504A5C6}"/>
              </a:ext>
            </a:extLst>
          </p:cNvPr>
          <p:cNvSpPr txBox="1"/>
          <p:nvPr/>
        </p:nvSpPr>
        <p:spPr>
          <a:xfrm>
            <a:off x="6152671" y="3423210"/>
            <a:ext cx="6180164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200" b="1" dirty="0">
                <a:latin typeface="+mn-ea"/>
                <a:cs typeface="Times New Roman" panose="02020603050405020304" pitchFamily="18" charset="0"/>
              </a:rPr>
              <a:t>6. </a:t>
            </a:r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DNA sequence modeling</a:t>
            </a:r>
            <a:endParaRPr kumimoji="1" lang="en-US" altLang="ko-KR" sz="22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8" name="그림 17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596872-6DA9-E195-3871-EB951542DE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0635" y="4533632"/>
            <a:ext cx="5888327" cy="1940084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4E0DB330-4190-4457-301C-9D8EF87A1D99}"/>
              </a:ext>
            </a:extLst>
          </p:cNvPr>
          <p:cNvSpPr/>
          <p:nvPr/>
        </p:nvSpPr>
        <p:spPr>
          <a:xfrm>
            <a:off x="1936702" y="4025257"/>
            <a:ext cx="1108339" cy="467349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852833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A75D4-E23B-D0EA-6582-961D8084F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5AEE92FB-21A8-C9F0-1242-0B543CF94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4. </a:t>
            </a:r>
            <a:r>
              <a:rPr kumimoji="1" lang="en-US" altLang="ko-KR" b="0" dirty="0"/>
              <a:t>Experiments</a:t>
            </a:r>
            <a:r>
              <a:rPr kumimoji="1" lang="en-US" altLang="ko-KR" dirty="0"/>
              <a:t> </a:t>
            </a:r>
            <a:r>
              <a:rPr kumimoji="1" lang="en-US" altLang="ko-KR" b="0" dirty="0"/>
              <a:t>&amp; </a:t>
            </a:r>
            <a:r>
              <a:rPr kumimoji="1" lang="en-US" altLang="ko-KR" dirty="0"/>
              <a:t>Analysis</a:t>
            </a:r>
            <a:endParaRPr kumimoji="1" lang="en-US" altLang="ko-KR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DDC010-A863-65A6-C7D1-AE165629B4CB}"/>
              </a:ext>
            </a:extLst>
          </p:cNvPr>
          <p:cNvSpPr txBox="1"/>
          <p:nvPr/>
        </p:nvSpPr>
        <p:spPr>
          <a:xfrm>
            <a:off x="-1" y="686345"/>
            <a:ext cx="4536489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Replacing and removing </a:t>
            </a:r>
            <a:r>
              <a:rPr kumimoji="1" lang="en-US" altLang="ko-KR" sz="2200" b="1" dirty="0">
                <a:latin typeface="+mn-ea"/>
                <a:cs typeface="Times New Roman" panose="02020603050405020304" pitchFamily="18" charset="0"/>
              </a:rPr>
              <a:t>tanh</a:t>
            </a:r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51739A5B-5224-A8D9-9FCA-DBD3FF427E47}"/>
              </a:ext>
            </a:extLst>
          </p:cNvPr>
          <p:cNvCxnSpPr>
            <a:cxnSpLocks/>
          </p:cNvCxnSpPr>
          <p:nvPr/>
        </p:nvCxnSpPr>
        <p:spPr>
          <a:xfrm>
            <a:off x="6096000" y="1080350"/>
            <a:ext cx="0" cy="53951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9B662BD-8B97-D85A-B5BA-EB030E690283}"/>
                  </a:ext>
                </a:extLst>
              </p:cNvPr>
              <p:cNvSpPr txBox="1"/>
              <p:nvPr/>
            </p:nvSpPr>
            <p:spPr>
              <a:xfrm>
                <a:off x="6152671" y="677163"/>
                <a:ext cx="6180164" cy="5961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Removing </a:t>
                </a:r>
                <a14:m>
                  <m:oMath xmlns:m="http://schemas.openxmlformats.org/officeDocument/2006/math">
                    <m:r>
                      <a:rPr kumimoji="1" lang="en-US" altLang="ko-KR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endParaRPr kumimoji="1" lang="en-US" altLang="ko-KR" sz="2200" b="1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9B662BD-8B97-D85A-B5BA-EB030E690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671" y="677163"/>
                <a:ext cx="6180164" cy="596125"/>
              </a:xfrm>
              <a:prstGeom prst="rect">
                <a:avLst/>
              </a:prstGeom>
              <a:blipFill>
                <a:blip r:embed="rId3"/>
                <a:stretch>
                  <a:fillRect l="-1025"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그림 12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0C9642-E004-8AB9-69A3-DE017A604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3" y="1754875"/>
            <a:ext cx="6017207" cy="1556450"/>
          </a:xfrm>
          <a:prstGeom prst="rect">
            <a:avLst/>
          </a:prstGeom>
        </p:spPr>
      </p:pic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81719FDA-BD03-A36C-BA4C-FB3C361A4E99}"/>
              </a:ext>
            </a:extLst>
          </p:cNvPr>
          <p:cNvCxnSpPr>
            <a:cxnSpLocks/>
          </p:cNvCxnSpPr>
          <p:nvPr/>
        </p:nvCxnSpPr>
        <p:spPr>
          <a:xfrm>
            <a:off x="2839375" y="1509204"/>
            <a:ext cx="0" cy="1511159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BCFE063-EC97-6BE6-028B-DB53AF67E008}"/>
              </a:ext>
            </a:extLst>
          </p:cNvPr>
          <p:cNvSpPr txBox="1"/>
          <p:nvPr/>
        </p:nvSpPr>
        <p:spPr>
          <a:xfrm>
            <a:off x="3338045" y="1412574"/>
            <a:ext cx="19485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replace</a:t>
            </a:r>
          </a:p>
        </p:txBody>
      </p:sp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9E443ECA-BAC6-9971-656B-619643757F63}"/>
              </a:ext>
            </a:extLst>
          </p:cNvPr>
          <p:cNvCxnSpPr>
            <a:cxnSpLocks/>
          </p:cNvCxnSpPr>
          <p:nvPr/>
        </p:nvCxnSpPr>
        <p:spPr>
          <a:xfrm>
            <a:off x="1207364" y="1509204"/>
            <a:ext cx="0" cy="1511159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 descr="텍스트, 라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77F53A-709D-923D-9262-39F909B7CE4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61" r="2188"/>
          <a:stretch>
            <a:fillRect/>
          </a:stretch>
        </p:blipFill>
        <p:spPr>
          <a:xfrm>
            <a:off x="1556411" y="3438182"/>
            <a:ext cx="4412197" cy="3419818"/>
          </a:xfrm>
          <a:prstGeom prst="rect">
            <a:avLst/>
          </a:prstGeom>
        </p:spPr>
      </p:pic>
      <p:pic>
        <p:nvPicPr>
          <p:cNvPr id="26" name="그림 2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A0A8FA-8941-96BC-0985-260CF47EDF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785" y="1950451"/>
            <a:ext cx="5783936" cy="342355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4FC515B-AEDE-5F61-EB5C-490CBF0471BC}"/>
              </a:ext>
            </a:extLst>
          </p:cNvPr>
          <p:cNvSpPr txBox="1"/>
          <p:nvPr/>
        </p:nvSpPr>
        <p:spPr>
          <a:xfrm>
            <a:off x="1136142" y="1416596"/>
            <a:ext cx="18159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remove</a:t>
            </a:r>
          </a:p>
        </p:txBody>
      </p:sp>
    </p:spTree>
    <p:extLst>
      <p:ext uri="{BB962C8B-B14F-4D97-AF65-F5344CB8AC3E}">
        <p14:creationId xmlns:p14="http://schemas.microsoft.com/office/powerpoint/2010/main" val="11616456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795D2-8D9F-5C3F-2DB9-135528938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제목 26">
                <a:extLst>
                  <a:ext uri="{FF2B5EF4-FFF2-40B4-BE49-F238E27FC236}">
                    <a16:creationId xmlns:a16="http://schemas.microsoft.com/office/drawing/2014/main" id="{DC90D8D2-BC7C-EA88-8926-21D6EE77005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</p:spPr>
            <p:txBody>
              <a:bodyPr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en-US" altLang="ko-KR" dirty="0"/>
                  <a:t>5. Initialization of </a:t>
                </a:r>
                <a14:m>
                  <m:oMath xmlns:m="http://schemas.openxmlformats.org/officeDocument/2006/math"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kumimoji="1" lang="en-US" altLang="ko-KR" dirty="0"/>
                  <a:t> for Non-LLM Models</a:t>
                </a:r>
              </a:p>
            </p:txBody>
          </p:sp>
        </mc:Choice>
        <mc:Fallback xmlns="">
          <p:sp>
            <p:nvSpPr>
              <p:cNvPr id="27" name="제목 26">
                <a:extLst>
                  <a:ext uri="{FF2B5EF4-FFF2-40B4-BE49-F238E27FC236}">
                    <a16:creationId xmlns:a16="http://schemas.microsoft.com/office/drawing/2014/main" id="{DC90D8D2-BC7C-EA88-8926-21D6EE7700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  <a:blipFill>
                <a:blip r:embed="rId3"/>
                <a:stretch>
                  <a:fillRect l="-937" b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340D3C-4F0B-C0A5-6A9E-E7FB82F2544D}"/>
                  </a:ext>
                </a:extLst>
              </p:cNvPr>
              <p:cNvSpPr txBox="1"/>
              <p:nvPr/>
            </p:nvSpPr>
            <p:spPr>
              <a:xfrm>
                <a:off x="-1" y="686345"/>
                <a:ext cx="11947022" cy="10434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</a:pPr>
                <a:r>
                  <a:rPr kumimoji="1" lang="en-US" altLang="ko-KR" sz="2200" b="1" dirty="0">
                    <a:latin typeface="+mn-ea"/>
                    <a:cs typeface="Times New Roman" panose="02020603050405020304" pitchFamily="18" charset="0"/>
                  </a:rPr>
                  <a:t>Non-LLM models</a:t>
                </a:r>
                <a:r>
                  <a:rPr kumimoji="1" lang="ko-KR" altLang="en-US" sz="2200" dirty="0">
                    <a:latin typeface="+mn-ea"/>
                    <a:cs typeface="Times New Roman" panose="02020603050405020304" pitchFamily="18" charset="0"/>
                  </a:rPr>
                  <a:t>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2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kumimoji="1" lang="en-US" altLang="ko-KR" sz="22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ko-KR" altLang="en-US" sz="2200" dirty="0" err="1">
                    <a:latin typeface="+mn-ea"/>
                    <a:cs typeface="Times New Roman" panose="02020603050405020304" pitchFamily="18" charset="0"/>
                  </a:rPr>
                  <a:t>에</a:t>
                </a:r>
                <a:r>
                  <a:rPr kumimoji="1" lang="ko-KR" altLang="en-US" sz="2200" dirty="0">
                    <a:latin typeface="+mn-ea"/>
                    <a:cs typeface="Times New Roman" panose="02020603050405020304" pitchFamily="18" charset="0"/>
                  </a:rPr>
                  <a:t> 상대적으로 </a:t>
                </a:r>
                <a:r>
                  <a:rPr kumimoji="1" lang="en-US" altLang="ko-KR" sz="2200" b="1" dirty="0">
                    <a:latin typeface="+mn-ea"/>
                    <a:cs typeface="Times New Roman" panose="02020603050405020304" pitchFamily="18" charset="0"/>
                  </a:rPr>
                  <a:t>insensitive (0.5 ~ 1.2)</a:t>
                </a:r>
                <a:endParaRPr kumimoji="1" lang="en-US" altLang="ko-KR" sz="2200" dirty="0">
                  <a:latin typeface="Cambria Math" panose="020405030504060302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200" b="0" i="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kumimoji="1" lang="en-US" altLang="ko-KR" sz="22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ko-KR" sz="2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2200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kumimoji="1" lang="en-US" altLang="ko-KR" sz="2200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kumimoji="1" lang="en-US" altLang="ko-KR" sz="2200" b="1" i="0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kumimoji="1" lang="en-US" altLang="ko-KR" sz="2200" b="1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340D3C-4F0B-C0A5-6A9E-E7FB82F25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686345"/>
                <a:ext cx="11947022" cy="1043491"/>
              </a:xfrm>
              <a:prstGeom prst="rect">
                <a:avLst/>
              </a:prstGeom>
              <a:blipFill>
                <a:blip r:embed="rId4"/>
                <a:stretch>
                  <a:fillRect l="-850" b="-84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 descr="텍스트, 라인, 번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465790F-E8AA-F1B4-6662-040D030915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520" y="1744917"/>
            <a:ext cx="10442960" cy="479176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0D9500A-2296-ABB5-B740-568AEEB0CC79}"/>
              </a:ext>
            </a:extLst>
          </p:cNvPr>
          <p:cNvSpPr/>
          <p:nvPr/>
        </p:nvSpPr>
        <p:spPr>
          <a:xfrm>
            <a:off x="9944111" y="2076816"/>
            <a:ext cx="1108339" cy="4673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78E8D0-C0D8-B22F-CB87-67017C639C25}"/>
              </a:ext>
            </a:extLst>
          </p:cNvPr>
          <p:cNvSpPr txBox="1"/>
          <p:nvPr/>
        </p:nvSpPr>
        <p:spPr>
          <a:xfrm>
            <a:off x="8788408" y="865945"/>
            <a:ext cx="3419743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b="1" dirty="0">
                <a:latin typeface="+mn-ea"/>
                <a:cs typeface="Times New Roman" panose="02020603050405020304" pitchFamily="18" charset="0"/>
              </a:rPr>
              <a:t>예외인 경우</a:t>
            </a:r>
            <a:r>
              <a:rPr kumimoji="1" lang="ko-KR" altLang="en-US" dirty="0">
                <a:latin typeface="+mn-ea"/>
                <a:cs typeface="Times New Roman" panose="02020603050405020304" pitchFamily="18" charset="0"/>
              </a:rPr>
              <a:t>도 있지만</a:t>
            </a:r>
            <a:r>
              <a:rPr kumimoji="1" lang="en-US" altLang="ko-KR" dirty="0">
                <a:latin typeface="+mn-ea"/>
                <a:cs typeface="Times New Roman" panose="02020603050405020304" pitchFamily="18" charset="0"/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b="1" dirty="0" err="1">
                <a:latin typeface="+mn-ea"/>
                <a:cs typeface="Times New Roman" panose="02020603050405020304" pitchFamily="18" charset="0"/>
              </a:rPr>
              <a:t>lr</a:t>
            </a:r>
            <a:r>
              <a:rPr kumimoji="1" lang="ko-KR" altLang="en-US" dirty="0">
                <a:latin typeface="+mn-ea"/>
                <a:cs typeface="Times New Roman" panose="02020603050405020304" pitchFamily="18" charset="0"/>
              </a:rPr>
              <a:t>을</a:t>
            </a:r>
            <a:r>
              <a:rPr kumimoji="1" lang="ko-KR" altLang="en-US" b="1" dirty="0">
                <a:latin typeface="+mn-ea"/>
                <a:cs typeface="Times New Roman" panose="02020603050405020304" pitchFamily="18" charset="0"/>
              </a:rPr>
              <a:t> 작게</a:t>
            </a:r>
            <a:r>
              <a:rPr kumimoji="1" lang="ko-KR" altLang="en-US" dirty="0">
                <a:latin typeface="+mn-ea"/>
                <a:cs typeface="Times New Roman" panose="02020603050405020304" pitchFamily="18" charset="0"/>
              </a:rPr>
              <a:t> 해서 해결</a:t>
            </a:r>
            <a:r>
              <a:rPr kumimoji="1" lang="en-US" altLang="ko-KR" dirty="0">
                <a:latin typeface="+mn-ea"/>
                <a:cs typeface="Times New Roman" panose="02020603050405020304" pitchFamily="18" charset="0"/>
              </a:rPr>
              <a:t> (appendix)</a:t>
            </a:r>
          </a:p>
        </p:txBody>
      </p:sp>
    </p:spTree>
    <p:extLst>
      <p:ext uri="{BB962C8B-B14F-4D97-AF65-F5344CB8AC3E}">
        <p14:creationId xmlns:p14="http://schemas.microsoft.com/office/powerpoint/2010/main" val="37717665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76AE3-7240-96C3-9597-CB33BBEAB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제목 26">
                <a:extLst>
                  <a:ext uri="{FF2B5EF4-FFF2-40B4-BE49-F238E27FC236}">
                    <a16:creationId xmlns:a16="http://schemas.microsoft.com/office/drawing/2014/main" id="{807BECA8-6E99-47D6-8A32-44E03C103E5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</p:spPr>
            <p:txBody>
              <a:bodyPr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en-US" altLang="ko-KR" dirty="0"/>
                  <a:t>5. Initialization of </a:t>
                </a:r>
                <a14:m>
                  <m:oMath xmlns:m="http://schemas.openxmlformats.org/officeDocument/2006/math">
                    <m:r>
                      <a:rPr kumimoji="1" lang="en-US" altLang="ko-KR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kumimoji="1" lang="en-US" altLang="ko-KR" dirty="0"/>
                  <a:t> for Non-LLM Models</a:t>
                </a:r>
              </a:p>
            </p:txBody>
          </p:sp>
        </mc:Choice>
        <mc:Fallback xmlns="">
          <p:sp>
            <p:nvSpPr>
              <p:cNvPr id="27" name="제목 26">
                <a:extLst>
                  <a:ext uri="{FF2B5EF4-FFF2-40B4-BE49-F238E27FC236}">
                    <a16:creationId xmlns:a16="http://schemas.microsoft.com/office/drawing/2014/main" id="{807BECA8-6E99-47D6-8A32-44E03C103E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  <a:blipFill>
                <a:blip r:embed="rId3"/>
                <a:stretch>
                  <a:fillRect l="-937" b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8390A7-3C8A-A625-61DF-EDAC095BEB67}"/>
                  </a:ext>
                </a:extLst>
              </p:cNvPr>
              <p:cNvSpPr txBox="1"/>
              <p:nvPr/>
            </p:nvSpPr>
            <p:spPr>
              <a:xfrm>
                <a:off x="-1" y="686345"/>
                <a:ext cx="11947022" cy="566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200" b="1" dirty="0">
                    <a:latin typeface="+mn-ea"/>
                    <a:cs typeface="Times New Roman" panose="02020603050405020304" pitchFamily="18" charset="0"/>
                  </a:rPr>
                  <a:t>(1) Smaller </a:t>
                </a:r>
                <a14:m>
                  <m:oMath xmlns:m="http://schemas.openxmlformats.org/officeDocument/2006/math">
                    <m:r>
                      <a:rPr kumimoji="1" lang="en-US" altLang="ko-KR" sz="2400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kumimoji="1" lang="en-US" altLang="ko-KR" sz="2200" b="1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and</a:t>
                </a:r>
                <a:r>
                  <a:rPr kumimoji="1" lang="en-US" altLang="ko-KR" sz="2200" b="1" dirty="0">
                    <a:latin typeface="+mn-ea"/>
                    <a:cs typeface="Times New Roman" panose="02020603050405020304" pitchFamily="18" charset="0"/>
                  </a:rPr>
                  <a:t> (2) smaller </a:t>
                </a:r>
                <a:r>
                  <a:rPr kumimoji="1" lang="en-US" altLang="ko-KR" sz="2200" b="1" dirty="0" err="1">
                    <a:latin typeface="+mn-ea"/>
                    <a:cs typeface="Times New Roman" panose="02020603050405020304" pitchFamily="18" charset="0"/>
                  </a:rPr>
                  <a:t>lr</a:t>
                </a:r>
                <a:r>
                  <a:rPr kumimoji="1" lang="en-US" altLang="ko-KR" sz="2200" b="1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results in more</a:t>
                </a:r>
                <a:r>
                  <a:rPr kumimoji="1" lang="en-US" altLang="ko-KR" sz="2200" b="1" dirty="0">
                    <a:latin typeface="+mn-ea"/>
                    <a:cs typeface="Times New Roman" panose="02020603050405020304" pitchFamily="18" charset="0"/>
                  </a:rPr>
                  <a:t> stable</a:t>
                </a:r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200" b="1" dirty="0">
                    <a:latin typeface="+mn-ea"/>
                    <a:cs typeface="Times New Roman" panose="02020603050405020304" pitchFamily="18" charset="0"/>
                  </a:rPr>
                  <a:t>training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8390A7-3C8A-A625-61DF-EDAC095BE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686345"/>
                <a:ext cx="11947022" cy="566630"/>
              </a:xfrm>
              <a:prstGeom prst="rect">
                <a:avLst/>
              </a:prstGeom>
              <a:blipFill>
                <a:blip r:embed="rId4"/>
                <a:stretch>
                  <a:fillRect l="-638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 descr="스크린샷, 라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267F02-281E-66BA-EF05-D44C5578D7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82" y="2212943"/>
            <a:ext cx="12100845" cy="4267041"/>
          </a:xfrm>
          <a:prstGeom prst="rect">
            <a:avLst/>
          </a:prstGeom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8734FBC4-571E-1180-1FE9-EAE5298812A3}"/>
              </a:ext>
            </a:extLst>
          </p:cNvPr>
          <p:cNvCxnSpPr>
            <a:cxnSpLocks/>
          </p:cNvCxnSpPr>
          <p:nvPr/>
        </p:nvCxnSpPr>
        <p:spPr>
          <a:xfrm flipV="1">
            <a:off x="166574" y="2212943"/>
            <a:ext cx="0" cy="3230728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63CE0B1-9BD1-2993-FBF7-E670E93B0252}"/>
              </a:ext>
            </a:extLst>
          </p:cNvPr>
          <p:cNvSpPr txBox="1"/>
          <p:nvPr/>
        </p:nvSpPr>
        <p:spPr>
          <a:xfrm>
            <a:off x="-2295" y="1760028"/>
            <a:ext cx="19384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(2) Smaller </a:t>
            </a:r>
            <a:r>
              <a:rPr kumimoji="1" lang="en-US" altLang="ko-KR" sz="2000" b="1" dirty="0" err="1">
                <a:latin typeface="+mn-ea"/>
                <a:cs typeface="Times New Roman" panose="02020603050405020304" pitchFamily="18" charset="0"/>
              </a:rPr>
              <a:t>lr</a:t>
            </a:r>
            <a:endParaRPr lang="ko-KR" altLang="en-US" sz="200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F85BB1E-2695-FCD4-2376-1A221CB73041}"/>
              </a:ext>
            </a:extLst>
          </p:cNvPr>
          <p:cNvCxnSpPr>
            <a:cxnSpLocks/>
          </p:cNvCxnSpPr>
          <p:nvPr/>
        </p:nvCxnSpPr>
        <p:spPr>
          <a:xfrm flipH="1">
            <a:off x="3241636" y="2097293"/>
            <a:ext cx="855156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5A9BF73-E093-1AFE-914B-BA071DFFAD93}"/>
                  </a:ext>
                </a:extLst>
              </p:cNvPr>
              <p:cNvSpPr txBox="1"/>
              <p:nvPr/>
            </p:nvSpPr>
            <p:spPr>
              <a:xfrm>
                <a:off x="3496657" y="1670781"/>
                <a:ext cx="193846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(1) Smaller </a:t>
                </a:r>
                <a14:m>
                  <m:oMath xmlns:m="http://schemas.openxmlformats.org/officeDocument/2006/math">
                    <m:r>
                      <a:rPr kumimoji="1" lang="en-US" altLang="ko-KR" sz="2000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5A9BF73-E093-1AFE-914B-BA071DFFA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6657" y="1670781"/>
                <a:ext cx="1938467" cy="400110"/>
              </a:xfrm>
              <a:prstGeom prst="rect">
                <a:avLst/>
              </a:prstGeom>
              <a:blipFill>
                <a:blip r:embed="rId6"/>
                <a:stretch>
                  <a:fillRect l="-3247" t="-6061" b="-242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15646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EE424-479C-8BC4-98FB-A3602FCEC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제목 26">
                <a:extLst>
                  <a:ext uri="{FF2B5EF4-FFF2-40B4-BE49-F238E27FC236}">
                    <a16:creationId xmlns:a16="http://schemas.microsoft.com/office/drawing/2014/main" id="{00981B8E-3A5A-81D4-05A9-713C31F14B5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</p:spPr>
            <p:txBody>
              <a:bodyPr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en-US" altLang="ko-KR" dirty="0"/>
                  <a:t>5. Initialization of </a:t>
                </a:r>
                <a14:m>
                  <m:oMath xmlns:m="http://schemas.openxmlformats.org/officeDocument/2006/math"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kumimoji="1" lang="en-US" altLang="ko-KR" dirty="0"/>
                  <a:t> for LLMs</a:t>
                </a:r>
              </a:p>
            </p:txBody>
          </p:sp>
        </mc:Choice>
        <mc:Fallback xmlns="">
          <p:sp>
            <p:nvSpPr>
              <p:cNvPr id="27" name="제목 26">
                <a:extLst>
                  <a:ext uri="{FF2B5EF4-FFF2-40B4-BE49-F238E27FC236}">
                    <a16:creationId xmlns:a16="http://schemas.microsoft.com/office/drawing/2014/main" id="{00981B8E-3A5A-81D4-05A9-713C31F14B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  <a:blipFill>
                <a:blip r:embed="rId3"/>
                <a:stretch>
                  <a:fillRect l="-937" b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B7E845-547D-1001-2C7D-BA881BBD8E13}"/>
                  </a:ext>
                </a:extLst>
              </p:cNvPr>
              <p:cNvSpPr txBox="1"/>
              <p:nvPr/>
            </p:nvSpPr>
            <p:spPr>
              <a:xfrm>
                <a:off x="-1" y="686345"/>
                <a:ext cx="11947022" cy="1972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”we find tuning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2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kumimoji="1" lang="en-US" altLang="ko-KR" sz="22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en-US" altLang="ko-KR" sz="2200" dirty="0">
                    <a:cs typeface="Times New Roman" panose="02020603050405020304" pitchFamily="18" charset="0"/>
                  </a:rPr>
                  <a:t> can substantially </a:t>
                </a:r>
                <a:r>
                  <a:rPr kumimoji="1" lang="en-US" altLang="ko-KR" sz="2200" b="1" dirty="0">
                    <a:cs typeface="Times New Roman" panose="02020603050405020304" pitchFamily="18" charset="0"/>
                  </a:rPr>
                  <a:t>improve</a:t>
                </a:r>
                <a:r>
                  <a:rPr kumimoji="1" lang="en-US" altLang="ko-KR" sz="2200" dirty="0"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200" b="1" dirty="0">
                    <a:cs typeface="Times New Roman" panose="02020603050405020304" pitchFamily="18" charset="0"/>
                  </a:rPr>
                  <a:t>LLM performance</a:t>
                </a:r>
                <a:r>
                  <a:rPr kumimoji="1" lang="en-US" altLang="ko-KR" sz="2200" dirty="0">
                    <a:cs typeface="Times New Roman" panose="02020603050405020304" pitchFamily="18" charset="0"/>
                  </a:rPr>
                  <a:t>”</a:t>
                </a:r>
                <a:endParaRPr kumimoji="1" lang="en-US" altLang="ko-KR" sz="22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200" b="1" dirty="0"/>
                  <a:t>Two</a:t>
                </a:r>
                <a:r>
                  <a:rPr kumimoji="1" lang="en-US" altLang="ko-KR" sz="2200" dirty="0"/>
                  <a:t> key </a:t>
                </a:r>
                <a:r>
                  <a:rPr kumimoji="1" lang="en-US" altLang="ko-KR" sz="2200" b="1" dirty="0"/>
                  <a:t>findings</a:t>
                </a:r>
                <a:r>
                  <a:rPr kumimoji="1" lang="en-US" altLang="ko-KR" sz="2200" dirty="0"/>
                  <a:t> emerge:</a:t>
                </a:r>
              </a:p>
              <a:p>
                <a:pPr lvl="1">
                  <a:lnSpc>
                    <a:spcPct val="150000"/>
                  </a:lnSpc>
                </a:pPr>
                <a:r>
                  <a:rPr kumimoji="1" lang="en-US" altLang="ko-KR" sz="2000" dirty="0"/>
                  <a:t>1. </a:t>
                </a:r>
                <a:r>
                  <a:rPr kumimoji="1" lang="en-US" altLang="ko-KR" sz="2000" b="1" dirty="0"/>
                  <a:t>Large models</a:t>
                </a:r>
                <a:r>
                  <a:rPr kumimoji="1" lang="en-US" altLang="ko-KR" sz="2000" dirty="0"/>
                  <a:t> require </a:t>
                </a:r>
                <a:r>
                  <a:rPr kumimoji="1" lang="en-US" altLang="ko-KR" sz="2000" b="1" dirty="0"/>
                  <a:t>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kumimoji="1" lang="en-US" altLang="ko-KR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en-US" altLang="ko-KR" sz="2000" dirty="0">
                    <a:cs typeface="Times New Roman" panose="02020603050405020304" pitchFamily="18" charset="0"/>
                  </a:rPr>
                  <a:t> values</a:t>
                </a:r>
              </a:p>
              <a:p>
                <a:pPr lvl="1">
                  <a:lnSpc>
                    <a:spcPct val="150000"/>
                  </a:lnSpc>
                </a:pPr>
                <a:r>
                  <a:rPr kumimoji="1" lang="en-US" altLang="ko-KR" sz="2000" dirty="0">
                    <a:cs typeface="Times New Roman" panose="02020603050405020304" pitchFamily="18" charset="0"/>
                  </a:rPr>
                  <a:t>2. </a:t>
                </a:r>
                <a:r>
                  <a:rPr kumimoji="1" lang="en-US" altLang="ko-KR" sz="2000" b="1" dirty="0">
                    <a:cs typeface="Times New Roman" panose="02020603050405020304" pitchFamily="18" charset="0"/>
                  </a:rPr>
                  <a:t>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kumimoji="1" lang="en-US" altLang="ko-KR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en-US" altLang="ko-KR" sz="2000" b="1" dirty="0">
                    <a:cs typeface="Times New Roman" panose="02020603050405020304" pitchFamily="18" charset="0"/>
                  </a:rPr>
                  <a:t> values for attention blocks</a:t>
                </a:r>
                <a:r>
                  <a:rPr kumimoji="1" lang="en-US" altLang="ko-KR" sz="2000" dirty="0">
                    <a:cs typeface="Times New Roman" panose="02020603050405020304" pitchFamily="18" charset="0"/>
                  </a:rPr>
                  <a:t> improve performance</a:t>
                </a:r>
                <a:endParaRPr kumimoji="1" lang="en-US" altLang="ko-KR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B7E845-547D-1001-2C7D-BA881BBD8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686345"/>
                <a:ext cx="11947022" cy="1972720"/>
              </a:xfrm>
              <a:prstGeom prst="rect">
                <a:avLst/>
              </a:prstGeom>
              <a:blipFill>
                <a:blip r:embed="rId4"/>
                <a:stretch>
                  <a:fillRect l="-638" b="-44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그림 1">
            <a:extLst>
              <a:ext uri="{FF2B5EF4-FFF2-40B4-BE49-F238E27FC236}">
                <a16:creationId xmlns:a16="http://schemas.microsoft.com/office/drawing/2014/main" id="{63003820-C05C-3BF4-95D3-D0AACD8158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198" y="2811566"/>
            <a:ext cx="6632314" cy="37436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50AC67-8D37-B9D5-6960-0A9703834F58}"/>
              </a:ext>
            </a:extLst>
          </p:cNvPr>
          <p:cNvSpPr txBox="1"/>
          <p:nvPr/>
        </p:nvSpPr>
        <p:spPr>
          <a:xfrm>
            <a:off x="7554482" y="2770026"/>
            <a:ext cx="4563453" cy="2999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600" dirty="0"/>
              <a:t>(</a:t>
            </a:r>
            <a:r>
              <a:rPr kumimoji="1" lang="ko-KR" altLang="en-US" sz="1600" dirty="0"/>
              <a:t>내 생각</a:t>
            </a:r>
            <a:r>
              <a:rPr kumimoji="1" lang="en-US" altLang="ko-KR" sz="1600" dirty="0"/>
              <a:t>) </a:t>
            </a:r>
            <a:br>
              <a:rPr kumimoji="1" lang="en-US" altLang="ko-KR" sz="1600" dirty="0"/>
            </a:br>
            <a:r>
              <a:rPr kumimoji="1" lang="en-US" altLang="ko-KR" sz="1600" dirty="0"/>
              <a:t>LLM model</a:t>
            </a:r>
            <a:r>
              <a:rPr kumimoji="1" lang="ko-KR" altLang="en-US" sz="1600" dirty="0"/>
              <a:t>이라서 </a:t>
            </a:r>
            <a:r>
              <a:rPr kumimoji="1" lang="en-US" altLang="ko-KR" sz="1600" dirty="0"/>
              <a:t>tuning</a:t>
            </a:r>
            <a:r>
              <a:rPr kumimoji="1" lang="ko-KR" altLang="en-US" sz="1600" dirty="0"/>
              <a:t>이 필요한</a:t>
            </a:r>
            <a:r>
              <a:rPr kumimoji="1" lang="en-US" altLang="ko-KR" sz="1600" dirty="0"/>
              <a:t> </a:t>
            </a:r>
            <a:r>
              <a:rPr kumimoji="1" lang="ko-KR" altLang="en-US" sz="1600" dirty="0"/>
              <a:t>게 아니라</a:t>
            </a:r>
            <a:r>
              <a:rPr kumimoji="1" lang="en-US" altLang="ko-KR" sz="1600" dirty="0"/>
              <a:t>, </a:t>
            </a:r>
            <a:r>
              <a:rPr kumimoji="1" lang="ko-KR" altLang="en-US" sz="1600" dirty="0"/>
              <a:t>사전 실험 및 분석에서 </a:t>
            </a:r>
            <a:r>
              <a:rPr kumimoji="1" lang="en-US" altLang="ko-KR" sz="1600" dirty="0"/>
              <a:t>LN</a:t>
            </a:r>
            <a:r>
              <a:rPr kumimoji="1" lang="ko-KR" altLang="en-US" sz="1600" dirty="0"/>
              <a:t>의 특성만을 모방했기 때문이 아닐까</a:t>
            </a:r>
            <a:r>
              <a:rPr kumimoji="1" lang="en-US" altLang="ko-KR" sz="1600" dirty="0"/>
              <a:t>?</a:t>
            </a:r>
          </a:p>
          <a:p>
            <a:pPr>
              <a:lnSpc>
                <a:spcPct val="150000"/>
              </a:lnSpc>
            </a:pPr>
            <a:r>
              <a:rPr kumimoji="1" lang="en-US" altLang="ko-KR" sz="1600" dirty="0">
                <a:sym typeface="Wingdings" pitchFamily="2" charset="2"/>
              </a:rPr>
              <a:t>= </a:t>
            </a:r>
            <a:r>
              <a:rPr kumimoji="1" lang="ko-KR" altLang="en-US" sz="1600" dirty="0">
                <a:sym typeface="Wingdings" pitchFamily="2" charset="2"/>
              </a:rPr>
              <a:t>다른 </a:t>
            </a:r>
            <a:r>
              <a:rPr kumimoji="1" lang="en-US" altLang="ko-KR" sz="1600" dirty="0">
                <a:sym typeface="Wingdings" pitchFamily="2" charset="2"/>
              </a:rPr>
              <a:t>task</a:t>
            </a:r>
            <a:r>
              <a:rPr kumimoji="1" lang="ko-KR" altLang="en-US" sz="1600" dirty="0">
                <a:sym typeface="Wingdings" pitchFamily="2" charset="2"/>
              </a:rPr>
              <a:t>의</a:t>
            </a:r>
            <a:r>
              <a:rPr kumimoji="1" lang="en-US" altLang="ko-KR" sz="1600" dirty="0">
                <a:sym typeface="Wingdings" pitchFamily="2" charset="2"/>
              </a:rPr>
              <a:t> </a:t>
            </a:r>
            <a:r>
              <a:rPr kumimoji="1" lang="en-US" altLang="ko-KR" sz="1600" dirty="0" err="1"/>
              <a:t>RMSNorm</a:t>
            </a:r>
            <a:r>
              <a:rPr kumimoji="1" lang="ko-KR" altLang="en-US" sz="1600" dirty="0"/>
              <a:t>에서도 따로 </a:t>
            </a:r>
            <a:r>
              <a:rPr kumimoji="1" lang="en-US" altLang="ko-KR" sz="1600" dirty="0"/>
              <a:t>tuning</a:t>
            </a:r>
            <a:r>
              <a:rPr kumimoji="1" lang="ko-KR" altLang="en-US" sz="1600" dirty="0"/>
              <a:t>을 해야 되는 거 아닐까</a:t>
            </a:r>
            <a:r>
              <a:rPr kumimoji="1" lang="en-US" altLang="ko-KR" sz="1600" dirty="0"/>
              <a:t>?</a:t>
            </a:r>
            <a:br>
              <a:rPr kumimoji="1" lang="en-US" altLang="ko-KR" sz="1600" dirty="0"/>
            </a:br>
            <a:r>
              <a:rPr kumimoji="1" lang="en-US" altLang="ko-KR" sz="1600" dirty="0"/>
              <a:t>(</a:t>
            </a:r>
            <a:r>
              <a:rPr kumimoji="1" lang="en-US" altLang="ko-KR" sz="1600" dirty="0" err="1"/>
              <a:t>LLaMA</a:t>
            </a:r>
            <a:r>
              <a:rPr kumimoji="1" lang="ko-KR" altLang="en-US" sz="1600" dirty="0"/>
              <a:t>에서만 실험했으니 일반화하기 힘들어 보임</a:t>
            </a:r>
            <a:r>
              <a:rPr kumimoji="1" lang="en-US" altLang="ko-KR" sz="1600" dirty="0"/>
              <a:t>… Appendix</a:t>
            </a:r>
            <a:r>
              <a:rPr kumimoji="1" lang="ko-KR" altLang="en-US" sz="1600" dirty="0"/>
              <a:t>에서도 추가 실험이 없음</a:t>
            </a:r>
            <a:r>
              <a:rPr kumimoji="1" lang="en-US" altLang="ko-KR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016788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990F1-73B4-1D14-1CDA-2E4BFF0EC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제목 26">
                <a:extLst>
                  <a:ext uri="{FF2B5EF4-FFF2-40B4-BE49-F238E27FC236}">
                    <a16:creationId xmlns:a16="http://schemas.microsoft.com/office/drawing/2014/main" id="{FD03D82D-610F-3E60-FB6D-C3525F8D2AD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</p:spPr>
            <p:txBody>
              <a:bodyPr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en-US" altLang="ko-KR" dirty="0"/>
                  <a:t>5. Initialization of </a:t>
                </a:r>
                <a14:m>
                  <m:oMath xmlns:m="http://schemas.openxmlformats.org/officeDocument/2006/math"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kumimoji="1" lang="en-US" altLang="ko-KR" dirty="0"/>
                  <a:t> for LLMs</a:t>
                </a:r>
              </a:p>
            </p:txBody>
          </p:sp>
        </mc:Choice>
        <mc:Fallback xmlns="">
          <p:sp>
            <p:nvSpPr>
              <p:cNvPr id="27" name="제목 26">
                <a:extLst>
                  <a:ext uri="{FF2B5EF4-FFF2-40B4-BE49-F238E27FC236}">
                    <a16:creationId xmlns:a16="http://schemas.microsoft.com/office/drawing/2014/main" id="{FD03D82D-610F-3E60-FB6D-C3525F8D2A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  <a:blipFill>
                <a:blip r:embed="rId3"/>
                <a:stretch>
                  <a:fillRect l="-937" b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AE08A8-6AE3-2F35-DB84-264C0A8CE9E5}"/>
                  </a:ext>
                </a:extLst>
              </p:cNvPr>
              <p:cNvSpPr txBox="1"/>
              <p:nvPr/>
            </p:nvSpPr>
            <p:spPr>
              <a:xfrm>
                <a:off x="-1" y="686345"/>
                <a:ext cx="11947022" cy="1972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”we find tuning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2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kumimoji="1" lang="en-US" altLang="ko-KR" sz="22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en-US" altLang="ko-KR" sz="2200" dirty="0">
                    <a:cs typeface="Times New Roman" panose="02020603050405020304" pitchFamily="18" charset="0"/>
                  </a:rPr>
                  <a:t> can substantially </a:t>
                </a:r>
                <a:r>
                  <a:rPr kumimoji="1" lang="en-US" altLang="ko-KR" sz="2200" b="1" dirty="0">
                    <a:cs typeface="Times New Roman" panose="02020603050405020304" pitchFamily="18" charset="0"/>
                  </a:rPr>
                  <a:t>improve</a:t>
                </a:r>
                <a:r>
                  <a:rPr kumimoji="1" lang="en-US" altLang="ko-KR" sz="2200" dirty="0"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200" b="1" dirty="0">
                    <a:cs typeface="Times New Roman" panose="02020603050405020304" pitchFamily="18" charset="0"/>
                  </a:rPr>
                  <a:t>LLM performance</a:t>
                </a:r>
                <a:r>
                  <a:rPr kumimoji="1" lang="en-US" altLang="ko-KR" sz="2200" dirty="0">
                    <a:cs typeface="Times New Roman" panose="02020603050405020304" pitchFamily="18" charset="0"/>
                  </a:rPr>
                  <a:t>”</a:t>
                </a:r>
                <a:endParaRPr kumimoji="1" lang="en-US" altLang="ko-KR" sz="22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200" dirty="0"/>
                  <a:t>Two key findings emerge:</a:t>
                </a:r>
              </a:p>
              <a:p>
                <a:pPr lvl="1">
                  <a:lnSpc>
                    <a:spcPct val="150000"/>
                  </a:lnSpc>
                </a:pPr>
                <a:r>
                  <a:rPr kumimoji="1" lang="en-US" altLang="ko-KR" sz="2000" dirty="0"/>
                  <a:t>1. Large models require 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ko-KR" sz="2000" dirty="0">
                    <a:cs typeface="Times New Roman" panose="02020603050405020304" pitchFamily="18" charset="0"/>
                  </a:rPr>
                  <a:t> values</a:t>
                </a:r>
              </a:p>
              <a:p>
                <a:pPr lvl="1">
                  <a:lnSpc>
                    <a:spcPct val="150000"/>
                  </a:lnSpc>
                </a:pPr>
                <a:r>
                  <a:rPr kumimoji="1" lang="en-US" altLang="ko-KR" sz="2000" dirty="0">
                    <a:cs typeface="Times New Roman" panose="02020603050405020304" pitchFamily="18" charset="0"/>
                  </a:rPr>
                  <a:t>2. 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ko-KR" sz="2000" dirty="0">
                    <a:cs typeface="Times New Roman" panose="02020603050405020304" pitchFamily="18" charset="0"/>
                  </a:rPr>
                  <a:t> values for attention blocks improve performance</a:t>
                </a:r>
                <a:endParaRPr kumimoji="1" lang="en-US" altLang="ko-KR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AE08A8-6AE3-2F35-DB84-264C0A8CE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686345"/>
                <a:ext cx="11947022" cy="1972720"/>
              </a:xfrm>
              <a:prstGeom prst="rect">
                <a:avLst/>
              </a:prstGeom>
              <a:blipFill>
                <a:blip r:embed="rId4"/>
                <a:stretch>
                  <a:fillRect l="-638" b="-44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C685C6-4A9B-163F-3623-02F65E289B35}"/>
                  </a:ext>
                </a:extLst>
              </p:cNvPr>
              <p:cNvSpPr txBox="1"/>
              <p:nvPr/>
            </p:nvSpPr>
            <p:spPr>
              <a:xfrm>
                <a:off x="7361420" y="2786356"/>
                <a:ext cx="4734371" cy="17015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en-US" altLang="ko-KR" b="1" dirty="0"/>
                  <a:t>Appendix&gt; </a:t>
                </a:r>
                <a:br>
                  <a:rPr kumimoji="1" lang="en-US" altLang="ko-KR" dirty="0"/>
                </a:br>
                <a:r>
                  <a:rPr kumimoji="1" lang="en-US" altLang="ko-KR" dirty="0" err="1"/>
                  <a:t>LLaMA</a:t>
                </a:r>
                <a:r>
                  <a:rPr kumimoji="1" lang="en-US" altLang="ko-KR" dirty="0"/>
                  <a:t> training</a:t>
                </a:r>
                <a:r>
                  <a:rPr kumimoji="1" lang="ko-KR" altLang="en-US" dirty="0"/>
                  <a:t>에서 </a:t>
                </a:r>
                <a:r>
                  <a:rPr kumimoji="1" lang="en-US" altLang="ko-KR" dirty="0"/>
                  <a:t>optimal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kumimoji="1"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ko-KR" altLang="en-US" dirty="0" err="1"/>
                  <a:t>를</a:t>
                </a:r>
                <a:r>
                  <a:rPr kumimoji="1" lang="ko-KR" altLang="en-US" dirty="0"/>
                  <a:t> 찾을 때</a:t>
                </a:r>
                <a:r>
                  <a:rPr kumimoji="1" lang="en-US" altLang="ko-KR" dirty="0"/>
                  <a:t>,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b="1" dirty="0"/>
                  <a:t>depth</a:t>
                </a:r>
                <a:r>
                  <a:rPr kumimoji="1" lang="ko-KR" altLang="en-US" b="1" dirty="0"/>
                  <a:t>는 상관이 없고</a:t>
                </a:r>
                <a:r>
                  <a:rPr kumimoji="1" lang="en-US" altLang="ko-KR" b="1" dirty="0"/>
                  <a:t>,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b="1" dirty="0"/>
                  <a:t>width</a:t>
                </a:r>
                <a:r>
                  <a:rPr kumimoji="1" lang="ko-KR" altLang="en-US" dirty="0" err="1"/>
                  <a:t>에</a:t>
                </a:r>
                <a:r>
                  <a:rPr kumimoji="1" lang="ko-KR" altLang="en-US" dirty="0"/>
                  <a:t> 따라 </a:t>
                </a:r>
                <a:r>
                  <a:rPr kumimoji="1" lang="en-US" altLang="ko-KR" dirty="0"/>
                  <a:t>optimal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kumimoji="1"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en-US" altLang="ko-KR" dirty="0"/>
                  <a:t> </a:t>
                </a:r>
                <a:r>
                  <a:rPr kumimoji="1" lang="ko-KR" altLang="en-US" dirty="0"/>
                  <a:t>변동이 크다</a:t>
                </a:r>
                <a:r>
                  <a:rPr kumimoji="1" lang="en-US" altLang="ko-KR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C685C6-4A9B-163F-3623-02F65E289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420" y="2786356"/>
                <a:ext cx="4734371" cy="1701556"/>
              </a:xfrm>
              <a:prstGeom prst="rect">
                <a:avLst/>
              </a:prstGeom>
              <a:blipFill>
                <a:blip r:embed="rId5"/>
                <a:stretch>
                  <a:fillRect l="-1070" b="-4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548BE7-CE2D-EFAB-6796-971A855112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979" y="2786356"/>
            <a:ext cx="7116441" cy="346046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EC532E5E-1E58-16D2-FE4E-1CE0CF11C38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821" t="4117" r="2032" b="-1"/>
          <a:stretch>
            <a:fillRect/>
          </a:stretch>
        </p:blipFill>
        <p:spPr>
          <a:xfrm>
            <a:off x="7473395" y="5414391"/>
            <a:ext cx="4716310" cy="11981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71D68B-B67E-143D-B7F1-3C66A50F46EB}"/>
              </a:ext>
            </a:extLst>
          </p:cNvPr>
          <p:cNvSpPr txBox="1"/>
          <p:nvPr/>
        </p:nvSpPr>
        <p:spPr>
          <a:xfrm>
            <a:off x="7417407" y="4814227"/>
            <a:ext cx="482828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 err="1">
                <a:hlinkClick r:id="rId8"/>
              </a:rPr>
              <a:t>Radford</a:t>
            </a:r>
            <a:r>
              <a:rPr lang="ko-KR" altLang="en-US" sz="1100" dirty="0">
                <a:hlinkClick r:id="rId8"/>
              </a:rPr>
              <a:t>, </a:t>
            </a:r>
            <a:r>
              <a:rPr lang="ko-KR" altLang="en-US" sz="1100" dirty="0" err="1">
                <a:hlinkClick r:id="rId8"/>
              </a:rPr>
              <a:t>Alec</a:t>
            </a:r>
            <a:r>
              <a:rPr lang="ko-KR" altLang="en-US" sz="1100" dirty="0">
                <a:hlinkClick r:id="rId8"/>
              </a:rPr>
              <a:t>, </a:t>
            </a:r>
            <a:r>
              <a:rPr lang="ko-KR" altLang="en-US" sz="1100" dirty="0" err="1">
                <a:hlinkClick r:id="rId8"/>
              </a:rPr>
              <a:t>et</a:t>
            </a:r>
            <a:r>
              <a:rPr lang="ko-KR" altLang="en-US" sz="1100" dirty="0">
                <a:hlinkClick r:id="rId8"/>
              </a:rPr>
              <a:t> </a:t>
            </a:r>
            <a:r>
              <a:rPr lang="ko-KR" altLang="en-US" sz="1100" dirty="0" err="1">
                <a:hlinkClick r:id="rId8"/>
              </a:rPr>
              <a:t>al</a:t>
            </a:r>
            <a:r>
              <a:rPr lang="ko-KR" altLang="en-US" sz="1100" dirty="0">
                <a:hlinkClick r:id="rId8"/>
              </a:rPr>
              <a:t>. "</a:t>
            </a:r>
            <a:r>
              <a:rPr lang="ko-KR" altLang="en-US" sz="1100" dirty="0" err="1">
                <a:hlinkClick r:id="rId8"/>
              </a:rPr>
              <a:t>Learning</a:t>
            </a:r>
            <a:r>
              <a:rPr lang="ko-KR" altLang="en-US" sz="1100" dirty="0">
                <a:hlinkClick r:id="rId8"/>
              </a:rPr>
              <a:t> </a:t>
            </a:r>
            <a:r>
              <a:rPr lang="ko-KR" altLang="en-US" sz="1100" dirty="0" err="1">
                <a:hlinkClick r:id="rId8"/>
              </a:rPr>
              <a:t>transferable</a:t>
            </a:r>
            <a:r>
              <a:rPr lang="ko-KR" altLang="en-US" sz="1100" dirty="0">
                <a:hlinkClick r:id="rId8"/>
              </a:rPr>
              <a:t> </a:t>
            </a:r>
            <a:r>
              <a:rPr lang="ko-KR" altLang="en-US" sz="1100" dirty="0" err="1">
                <a:hlinkClick r:id="rId8"/>
              </a:rPr>
              <a:t>visual</a:t>
            </a:r>
            <a:r>
              <a:rPr lang="ko-KR" altLang="en-US" sz="1100" dirty="0">
                <a:hlinkClick r:id="rId8"/>
              </a:rPr>
              <a:t> </a:t>
            </a:r>
            <a:r>
              <a:rPr lang="ko-KR" altLang="en-US" sz="1100" dirty="0" err="1">
                <a:hlinkClick r:id="rId8"/>
              </a:rPr>
              <a:t>models</a:t>
            </a:r>
            <a:r>
              <a:rPr lang="ko-KR" altLang="en-US" sz="1100" dirty="0">
                <a:hlinkClick r:id="rId8"/>
              </a:rPr>
              <a:t> </a:t>
            </a:r>
            <a:r>
              <a:rPr lang="ko-KR" altLang="en-US" sz="1100" dirty="0" err="1">
                <a:hlinkClick r:id="rId8"/>
              </a:rPr>
              <a:t>from</a:t>
            </a:r>
            <a:r>
              <a:rPr lang="ko-KR" altLang="en-US" sz="1100" dirty="0">
                <a:hlinkClick r:id="rId8"/>
              </a:rPr>
              <a:t> </a:t>
            </a:r>
            <a:r>
              <a:rPr lang="ko-KR" altLang="en-US" sz="1100" dirty="0" err="1">
                <a:hlinkClick r:id="rId8"/>
              </a:rPr>
              <a:t>natural</a:t>
            </a:r>
            <a:r>
              <a:rPr lang="ko-KR" altLang="en-US" sz="1100" dirty="0">
                <a:hlinkClick r:id="rId8"/>
              </a:rPr>
              <a:t> </a:t>
            </a:r>
            <a:r>
              <a:rPr lang="ko-KR" altLang="en-US" sz="1100" dirty="0" err="1">
                <a:hlinkClick r:id="rId8"/>
              </a:rPr>
              <a:t>language</a:t>
            </a:r>
            <a:r>
              <a:rPr lang="ko-KR" altLang="en-US" sz="1100" dirty="0">
                <a:hlinkClick r:id="rId8"/>
              </a:rPr>
              <a:t> </a:t>
            </a:r>
            <a:r>
              <a:rPr lang="ko-KR" altLang="en-US" sz="1100" dirty="0" err="1">
                <a:hlinkClick r:id="rId8"/>
              </a:rPr>
              <a:t>supervision</a:t>
            </a:r>
            <a:r>
              <a:rPr lang="ko-KR" altLang="en-US" sz="1100" dirty="0">
                <a:hlinkClick r:id="rId8"/>
              </a:rPr>
              <a:t>." </a:t>
            </a:r>
            <a:r>
              <a:rPr lang="ko-KR" altLang="en-US" sz="1100" i="1" dirty="0">
                <a:hlinkClick r:id="rId8"/>
              </a:rPr>
              <a:t>International </a:t>
            </a:r>
            <a:r>
              <a:rPr lang="ko-KR" altLang="en-US" sz="1100" i="1" dirty="0" err="1">
                <a:hlinkClick r:id="rId8"/>
              </a:rPr>
              <a:t>conference</a:t>
            </a:r>
            <a:r>
              <a:rPr lang="ko-KR" altLang="en-US" sz="1100" i="1" dirty="0">
                <a:hlinkClick r:id="rId8"/>
              </a:rPr>
              <a:t> </a:t>
            </a:r>
            <a:r>
              <a:rPr lang="ko-KR" altLang="en-US" sz="1100" i="1" dirty="0" err="1">
                <a:hlinkClick r:id="rId8"/>
              </a:rPr>
              <a:t>on</a:t>
            </a:r>
            <a:r>
              <a:rPr lang="ko-KR" altLang="en-US" sz="1100" i="1" dirty="0">
                <a:hlinkClick r:id="rId8"/>
              </a:rPr>
              <a:t> </a:t>
            </a:r>
            <a:r>
              <a:rPr lang="ko-KR" altLang="en-US" sz="1100" i="1" dirty="0" err="1">
                <a:hlinkClick r:id="rId8"/>
              </a:rPr>
              <a:t>machine</a:t>
            </a:r>
            <a:r>
              <a:rPr lang="ko-KR" altLang="en-US" sz="1100" i="1" dirty="0">
                <a:hlinkClick r:id="rId8"/>
              </a:rPr>
              <a:t> </a:t>
            </a:r>
            <a:r>
              <a:rPr lang="ko-KR" altLang="en-US" sz="1100" i="1" dirty="0" err="1">
                <a:hlinkClick r:id="rId8"/>
              </a:rPr>
              <a:t>learning</a:t>
            </a:r>
            <a:r>
              <a:rPr lang="ko-KR" altLang="en-US" sz="1100" dirty="0">
                <a:hlinkClick r:id="rId8"/>
              </a:rPr>
              <a:t>. </a:t>
            </a:r>
            <a:r>
              <a:rPr lang="ko-KR" altLang="en-US" sz="1100" dirty="0" err="1">
                <a:hlinkClick r:id="rId8"/>
              </a:rPr>
              <a:t>PmLR</a:t>
            </a:r>
            <a:r>
              <a:rPr lang="ko-KR" altLang="en-US" sz="1100" dirty="0">
                <a:hlinkClick r:id="rId8"/>
              </a:rPr>
              <a:t>, 2021.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5578336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B1200-9D82-7A56-227C-5B452D56E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FB2DE112-560A-85E6-A6D0-21D7D6054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6. Limitations</a:t>
            </a:r>
          </a:p>
        </p:txBody>
      </p:sp>
      <p:pic>
        <p:nvPicPr>
          <p:cNvPr id="4" name="그림 3" descr="텍스트, 폰트, 스크린샷, 정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25C753-26AB-3DD5-9F61-7B104C3F1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73" y="834922"/>
            <a:ext cx="5747762" cy="2500075"/>
          </a:xfrm>
          <a:prstGeom prst="rect">
            <a:avLst/>
          </a:prstGeom>
        </p:spPr>
      </p:pic>
      <p:pic>
        <p:nvPicPr>
          <p:cNvPr id="8" name="그림 7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F64838-5FE1-8B7F-8E74-A413E089C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67" y="4099887"/>
            <a:ext cx="6221338" cy="2361157"/>
          </a:xfrm>
          <a:prstGeom prst="rect">
            <a:avLst/>
          </a:prstGeom>
        </p:spPr>
      </p:pic>
      <p:pic>
        <p:nvPicPr>
          <p:cNvPr id="14" name="그림 13" descr="텍스트, 폰트, 스크린샷, 정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CBC8E4-96F9-E575-92DF-FD961F6055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2239" y="4099887"/>
            <a:ext cx="5547466" cy="22937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1B6C4D-F261-0E4A-9770-8E19A0333DC3}"/>
              </a:ext>
            </a:extLst>
          </p:cNvPr>
          <p:cNvSpPr txBox="1"/>
          <p:nvPr/>
        </p:nvSpPr>
        <p:spPr>
          <a:xfrm>
            <a:off x="85873" y="3490296"/>
            <a:ext cx="4734371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b="1" dirty="0"/>
              <a:t>Appendix&gt; 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930678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27405-FD89-0E28-D994-D27DA0096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BBB2F1-9D8E-3764-6081-632869175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2877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sz="3000" dirty="0"/>
              <a:t>7.</a:t>
            </a:r>
            <a:r>
              <a:rPr kumimoji="1" lang="ko-KR" altLang="en-US" sz="3000" dirty="0"/>
              <a:t> </a:t>
            </a:r>
            <a:r>
              <a:rPr kumimoji="1" lang="en-US" altLang="ko-KR" sz="3000" dirty="0"/>
              <a:t>Discussion</a:t>
            </a:r>
            <a:endParaRPr kumimoji="1" lang="ko-KR" altLang="en-US" sz="30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6AEC77-6199-BF40-B2A4-56DEBDCCF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725" y="654269"/>
            <a:ext cx="11516710" cy="5880537"/>
          </a:xfrm>
        </p:spPr>
        <p:txBody>
          <a:bodyPr anchor="ctr">
            <a:normAutofit/>
          </a:bodyPr>
          <a:lstStyle/>
          <a:p>
            <a:pPr lvl="1">
              <a:lnSpc>
                <a:spcPct val="200000"/>
              </a:lnSpc>
            </a:pPr>
            <a:r>
              <a:rPr kumimoji="1" lang="ko-KR" altLang="en-US" sz="2100" dirty="0">
                <a:cs typeface="Times New Roman" panose="02020603050405020304" pitchFamily="18" charset="0"/>
              </a:rPr>
              <a:t>이 논문에 대해 어떻게 리뷰하셨는지</a:t>
            </a:r>
            <a:r>
              <a:rPr kumimoji="1" lang="en-US" altLang="ko-KR" sz="2100" dirty="0">
                <a:cs typeface="Times New Roman" panose="02020603050405020304" pitchFamily="18" charset="0"/>
              </a:rPr>
              <a:t>?</a:t>
            </a:r>
          </a:p>
          <a:p>
            <a:pPr lvl="1">
              <a:lnSpc>
                <a:spcPct val="200000"/>
              </a:lnSpc>
            </a:pPr>
            <a:r>
              <a:rPr kumimoji="1" lang="ko-KR" altLang="en-US" sz="2100" dirty="0">
                <a:cs typeface="Times New Roman" panose="02020603050405020304" pitchFamily="18" charset="0"/>
              </a:rPr>
              <a:t>왜 </a:t>
            </a:r>
            <a:r>
              <a:rPr kumimoji="1" lang="en-US" altLang="ko-KR" sz="2100" dirty="0">
                <a:cs typeface="Times New Roman" panose="02020603050405020304" pitchFamily="18" charset="0"/>
              </a:rPr>
              <a:t>normalization layer</a:t>
            </a:r>
            <a:r>
              <a:rPr kumimoji="1" lang="ko-KR" altLang="en-US" sz="2100" dirty="0" err="1">
                <a:cs typeface="Times New Roman" panose="02020603050405020304" pitchFamily="18" charset="0"/>
              </a:rPr>
              <a:t>를</a:t>
            </a:r>
            <a:r>
              <a:rPr kumimoji="1" lang="ko-KR" altLang="en-US" sz="2100" dirty="0">
                <a:cs typeface="Times New Roman" panose="02020603050405020304" pitchFamily="18" charset="0"/>
              </a:rPr>
              <a:t> 없애려는 연구를 하는 걸까</a:t>
            </a:r>
            <a:r>
              <a:rPr kumimoji="1" lang="en-US" altLang="ko-KR" sz="2100" dirty="0">
                <a:cs typeface="Times New Roman" panose="02020603050405020304" pitchFamily="18" charset="0"/>
              </a:rPr>
              <a:t>?</a:t>
            </a:r>
            <a:br>
              <a:rPr kumimoji="1" lang="en-US" altLang="ko-KR" sz="2100" dirty="0">
                <a:cs typeface="Times New Roman" panose="02020603050405020304" pitchFamily="18" charset="0"/>
              </a:rPr>
            </a:br>
            <a:r>
              <a:rPr kumimoji="1" lang="en-US" altLang="ko-KR" sz="2100" dirty="0"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kumimoji="1" lang="en-US" altLang="ko-KR" sz="2100" dirty="0">
                <a:cs typeface="Times New Roman" panose="02020603050405020304" pitchFamily="18" charset="0"/>
              </a:rPr>
              <a:t>normalization layer</a:t>
            </a:r>
            <a:r>
              <a:rPr kumimoji="1" lang="ko-KR" altLang="en-US" sz="2100" dirty="0" err="1">
                <a:cs typeface="Times New Roman" panose="02020603050405020304" pitchFamily="18" charset="0"/>
              </a:rPr>
              <a:t>를</a:t>
            </a:r>
            <a:r>
              <a:rPr kumimoji="1" lang="ko-KR" altLang="en-US" sz="2100" dirty="0">
                <a:cs typeface="Times New Roman" panose="02020603050405020304" pitchFamily="18" charset="0"/>
              </a:rPr>
              <a:t> 없애는 것</a:t>
            </a:r>
            <a:r>
              <a:rPr kumimoji="1" lang="en-US" altLang="ko-KR" sz="2100" dirty="0">
                <a:cs typeface="Times New Roman" panose="02020603050405020304" pitchFamily="18" charset="0"/>
              </a:rPr>
              <a:t>(statistics </a:t>
            </a:r>
            <a:r>
              <a:rPr kumimoji="1" lang="ko-KR" altLang="en-US" sz="2100" dirty="0">
                <a:cs typeface="Times New Roman" panose="02020603050405020304" pitchFamily="18" charset="0"/>
              </a:rPr>
              <a:t>학습이 없어지는 것</a:t>
            </a:r>
            <a:r>
              <a:rPr kumimoji="1" lang="en-US" altLang="ko-KR" sz="2100" dirty="0">
                <a:cs typeface="Times New Roman" panose="02020603050405020304" pitchFamily="18" charset="0"/>
              </a:rPr>
              <a:t>)</a:t>
            </a:r>
            <a:r>
              <a:rPr kumimoji="1" lang="ko-KR" altLang="en-US" sz="2100" dirty="0" err="1">
                <a:cs typeface="Times New Roman" panose="02020603050405020304" pitchFamily="18" charset="0"/>
              </a:rPr>
              <a:t>으로</a:t>
            </a:r>
            <a:r>
              <a:rPr kumimoji="1" lang="ko-KR" altLang="en-US" sz="2100" dirty="0">
                <a:cs typeface="Times New Roman" panose="02020603050405020304" pitchFamily="18" charset="0"/>
              </a:rPr>
              <a:t> 할 수 있는 것</a:t>
            </a:r>
            <a:r>
              <a:rPr kumimoji="1" lang="en-US" altLang="ko-KR" sz="2100" dirty="0"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66265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50000"/>
            <a:lumOff val="50000"/>
          </a:schemeClr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17282</TotalTime>
  <Words>2420</Words>
  <Application>Microsoft Macintosh PowerPoint</Application>
  <PresentationFormat>와이드스크린</PresentationFormat>
  <Paragraphs>420</Paragraphs>
  <Slides>33</Slides>
  <Notes>33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9" baseType="lpstr">
      <vt:lpstr>맑은 고딕</vt:lpstr>
      <vt:lpstr>Arial</vt:lpstr>
      <vt:lpstr>Cambria Math</vt:lpstr>
      <vt:lpstr>Times New Roman</vt:lpstr>
      <vt:lpstr>Wingdings</vt:lpstr>
      <vt:lpstr>Office 테마</vt:lpstr>
      <vt:lpstr>PowerPoint 프레젠테이션</vt:lpstr>
      <vt:lpstr>Outline</vt:lpstr>
      <vt:lpstr>1. Background: Normalization layers</vt:lpstr>
      <vt:lpstr>1. Background: Normalization layers</vt:lpstr>
      <vt:lpstr>1. Background: Normalization layers</vt:lpstr>
      <vt:lpstr>1. Background: Normalization layers</vt:lpstr>
      <vt:lpstr>1. Background: Normalization layers</vt:lpstr>
      <vt:lpstr>1. Background: Normalization layers</vt:lpstr>
      <vt:lpstr>1. Background: Normalization layers</vt:lpstr>
      <vt:lpstr>Outline</vt:lpstr>
      <vt:lpstr>2. Analysis: What Do LN Layers Do?</vt:lpstr>
      <vt:lpstr>2. Analysis: What Do LN Layers Do?</vt:lpstr>
      <vt:lpstr>2. Analysis: What Do LN Layers Do?</vt:lpstr>
      <vt:lpstr>2. Analysis: What Do LN Layers Do?</vt:lpstr>
      <vt:lpstr>2. Analysis: What Do LN Layers Do?</vt:lpstr>
      <vt:lpstr>2. Analysis: What Do LN Layers Do?</vt:lpstr>
      <vt:lpstr>2. Analysis: What Do LN Layers Do?</vt:lpstr>
      <vt:lpstr>2. Analysis: What Do LN Layers Do?</vt:lpstr>
      <vt:lpstr>2. Analysis: What Do LN Layers Do?</vt:lpstr>
      <vt:lpstr>3. Dynamic Tanh (DyT)</vt:lpstr>
      <vt:lpstr>3. Dynamic Tanh (DyT)</vt:lpstr>
      <vt:lpstr>3. Dynamic Tanh (DyT)</vt:lpstr>
      <vt:lpstr>Outline</vt:lpstr>
      <vt:lpstr>4. Experiments &amp; Analysis</vt:lpstr>
      <vt:lpstr>4. Experiments &amp; Analysis</vt:lpstr>
      <vt:lpstr>4. Experiments &amp; Analysis</vt:lpstr>
      <vt:lpstr>4. Experiments &amp; Analysis</vt:lpstr>
      <vt:lpstr>5. Initialization of α for Non-LLM Models</vt:lpstr>
      <vt:lpstr>5. Initialization of α for Non-LLM Models</vt:lpstr>
      <vt:lpstr>5. Initialization of α for LLMs</vt:lpstr>
      <vt:lpstr>5. Initialization of α for LLMs</vt:lpstr>
      <vt:lpstr>6. Limitations</vt:lpstr>
      <vt:lpstr>7.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형섭 이</dc:creator>
  <cp:lastModifiedBy>이형섭/임베디드시스템공학과</cp:lastModifiedBy>
  <cp:revision>3662</cp:revision>
  <cp:lastPrinted>2025-10-29T03:35:47Z</cp:lastPrinted>
  <dcterms:created xsi:type="dcterms:W3CDTF">2023-10-11T13:31:20Z</dcterms:created>
  <dcterms:modified xsi:type="dcterms:W3CDTF">2025-12-05T08:17:37Z</dcterms:modified>
</cp:coreProperties>
</file>