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8"/>
  </p:notesMasterIdLst>
  <p:sldIdLst>
    <p:sldId id="256" r:id="rId2"/>
    <p:sldId id="257" r:id="rId3"/>
    <p:sldId id="344" r:id="rId4"/>
    <p:sldId id="365" r:id="rId5"/>
    <p:sldId id="366" r:id="rId6"/>
    <p:sldId id="367" r:id="rId7"/>
    <p:sldId id="368" r:id="rId8"/>
    <p:sldId id="369" r:id="rId9"/>
    <p:sldId id="370" r:id="rId10"/>
    <p:sldId id="372" r:id="rId11"/>
    <p:sldId id="364" r:id="rId12"/>
    <p:sldId id="345" r:id="rId13"/>
    <p:sldId id="348" r:id="rId14"/>
    <p:sldId id="373" r:id="rId15"/>
    <p:sldId id="374" r:id="rId16"/>
    <p:sldId id="349" r:id="rId17"/>
    <p:sldId id="347" r:id="rId18"/>
    <p:sldId id="350" r:id="rId19"/>
    <p:sldId id="375" r:id="rId20"/>
    <p:sldId id="351" r:id="rId21"/>
    <p:sldId id="352" r:id="rId22"/>
    <p:sldId id="353" r:id="rId23"/>
    <p:sldId id="354" r:id="rId24"/>
    <p:sldId id="356" r:id="rId25"/>
    <p:sldId id="357" r:id="rId26"/>
    <p:sldId id="358" r:id="rId27"/>
    <p:sldId id="355" r:id="rId28"/>
    <p:sldId id="361" r:id="rId29"/>
    <p:sldId id="362" r:id="rId30"/>
    <p:sldId id="360" r:id="rId31"/>
    <p:sldId id="363" r:id="rId32"/>
    <p:sldId id="376" r:id="rId33"/>
    <p:sldId id="377" r:id="rId34"/>
    <p:sldId id="378" r:id="rId35"/>
    <p:sldId id="379" r:id="rId36"/>
    <p:sldId id="380" r:id="rId37"/>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FA00"/>
    <a:srgbClr val="D883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147"/>
    <p:restoredTop sz="87191"/>
  </p:normalViewPr>
  <p:slideViewPr>
    <p:cSldViewPr snapToGrid="0">
      <p:cViewPr>
        <p:scale>
          <a:sx n="121" d="100"/>
          <a:sy n="121" d="100"/>
        </p:scale>
        <p:origin x="1472" y="4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DCCD09A-058A-C54B-8839-AF06743A1D5A}" type="datetimeFigureOut">
              <a:rPr kumimoji="1" lang="ko-KR" altLang="en-US" smtClean="0"/>
              <a:t>2025. 10. 1.</a:t>
            </a:fld>
            <a:endParaRPr kumimoji="1"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ko-KR" altLang="en-US"/>
              <a:t>마스터 텍스트 스타일을 편집하려면 클릭</a:t>
            </a:r>
          </a:p>
          <a:p>
            <a:pPr lvl="1"/>
            <a:r>
              <a:rPr kumimoji="1" lang="ko-KR" altLang="en-US"/>
              <a:t>두 번째 수준</a:t>
            </a:r>
          </a:p>
          <a:p>
            <a:pPr lvl="2"/>
            <a:r>
              <a:rPr kumimoji="1" lang="ko-KR" altLang="en-US"/>
              <a:t>세 번째 수준</a:t>
            </a:r>
          </a:p>
          <a:p>
            <a:pPr lvl="3"/>
            <a:r>
              <a:rPr kumimoji="1" lang="ko-KR" altLang="en-US"/>
              <a:t>네 번째 수준</a:t>
            </a:r>
          </a:p>
          <a:p>
            <a:pPr lvl="4"/>
            <a:r>
              <a:rPr kumimoji="1"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B8D3C5E-06BF-4547-A315-150B76FC98D2}" type="slidenum">
              <a:rPr kumimoji="1" lang="ko-KR" altLang="en-US" smtClean="0"/>
              <a:t>‹#›</a:t>
            </a:fld>
            <a:endParaRPr kumimoji="1" lang="ko-KR" altLang="en-US"/>
          </a:p>
        </p:txBody>
      </p:sp>
    </p:spTree>
    <p:extLst>
      <p:ext uri="{BB962C8B-B14F-4D97-AF65-F5344CB8AC3E}">
        <p14:creationId xmlns:p14="http://schemas.microsoft.com/office/powerpoint/2010/main" val="3529802293"/>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kumimoji="1" lang="ko-KR" altLang="en-US" dirty="0"/>
          </a:p>
        </p:txBody>
      </p:sp>
      <p:sp>
        <p:nvSpPr>
          <p:cNvPr id="4" name="슬라이드 번호 개체 틀 3"/>
          <p:cNvSpPr>
            <a:spLocks noGrp="1"/>
          </p:cNvSpPr>
          <p:nvPr>
            <p:ph type="sldNum" sz="quarter" idx="5"/>
          </p:nvPr>
        </p:nvSpPr>
        <p:spPr/>
        <p:txBody>
          <a:bodyPr/>
          <a:lstStyle/>
          <a:p>
            <a:fld id="{2B8D3C5E-06BF-4547-A315-150B76FC98D2}" type="slidenum">
              <a:rPr kumimoji="1" lang="ko-KR" altLang="en-US" smtClean="0"/>
              <a:t>2</a:t>
            </a:fld>
            <a:endParaRPr kumimoji="1" lang="ko-KR" altLang="en-US"/>
          </a:p>
        </p:txBody>
      </p:sp>
    </p:spTree>
    <p:extLst>
      <p:ext uri="{BB962C8B-B14F-4D97-AF65-F5344CB8AC3E}">
        <p14:creationId xmlns:p14="http://schemas.microsoft.com/office/powerpoint/2010/main" val="17499123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E7DA43-C48F-7A82-51B2-178C63CAC08F}"/>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F4F3B0C5-13B2-52D0-DBF8-D2B1CE88BB54}"/>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F2CBD687-F6B1-A6BB-B196-B72B5B9783E1}"/>
              </a:ext>
            </a:extLst>
          </p:cNvPr>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1" lang="en-US" altLang="ko-KR" sz="1200" b="0" dirty="0">
                <a:latin typeface="+mj-lt"/>
              </a:rPr>
              <a:t>7x7 Grid cell </a:t>
            </a:r>
            <a:r>
              <a:rPr kumimoji="1" lang="ko-KR" altLang="en-US" sz="1200" b="0" dirty="0">
                <a:latin typeface="+mj-lt"/>
              </a:rPr>
              <a:t>마다 </a:t>
            </a:r>
            <a:r>
              <a:rPr kumimoji="1" lang="en-US" altLang="ko-KR" sz="1200" b="0" dirty="0">
                <a:latin typeface="+mj-lt"/>
              </a:rPr>
              <a:t>2</a:t>
            </a:r>
            <a:r>
              <a:rPr kumimoji="1" lang="ko-KR" altLang="en-US" sz="1200" b="0" dirty="0">
                <a:latin typeface="+mj-lt"/>
              </a:rPr>
              <a:t>개의 </a:t>
            </a:r>
            <a:r>
              <a:rPr kumimoji="1" lang="en-US" altLang="ko-KR" sz="1200" b="0" dirty="0" err="1">
                <a:latin typeface="+mj-lt"/>
              </a:rPr>
              <a:t>Bbox</a:t>
            </a:r>
            <a:r>
              <a:rPr kumimoji="1" lang="en-US" altLang="ko-KR" sz="1200" b="0" dirty="0">
                <a:latin typeface="+mj-lt"/>
              </a:rPr>
              <a:t> </a:t>
            </a:r>
            <a:r>
              <a:rPr kumimoji="1" lang="ko-KR" altLang="en-US" sz="1200" b="0" dirty="0">
                <a:latin typeface="+mj-lt"/>
              </a:rPr>
              <a:t>예측</a:t>
            </a:r>
            <a:r>
              <a:rPr kumimoji="1" lang="en-US" altLang="ko-KR" sz="1200" b="0" dirty="0">
                <a:latin typeface="+mj-lt"/>
              </a:rPr>
              <a:t>, C=20 </a:t>
            </a:r>
            <a:r>
              <a:rPr kumimoji="1" lang="ko-KR" altLang="en-US" sz="1200" b="0" dirty="0">
                <a:latin typeface="+mj-lt"/>
              </a:rPr>
              <a:t>개 </a:t>
            </a:r>
            <a:r>
              <a:rPr kumimoji="1" lang="en-US" altLang="ko-KR" sz="1200" b="0" dirty="0">
                <a:latin typeface="+mj-lt"/>
              </a:rPr>
              <a:t>class </a:t>
            </a:r>
            <a:r>
              <a:rPr kumimoji="1" lang="en-US" altLang="ko-KR" sz="1200" b="0" dirty="0" err="1">
                <a:latin typeface="+mj-lt"/>
              </a:rPr>
              <a:t>probablity</a:t>
            </a:r>
            <a:r>
              <a:rPr kumimoji="1" lang="ko-KR" altLang="en-US" sz="1200" b="0" dirty="0">
                <a:latin typeface="+mj-lt"/>
              </a:rPr>
              <a:t>도 함께 예측</a:t>
            </a:r>
            <a:r>
              <a:rPr kumimoji="1" lang="en-US" altLang="ko-KR" sz="1200" b="0" dirty="0">
                <a:latin typeface="+mj-lt"/>
              </a:rPr>
              <a:t>. </a:t>
            </a:r>
          </a:p>
          <a:p>
            <a:pPr marL="0" marR="0" lvl="0" indent="0" algn="l" defTabSz="914400" rtl="0" eaLnBrk="1" fontAlgn="auto" latinLnBrk="1" hangingPunct="1">
              <a:lnSpc>
                <a:spcPct val="100000"/>
              </a:lnSpc>
              <a:spcBef>
                <a:spcPts val="0"/>
              </a:spcBef>
              <a:spcAft>
                <a:spcPts val="0"/>
              </a:spcAft>
              <a:buClrTx/>
              <a:buSzTx/>
              <a:buFontTx/>
              <a:buNone/>
              <a:tabLst/>
              <a:defRPr/>
            </a:pPr>
            <a:endParaRPr kumimoji="1" lang="en-US" altLang="ko-KR" sz="1200" b="0" dirty="0">
              <a:latin typeface="+mj-lt"/>
            </a:endParaRPr>
          </a:p>
          <a:p>
            <a:pPr marL="0" marR="0" lvl="0" indent="0" algn="l" defTabSz="914400" rtl="0" eaLnBrk="1" fontAlgn="auto" latinLnBrk="1" hangingPunct="1">
              <a:lnSpc>
                <a:spcPct val="100000"/>
              </a:lnSpc>
              <a:spcBef>
                <a:spcPts val="0"/>
              </a:spcBef>
              <a:spcAft>
                <a:spcPts val="0"/>
              </a:spcAft>
              <a:buClrTx/>
              <a:buSzTx/>
              <a:buFontTx/>
              <a:buNone/>
              <a:tabLst/>
              <a:defRPr/>
            </a:pPr>
            <a:r>
              <a:rPr kumimoji="1" lang="en-US" altLang="ko-KR" sz="1200" b="0" dirty="0">
                <a:latin typeface="+mj-lt"/>
              </a:rPr>
              <a:t>Pascal </a:t>
            </a:r>
            <a:r>
              <a:rPr kumimoji="1" lang="en-US" altLang="ko-KR" sz="1200" b="0" dirty="0" err="1">
                <a:latin typeface="+mj-lt"/>
              </a:rPr>
              <a:t>voc</a:t>
            </a:r>
            <a:r>
              <a:rPr kumimoji="1" lang="ko-KR" altLang="en-US" sz="1200" b="0" dirty="0">
                <a:latin typeface="+mj-lt"/>
              </a:rPr>
              <a:t>라 </a:t>
            </a:r>
            <a:r>
              <a:rPr kumimoji="1" lang="en-US" altLang="ko-KR" sz="1200" b="0" dirty="0">
                <a:latin typeface="+mj-lt"/>
              </a:rPr>
              <a:t>C=20</a:t>
            </a:r>
          </a:p>
        </p:txBody>
      </p:sp>
      <p:sp>
        <p:nvSpPr>
          <p:cNvPr id="4" name="슬라이드 번호 개체 틀 3">
            <a:extLst>
              <a:ext uri="{FF2B5EF4-FFF2-40B4-BE49-F238E27FC236}">
                <a16:creationId xmlns:a16="http://schemas.microsoft.com/office/drawing/2014/main" id="{C8DBC8B4-0E45-6579-23F9-959DD7E1F032}"/>
              </a:ext>
            </a:extLst>
          </p:cNvPr>
          <p:cNvSpPr>
            <a:spLocks noGrp="1"/>
          </p:cNvSpPr>
          <p:nvPr>
            <p:ph type="sldNum" sz="quarter" idx="5"/>
          </p:nvPr>
        </p:nvSpPr>
        <p:spPr/>
        <p:txBody>
          <a:bodyPr/>
          <a:lstStyle/>
          <a:p>
            <a:fld id="{2B8D3C5E-06BF-4547-A315-150B76FC98D2}" type="slidenum">
              <a:rPr kumimoji="1" lang="ko-KR" altLang="en-US" smtClean="0"/>
              <a:t>3</a:t>
            </a:fld>
            <a:endParaRPr kumimoji="1" lang="ko-KR" altLang="en-US"/>
          </a:p>
        </p:txBody>
      </p:sp>
    </p:spTree>
    <p:extLst>
      <p:ext uri="{BB962C8B-B14F-4D97-AF65-F5344CB8AC3E}">
        <p14:creationId xmlns:p14="http://schemas.microsoft.com/office/powerpoint/2010/main" val="24386861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52FBB8-F4C0-0DE3-F321-214AF45E02BA}"/>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674D8CF8-2B23-5B10-9BA1-55D691D73E08}"/>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E8E2DC17-36FC-F61C-8579-FAAA1B4B7022}"/>
              </a:ext>
            </a:extLst>
          </p:cNvPr>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1" lang="en-US" altLang="ko-KR" sz="1200" b="0" dirty="0">
                <a:latin typeface="+mj-lt"/>
              </a:rPr>
              <a:t>Anchor box</a:t>
            </a:r>
            <a:r>
              <a:rPr kumimoji="1" lang="ko-KR" altLang="en-US" sz="1200" b="0" dirty="0">
                <a:latin typeface="+mj-lt"/>
              </a:rPr>
              <a:t>의 </a:t>
            </a:r>
            <a:r>
              <a:rPr kumimoji="1" lang="en-US" altLang="ko-KR" sz="1200" b="0" dirty="0">
                <a:latin typeface="+mj-lt"/>
              </a:rPr>
              <a:t>a set of aspect ratio</a:t>
            </a:r>
            <a:r>
              <a:rPr kumimoji="1" lang="ko-KR" altLang="en-US" sz="1200" b="0" dirty="0" err="1">
                <a:latin typeface="+mj-lt"/>
              </a:rPr>
              <a:t>를</a:t>
            </a:r>
            <a:r>
              <a:rPr kumimoji="1" lang="ko-KR" altLang="en-US" sz="1200" b="0" dirty="0">
                <a:latin typeface="+mj-lt"/>
              </a:rPr>
              <a:t> </a:t>
            </a:r>
            <a:r>
              <a:rPr kumimoji="1" lang="en-US" altLang="ko-KR" sz="1200" b="0" dirty="0">
                <a:latin typeface="+mj-lt"/>
              </a:rPr>
              <a:t>manual</a:t>
            </a:r>
            <a:r>
              <a:rPr kumimoji="1" lang="ko-KR" altLang="en-US" sz="1200" b="0" dirty="0">
                <a:latin typeface="+mj-lt"/>
              </a:rPr>
              <a:t>하게 하지 않고</a:t>
            </a:r>
            <a:r>
              <a:rPr kumimoji="1" lang="en-US" altLang="ko-KR" sz="1200" b="0" dirty="0">
                <a:latin typeface="+mj-lt"/>
              </a:rPr>
              <a:t>, dataset</a:t>
            </a:r>
            <a:r>
              <a:rPr kumimoji="1" lang="ko-KR" altLang="en-US" sz="1200" b="0" dirty="0">
                <a:latin typeface="+mj-lt"/>
              </a:rPr>
              <a:t>의 </a:t>
            </a:r>
            <a:r>
              <a:rPr kumimoji="1" lang="en-US" altLang="ko-KR" sz="1200" b="0" dirty="0">
                <a:latin typeface="+mj-lt"/>
              </a:rPr>
              <a:t>ground truth </a:t>
            </a:r>
            <a:r>
              <a:rPr kumimoji="1" lang="en-US" altLang="ko-KR" sz="1200" b="0" dirty="0" err="1">
                <a:latin typeface="+mj-lt"/>
              </a:rPr>
              <a:t>bbox</a:t>
            </a:r>
            <a:r>
              <a:rPr kumimoji="1" lang="ko-KR" altLang="en-US" sz="1200" b="0" dirty="0" err="1">
                <a:latin typeface="+mj-lt"/>
              </a:rPr>
              <a:t>에</a:t>
            </a:r>
            <a:r>
              <a:rPr kumimoji="1" lang="ko-KR" altLang="en-US" sz="1200" b="0" dirty="0">
                <a:latin typeface="+mj-lt"/>
              </a:rPr>
              <a:t> 대해 </a:t>
            </a:r>
            <a:r>
              <a:rPr kumimoji="1" lang="en-US" altLang="ko-KR" sz="1200" b="0" dirty="0">
                <a:latin typeface="+mj-lt"/>
              </a:rPr>
              <a:t>k-means clustering</a:t>
            </a:r>
            <a:r>
              <a:rPr kumimoji="1" lang="ko-KR" altLang="en-US" sz="1200" b="0" dirty="0">
                <a:latin typeface="+mj-lt"/>
              </a:rPr>
              <a:t>을 하는데</a:t>
            </a:r>
            <a:endParaRPr kumimoji="1" lang="en-US" altLang="ko-KR" sz="1200" b="0" dirty="0">
              <a:latin typeface="+mj-lt"/>
            </a:endParaRPr>
          </a:p>
          <a:p>
            <a:pPr marL="0" marR="0" lvl="0" indent="0" algn="l" defTabSz="914400" rtl="0" eaLnBrk="1" fontAlgn="auto" latinLnBrk="1" hangingPunct="1">
              <a:lnSpc>
                <a:spcPct val="100000"/>
              </a:lnSpc>
              <a:spcBef>
                <a:spcPts val="0"/>
              </a:spcBef>
              <a:spcAft>
                <a:spcPts val="0"/>
              </a:spcAft>
              <a:buClrTx/>
              <a:buSzTx/>
              <a:buFontTx/>
              <a:buNone/>
              <a:tabLst/>
              <a:defRPr/>
            </a:pPr>
            <a:endParaRPr kumimoji="1" lang="en-US" altLang="ko-KR" sz="1200" b="0" dirty="0">
              <a:latin typeface="+mj-lt"/>
            </a:endParaRPr>
          </a:p>
          <a:p>
            <a:pPr marL="0" marR="0" lvl="0" indent="0" algn="l" defTabSz="914400" rtl="0" eaLnBrk="1" fontAlgn="auto" latinLnBrk="1" hangingPunct="1">
              <a:lnSpc>
                <a:spcPct val="100000"/>
              </a:lnSpc>
              <a:spcBef>
                <a:spcPts val="0"/>
              </a:spcBef>
              <a:spcAft>
                <a:spcPts val="0"/>
              </a:spcAft>
              <a:buClrTx/>
              <a:buSzTx/>
              <a:buFontTx/>
              <a:buNone/>
              <a:tabLst/>
              <a:defRPr/>
            </a:pPr>
            <a:r>
              <a:rPr kumimoji="1" lang="en-US" altLang="ko-KR" sz="1200" b="0" dirty="0">
                <a:latin typeface="+mj-lt"/>
              </a:rPr>
              <a:t>Euclidean distance</a:t>
            </a:r>
            <a:r>
              <a:rPr kumimoji="1" lang="ko-KR" altLang="en-US" sz="1200" b="0" dirty="0">
                <a:latin typeface="+mj-lt"/>
              </a:rPr>
              <a:t> 대신 </a:t>
            </a:r>
            <a:r>
              <a:rPr kumimoji="1" lang="en-US" altLang="ko-KR" sz="1200" b="0" dirty="0" err="1">
                <a:latin typeface="+mj-lt"/>
              </a:rPr>
              <a:t>IoU</a:t>
            </a:r>
            <a:r>
              <a:rPr kumimoji="1" lang="en-US" altLang="ko-KR" sz="1200" b="0" dirty="0">
                <a:latin typeface="+mj-lt"/>
              </a:rPr>
              <a:t> distance</a:t>
            </a:r>
            <a:r>
              <a:rPr kumimoji="1" lang="ko-KR" altLang="en-US" sz="1200" b="0" dirty="0">
                <a:latin typeface="+mj-lt"/>
              </a:rPr>
              <a:t>로</a:t>
            </a:r>
            <a:r>
              <a:rPr kumimoji="1" lang="en-US" altLang="ko-KR" sz="1200" b="0" dirty="0">
                <a:latin typeface="+mj-lt"/>
              </a:rPr>
              <a:t>…</a:t>
            </a:r>
          </a:p>
        </p:txBody>
      </p:sp>
      <p:sp>
        <p:nvSpPr>
          <p:cNvPr id="4" name="슬라이드 번호 개체 틀 3">
            <a:extLst>
              <a:ext uri="{FF2B5EF4-FFF2-40B4-BE49-F238E27FC236}">
                <a16:creationId xmlns:a16="http://schemas.microsoft.com/office/drawing/2014/main" id="{C83A0D28-4A80-4D76-A514-0A8F17956338}"/>
              </a:ext>
            </a:extLst>
          </p:cNvPr>
          <p:cNvSpPr>
            <a:spLocks noGrp="1"/>
          </p:cNvSpPr>
          <p:nvPr>
            <p:ph type="sldNum" sz="quarter" idx="5"/>
          </p:nvPr>
        </p:nvSpPr>
        <p:spPr/>
        <p:txBody>
          <a:bodyPr/>
          <a:lstStyle/>
          <a:p>
            <a:fld id="{2B8D3C5E-06BF-4547-A315-150B76FC98D2}" type="slidenum">
              <a:rPr kumimoji="1" lang="ko-KR" altLang="en-US" smtClean="0"/>
              <a:t>4</a:t>
            </a:fld>
            <a:endParaRPr kumimoji="1" lang="ko-KR" altLang="en-US"/>
          </a:p>
        </p:txBody>
      </p:sp>
    </p:spTree>
    <p:extLst>
      <p:ext uri="{BB962C8B-B14F-4D97-AF65-F5344CB8AC3E}">
        <p14:creationId xmlns:p14="http://schemas.microsoft.com/office/powerpoint/2010/main" val="40230358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35B563-F415-03DC-B4C9-8B8ED29392C6}"/>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60BC3299-3DC8-4EF6-2641-C67D414D16EA}"/>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1A5156E2-B607-29FE-F299-459970103679}"/>
              </a:ext>
            </a:extLst>
          </p:cNvPr>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1" lang="en-US" altLang="ko-KR" sz="1200" b="0" dirty="0">
                <a:latin typeface="+mj-lt"/>
              </a:rPr>
              <a:t>SPP:</a:t>
            </a:r>
            <a:r>
              <a:rPr kumimoji="1" lang="ko-KR" altLang="en-US" sz="1200" b="0" dirty="0">
                <a:latin typeface="+mj-lt"/>
              </a:rPr>
              <a:t> </a:t>
            </a:r>
            <a:r>
              <a:rPr kumimoji="1" lang="en-US" altLang="ko-KR" sz="1200" b="0" dirty="0">
                <a:latin typeface="+mj-lt"/>
              </a:rPr>
              <a:t>from local to global kernel size</a:t>
            </a:r>
            <a:r>
              <a:rPr kumimoji="1" lang="ko-KR" altLang="en-US" sz="1200" b="0" dirty="0">
                <a:latin typeface="+mj-lt"/>
              </a:rPr>
              <a:t>로 </a:t>
            </a:r>
            <a:r>
              <a:rPr kumimoji="1" lang="en-US" altLang="ko-KR" sz="1200" b="0" dirty="0">
                <a:latin typeface="+mj-lt"/>
              </a:rPr>
              <a:t>feature aggregation</a:t>
            </a:r>
          </a:p>
        </p:txBody>
      </p:sp>
      <p:sp>
        <p:nvSpPr>
          <p:cNvPr id="4" name="슬라이드 번호 개체 틀 3">
            <a:extLst>
              <a:ext uri="{FF2B5EF4-FFF2-40B4-BE49-F238E27FC236}">
                <a16:creationId xmlns:a16="http://schemas.microsoft.com/office/drawing/2014/main" id="{7F441177-AE1E-683F-7DC9-CEBC6CFA0E67}"/>
              </a:ext>
            </a:extLst>
          </p:cNvPr>
          <p:cNvSpPr>
            <a:spLocks noGrp="1"/>
          </p:cNvSpPr>
          <p:nvPr>
            <p:ph type="sldNum" sz="quarter" idx="5"/>
          </p:nvPr>
        </p:nvSpPr>
        <p:spPr/>
        <p:txBody>
          <a:bodyPr/>
          <a:lstStyle/>
          <a:p>
            <a:fld id="{2B8D3C5E-06BF-4547-A315-150B76FC98D2}" type="slidenum">
              <a:rPr kumimoji="1" lang="ko-KR" altLang="en-US" smtClean="0"/>
              <a:t>5</a:t>
            </a:fld>
            <a:endParaRPr kumimoji="1" lang="ko-KR" altLang="en-US"/>
          </a:p>
        </p:txBody>
      </p:sp>
    </p:spTree>
    <p:extLst>
      <p:ext uri="{BB962C8B-B14F-4D97-AF65-F5344CB8AC3E}">
        <p14:creationId xmlns:p14="http://schemas.microsoft.com/office/powerpoint/2010/main" val="12890247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85AE5A-3FB5-80AB-FBE0-8E34F86DDEE5}"/>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BD46761A-C16E-30F7-4F32-A91016EECDD0}"/>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17B7E6C1-9043-A794-5D38-64C7E8086A16}"/>
              </a:ext>
            </a:extLst>
          </p:cNvPr>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1" lang="en-US" altLang="ko-KR" sz="1200" b="0" dirty="0">
                <a:latin typeface="+mj-lt"/>
              </a:rPr>
              <a:t>Yolov4</a:t>
            </a:r>
            <a:r>
              <a:rPr kumimoji="1" lang="ko-KR" altLang="en-US" sz="1200" b="0" dirty="0" err="1">
                <a:latin typeface="+mj-lt"/>
              </a:rPr>
              <a:t>부터</a:t>
            </a:r>
            <a:r>
              <a:rPr kumimoji="1" lang="ko-KR" altLang="en-US" sz="1200" b="0" dirty="0">
                <a:latin typeface="+mj-lt"/>
              </a:rPr>
              <a:t> 우리가 익숙한 구조의 </a:t>
            </a:r>
            <a:r>
              <a:rPr kumimoji="1" lang="en-US" altLang="ko-KR" sz="1200" b="0" dirty="0">
                <a:latin typeface="+mj-lt"/>
              </a:rPr>
              <a:t>detection network</a:t>
            </a:r>
            <a:r>
              <a:rPr kumimoji="1" lang="ko-KR" altLang="en-US" sz="1200" b="0" dirty="0">
                <a:latin typeface="+mj-lt"/>
              </a:rPr>
              <a:t>가 확립</a:t>
            </a:r>
            <a:r>
              <a:rPr kumimoji="1" lang="en-US" altLang="ko-KR" sz="1200" b="0" dirty="0">
                <a:latin typeface="+mj-lt"/>
              </a:rPr>
              <a:t>.</a:t>
            </a:r>
          </a:p>
          <a:p>
            <a:pPr marL="0" marR="0" lvl="0" indent="0" algn="l" defTabSz="914400" rtl="0" eaLnBrk="1" fontAlgn="auto" latinLnBrk="1" hangingPunct="1">
              <a:lnSpc>
                <a:spcPct val="100000"/>
              </a:lnSpc>
              <a:spcBef>
                <a:spcPts val="0"/>
              </a:spcBef>
              <a:spcAft>
                <a:spcPts val="0"/>
              </a:spcAft>
              <a:buClrTx/>
              <a:buSzTx/>
              <a:buFontTx/>
              <a:buNone/>
              <a:tabLst/>
              <a:defRPr/>
            </a:pPr>
            <a:endParaRPr kumimoji="1" lang="en-US" altLang="ko-KR" sz="1200" b="0" dirty="0">
              <a:latin typeface="+mj-lt"/>
            </a:endParaRPr>
          </a:p>
          <a:p>
            <a:pPr marL="0" marR="0" lvl="0" indent="0" algn="l" defTabSz="914400" rtl="0" eaLnBrk="1" fontAlgn="auto" latinLnBrk="1" hangingPunct="1">
              <a:lnSpc>
                <a:spcPct val="100000"/>
              </a:lnSpc>
              <a:spcBef>
                <a:spcPts val="0"/>
              </a:spcBef>
              <a:spcAft>
                <a:spcPts val="0"/>
              </a:spcAft>
              <a:buClrTx/>
              <a:buSzTx/>
              <a:buFontTx/>
              <a:buNone/>
              <a:tabLst/>
              <a:defRPr/>
            </a:pPr>
            <a:r>
              <a:rPr kumimoji="1" lang="en-US" altLang="ko-KR" sz="1200" b="0" dirty="0" err="1">
                <a:latin typeface="+mj-lt"/>
              </a:rPr>
              <a:t>BoF</a:t>
            </a:r>
            <a:r>
              <a:rPr kumimoji="1" lang="en-US" altLang="ko-KR" sz="1200" b="0" dirty="0">
                <a:latin typeface="+mj-lt"/>
              </a:rPr>
              <a:t>(training strategies..), BoS(</a:t>
            </a:r>
            <a:r>
              <a:rPr kumimoji="1" lang="ko-KR" altLang="en-US" sz="1200" b="0" dirty="0">
                <a:latin typeface="+mj-lt"/>
              </a:rPr>
              <a:t>약간의 </a:t>
            </a:r>
            <a:r>
              <a:rPr kumimoji="1" lang="en-US" altLang="ko-KR" sz="1200" b="0" dirty="0">
                <a:latin typeface="+mj-lt"/>
              </a:rPr>
              <a:t>inference </a:t>
            </a:r>
            <a:r>
              <a:rPr kumimoji="1" lang="ko-KR" altLang="en-US" sz="1200" b="0" dirty="0">
                <a:latin typeface="+mj-lt"/>
              </a:rPr>
              <a:t>손해를 보더라도 성능이 확 좋아지는 기법</a:t>
            </a:r>
            <a:r>
              <a:rPr kumimoji="1" lang="en-US" altLang="ko-KR" sz="1200" b="0" dirty="0">
                <a:latin typeface="+mj-lt"/>
              </a:rPr>
              <a:t>)</a:t>
            </a:r>
            <a:r>
              <a:rPr kumimoji="1" lang="ko-KR" altLang="en-US" sz="1200" b="0" dirty="0" err="1">
                <a:latin typeface="+mj-lt"/>
              </a:rPr>
              <a:t>를</a:t>
            </a:r>
            <a:r>
              <a:rPr kumimoji="1" lang="ko-KR" altLang="en-US" sz="1200" b="0" dirty="0">
                <a:latin typeface="+mj-lt"/>
              </a:rPr>
              <a:t> 잘 정리</a:t>
            </a:r>
            <a:r>
              <a:rPr kumimoji="1" lang="en-US" altLang="ko-KR" sz="1200" b="0" dirty="0">
                <a:latin typeface="+mj-lt"/>
              </a:rPr>
              <a:t>…</a:t>
            </a:r>
          </a:p>
          <a:p>
            <a:pPr marL="0" marR="0" lvl="0" indent="0" algn="l" defTabSz="914400" rtl="0" eaLnBrk="1" fontAlgn="auto" latinLnBrk="1" hangingPunct="1">
              <a:lnSpc>
                <a:spcPct val="100000"/>
              </a:lnSpc>
              <a:spcBef>
                <a:spcPts val="0"/>
              </a:spcBef>
              <a:spcAft>
                <a:spcPts val="0"/>
              </a:spcAft>
              <a:buClrTx/>
              <a:buSzTx/>
              <a:buFontTx/>
              <a:buNone/>
              <a:tabLst/>
              <a:defRPr/>
            </a:pPr>
            <a:endParaRPr kumimoji="1" lang="en-US" altLang="ko-KR" sz="1200" b="0" dirty="0">
              <a:latin typeface="+mj-lt"/>
            </a:endParaRPr>
          </a:p>
          <a:p>
            <a:pPr marL="0" marR="0" lvl="0" indent="0" algn="l" defTabSz="914400" rtl="0" eaLnBrk="1" fontAlgn="auto" latinLnBrk="1" hangingPunct="1">
              <a:lnSpc>
                <a:spcPct val="100000"/>
              </a:lnSpc>
              <a:spcBef>
                <a:spcPts val="0"/>
              </a:spcBef>
              <a:spcAft>
                <a:spcPts val="0"/>
              </a:spcAft>
              <a:buClrTx/>
              <a:buSzTx/>
              <a:buFontTx/>
              <a:buNone/>
              <a:tabLst/>
              <a:defRPr/>
            </a:pPr>
            <a:r>
              <a:rPr kumimoji="1" lang="en-US" altLang="ko-KR" sz="1200" b="0" dirty="0">
                <a:latin typeface="+mj-lt"/>
              </a:rPr>
              <a:t>Backbone,</a:t>
            </a:r>
          </a:p>
          <a:p>
            <a:pPr marL="0" marR="0" lvl="0" indent="0" algn="l" defTabSz="914400" rtl="0" eaLnBrk="1" fontAlgn="auto" latinLnBrk="1" hangingPunct="1">
              <a:lnSpc>
                <a:spcPct val="100000"/>
              </a:lnSpc>
              <a:spcBef>
                <a:spcPts val="0"/>
              </a:spcBef>
              <a:spcAft>
                <a:spcPts val="0"/>
              </a:spcAft>
              <a:buClrTx/>
              <a:buSzTx/>
              <a:buFontTx/>
              <a:buNone/>
              <a:tabLst/>
              <a:defRPr/>
            </a:pPr>
            <a:r>
              <a:rPr kumimoji="1" lang="en-US" altLang="ko-KR" sz="1200" b="0" dirty="0">
                <a:latin typeface="+mj-lt"/>
              </a:rPr>
              <a:t>Neck</a:t>
            </a:r>
          </a:p>
          <a:p>
            <a:pPr marL="0" marR="0" lvl="0" indent="0" algn="l" defTabSz="914400" rtl="0" eaLnBrk="1" fontAlgn="auto" latinLnBrk="1" hangingPunct="1">
              <a:lnSpc>
                <a:spcPct val="100000"/>
              </a:lnSpc>
              <a:spcBef>
                <a:spcPts val="0"/>
              </a:spcBef>
              <a:spcAft>
                <a:spcPts val="0"/>
              </a:spcAft>
              <a:buClrTx/>
              <a:buSzTx/>
              <a:buFontTx/>
              <a:buNone/>
              <a:tabLst/>
              <a:defRPr/>
            </a:pPr>
            <a:r>
              <a:rPr kumimoji="1" lang="en-US" altLang="ko-KR" sz="1200" b="0" dirty="0">
                <a:latin typeface="+mj-lt"/>
              </a:rPr>
              <a:t>Head </a:t>
            </a:r>
          </a:p>
          <a:p>
            <a:pPr marL="0" marR="0" lvl="0" indent="0" algn="l" defTabSz="914400" rtl="0" eaLnBrk="1" fontAlgn="auto" latinLnBrk="1" hangingPunct="1">
              <a:lnSpc>
                <a:spcPct val="100000"/>
              </a:lnSpc>
              <a:spcBef>
                <a:spcPts val="0"/>
              </a:spcBef>
              <a:spcAft>
                <a:spcPts val="0"/>
              </a:spcAft>
              <a:buClrTx/>
              <a:buSzTx/>
              <a:buFontTx/>
              <a:buNone/>
              <a:tabLst/>
              <a:defRPr/>
            </a:pPr>
            <a:r>
              <a:rPr kumimoji="1" lang="ko-KR" altLang="en-US" sz="1200" b="0" dirty="0">
                <a:latin typeface="+mj-lt"/>
              </a:rPr>
              <a:t>구조에 있는 모든 </a:t>
            </a:r>
            <a:r>
              <a:rPr kumimoji="1" lang="en-US" altLang="ko-KR" sz="1200" b="0" dirty="0" err="1">
                <a:latin typeface="+mj-lt"/>
              </a:rPr>
              <a:t>BoF</a:t>
            </a:r>
            <a:r>
              <a:rPr kumimoji="1" lang="en-US" altLang="ko-KR" sz="1200" b="0" dirty="0">
                <a:latin typeface="+mj-lt"/>
              </a:rPr>
              <a:t>, BoS</a:t>
            </a:r>
            <a:r>
              <a:rPr kumimoji="1" lang="ko-KR" altLang="en-US" sz="1200" b="0" dirty="0">
                <a:latin typeface="+mj-lt"/>
              </a:rPr>
              <a:t>들 모두 짬뽕해서 좋은 걸로 만듦</a:t>
            </a:r>
            <a:endParaRPr kumimoji="1" lang="en-US" altLang="ko-KR" sz="1200" b="0" dirty="0">
              <a:latin typeface="+mj-lt"/>
            </a:endParaRPr>
          </a:p>
        </p:txBody>
      </p:sp>
      <p:sp>
        <p:nvSpPr>
          <p:cNvPr id="4" name="슬라이드 번호 개체 틀 3">
            <a:extLst>
              <a:ext uri="{FF2B5EF4-FFF2-40B4-BE49-F238E27FC236}">
                <a16:creationId xmlns:a16="http://schemas.microsoft.com/office/drawing/2014/main" id="{422225E7-DCE1-42DC-556F-16D445FF65E9}"/>
              </a:ext>
            </a:extLst>
          </p:cNvPr>
          <p:cNvSpPr>
            <a:spLocks noGrp="1"/>
          </p:cNvSpPr>
          <p:nvPr>
            <p:ph type="sldNum" sz="quarter" idx="5"/>
          </p:nvPr>
        </p:nvSpPr>
        <p:spPr/>
        <p:txBody>
          <a:bodyPr/>
          <a:lstStyle/>
          <a:p>
            <a:fld id="{2B8D3C5E-06BF-4547-A315-150B76FC98D2}" type="slidenum">
              <a:rPr kumimoji="1" lang="ko-KR" altLang="en-US" smtClean="0"/>
              <a:t>6</a:t>
            </a:fld>
            <a:endParaRPr kumimoji="1" lang="ko-KR" altLang="en-US"/>
          </a:p>
        </p:txBody>
      </p:sp>
    </p:spTree>
    <p:extLst>
      <p:ext uri="{BB962C8B-B14F-4D97-AF65-F5344CB8AC3E}">
        <p14:creationId xmlns:p14="http://schemas.microsoft.com/office/powerpoint/2010/main" val="9298562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44E514-8675-49E1-CCC4-6A082448CCDD}"/>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196ECC6F-958D-2C83-0D4E-D16C000E3691}"/>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537B4BB7-C0C5-83E6-A48D-9383970975DC}"/>
              </a:ext>
            </a:extLst>
          </p:cNvPr>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1" lang="en-US" altLang="ko-KR" sz="1200" b="0" dirty="0">
                <a:latin typeface="+mj-lt"/>
              </a:rPr>
              <a:t>Anchor free head</a:t>
            </a:r>
            <a:r>
              <a:rPr kumimoji="1" lang="ko-KR" altLang="en-US" sz="1200" b="0" dirty="0">
                <a:latin typeface="+mj-lt"/>
              </a:rPr>
              <a:t>의 학습을 보조하기 위해 </a:t>
            </a:r>
            <a:r>
              <a:rPr kumimoji="1" lang="en-US" altLang="ko-KR" sz="1200" b="0" dirty="0">
                <a:latin typeface="+mj-lt"/>
              </a:rPr>
              <a:t>anchor-based head </a:t>
            </a:r>
            <a:r>
              <a:rPr kumimoji="1" lang="ko-KR" altLang="en-US" sz="1200" b="0" dirty="0">
                <a:latin typeface="+mj-lt"/>
              </a:rPr>
              <a:t>이용</a:t>
            </a:r>
            <a:endParaRPr kumimoji="1" lang="en-US" altLang="ko-KR" sz="1200" b="0" dirty="0">
              <a:latin typeface="+mj-lt"/>
            </a:endParaRPr>
          </a:p>
        </p:txBody>
      </p:sp>
      <p:sp>
        <p:nvSpPr>
          <p:cNvPr id="4" name="슬라이드 번호 개체 틀 3">
            <a:extLst>
              <a:ext uri="{FF2B5EF4-FFF2-40B4-BE49-F238E27FC236}">
                <a16:creationId xmlns:a16="http://schemas.microsoft.com/office/drawing/2014/main" id="{9945FFB8-1BE0-6B3C-121D-56CE96ABBE72}"/>
              </a:ext>
            </a:extLst>
          </p:cNvPr>
          <p:cNvSpPr>
            <a:spLocks noGrp="1"/>
          </p:cNvSpPr>
          <p:nvPr>
            <p:ph type="sldNum" sz="quarter" idx="5"/>
          </p:nvPr>
        </p:nvSpPr>
        <p:spPr/>
        <p:txBody>
          <a:bodyPr/>
          <a:lstStyle/>
          <a:p>
            <a:fld id="{2B8D3C5E-06BF-4547-A315-150B76FC98D2}" type="slidenum">
              <a:rPr kumimoji="1" lang="ko-KR" altLang="en-US" smtClean="0"/>
              <a:t>7</a:t>
            </a:fld>
            <a:endParaRPr kumimoji="1" lang="ko-KR" altLang="en-US"/>
          </a:p>
        </p:txBody>
      </p:sp>
    </p:spTree>
    <p:extLst>
      <p:ext uri="{BB962C8B-B14F-4D97-AF65-F5344CB8AC3E}">
        <p14:creationId xmlns:p14="http://schemas.microsoft.com/office/powerpoint/2010/main" val="6724207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520022-956D-843D-DAF8-D6EEEEDB79D4}"/>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45C9E43C-6504-11DA-3A0D-E06E63DA5D8B}"/>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D6CB61AE-F77D-54C7-B145-34105AD41807}"/>
              </a:ext>
            </a:extLst>
          </p:cNvPr>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kumimoji="1" lang="en-US" altLang="ko-KR" sz="1200" b="0" dirty="0">
              <a:latin typeface="+mj-lt"/>
            </a:endParaRPr>
          </a:p>
        </p:txBody>
      </p:sp>
      <p:sp>
        <p:nvSpPr>
          <p:cNvPr id="4" name="슬라이드 번호 개체 틀 3">
            <a:extLst>
              <a:ext uri="{FF2B5EF4-FFF2-40B4-BE49-F238E27FC236}">
                <a16:creationId xmlns:a16="http://schemas.microsoft.com/office/drawing/2014/main" id="{88559B49-A039-B144-E1A5-936B09F4196E}"/>
              </a:ext>
            </a:extLst>
          </p:cNvPr>
          <p:cNvSpPr>
            <a:spLocks noGrp="1"/>
          </p:cNvSpPr>
          <p:nvPr>
            <p:ph type="sldNum" sz="quarter" idx="5"/>
          </p:nvPr>
        </p:nvSpPr>
        <p:spPr/>
        <p:txBody>
          <a:bodyPr/>
          <a:lstStyle/>
          <a:p>
            <a:fld id="{2B8D3C5E-06BF-4547-A315-150B76FC98D2}" type="slidenum">
              <a:rPr kumimoji="1" lang="ko-KR" altLang="en-US" smtClean="0"/>
              <a:t>8</a:t>
            </a:fld>
            <a:endParaRPr kumimoji="1" lang="ko-KR" altLang="en-US"/>
          </a:p>
        </p:txBody>
      </p:sp>
    </p:spTree>
    <p:extLst>
      <p:ext uri="{BB962C8B-B14F-4D97-AF65-F5344CB8AC3E}">
        <p14:creationId xmlns:p14="http://schemas.microsoft.com/office/powerpoint/2010/main" val="30432078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766139-903C-CF3D-C0A5-A706CDF8BA7E}"/>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C257AC4C-F8B8-593E-60C6-ABBD3C71370A}"/>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5F533E55-4E10-E26D-4F64-4A1CBB872EB6}"/>
              </a:ext>
            </a:extLst>
          </p:cNvPr>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kumimoji="1" lang="en-US" altLang="ko-KR" sz="1200" b="0" dirty="0">
              <a:latin typeface="+mj-lt"/>
            </a:endParaRPr>
          </a:p>
        </p:txBody>
      </p:sp>
      <p:sp>
        <p:nvSpPr>
          <p:cNvPr id="4" name="슬라이드 번호 개체 틀 3">
            <a:extLst>
              <a:ext uri="{FF2B5EF4-FFF2-40B4-BE49-F238E27FC236}">
                <a16:creationId xmlns:a16="http://schemas.microsoft.com/office/drawing/2014/main" id="{E6BFA18B-ACB3-58D5-BA2A-CB6872C975FD}"/>
              </a:ext>
            </a:extLst>
          </p:cNvPr>
          <p:cNvSpPr>
            <a:spLocks noGrp="1"/>
          </p:cNvSpPr>
          <p:nvPr>
            <p:ph type="sldNum" sz="quarter" idx="5"/>
          </p:nvPr>
        </p:nvSpPr>
        <p:spPr/>
        <p:txBody>
          <a:bodyPr/>
          <a:lstStyle/>
          <a:p>
            <a:fld id="{2B8D3C5E-06BF-4547-A315-150B76FC98D2}" type="slidenum">
              <a:rPr kumimoji="1" lang="ko-KR" altLang="en-US" smtClean="0"/>
              <a:t>9</a:t>
            </a:fld>
            <a:endParaRPr kumimoji="1" lang="ko-KR" altLang="en-US"/>
          </a:p>
        </p:txBody>
      </p:sp>
    </p:spTree>
    <p:extLst>
      <p:ext uri="{BB962C8B-B14F-4D97-AF65-F5344CB8AC3E}">
        <p14:creationId xmlns:p14="http://schemas.microsoft.com/office/powerpoint/2010/main" val="8496847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091FAB-D186-6B20-5C9F-14A805BEDE05}"/>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2BBEEA93-201F-B39C-CE2D-34F7BDD3CF14}"/>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763F4201-B4CD-DAC2-BF34-0C2A6EDCE8A7}"/>
              </a:ext>
            </a:extLst>
          </p:cNvPr>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kumimoji="1" lang="en-US" altLang="ko-KR" sz="1200" b="0" dirty="0">
              <a:latin typeface="+mj-lt"/>
            </a:endParaRPr>
          </a:p>
        </p:txBody>
      </p:sp>
      <p:sp>
        <p:nvSpPr>
          <p:cNvPr id="4" name="슬라이드 번호 개체 틀 3">
            <a:extLst>
              <a:ext uri="{FF2B5EF4-FFF2-40B4-BE49-F238E27FC236}">
                <a16:creationId xmlns:a16="http://schemas.microsoft.com/office/drawing/2014/main" id="{912AA3DA-3FBA-343D-DED1-2AD6B9A2F734}"/>
              </a:ext>
            </a:extLst>
          </p:cNvPr>
          <p:cNvSpPr>
            <a:spLocks noGrp="1"/>
          </p:cNvSpPr>
          <p:nvPr>
            <p:ph type="sldNum" sz="quarter" idx="5"/>
          </p:nvPr>
        </p:nvSpPr>
        <p:spPr/>
        <p:txBody>
          <a:bodyPr/>
          <a:lstStyle/>
          <a:p>
            <a:fld id="{2B8D3C5E-06BF-4547-A315-150B76FC98D2}" type="slidenum">
              <a:rPr kumimoji="1" lang="ko-KR" altLang="en-US" smtClean="0"/>
              <a:t>10</a:t>
            </a:fld>
            <a:endParaRPr kumimoji="1" lang="ko-KR" altLang="en-US"/>
          </a:p>
        </p:txBody>
      </p:sp>
    </p:spTree>
    <p:extLst>
      <p:ext uri="{BB962C8B-B14F-4D97-AF65-F5344CB8AC3E}">
        <p14:creationId xmlns:p14="http://schemas.microsoft.com/office/powerpoint/2010/main" val="13709493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23CF81-31AF-9E6E-77E8-C2B053F2C1F6}"/>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75790A66-2FF4-1B71-B095-F1A2E7B55C63}"/>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10B4A943-9191-3BF8-8BBC-396CA1C35029}"/>
              </a:ext>
            </a:extLst>
          </p:cNvPr>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kumimoji="1" lang="en-US" altLang="ko-KR" sz="1200" b="0" dirty="0">
              <a:latin typeface="+mj-lt"/>
            </a:endParaRPr>
          </a:p>
        </p:txBody>
      </p:sp>
      <p:sp>
        <p:nvSpPr>
          <p:cNvPr id="4" name="슬라이드 번호 개체 틀 3">
            <a:extLst>
              <a:ext uri="{FF2B5EF4-FFF2-40B4-BE49-F238E27FC236}">
                <a16:creationId xmlns:a16="http://schemas.microsoft.com/office/drawing/2014/main" id="{2BAF86AB-9F16-D8C4-0ECD-A9CD089B0B5C}"/>
              </a:ext>
            </a:extLst>
          </p:cNvPr>
          <p:cNvSpPr>
            <a:spLocks noGrp="1"/>
          </p:cNvSpPr>
          <p:nvPr>
            <p:ph type="sldNum" sz="quarter" idx="5"/>
          </p:nvPr>
        </p:nvSpPr>
        <p:spPr/>
        <p:txBody>
          <a:bodyPr/>
          <a:lstStyle/>
          <a:p>
            <a:fld id="{2B8D3C5E-06BF-4547-A315-150B76FC98D2}" type="slidenum">
              <a:rPr kumimoji="1" lang="ko-KR" altLang="en-US" smtClean="0"/>
              <a:t>11</a:t>
            </a:fld>
            <a:endParaRPr kumimoji="1" lang="ko-KR" altLang="en-US"/>
          </a:p>
        </p:txBody>
      </p:sp>
    </p:spTree>
    <p:extLst>
      <p:ext uri="{BB962C8B-B14F-4D97-AF65-F5344CB8AC3E}">
        <p14:creationId xmlns:p14="http://schemas.microsoft.com/office/powerpoint/2010/main" val="21305758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EFA53A-E98E-C617-7872-F54A4550022B}"/>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7817A1AF-B131-E547-9E75-98C03E1DDF84}"/>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E7DA6ACD-DE58-E29F-4196-4327FC56D9A0}"/>
              </a:ext>
            </a:extLst>
          </p:cNvPr>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p:sp>
        <p:nvSpPr>
          <p:cNvPr id="4" name="슬라이드 번호 개체 틀 3">
            <a:extLst>
              <a:ext uri="{FF2B5EF4-FFF2-40B4-BE49-F238E27FC236}">
                <a16:creationId xmlns:a16="http://schemas.microsoft.com/office/drawing/2014/main" id="{2903C9A3-46D8-0A3D-D97D-0466D4ACC059}"/>
              </a:ext>
            </a:extLst>
          </p:cNvPr>
          <p:cNvSpPr>
            <a:spLocks noGrp="1"/>
          </p:cNvSpPr>
          <p:nvPr>
            <p:ph type="sldNum" sz="quarter" idx="5"/>
          </p:nvPr>
        </p:nvSpPr>
        <p:spPr/>
        <p:txBody>
          <a:bodyPr/>
          <a:lstStyle/>
          <a:p>
            <a:fld id="{2B8D3C5E-06BF-4547-A315-150B76FC98D2}" type="slidenum">
              <a:rPr kumimoji="1" lang="ko-KR" altLang="en-US" smtClean="0"/>
              <a:t>12</a:t>
            </a:fld>
            <a:endParaRPr kumimoji="1" lang="ko-KR" altLang="en-US"/>
          </a:p>
        </p:txBody>
      </p:sp>
    </p:spTree>
    <p:extLst>
      <p:ext uri="{BB962C8B-B14F-4D97-AF65-F5344CB8AC3E}">
        <p14:creationId xmlns:p14="http://schemas.microsoft.com/office/powerpoint/2010/main" val="40810993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35D0FA-D74D-545E-0C2B-06F708825E79}"/>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E5EF6993-2D14-40E1-308E-C7C007ECA74F}"/>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E10F79AC-44DA-07F9-B416-DDACA1A8E55B}"/>
              </a:ext>
            </a:extLst>
          </p:cNvPr>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kumimoji="1" lang="en-US" altLang="ko-KR" sz="1200" b="0" dirty="0">
              <a:latin typeface="+mj-lt"/>
            </a:endParaRPr>
          </a:p>
        </p:txBody>
      </p:sp>
      <p:sp>
        <p:nvSpPr>
          <p:cNvPr id="4" name="슬라이드 번호 개체 틀 3">
            <a:extLst>
              <a:ext uri="{FF2B5EF4-FFF2-40B4-BE49-F238E27FC236}">
                <a16:creationId xmlns:a16="http://schemas.microsoft.com/office/drawing/2014/main" id="{682732F7-5431-585E-0747-636D7463DF54}"/>
              </a:ext>
            </a:extLst>
          </p:cNvPr>
          <p:cNvSpPr>
            <a:spLocks noGrp="1"/>
          </p:cNvSpPr>
          <p:nvPr>
            <p:ph type="sldNum" sz="quarter" idx="5"/>
          </p:nvPr>
        </p:nvSpPr>
        <p:spPr/>
        <p:txBody>
          <a:bodyPr/>
          <a:lstStyle/>
          <a:p>
            <a:fld id="{2B8D3C5E-06BF-4547-A315-150B76FC98D2}" type="slidenum">
              <a:rPr kumimoji="1" lang="ko-KR" altLang="en-US" smtClean="0"/>
              <a:t>13</a:t>
            </a:fld>
            <a:endParaRPr kumimoji="1" lang="ko-KR" altLang="en-US"/>
          </a:p>
        </p:txBody>
      </p:sp>
    </p:spTree>
    <p:extLst>
      <p:ext uri="{BB962C8B-B14F-4D97-AF65-F5344CB8AC3E}">
        <p14:creationId xmlns:p14="http://schemas.microsoft.com/office/powerpoint/2010/main" val="313573310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568CCD-9417-B903-96F5-B12BB2D689FE}"/>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BF9AC8AF-7A52-BBC5-A757-67A7D67C48A9}"/>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7AC6E3EE-09B3-2C83-823C-13085D8C7DBC}"/>
              </a:ext>
            </a:extLst>
          </p:cNvPr>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p:sp>
        <p:nvSpPr>
          <p:cNvPr id="4" name="슬라이드 번호 개체 틀 3">
            <a:extLst>
              <a:ext uri="{FF2B5EF4-FFF2-40B4-BE49-F238E27FC236}">
                <a16:creationId xmlns:a16="http://schemas.microsoft.com/office/drawing/2014/main" id="{74F13A61-E137-22F4-04DC-1BA2EAB05164}"/>
              </a:ext>
            </a:extLst>
          </p:cNvPr>
          <p:cNvSpPr>
            <a:spLocks noGrp="1"/>
          </p:cNvSpPr>
          <p:nvPr>
            <p:ph type="sldNum" sz="quarter" idx="5"/>
          </p:nvPr>
        </p:nvSpPr>
        <p:spPr/>
        <p:txBody>
          <a:bodyPr/>
          <a:lstStyle/>
          <a:p>
            <a:fld id="{2B8D3C5E-06BF-4547-A315-150B76FC98D2}" type="slidenum">
              <a:rPr kumimoji="1" lang="ko-KR" altLang="en-US" smtClean="0"/>
              <a:t>14</a:t>
            </a:fld>
            <a:endParaRPr kumimoji="1" lang="ko-KR" altLang="en-US"/>
          </a:p>
        </p:txBody>
      </p:sp>
    </p:spTree>
    <p:extLst>
      <p:ext uri="{BB962C8B-B14F-4D97-AF65-F5344CB8AC3E}">
        <p14:creationId xmlns:p14="http://schemas.microsoft.com/office/powerpoint/2010/main" val="225876764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62BDA8-A183-2DB1-DFB5-14079B7DC7E3}"/>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6827F42E-CA03-78EA-BE90-C113EA9D8530}"/>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61E78499-14AF-197C-679F-C87DEFAD8708}"/>
              </a:ext>
            </a:extLst>
          </p:cNvPr>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p:sp>
        <p:nvSpPr>
          <p:cNvPr id="4" name="슬라이드 번호 개체 틀 3">
            <a:extLst>
              <a:ext uri="{FF2B5EF4-FFF2-40B4-BE49-F238E27FC236}">
                <a16:creationId xmlns:a16="http://schemas.microsoft.com/office/drawing/2014/main" id="{EE6E2EB5-A71C-71DB-F334-A125DA43C5D0}"/>
              </a:ext>
            </a:extLst>
          </p:cNvPr>
          <p:cNvSpPr>
            <a:spLocks noGrp="1"/>
          </p:cNvSpPr>
          <p:nvPr>
            <p:ph type="sldNum" sz="quarter" idx="5"/>
          </p:nvPr>
        </p:nvSpPr>
        <p:spPr/>
        <p:txBody>
          <a:bodyPr/>
          <a:lstStyle/>
          <a:p>
            <a:fld id="{2B8D3C5E-06BF-4547-A315-150B76FC98D2}" type="slidenum">
              <a:rPr kumimoji="1" lang="ko-KR" altLang="en-US" smtClean="0"/>
              <a:t>15</a:t>
            </a:fld>
            <a:endParaRPr kumimoji="1" lang="ko-KR" altLang="en-US"/>
          </a:p>
        </p:txBody>
      </p:sp>
    </p:spTree>
    <p:extLst>
      <p:ext uri="{BB962C8B-B14F-4D97-AF65-F5344CB8AC3E}">
        <p14:creationId xmlns:p14="http://schemas.microsoft.com/office/powerpoint/2010/main" val="217597077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7C1D14-16E1-FD8E-3751-40DCDEB6D5D4}"/>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9BA92452-C379-62F9-6CBE-BC307D302243}"/>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98F2EE47-3E8C-3662-7200-137E22D162C0}"/>
              </a:ext>
            </a:extLst>
          </p:cNvPr>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kumimoji="1" lang="en-US" altLang="ko-KR" sz="1200" b="0" dirty="0">
              <a:latin typeface="+mj-lt"/>
            </a:endParaRPr>
          </a:p>
        </p:txBody>
      </p:sp>
      <p:sp>
        <p:nvSpPr>
          <p:cNvPr id="4" name="슬라이드 번호 개체 틀 3">
            <a:extLst>
              <a:ext uri="{FF2B5EF4-FFF2-40B4-BE49-F238E27FC236}">
                <a16:creationId xmlns:a16="http://schemas.microsoft.com/office/drawing/2014/main" id="{93BDA0FE-CDFB-AFAD-A262-10248D850EEB}"/>
              </a:ext>
            </a:extLst>
          </p:cNvPr>
          <p:cNvSpPr>
            <a:spLocks noGrp="1"/>
          </p:cNvSpPr>
          <p:nvPr>
            <p:ph type="sldNum" sz="quarter" idx="5"/>
          </p:nvPr>
        </p:nvSpPr>
        <p:spPr/>
        <p:txBody>
          <a:bodyPr/>
          <a:lstStyle/>
          <a:p>
            <a:fld id="{2B8D3C5E-06BF-4547-A315-150B76FC98D2}" type="slidenum">
              <a:rPr kumimoji="1" lang="ko-KR" altLang="en-US" smtClean="0"/>
              <a:t>16</a:t>
            </a:fld>
            <a:endParaRPr kumimoji="1" lang="ko-KR" altLang="en-US"/>
          </a:p>
        </p:txBody>
      </p:sp>
    </p:spTree>
    <p:extLst>
      <p:ext uri="{BB962C8B-B14F-4D97-AF65-F5344CB8AC3E}">
        <p14:creationId xmlns:p14="http://schemas.microsoft.com/office/powerpoint/2010/main" val="310141581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843434-632D-6F20-211C-A7030C2DF8DD}"/>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CBA3496C-C23C-D391-960A-E4EC47A927F8}"/>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130C74EB-B433-A15A-64D5-B4D86C8B911D}"/>
              </a:ext>
            </a:extLst>
          </p:cNvPr>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kumimoji="1" lang="en-US" altLang="ko-KR" sz="1200" b="0" dirty="0">
              <a:latin typeface="+mj-lt"/>
            </a:endParaRPr>
          </a:p>
        </p:txBody>
      </p:sp>
      <p:sp>
        <p:nvSpPr>
          <p:cNvPr id="4" name="슬라이드 번호 개체 틀 3">
            <a:extLst>
              <a:ext uri="{FF2B5EF4-FFF2-40B4-BE49-F238E27FC236}">
                <a16:creationId xmlns:a16="http://schemas.microsoft.com/office/drawing/2014/main" id="{2067BC1D-9652-B582-B824-8CD072FA2B51}"/>
              </a:ext>
            </a:extLst>
          </p:cNvPr>
          <p:cNvSpPr>
            <a:spLocks noGrp="1"/>
          </p:cNvSpPr>
          <p:nvPr>
            <p:ph type="sldNum" sz="quarter" idx="5"/>
          </p:nvPr>
        </p:nvSpPr>
        <p:spPr/>
        <p:txBody>
          <a:bodyPr/>
          <a:lstStyle/>
          <a:p>
            <a:fld id="{2B8D3C5E-06BF-4547-A315-150B76FC98D2}" type="slidenum">
              <a:rPr kumimoji="1" lang="ko-KR" altLang="en-US" smtClean="0"/>
              <a:t>17</a:t>
            </a:fld>
            <a:endParaRPr kumimoji="1" lang="ko-KR" altLang="en-US"/>
          </a:p>
        </p:txBody>
      </p:sp>
    </p:spTree>
    <p:extLst>
      <p:ext uri="{BB962C8B-B14F-4D97-AF65-F5344CB8AC3E}">
        <p14:creationId xmlns:p14="http://schemas.microsoft.com/office/powerpoint/2010/main" val="167613586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B602F5-6FE4-CBB1-98A3-149DDBA605B3}"/>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8A1E071A-D07B-9472-8E84-1C1BEE187040}"/>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DF6D9332-3264-6351-01F3-54A64AEBFB6E}"/>
              </a:ext>
            </a:extLst>
          </p:cNvPr>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p:sp>
        <p:nvSpPr>
          <p:cNvPr id="4" name="슬라이드 번호 개체 틀 3">
            <a:extLst>
              <a:ext uri="{FF2B5EF4-FFF2-40B4-BE49-F238E27FC236}">
                <a16:creationId xmlns:a16="http://schemas.microsoft.com/office/drawing/2014/main" id="{A182ABC9-4030-5A46-28D6-2B44757B1489}"/>
              </a:ext>
            </a:extLst>
          </p:cNvPr>
          <p:cNvSpPr>
            <a:spLocks noGrp="1"/>
          </p:cNvSpPr>
          <p:nvPr>
            <p:ph type="sldNum" sz="quarter" idx="5"/>
          </p:nvPr>
        </p:nvSpPr>
        <p:spPr/>
        <p:txBody>
          <a:bodyPr/>
          <a:lstStyle/>
          <a:p>
            <a:fld id="{2B8D3C5E-06BF-4547-A315-150B76FC98D2}" type="slidenum">
              <a:rPr kumimoji="1" lang="ko-KR" altLang="en-US" smtClean="0"/>
              <a:t>18</a:t>
            </a:fld>
            <a:endParaRPr kumimoji="1" lang="ko-KR" altLang="en-US"/>
          </a:p>
        </p:txBody>
      </p:sp>
    </p:spTree>
    <p:extLst>
      <p:ext uri="{BB962C8B-B14F-4D97-AF65-F5344CB8AC3E}">
        <p14:creationId xmlns:p14="http://schemas.microsoft.com/office/powerpoint/2010/main" val="176714889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FB4744-2F3C-7405-C51B-43B21DB9F57E}"/>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42A08261-8C56-3E84-BDCE-796CD5269934}"/>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0B7F1F55-D0C1-B3F0-E4AA-9C285734673B}"/>
              </a:ext>
            </a:extLst>
          </p:cNvPr>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dirty="0"/>
              <a:t>원래 </a:t>
            </a:r>
            <a:r>
              <a:rPr lang="en-US" altLang="ko-KR" dirty="0"/>
              <a:t>Q</a:t>
            </a:r>
            <a:r>
              <a:rPr lang="ko-KR" altLang="en-US" dirty="0"/>
              <a:t>의 한 </a:t>
            </a:r>
            <a:r>
              <a:rPr lang="en-US" altLang="ko-KR" dirty="0"/>
              <a:t>block</a:t>
            </a:r>
            <a:r>
              <a:rPr lang="ko-KR" altLang="en-US" dirty="0"/>
              <a:t>이 </a:t>
            </a:r>
            <a:r>
              <a:rPr lang="en-US" altLang="ko-KR" dirty="0"/>
              <a:t>K</a:t>
            </a:r>
            <a:r>
              <a:rPr lang="ko-KR" altLang="en-US" dirty="0"/>
              <a:t>의 모든 </a:t>
            </a:r>
            <a:r>
              <a:rPr lang="en-US" altLang="ko-KR" dirty="0"/>
              <a:t>block</a:t>
            </a:r>
            <a:r>
              <a:rPr lang="ko-KR" altLang="en-US" dirty="0" err="1"/>
              <a:t>에</a:t>
            </a:r>
            <a:r>
              <a:rPr lang="ko-KR" altLang="en-US" dirty="0"/>
              <a:t> 대해서 </a:t>
            </a:r>
            <a:r>
              <a:rPr lang="en-US" altLang="ko-KR" dirty="0"/>
              <a:t>attend</a:t>
            </a:r>
            <a:r>
              <a:rPr lang="ko-KR" altLang="en-US" dirty="0"/>
              <a:t>해야 되지 않는가</a:t>
            </a:r>
            <a:r>
              <a:rPr lang="en-US" altLang="ko-KR" dirty="0"/>
              <a:t>?</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dirty="0"/>
              <a:t>그래서 </a:t>
            </a:r>
            <a:r>
              <a:rPr lang="en-US" altLang="ko-KR" dirty="0"/>
              <a:t>inner loop</a:t>
            </a:r>
            <a:r>
              <a:rPr lang="ko-KR" altLang="en-US" dirty="0"/>
              <a:t>와 </a:t>
            </a:r>
            <a:r>
              <a:rPr lang="en-US" altLang="ko-KR" dirty="0"/>
              <a:t>outer loop</a:t>
            </a:r>
            <a:r>
              <a:rPr lang="ko-KR" altLang="en-US" dirty="0"/>
              <a:t> 방법을 제안했는데</a:t>
            </a:r>
            <a:r>
              <a:rPr lang="en-US" altLang="ko-KR" dirty="0"/>
              <a:t>, </a:t>
            </a:r>
            <a:r>
              <a:rPr lang="ko-KR" altLang="en-US" dirty="0"/>
              <a:t>자세히 파악하진 않았다</a:t>
            </a:r>
            <a:r>
              <a:rPr lang="en-US" altLang="ko-KR" dirty="0"/>
              <a:t>…</a:t>
            </a:r>
          </a:p>
          <a:p>
            <a:pPr marL="0" marR="0" lvl="0" indent="0" algn="l" defTabSz="914400" rtl="0" eaLnBrk="1" fontAlgn="auto" latinLnBrk="1" hangingPunct="1">
              <a:lnSpc>
                <a:spcPct val="100000"/>
              </a:lnSpc>
              <a:spcBef>
                <a:spcPts val="0"/>
              </a:spcBef>
              <a:spcAft>
                <a:spcPts val="0"/>
              </a:spcAft>
              <a:buClrTx/>
              <a:buSzTx/>
              <a:buFontTx/>
              <a:buNone/>
              <a:tabLst/>
              <a:defRPr/>
            </a:pPr>
            <a:br>
              <a:rPr lang="en-US" altLang="ko-KR" dirty="0"/>
            </a:br>
            <a:r>
              <a:rPr lang="ko-KR" altLang="en-US" dirty="0"/>
              <a:t>어찌됐든 각 </a:t>
            </a:r>
            <a:r>
              <a:rPr lang="en" altLang="ko-KR" dirty="0"/>
              <a:t>Q </a:t>
            </a:r>
            <a:r>
              <a:rPr lang="ko-KR" altLang="en-US" dirty="0"/>
              <a:t>블록은 모든 </a:t>
            </a:r>
            <a:r>
              <a:rPr lang="en" altLang="ko-KR" dirty="0"/>
              <a:t>K </a:t>
            </a:r>
            <a:r>
              <a:rPr lang="ko-KR" altLang="en-US" dirty="0"/>
              <a:t>블록을 만나면서 최종 </a:t>
            </a:r>
            <a:r>
              <a:rPr lang="ko-KR" altLang="en-US" dirty="0" err="1"/>
              <a:t>출력값을</a:t>
            </a:r>
            <a:r>
              <a:rPr lang="ko-KR" altLang="en-US" dirty="0"/>
              <a:t> 점진적으로 </a:t>
            </a:r>
            <a:r>
              <a:rPr lang="en" altLang="ko-KR" dirty="0"/>
              <a:t>iterative update </a:t>
            </a:r>
            <a:r>
              <a:rPr lang="ko-KR" altLang="en-US" dirty="0"/>
              <a:t>한다고 한다</a:t>
            </a:r>
            <a:r>
              <a:rPr lang="en-US" altLang="ko-KR" dirty="0"/>
              <a:t>.</a:t>
            </a:r>
          </a:p>
        </p:txBody>
      </p:sp>
      <p:sp>
        <p:nvSpPr>
          <p:cNvPr id="4" name="슬라이드 번호 개체 틀 3">
            <a:extLst>
              <a:ext uri="{FF2B5EF4-FFF2-40B4-BE49-F238E27FC236}">
                <a16:creationId xmlns:a16="http://schemas.microsoft.com/office/drawing/2014/main" id="{1E8D915D-091A-63EB-D407-39D0D40CA33B}"/>
              </a:ext>
            </a:extLst>
          </p:cNvPr>
          <p:cNvSpPr>
            <a:spLocks noGrp="1"/>
          </p:cNvSpPr>
          <p:nvPr>
            <p:ph type="sldNum" sz="quarter" idx="5"/>
          </p:nvPr>
        </p:nvSpPr>
        <p:spPr/>
        <p:txBody>
          <a:bodyPr/>
          <a:lstStyle/>
          <a:p>
            <a:fld id="{2B8D3C5E-06BF-4547-A315-150B76FC98D2}" type="slidenum">
              <a:rPr kumimoji="1" lang="ko-KR" altLang="en-US" smtClean="0"/>
              <a:t>19</a:t>
            </a:fld>
            <a:endParaRPr kumimoji="1" lang="ko-KR" altLang="en-US"/>
          </a:p>
        </p:txBody>
      </p:sp>
    </p:spTree>
    <p:extLst>
      <p:ext uri="{BB962C8B-B14F-4D97-AF65-F5344CB8AC3E}">
        <p14:creationId xmlns:p14="http://schemas.microsoft.com/office/powerpoint/2010/main" val="159751808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76BE8F-B9B4-1D7D-B2FF-C0A7A4FE0164}"/>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9B0C76A8-E0E4-517B-76E0-5AB13F369991}"/>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D455A345-BFF7-9489-9B28-AA6A117ADE24}"/>
              </a:ext>
            </a:extLst>
          </p:cNvPr>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kumimoji="1" lang="en-US" altLang="ko-KR" sz="1200" b="0" dirty="0">
              <a:latin typeface="+mj-lt"/>
            </a:endParaRPr>
          </a:p>
        </p:txBody>
      </p:sp>
      <p:sp>
        <p:nvSpPr>
          <p:cNvPr id="4" name="슬라이드 번호 개체 틀 3">
            <a:extLst>
              <a:ext uri="{FF2B5EF4-FFF2-40B4-BE49-F238E27FC236}">
                <a16:creationId xmlns:a16="http://schemas.microsoft.com/office/drawing/2014/main" id="{EDAE7AB4-93A2-D417-110A-304522F53332}"/>
              </a:ext>
            </a:extLst>
          </p:cNvPr>
          <p:cNvSpPr>
            <a:spLocks noGrp="1"/>
          </p:cNvSpPr>
          <p:nvPr>
            <p:ph type="sldNum" sz="quarter" idx="5"/>
          </p:nvPr>
        </p:nvSpPr>
        <p:spPr/>
        <p:txBody>
          <a:bodyPr/>
          <a:lstStyle/>
          <a:p>
            <a:fld id="{2B8D3C5E-06BF-4547-A315-150B76FC98D2}" type="slidenum">
              <a:rPr kumimoji="1" lang="ko-KR" altLang="en-US" smtClean="0"/>
              <a:t>20</a:t>
            </a:fld>
            <a:endParaRPr kumimoji="1" lang="ko-KR" altLang="en-US"/>
          </a:p>
        </p:txBody>
      </p:sp>
    </p:spTree>
    <p:extLst>
      <p:ext uri="{BB962C8B-B14F-4D97-AF65-F5344CB8AC3E}">
        <p14:creationId xmlns:p14="http://schemas.microsoft.com/office/powerpoint/2010/main" val="3734864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614F7B-6CEF-5E7F-B8D8-CD1243642997}"/>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E1CA6D61-6854-1172-7AB3-75784332D63D}"/>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307C8CF2-2E11-D932-E2B8-B516D22AAE1D}"/>
              </a:ext>
            </a:extLst>
          </p:cNvPr>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kumimoji="1" lang="en-US" altLang="ko-KR" sz="1200" b="0" dirty="0">
              <a:latin typeface="+mj-lt"/>
            </a:endParaRPr>
          </a:p>
        </p:txBody>
      </p:sp>
      <p:sp>
        <p:nvSpPr>
          <p:cNvPr id="4" name="슬라이드 번호 개체 틀 3">
            <a:extLst>
              <a:ext uri="{FF2B5EF4-FFF2-40B4-BE49-F238E27FC236}">
                <a16:creationId xmlns:a16="http://schemas.microsoft.com/office/drawing/2014/main" id="{A2CBB757-DD24-AE84-926F-C244CAF20F9F}"/>
              </a:ext>
            </a:extLst>
          </p:cNvPr>
          <p:cNvSpPr>
            <a:spLocks noGrp="1"/>
          </p:cNvSpPr>
          <p:nvPr>
            <p:ph type="sldNum" sz="quarter" idx="5"/>
          </p:nvPr>
        </p:nvSpPr>
        <p:spPr/>
        <p:txBody>
          <a:bodyPr/>
          <a:lstStyle/>
          <a:p>
            <a:fld id="{2B8D3C5E-06BF-4547-A315-150B76FC98D2}" type="slidenum">
              <a:rPr kumimoji="1" lang="ko-KR" altLang="en-US" smtClean="0"/>
              <a:t>21</a:t>
            </a:fld>
            <a:endParaRPr kumimoji="1" lang="ko-KR" altLang="en-US"/>
          </a:p>
        </p:txBody>
      </p:sp>
    </p:spTree>
    <p:extLst>
      <p:ext uri="{BB962C8B-B14F-4D97-AF65-F5344CB8AC3E}">
        <p14:creationId xmlns:p14="http://schemas.microsoft.com/office/powerpoint/2010/main" val="348429635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DF27CA-8CA4-E336-81D7-FE4CECD0F7BD}"/>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F8B8893D-8945-A7F1-9EAE-FC01535CEEBB}"/>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3D7892AB-5CAA-006B-9252-D19346527D03}"/>
              </a:ext>
            </a:extLst>
          </p:cNvPr>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1" lang="en-US" altLang="ko-KR" sz="1200" b="0" dirty="0">
                <a:latin typeface="+mj-lt"/>
              </a:rPr>
              <a:t>Similarity </a:t>
            </a:r>
            <a:r>
              <a:rPr kumimoji="1" lang="ko-KR" altLang="en-US" sz="1200" b="0" dirty="0">
                <a:latin typeface="+mj-lt"/>
              </a:rPr>
              <a:t>구하는 함수를 </a:t>
            </a:r>
            <a:r>
              <a:rPr kumimoji="1" lang="en-US" altLang="ko-KR" sz="1200" b="0" dirty="0" err="1">
                <a:latin typeface="+mj-lt"/>
              </a:rPr>
              <a:t>softmax</a:t>
            </a:r>
            <a:r>
              <a:rPr kumimoji="1" lang="en-US" altLang="ko-KR" sz="1200" b="0" dirty="0">
                <a:latin typeface="+mj-lt"/>
              </a:rPr>
              <a:t> </a:t>
            </a:r>
            <a:r>
              <a:rPr kumimoji="1" lang="ko-KR" altLang="en-US" sz="1200" b="0" dirty="0">
                <a:latin typeface="+mj-lt"/>
              </a:rPr>
              <a:t>대신</a:t>
            </a:r>
            <a:r>
              <a:rPr kumimoji="1" lang="en-US" altLang="ko-KR" sz="1200" b="0" dirty="0">
                <a:latin typeface="+mj-lt"/>
              </a:rPr>
              <a:t> kernel function phi</a:t>
            </a:r>
            <a:r>
              <a:rPr kumimoji="1" lang="ko-KR" altLang="en-US" sz="1200" b="0" dirty="0" err="1">
                <a:latin typeface="+mj-lt"/>
              </a:rPr>
              <a:t>를</a:t>
            </a:r>
            <a:r>
              <a:rPr kumimoji="1" lang="ko-KR" altLang="en-US" sz="1200" b="0" dirty="0">
                <a:latin typeface="+mj-lt"/>
              </a:rPr>
              <a:t> 써서</a:t>
            </a:r>
            <a:r>
              <a:rPr kumimoji="1" lang="en-US" altLang="ko-KR" sz="1200" b="0" dirty="0">
                <a:latin typeface="+mj-lt"/>
              </a:rPr>
              <a:t>… approximation</a:t>
            </a:r>
            <a:r>
              <a:rPr kumimoji="1" lang="ko-KR" altLang="en-US" sz="1200" b="0" dirty="0">
                <a:latin typeface="+mj-lt"/>
              </a:rPr>
              <a:t>하자는 것</a:t>
            </a:r>
            <a:endParaRPr kumimoji="1" lang="en-US" altLang="ko-KR" sz="1200" b="0" dirty="0">
              <a:latin typeface="+mj-lt"/>
            </a:endParaRPr>
          </a:p>
        </p:txBody>
      </p:sp>
      <p:sp>
        <p:nvSpPr>
          <p:cNvPr id="4" name="슬라이드 번호 개체 틀 3">
            <a:extLst>
              <a:ext uri="{FF2B5EF4-FFF2-40B4-BE49-F238E27FC236}">
                <a16:creationId xmlns:a16="http://schemas.microsoft.com/office/drawing/2014/main" id="{DF941C23-D2E0-3C08-038A-42FBB41C6F40}"/>
              </a:ext>
            </a:extLst>
          </p:cNvPr>
          <p:cNvSpPr>
            <a:spLocks noGrp="1"/>
          </p:cNvSpPr>
          <p:nvPr>
            <p:ph type="sldNum" sz="quarter" idx="5"/>
          </p:nvPr>
        </p:nvSpPr>
        <p:spPr/>
        <p:txBody>
          <a:bodyPr/>
          <a:lstStyle/>
          <a:p>
            <a:fld id="{2B8D3C5E-06BF-4547-A315-150B76FC98D2}" type="slidenum">
              <a:rPr kumimoji="1" lang="ko-KR" altLang="en-US" smtClean="0"/>
              <a:t>22</a:t>
            </a:fld>
            <a:endParaRPr kumimoji="1" lang="ko-KR" altLang="en-US"/>
          </a:p>
        </p:txBody>
      </p:sp>
    </p:spTree>
    <p:extLst>
      <p:ext uri="{BB962C8B-B14F-4D97-AF65-F5344CB8AC3E}">
        <p14:creationId xmlns:p14="http://schemas.microsoft.com/office/powerpoint/2010/main" val="384682123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29C17B-FCB6-0397-EFF7-3DC7A80F5B13}"/>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76819034-65BB-F5AB-9A42-7BEC6750D5A5}"/>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2BFEC6CC-37B7-5458-ECEB-93F3A6B91E4E}"/>
              </a:ext>
            </a:extLst>
          </p:cNvPr>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kumimoji="1" lang="en-US" altLang="ko-KR" sz="1200" b="0" dirty="0">
              <a:latin typeface="+mj-lt"/>
            </a:endParaRPr>
          </a:p>
        </p:txBody>
      </p:sp>
      <p:sp>
        <p:nvSpPr>
          <p:cNvPr id="4" name="슬라이드 번호 개체 틀 3">
            <a:extLst>
              <a:ext uri="{FF2B5EF4-FFF2-40B4-BE49-F238E27FC236}">
                <a16:creationId xmlns:a16="http://schemas.microsoft.com/office/drawing/2014/main" id="{729310E1-310A-24E7-EA56-C18E2C2BE32F}"/>
              </a:ext>
            </a:extLst>
          </p:cNvPr>
          <p:cNvSpPr>
            <a:spLocks noGrp="1"/>
          </p:cNvSpPr>
          <p:nvPr>
            <p:ph type="sldNum" sz="quarter" idx="5"/>
          </p:nvPr>
        </p:nvSpPr>
        <p:spPr/>
        <p:txBody>
          <a:bodyPr/>
          <a:lstStyle/>
          <a:p>
            <a:fld id="{2B8D3C5E-06BF-4547-A315-150B76FC98D2}" type="slidenum">
              <a:rPr kumimoji="1" lang="ko-KR" altLang="en-US" smtClean="0"/>
              <a:t>23</a:t>
            </a:fld>
            <a:endParaRPr kumimoji="1" lang="ko-KR" altLang="en-US"/>
          </a:p>
        </p:txBody>
      </p:sp>
    </p:spTree>
    <p:extLst>
      <p:ext uri="{BB962C8B-B14F-4D97-AF65-F5344CB8AC3E}">
        <p14:creationId xmlns:p14="http://schemas.microsoft.com/office/powerpoint/2010/main" val="39027888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78F863-5A19-3A39-598B-08377DE1CF9A}"/>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AD6E4A7F-EFF6-8803-2702-C21D4352818A}"/>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1711714A-CE8D-7892-A558-C566ED17ACF4}"/>
              </a:ext>
            </a:extLst>
          </p:cNvPr>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1" lang="en-US" altLang="ko-KR" sz="1200" b="0" dirty="0">
                <a:latin typeface="+mj-lt"/>
              </a:rPr>
              <a:t>Similarity</a:t>
            </a:r>
            <a:r>
              <a:rPr kumimoji="1" lang="ko-KR" altLang="en-US" sz="1200" b="0" dirty="0" err="1">
                <a:latin typeface="+mj-lt"/>
              </a:rPr>
              <a:t>를</a:t>
            </a:r>
            <a:r>
              <a:rPr kumimoji="1" lang="ko-KR" altLang="en-US" sz="1200" b="0" dirty="0">
                <a:latin typeface="+mj-lt"/>
              </a:rPr>
              <a:t> 정규화해주는 과정에서 분모로 나누는 </a:t>
            </a:r>
            <a:r>
              <a:rPr kumimoji="1" lang="en-US" altLang="ko-KR" sz="1200" b="0" dirty="0">
                <a:latin typeface="+mj-lt"/>
              </a:rPr>
              <a:t>denormalization </a:t>
            </a:r>
            <a:r>
              <a:rPr kumimoji="1" lang="ko-KR" altLang="en-US" sz="1200" b="0" dirty="0">
                <a:latin typeface="+mj-lt"/>
              </a:rPr>
              <a:t>과정은 </a:t>
            </a:r>
            <a:r>
              <a:rPr kumimoji="1" lang="en-US" altLang="ko-KR" sz="1200" b="0" dirty="0">
                <a:latin typeface="+mj-lt"/>
              </a:rPr>
              <a:t>unbounded gradients</a:t>
            </a:r>
            <a:r>
              <a:rPr kumimoji="1" lang="ko-KR" altLang="en-US" sz="1200" b="0" dirty="0" err="1">
                <a:latin typeface="+mj-lt"/>
              </a:rPr>
              <a:t>를</a:t>
            </a:r>
            <a:r>
              <a:rPr kumimoji="1" lang="ko-KR" altLang="en-US" sz="1200" b="0" dirty="0">
                <a:latin typeface="+mj-lt"/>
              </a:rPr>
              <a:t> 유발하여 수치적으로 불안정하다</a:t>
            </a:r>
            <a:r>
              <a:rPr kumimoji="1" lang="en-US" altLang="ko-KR" sz="1200" b="0" dirty="0">
                <a:latin typeface="+mj-lt"/>
              </a:rPr>
              <a:t>.</a:t>
            </a:r>
          </a:p>
          <a:p>
            <a:pPr marL="0" marR="0" lvl="0" indent="0" algn="l" defTabSz="914400" rtl="0" eaLnBrk="1" fontAlgn="auto" latinLnBrk="1" hangingPunct="1">
              <a:lnSpc>
                <a:spcPct val="100000"/>
              </a:lnSpc>
              <a:spcBef>
                <a:spcPts val="0"/>
              </a:spcBef>
              <a:spcAft>
                <a:spcPts val="0"/>
              </a:spcAft>
              <a:buClrTx/>
              <a:buSzTx/>
              <a:buFontTx/>
              <a:buNone/>
              <a:tabLst/>
              <a:defRPr/>
            </a:pPr>
            <a:endParaRPr kumimoji="1" lang="en-US" altLang="ko-KR" sz="1200" b="0" dirty="0">
              <a:latin typeface="+mj-lt"/>
            </a:endParaRPr>
          </a:p>
          <a:p>
            <a:pPr marL="0" marR="0" lvl="0" indent="0" algn="l" defTabSz="914400" rtl="0" eaLnBrk="1" fontAlgn="auto" latinLnBrk="1" hangingPunct="1">
              <a:lnSpc>
                <a:spcPct val="100000"/>
              </a:lnSpc>
              <a:spcBef>
                <a:spcPts val="0"/>
              </a:spcBef>
              <a:spcAft>
                <a:spcPts val="0"/>
              </a:spcAft>
              <a:buClrTx/>
              <a:buSzTx/>
              <a:buFontTx/>
              <a:buNone/>
              <a:tabLst/>
              <a:defRPr/>
            </a:pPr>
            <a:r>
              <a:rPr kumimoji="1" lang="ko-KR" altLang="en-US" sz="1200" b="0" dirty="0">
                <a:latin typeface="+mj-lt"/>
              </a:rPr>
              <a:t>그래서 </a:t>
            </a:r>
            <a:r>
              <a:rPr kumimoji="1" lang="en-US" altLang="ko-KR" sz="1200" b="0" dirty="0" err="1">
                <a:latin typeface="+mj-lt"/>
              </a:rPr>
              <a:t>RMSNorm</a:t>
            </a:r>
            <a:endParaRPr kumimoji="1" lang="en-US" altLang="ko-KR" sz="1200" b="0" dirty="0">
              <a:latin typeface="+mj-lt"/>
            </a:endParaRPr>
          </a:p>
        </p:txBody>
      </p:sp>
      <p:sp>
        <p:nvSpPr>
          <p:cNvPr id="4" name="슬라이드 번호 개체 틀 3">
            <a:extLst>
              <a:ext uri="{FF2B5EF4-FFF2-40B4-BE49-F238E27FC236}">
                <a16:creationId xmlns:a16="http://schemas.microsoft.com/office/drawing/2014/main" id="{7DC4E066-0634-5D93-C540-DAA61080D461}"/>
              </a:ext>
            </a:extLst>
          </p:cNvPr>
          <p:cNvSpPr>
            <a:spLocks noGrp="1"/>
          </p:cNvSpPr>
          <p:nvPr>
            <p:ph type="sldNum" sz="quarter" idx="5"/>
          </p:nvPr>
        </p:nvSpPr>
        <p:spPr/>
        <p:txBody>
          <a:bodyPr/>
          <a:lstStyle/>
          <a:p>
            <a:fld id="{2B8D3C5E-06BF-4547-A315-150B76FC98D2}" type="slidenum">
              <a:rPr kumimoji="1" lang="ko-KR" altLang="en-US" smtClean="0"/>
              <a:t>24</a:t>
            </a:fld>
            <a:endParaRPr kumimoji="1" lang="ko-KR" altLang="en-US"/>
          </a:p>
        </p:txBody>
      </p:sp>
    </p:spTree>
    <p:extLst>
      <p:ext uri="{BB962C8B-B14F-4D97-AF65-F5344CB8AC3E}">
        <p14:creationId xmlns:p14="http://schemas.microsoft.com/office/powerpoint/2010/main" val="166969748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15EA2F-3C27-29BE-728D-0825A008FCD1}"/>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E4F1C940-9AA5-858B-FE42-4193D8778C86}"/>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82D807E0-06FC-472A-A5C9-124C37261274}"/>
              </a:ext>
            </a:extLst>
          </p:cNvPr>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1" lang="en-US" altLang="ko-KR" sz="1200" b="0" dirty="0">
                <a:latin typeface="+mj-lt"/>
              </a:rPr>
              <a:t>Input data</a:t>
            </a:r>
            <a:r>
              <a:rPr kumimoji="1" lang="ko-KR" altLang="en-US" sz="1200" b="0" dirty="0">
                <a:latin typeface="+mj-lt"/>
              </a:rPr>
              <a:t>의 </a:t>
            </a:r>
            <a:r>
              <a:rPr kumimoji="1" lang="en-US" altLang="ko-KR" sz="1200" b="0" dirty="0" err="1">
                <a:latin typeface="+mj-lt"/>
              </a:rPr>
              <a:t>distirbution</a:t>
            </a:r>
            <a:r>
              <a:rPr kumimoji="1" lang="ko-KR" altLang="en-US" sz="1200" b="0" dirty="0" err="1">
                <a:latin typeface="+mj-lt"/>
              </a:rPr>
              <a:t>에</a:t>
            </a:r>
            <a:r>
              <a:rPr kumimoji="1" lang="ko-KR" altLang="en-US" sz="1200" b="0" dirty="0">
                <a:latin typeface="+mj-lt"/>
              </a:rPr>
              <a:t> 따라 성능이 크게 달라질 수 있다</a:t>
            </a:r>
            <a:r>
              <a:rPr kumimoji="1" lang="en-US" altLang="ko-KR" sz="1200" b="0" dirty="0">
                <a:latin typeface="+mj-lt"/>
              </a:rPr>
              <a:t>. </a:t>
            </a:r>
          </a:p>
          <a:p>
            <a:pPr marL="0" marR="0" lvl="0" indent="0" algn="l" defTabSz="914400" rtl="0" eaLnBrk="1" fontAlgn="auto" latinLnBrk="1" hangingPunct="1">
              <a:lnSpc>
                <a:spcPct val="100000"/>
              </a:lnSpc>
              <a:spcBef>
                <a:spcPts val="0"/>
              </a:spcBef>
              <a:spcAft>
                <a:spcPts val="0"/>
              </a:spcAft>
              <a:buClrTx/>
              <a:buSzTx/>
              <a:buFontTx/>
              <a:buNone/>
              <a:tabLst/>
              <a:defRPr/>
            </a:pPr>
            <a:endParaRPr kumimoji="1" lang="en-US" altLang="ko-KR" sz="1200" b="0" dirty="0">
              <a:latin typeface="+mj-lt"/>
            </a:endParaRPr>
          </a:p>
          <a:p>
            <a:pPr marL="0" marR="0" lvl="0" indent="0" algn="l" defTabSz="914400" rtl="0" eaLnBrk="1" fontAlgn="auto" latinLnBrk="1" hangingPunct="1">
              <a:lnSpc>
                <a:spcPct val="100000"/>
              </a:lnSpc>
              <a:spcBef>
                <a:spcPts val="0"/>
              </a:spcBef>
              <a:spcAft>
                <a:spcPts val="0"/>
              </a:spcAft>
              <a:buClrTx/>
              <a:buSzTx/>
              <a:buFontTx/>
              <a:buNone/>
              <a:tabLst/>
              <a:defRPr/>
            </a:pPr>
            <a:r>
              <a:rPr kumimoji="1" lang="en-US" altLang="ko-KR" sz="1200" b="0" dirty="0">
                <a:latin typeface="+mj-lt"/>
              </a:rPr>
              <a:t>Head</a:t>
            </a:r>
            <a:r>
              <a:rPr kumimoji="1" lang="ko-KR" altLang="en-US" sz="1200" b="0" dirty="0">
                <a:latin typeface="+mj-lt"/>
              </a:rPr>
              <a:t>마다 </a:t>
            </a:r>
            <a:r>
              <a:rPr kumimoji="1" lang="en-US" altLang="ko-KR" sz="1200" b="0" dirty="0">
                <a:latin typeface="+mj-lt"/>
              </a:rPr>
              <a:t>activation</a:t>
            </a:r>
            <a:r>
              <a:rPr kumimoji="1" lang="ko-KR" altLang="en-US" sz="1200" b="0" dirty="0">
                <a:latin typeface="+mj-lt"/>
              </a:rPr>
              <a:t>이 유독 크거나 작으면 지배적인 </a:t>
            </a:r>
            <a:r>
              <a:rPr kumimoji="1" lang="en-US" altLang="ko-KR" sz="1200" b="0" dirty="0">
                <a:latin typeface="+mj-lt"/>
              </a:rPr>
              <a:t>head</a:t>
            </a:r>
            <a:r>
              <a:rPr kumimoji="1" lang="ko-KR" altLang="en-US" sz="1200" b="0" dirty="0">
                <a:latin typeface="+mj-lt"/>
              </a:rPr>
              <a:t>가 있을 수 있다</a:t>
            </a:r>
            <a:r>
              <a:rPr kumimoji="1" lang="en-US" altLang="ko-KR" sz="1200" b="0" dirty="0">
                <a:latin typeface="+mj-lt"/>
              </a:rPr>
              <a:t>..?</a:t>
            </a:r>
          </a:p>
        </p:txBody>
      </p:sp>
      <p:sp>
        <p:nvSpPr>
          <p:cNvPr id="4" name="슬라이드 번호 개체 틀 3">
            <a:extLst>
              <a:ext uri="{FF2B5EF4-FFF2-40B4-BE49-F238E27FC236}">
                <a16:creationId xmlns:a16="http://schemas.microsoft.com/office/drawing/2014/main" id="{7F273C57-B937-CC95-3570-1E23A15E0467}"/>
              </a:ext>
            </a:extLst>
          </p:cNvPr>
          <p:cNvSpPr>
            <a:spLocks noGrp="1"/>
          </p:cNvSpPr>
          <p:nvPr>
            <p:ph type="sldNum" sz="quarter" idx="5"/>
          </p:nvPr>
        </p:nvSpPr>
        <p:spPr/>
        <p:txBody>
          <a:bodyPr/>
          <a:lstStyle/>
          <a:p>
            <a:fld id="{2B8D3C5E-06BF-4547-A315-150B76FC98D2}" type="slidenum">
              <a:rPr kumimoji="1" lang="ko-KR" altLang="en-US" smtClean="0"/>
              <a:t>25</a:t>
            </a:fld>
            <a:endParaRPr kumimoji="1" lang="ko-KR" altLang="en-US"/>
          </a:p>
        </p:txBody>
      </p:sp>
    </p:spTree>
    <p:extLst>
      <p:ext uri="{BB962C8B-B14F-4D97-AF65-F5344CB8AC3E}">
        <p14:creationId xmlns:p14="http://schemas.microsoft.com/office/powerpoint/2010/main" val="10108840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FDEE52-F717-3268-4174-DDF5A074C354}"/>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5269E299-9A02-B7B2-8976-9C0045CE3C3E}"/>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CC550F7A-0785-31BD-8558-78F050B10182}"/>
              </a:ext>
            </a:extLst>
          </p:cNvPr>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kumimoji="1" lang="en-US" altLang="ko-KR" sz="1200" b="0" dirty="0">
              <a:latin typeface="+mj-lt"/>
            </a:endParaRPr>
          </a:p>
        </p:txBody>
      </p:sp>
      <p:sp>
        <p:nvSpPr>
          <p:cNvPr id="4" name="슬라이드 번호 개체 틀 3">
            <a:extLst>
              <a:ext uri="{FF2B5EF4-FFF2-40B4-BE49-F238E27FC236}">
                <a16:creationId xmlns:a16="http://schemas.microsoft.com/office/drawing/2014/main" id="{E8412272-BD70-86E9-565C-8546672C1129}"/>
              </a:ext>
            </a:extLst>
          </p:cNvPr>
          <p:cNvSpPr>
            <a:spLocks noGrp="1"/>
          </p:cNvSpPr>
          <p:nvPr>
            <p:ph type="sldNum" sz="quarter" idx="5"/>
          </p:nvPr>
        </p:nvSpPr>
        <p:spPr/>
        <p:txBody>
          <a:bodyPr/>
          <a:lstStyle/>
          <a:p>
            <a:fld id="{2B8D3C5E-06BF-4547-A315-150B76FC98D2}" type="slidenum">
              <a:rPr kumimoji="1" lang="ko-KR" altLang="en-US" smtClean="0"/>
              <a:t>26</a:t>
            </a:fld>
            <a:endParaRPr kumimoji="1" lang="ko-KR" altLang="en-US"/>
          </a:p>
        </p:txBody>
      </p:sp>
    </p:spTree>
    <p:extLst>
      <p:ext uri="{BB962C8B-B14F-4D97-AF65-F5344CB8AC3E}">
        <p14:creationId xmlns:p14="http://schemas.microsoft.com/office/powerpoint/2010/main" val="299038533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4E1D79-0679-B4FF-1FB7-3C6252573797}"/>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FED24163-8183-F1A4-A650-1DC25B2F9A52}"/>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3339D3AF-81DE-DDA9-3928-E9CBA15C0BA0}"/>
              </a:ext>
            </a:extLst>
          </p:cNvPr>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kumimoji="1" lang="en-US" altLang="ko-KR" sz="1200" b="0" dirty="0">
              <a:latin typeface="+mj-lt"/>
            </a:endParaRPr>
          </a:p>
        </p:txBody>
      </p:sp>
      <p:sp>
        <p:nvSpPr>
          <p:cNvPr id="4" name="슬라이드 번호 개체 틀 3">
            <a:extLst>
              <a:ext uri="{FF2B5EF4-FFF2-40B4-BE49-F238E27FC236}">
                <a16:creationId xmlns:a16="http://schemas.microsoft.com/office/drawing/2014/main" id="{E0F53442-9D90-774F-19FA-D1043AD48CBD}"/>
              </a:ext>
            </a:extLst>
          </p:cNvPr>
          <p:cNvSpPr>
            <a:spLocks noGrp="1"/>
          </p:cNvSpPr>
          <p:nvPr>
            <p:ph type="sldNum" sz="quarter" idx="5"/>
          </p:nvPr>
        </p:nvSpPr>
        <p:spPr/>
        <p:txBody>
          <a:bodyPr/>
          <a:lstStyle/>
          <a:p>
            <a:fld id="{2B8D3C5E-06BF-4547-A315-150B76FC98D2}" type="slidenum">
              <a:rPr kumimoji="1" lang="ko-KR" altLang="en-US" smtClean="0"/>
              <a:t>27</a:t>
            </a:fld>
            <a:endParaRPr kumimoji="1" lang="ko-KR" altLang="en-US"/>
          </a:p>
        </p:txBody>
      </p:sp>
    </p:spTree>
    <p:extLst>
      <p:ext uri="{BB962C8B-B14F-4D97-AF65-F5344CB8AC3E}">
        <p14:creationId xmlns:p14="http://schemas.microsoft.com/office/powerpoint/2010/main" val="300451166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kumimoji="1" lang="en-US" altLang="ko-KR" dirty="0"/>
              <a:t>Area 2</a:t>
            </a:r>
            <a:r>
              <a:rPr kumimoji="1" lang="ko-KR" altLang="en-US" dirty="0"/>
              <a:t>의 </a:t>
            </a:r>
            <a:r>
              <a:rPr kumimoji="1" lang="en-US" altLang="ko-KR" dirty="0"/>
              <a:t>query</a:t>
            </a:r>
            <a:r>
              <a:rPr kumimoji="1" lang="ko-KR" altLang="en-US" dirty="0"/>
              <a:t>의 한 </a:t>
            </a:r>
            <a:r>
              <a:rPr kumimoji="1" lang="en-US" altLang="ko-KR" dirty="0"/>
              <a:t>element</a:t>
            </a:r>
            <a:r>
              <a:rPr kumimoji="1" lang="ko-KR" altLang="en-US" dirty="0"/>
              <a:t>가 진한 픽셀이라고 했을 때</a:t>
            </a:r>
            <a:r>
              <a:rPr kumimoji="1" lang="en-US" altLang="ko-KR" dirty="0"/>
              <a:t>, K, V</a:t>
            </a:r>
            <a:r>
              <a:rPr kumimoji="1" lang="ko-KR" altLang="en-US" dirty="0"/>
              <a:t> </a:t>
            </a:r>
            <a:r>
              <a:rPr kumimoji="1" lang="en-US" altLang="ko-KR" dirty="0" err="1"/>
              <a:t>receptivefield</a:t>
            </a:r>
            <a:r>
              <a:rPr kumimoji="1" lang="ko-KR" altLang="en-US" dirty="0"/>
              <a:t>는 </a:t>
            </a:r>
            <a:r>
              <a:rPr kumimoji="1" lang="en-US" altLang="ko-KR" dirty="0"/>
              <a:t>area 2 </a:t>
            </a:r>
            <a:r>
              <a:rPr kumimoji="1" lang="ko-KR" altLang="en-US" dirty="0"/>
              <a:t>전체</a:t>
            </a:r>
          </a:p>
        </p:txBody>
      </p:sp>
      <p:sp>
        <p:nvSpPr>
          <p:cNvPr id="4" name="슬라이드 번호 개체 틀 3"/>
          <p:cNvSpPr>
            <a:spLocks noGrp="1"/>
          </p:cNvSpPr>
          <p:nvPr>
            <p:ph type="sldNum" sz="quarter" idx="5"/>
          </p:nvPr>
        </p:nvSpPr>
        <p:spPr/>
        <p:txBody>
          <a:bodyPr/>
          <a:lstStyle/>
          <a:p>
            <a:fld id="{2B8D3C5E-06BF-4547-A315-150B76FC98D2}" type="slidenum">
              <a:rPr kumimoji="1" lang="ko-KR" altLang="en-US" smtClean="0"/>
              <a:t>29</a:t>
            </a:fld>
            <a:endParaRPr kumimoji="1" lang="ko-KR" altLang="en-US"/>
          </a:p>
        </p:txBody>
      </p:sp>
    </p:spTree>
    <p:extLst>
      <p:ext uri="{BB962C8B-B14F-4D97-AF65-F5344CB8AC3E}">
        <p14:creationId xmlns:p14="http://schemas.microsoft.com/office/powerpoint/2010/main" val="204814425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7070E-C13D-E066-CDB4-97A14E7D668F}"/>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4602E85C-26B0-5AF0-63A0-AB6B81BEE5E8}"/>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DE5DE3DD-62D9-27ED-2721-4C80F9D1D65A}"/>
              </a:ext>
            </a:extLst>
          </p:cNvPr>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1" lang="ko-KR" altLang="en-US" sz="1200" b="0" dirty="0">
                <a:latin typeface="+mj-lt"/>
              </a:rPr>
              <a:t>실제로 </a:t>
            </a:r>
            <a:r>
              <a:rPr kumimoji="1" lang="en-US" altLang="ko-KR" sz="1200" b="0" dirty="0">
                <a:latin typeface="+mj-lt"/>
              </a:rPr>
              <a:t>reshape</a:t>
            </a:r>
            <a:r>
              <a:rPr kumimoji="1" lang="ko-KR" altLang="en-US" sz="1200" b="0" dirty="0" err="1">
                <a:latin typeface="+mj-lt"/>
              </a:rPr>
              <a:t>으로</a:t>
            </a:r>
            <a:r>
              <a:rPr kumimoji="1" lang="ko-KR" altLang="en-US" sz="1200" b="0" dirty="0">
                <a:latin typeface="+mj-lt"/>
              </a:rPr>
              <a:t> 간단하게 구현했다</a:t>
            </a:r>
            <a:r>
              <a:rPr kumimoji="1" lang="en-US" altLang="ko-KR" sz="1200" b="0" dirty="0">
                <a:latin typeface="+mj-lt"/>
              </a:rPr>
              <a:t>.. </a:t>
            </a:r>
            <a:r>
              <a:rPr kumimoji="1" lang="ko-KR" altLang="en-US" sz="1200" b="0" dirty="0">
                <a:latin typeface="+mj-lt"/>
              </a:rPr>
              <a:t>참고용</a:t>
            </a:r>
            <a:endParaRPr kumimoji="1" lang="en-US" altLang="ko-KR" sz="1200" b="0" dirty="0">
              <a:latin typeface="+mj-lt"/>
            </a:endParaRPr>
          </a:p>
        </p:txBody>
      </p:sp>
      <p:sp>
        <p:nvSpPr>
          <p:cNvPr id="4" name="슬라이드 번호 개체 틀 3">
            <a:extLst>
              <a:ext uri="{FF2B5EF4-FFF2-40B4-BE49-F238E27FC236}">
                <a16:creationId xmlns:a16="http://schemas.microsoft.com/office/drawing/2014/main" id="{6B845450-8C0F-9306-4046-75B4809D949E}"/>
              </a:ext>
            </a:extLst>
          </p:cNvPr>
          <p:cNvSpPr>
            <a:spLocks noGrp="1"/>
          </p:cNvSpPr>
          <p:nvPr>
            <p:ph type="sldNum" sz="quarter" idx="5"/>
          </p:nvPr>
        </p:nvSpPr>
        <p:spPr/>
        <p:txBody>
          <a:bodyPr/>
          <a:lstStyle/>
          <a:p>
            <a:fld id="{2B8D3C5E-06BF-4547-A315-150B76FC98D2}" type="slidenum">
              <a:rPr kumimoji="1" lang="ko-KR" altLang="en-US" smtClean="0"/>
              <a:t>30</a:t>
            </a:fld>
            <a:endParaRPr kumimoji="1" lang="ko-KR" altLang="en-US"/>
          </a:p>
        </p:txBody>
      </p:sp>
    </p:spTree>
    <p:extLst>
      <p:ext uri="{BB962C8B-B14F-4D97-AF65-F5344CB8AC3E}">
        <p14:creationId xmlns:p14="http://schemas.microsoft.com/office/powerpoint/2010/main" val="185578597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B8CB2E-C789-7643-8533-DAD7C4AE2D53}"/>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026A3E77-03F9-E63B-7C61-0E92DF32A445}"/>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4F6E8F94-6128-D3E0-DC9A-9C80194E2283}"/>
              </a:ext>
            </a:extLst>
          </p:cNvPr>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1" lang="en-US" altLang="ko-KR" sz="1200" b="0" dirty="0">
                <a:latin typeface="+mj-lt"/>
              </a:rPr>
              <a:t>YOLOv7</a:t>
            </a:r>
            <a:r>
              <a:rPr kumimoji="1" lang="ko-KR" altLang="en-US" sz="1200" b="0" dirty="0">
                <a:latin typeface="+mj-lt"/>
              </a:rPr>
              <a:t>에서 </a:t>
            </a:r>
            <a:r>
              <a:rPr kumimoji="1" lang="en-US" altLang="ko-KR" sz="1200" b="0" dirty="0">
                <a:latin typeface="+mj-lt"/>
              </a:rPr>
              <a:t>ELAN block</a:t>
            </a:r>
            <a:r>
              <a:rPr kumimoji="1" lang="ko-KR" altLang="en-US" sz="1200" b="0" dirty="0">
                <a:latin typeface="+mj-lt"/>
              </a:rPr>
              <a:t>이 </a:t>
            </a:r>
            <a:r>
              <a:rPr kumimoji="1" lang="en-US" altLang="ko-KR" sz="1200" b="0" dirty="0">
                <a:latin typeface="+mj-lt"/>
              </a:rPr>
              <a:t>instable</a:t>
            </a:r>
            <a:r>
              <a:rPr kumimoji="1" lang="ko-KR" altLang="en-US" sz="1200" b="0" dirty="0">
                <a:latin typeface="+mj-lt"/>
              </a:rPr>
              <a:t>하다는 분석이 있었음 </a:t>
            </a:r>
            <a:r>
              <a:rPr kumimoji="1" lang="en-US" altLang="ko-KR" sz="1200" b="0" dirty="0">
                <a:latin typeface="+mj-lt"/>
                <a:sym typeface="Wingdings" pitchFamily="2" charset="2"/>
              </a:rPr>
              <a:t> </a:t>
            </a:r>
            <a:r>
              <a:rPr kumimoji="1" lang="en-US" altLang="ko-KR" sz="1200" b="0" dirty="0">
                <a:latin typeface="+mj-lt"/>
              </a:rPr>
              <a:t>R-ELAN block </a:t>
            </a:r>
            <a:r>
              <a:rPr kumimoji="1" lang="ko-KR" altLang="en-US" sz="1200" b="0" dirty="0">
                <a:latin typeface="+mj-lt"/>
              </a:rPr>
              <a:t>전체에 대해 </a:t>
            </a:r>
            <a:r>
              <a:rPr kumimoji="1" lang="en-US" altLang="ko-KR" sz="1200" b="0" dirty="0">
                <a:latin typeface="+mj-lt"/>
              </a:rPr>
              <a:t>residual connection </a:t>
            </a:r>
            <a:r>
              <a:rPr kumimoji="1" lang="ko-KR" altLang="en-US" sz="1200" b="0" dirty="0">
                <a:latin typeface="+mj-lt"/>
              </a:rPr>
              <a:t>추가해서 </a:t>
            </a:r>
            <a:r>
              <a:rPr kumimoji="1" lang="en-US" altLang="ko-KR" sz="1200" b="0" dirty="0">
                <a:latin typeface="+mj-lt"/>
              </a:rPr>
              <a:t>instability</a:t>
            </a:r>
            <a:r>
              <a:rPr kumimoji="1" lang="ko-KR" altLang="en-US" sz="1200" b="0" dirty="0" err="1">
                <a:latin typeface="+mj-lt"/>
              </a:rPr>
              <a:t>를</a:t>
            </a:r>
            <a:r>
              <a:rPr kumimoji="1" lang="ko-KR" altLang="en-US" sz="1200" b="0" dirty="0">
                <a:latin typeface="+mj-lt"/>
              </a:rPr>
              <a:t> 해결하려 함</a:t>
            </a:r>
            <a:endParaRPr kumimoji="1" lang="en-US" altLang="ko-KR" sz="1200" b="0" dirty="0">
              <a:latin typeface="+mj-lt"/>
            </a:endParaRPr>
          </a:p>
          <a:p>
            <a:pPr marL="0" marR="0" lvl="0" indent="0" algn="l" defTabSz="914400" rtl="0" eaLnBrk="1" fontAlgn="auto" latinLnBrk="1" hangingPunct="1">
              <a:lnSpc>
                <a:spcPct val="100000"/>
              </a:lnSpc>
              <a:spcBef>
                <a:spcPts val="0"/>
              </a:spcBef>
              <a:spcAft>
                <a:spcPts val="0"/>
              </a:spcAft>
              <a:buClrTx/>
              <a:buSzTx/>
              <a:buFontTx/>
              <a:buNone/>
              <a:tabLst/>
              <a:defRPr/>
            </a:pPr>
            <a:endParaRPr kumimoji="1" lang="en-US" altLang="ko-KR" sz="1200" b="0" dirty="0">
              <a:latin typeface="+mj-lt"/>
            </a:endParaRPr>
          </a:p>
          <a:p>
            <a:pPr marL="0" marR="0" lvl="0" indent="0" algn="l" defTabSz="914400" rtl="0" eaLnBrk="1" fontAlgn="auto" latinLnBrk="1" hangingPunct="1">
              <a:lnSpc>
                <a:spcPct val="100000"/>
              </a:lnSpc>
              <a:spcBef>
                <a:spcPts val="0"/>
              </a:spcBef>
              <a:spcAft>
                <a:spcPts val="0"/>
              </a:spcAft>
              <a:buClrTx/>
              <a:buSzTx/>
              <a:buFontTx/>
              <a:buNone/>
              <a:tabLst/>
              <a:defRPr/>
            </a:pPr>
            <a:r>
              <a:rPr kumimoji="1" lang="en-US" altLang="ko-KR" sz="1200" b="0" dirty="0">
                <a:latin typeface="+mj-lt"/>
              </a:rPr>
              <a:t>Scaling factor(default 0.01) </a:t>
            </a:r>
            <a:r>
              <a:rPr kumimoji="1" lang="ko-KR" altLang="en-US" sz="1200" b="0" dirty="0">
                <a:latin typeface="+mj-lt"/>
              </a:rPr>
              <a:t>곱해서 </a:t>
            </a:r>
            <a:r>
              <a:rPr kumimoji="1" lang="en-US" altLang="ko-KR" sz="1200" b="0" dirty="0">
                <a:latin typeface="+mj-lt"/>
              </a:rPr>
              <a:t>layer scaling</a:t>
            </a:r>
            <a:r>
              <a:rPr kumimoji="1" lang="ko-KR" altLang="en-US" sz="1200" b="0" dirty="0">
                <a:latin typeface="+mj-lt"/>
              </a:rPr>
              <a:t>과 유사한 기능 </a:t>
            </a:r>
            <a:r>
              <a:rPr kumimoji="1" lang="en-US" altLang="ko-KR" sz="1200" b="0" dirty="0">
                <a:latin typeface="+mj-lt"/>
                <a:sym typeface="Wingdings" pitchFamily="2" charset="2"/>
              </a:rPr>
              <a:t> layer scaling</a:t>
            </a:r>
            <a:r>
              <a:rPr kumimoji="1" lang="ko-KR" altLang="en-US" sz="1200" b="0" dirty="0">
                <a:latin typeface="+mj-lt"/>
                <a:sym typeface="Wingdings" pitchFamily="2" charset="2"/>
              </a:rPr>
              <a:t>은 </a:t>
            </a:r>
            <a:r>
              <a:rPr kumimoji="1" lang="en-US" altLang="ko-KR" sz="1200" b="0" dirty="0">
                <a:latin typeface="+mj-lt"/>
                <a:sym typeface="Wingdings" pitchFamily="2" charset="2"/>
              </a:rPr>
              <a:t>layer</a:t>
            </a:r>
            <a:r>
              <a:rPr kumimoji="1" lang="ko-KR" altLang="en-US" sz="1200" b="0" dirty="0">
                <a:latin typeface="+mj-lt"/>
                <a:sym typeface="Wingdings" pitchFamily="2" charset="2"/>
              </a:rPr>
              <a:t>가 깊어질 때 </a:t>
            </a:r>
            <a:r>
              <a:rPr kumimoji="1" lang="en-US" altLang="ko-KR" sz="1200" b="0" dirty="0">
                <a:latin typeface="+mj-lt"/>
                <a:sym typeface="Wingdings" pitchFamily="2" charset="2"/>
              </a:rPr>
              <a:t>information flow</a:t>
            </a:r>
            <a:r>
              <a:rPr kumimoji="1" lang="ko-KR" altLang="en-US" sz="1200" b="0" dirty="0" err="1">
                <a:latin typeface="+mj-lt"/>
                <a:sym typeface="Wingdings" pitchFamily="2" charset="2"/>
              </a:rPr>
              <a:t>를</a:t>
            </a:r>
            <a:r>
              <a:rPr kumimoji="1" lang="ko-KR" altLang="en-US" sz="1200" b="0" dirty="0">
                <a:latin typeface="+mj-lt"/>
                <a:sym typeface="Wingdings" pitchFamily="2" charset="2"/>
              </a:rPr>
              <a:t> 방해하는</a:t>
            </a:r>
            <a:r>
              <a:rPr kumimoji="1" lang="en-US" altLang="ko-KR" sz="1200" b="0" dirty="0">
                <a:latin typeface="+mj-lt"/>
                <a:sym typeface="Wingdings" pitchFamily="2" charset="2"/>
              </a:rPr>
              <a:t> </a:t>
            </a:r>
            <a:r>
              <a:rPr kumimoji="1" lang="ko-KR" altLang="en-US" sz="1200" b="0" dirty="0">
                <a:latin typeface="+mj-lt"/>
                <a:sym typeface="Wingdings" pitchFamily="2" charset="2"/>
              </a:rPr>
              <a:t>것을 해결하고자 작은 값을 곱해주는 것</a:t>
            </a:r>
            <a:r>
              <a:rPr kumimoji="1" lang="en-US" altLang="ko-KR" sz="1200" b="0" dirty="0">
                <a:latin typeface="+mj-lt"/>
                <a:sym typeface="Wingdings" pitchFamily="2" charset="2"/>
              </a:rPr>
              <a:t> (?)</a:t>
            </a:r>
            <a:endParaRPr kumimoji="1" lang="en-US" altLang="ko-KR" sz="1200" b="0" dirty="0">
              <a:latin typeface="+mj-lt"/>
            </a:endParaRPr>
          </a:p>
          <a:p>
            <a:pPr marL="0" marR="0" lvl="0" indent="0" algn="l" defTabSz="914400" rtl="0" eaLnBrk="1" fontAlgn="auto" latinLnBrk="1" hangingPunct="1">
              <a:lnSpc>
                <a:spcPct val="100000"/>
              </a:lnSpc>
              <a:spcBef>
                <a:spcPts val="0"/>
              </a:spcBef>
              <a:spcAft>
                <a:spcPts val="0"/>
              </a:spcAft>
              <a:buClrTx/>
              <a:buSzTx/>
              <a:buFontTx/>
              <a:buNone/>
              <a:tabLst/>
              <a:defRPr/>
            </a:pPr>
            <a:endParaRPr kumimoji="1" lang="en-US" altLang="ko-KR" sz="1200" b="0" dirty="0">
              <a:latin typeface="+mj-lt"/>
            </a:endParaRPr>
          </a:p>
        </p:txBody>
      </p:sp>
      <p:sp>
        <p:nvSpPr>
          <p:cNvPr id="4" name="슬라이드 번호 개체 틀 3">
            <a:extLst>
              <a:ext uri="{FF2B5EF4-FFF2-40B4-BE49-F238E27FC236}">
                <a16:creationId xmlns:a16="http://schemas.microsoft.com/office/drawing/2014/main" id="{0D46457A-75A0-711E-89DA-A069A790C6AF}"/>
              </a:ext>
            </a:extLst>
          </p:cNvPr>
          <p:cNvSpPr>
            <a:spLocks noGrp="1"/>
          </p:cNvSpPr>
          <p:nvPr>
            <p:ph type="sldNum" sz="quarter" idx="5"/>
          </p:nvPr>
        </p:nvSpPr>
        <p:spPr/>
        <p:txBody>
          <a:bodyPr/>
          <a:lstStyle/>
          <a:p>
            <a:fld id="{2B8D3C5E-06BF-4547-A315-150B76FC98D2}" type="slidenum">
              <a:rPr kumimoji="1" lang="ko-KR" altLang="en-US" smtClean="0"/>
              <a:t>31</a:t>
            </a:fld>
            <a:endParaRPr kumimoji="1" lang="ko-KR" altLang="en-US"/>
          </a:p>
        </p:txBody>
      </p:sp>
    </p:spTree>
    <p:extLst>
      <p:ext uri="{BB962C8B-B14F-4D97-AF65-F5344CB8AC3E}">
        <p14:creationId xmlns:p14="http://schemas.microsoft.com/office/powerpoint/2010/main" val="258638072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63E98F-8E08-FB5E-E3BE-4A3CB8B91005}"/>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C17D74AE-DF23-DF9D-24B9-E08C8BE10805}"/>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F967EDD0-A1C3-87A5-834E-AB9C98A5893B}"/>
              </a:ext>
            </a:extLst>
          </p:cNvPr>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kumimoji="1" lang="en-US" altLang="ko-KR" sz="1200" b="0" dirty="0">
              <a:latin typeface="+mj-lt"/>
            </a:endParaRPr>
          </a:p>
          <a:p>
            <a:pPr marL="0" marR="0" lvl="0" indent="0" algn="l" defTabSz="914400" rtl="0" eaLnBrk="1" fontAlgn="auto" latinLnBrk="1" hangingPunct="1">
              <a:lnSpc>
                <a:spcPct val="100000"/>
              </a:lnSpc>
              <a:spcBef>
                <a:spcPts val="0"/>
              </a:spcBef>
              <a:spcAft>
                <a:spcPts val="0"/>
              </a:spcAft>
              <a:buClrTx/>
              <a:buSzTx/>
              <a:buFontTx/>
              <a:buNone/>
              <a:tabLst/>
              <a:defRPr/>
            </a:pPr>
            <a:endParaRPr kumimoji="1" lang="en-US" altLang="ko-KR" sz="1200" b="0" dirty="0">
              <a:latin typeface="+mj-lt"/>
            </a:endParaRPr>
          </a:p>
          <a:p>
            <a:pPr marL="0" marR="0" lvl="0" indent="0" algn="l" defTabSz="914400" rtl="0" eaLnBrk="1" fontAlgn="auto" latinLnBrk="1" hangingPunct="1">
              <a:lnSpc>
                <a:spcPct val="100000"/>
              </a:lnSpc>
              <a:spcBef>
                <a:spcPts val="0"/>
              </a:spcBef>
              <a:spcAft>
                <a:spcPts val="0"/>
              </a:spcAft>
              <a:buClrTx/>
              <a:buSzTx/>
              <a:buFontTx/>
              <a:buNone/>
              <a:tabLst/>
              <a:defRPr/>
            </a:pPr>
            <a:r>
              <a:rPr kumimoji="1" lang="en-US" altLang="ko-KR" sz="1200" b="0" dirty="0">
                <a:latin typeface="+mj-lt"/>
              </a:rPr>
              <a:t>Gamma</a:t>
            </a:r>
            <a:r>
              <a:rPr kumimoji="1" lang="ko-KR" altLang="en-US" sz="1200" b="0" dirty="0">
                <a:latin typeface="+mj-lt"/>
              </a:rPr>
              <a:t>는 </a:t>
            </a:r>
            <a:r>
              <a:rPr kumimoji="1" lang="en-US" altLang="ko-KR" sz="1200" b="0" dirty="0">
                <a:latin typeface="+mj-lt"/>
              </a:rPr>
              <a:t>scaling factor.</a:t>
            </a:r>
            <a:r>
              <a:rPr kumimoji="1" lang="ko-KR" altLang="en-US" sz="1200" b="0" dirty="0">
                <a:latin typeface="+mj-lt"/>
              </a:rPr>
              <a:t> </a:t>
            </a:r>
            <a:r>
              <a:rPr kumimoji="1" lang="en-US" altLang="ko-KR" sz="1200" b="0" dirty="0">
                <a:latin typeface="+mj-lt"/>
              </a:rPr>
              <a:t>learnable parameter</a:t>
            </a:r>
            <a:r>
              <a:rPr kumimoji="1" lang="ko-KR" altLang="en-US" sz="1200" b="0" dirty="0">
                <a:latin typeface="+mj-lt"/>
              </a:rPr>
              <a:t>임</a:t>
            </a:r>
            <a:endParaRPr kumimoji="1" lang="en-US" altLang="ko-KR" sz="1200" b="0" dirty="0">
              <a:latin typeface="+mj-lt"/>
            </a:endParaRPr>
          </a:p>
        </p:txBody>
      </p:sp>
      <p:sp>
        <p:nvSpPr>
          <p:cNvPr id="4" name="슬라이드 번호 개체 틀 3">
            <a:extLst>
              <a:ext uri="{FF2B5EF4-FFF2-40B4-BE49-F238E27FC236}">
                <a16:creationId xmlns:a16="http://schemas.microsoft.com/office/drawing/2014/main" id="{71A52E7A-428F-B88A-3DB9-FA060CDD421D}"/>
              </a:ext>
            </a:extLst>
          </p:cNvPr>
          <p:cNvSpPr>
            <a:spLocks noGrp="1"/>
          </p:cNvSpPr>
          <p:nvPr>
            <p:ph type="sldNum" sz="quarter" idx="5"/>
          </p:nvPr>
        </p:nvSpPr>
        <p:spPr/>
        <p:txBody>
          <a:bodyPr/>
          <a:lstStyle/>
          <a:p>
            <a:fld id="{2B8D3C5E-06BF-4547-A315-150B76FC98D2}" type="slidenum">
              <a:rPr kumimoji="1" lang="ko-KR" altLang="en-US" smtClean="0"/>
              <a:t>32</a:t>
            </a:fld>
            <a:endParaRPr kumimoji="1" lang="ko-KR" altLang="en-US"/>
          </a:p>
        </p:txBody>
      </p:sp>
    </p:spTree>
    <p:extLst>
      <p:ext uri="{BB962C8B-B14F-4D97-AF65-F5344CB8AC3E}">
        <p14:creationId xmlns:p14="http://schemas.microsoft.com/office/powerpoint/2010/main" val="384231116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01632B-42F7-C573-7112-C0DB36E92375}"/>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AFDEC4DA-C57A-B93D-6C99-6C9C1B333B2E}"/>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989423CD-E7C0-9C25-5450-5BAA2DDC8ED5}"/>
              </a:ext>
            </a:extLst>
          </p:cNvPr>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kumimoji="1" lang="en-US" altLang="ko-KR" sz="1200" b="0" dirty="0">
              <a:latin typeface="+mj-lt"/>
            </a:endParaRPr>
          </a:p>
        </p:txBody>
      </p:sp>
      <p:sp>
        <p:nvSpPr>
          <p:cNvPr id="4" name="슬라이드 번호 개체 틀 3">
            <a:extLst>
              <a:ext uri="{FF2B5EF4-FFF2-40B4-BE49-F238E27FC236}">
                <a16:creationId xmlns:a16="http://schemas.microsoft.com/office/drawing/2014/main" id="{DEDBFA3A-60E8-C4B9-98E8-C1498512A08D}"/>
              </a:ext>
            </a:extLst>
          </p:cNvPr>
          <p:cNvSpPr>
            <a:spLocks noGrp="1"/>
          </p:cNvSpPr>
          <p:nvPr>
            <p:ph type="sldNum" sz="quarter" idx="5"/>
          </p:nvPr>
        </p:nvSpPr>
        <p:spPr/>
        <p:txBody>
          <a:bodyPr/>
          <a:lstStyle/>
          <a:p>
            <a:fld id="{2B8D3C5E-06BF-4547-A315-150B76FC98D2}" type="slidenum">
              <a:rPr kumimoji="1" lang="ko-KR" altLang="en-US" smtClean="0"/>
              <a:t>33</a:t>
            </a:fld>
            <a:endParaRPr kumimoji="1" lang="ko-KR" altLang="en-US"/>
          </a:p>
        </p:txBody>
      </p:sp>
    </p:spTree>
    <p:extLst>
      <p:ext uri="{BB962C8B-B14F-4D97-AF65-F5344CB8AC3E}">
        <p14:creationId xmlns:p14="http://schemas.microsoft.com/office/powerpoint/2010/main" val="352271559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8CF95C-186C-2E61-8995-FB5A81738070}"/>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2F56D1C0-BA02-A717-BBCE-CA9300A88A55}"/>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2A314086-D22B-E5DB-5DD5-9ACEAFF75591}"/>
              </a:ext>
            </a:extLst>
          </p:cNvPr>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1" lang="en-US" altLang="ko-KR" sz="1200" b="0" dirty="0">
                <a:latin typeface="+mj-lt"/>
              </a:rPr>
              <a:t>Scaling</a:t>
            </a:r>
            <a:r>
              <a:rPr kumimoji="1" lang="ko-KR" altLang="en-US" sz="1200" b="0" dirty="0">
                <a:latin typeface="+mj-lt"/>
              </a:rPr>
              <a:t>은 </a:t>
            </a:r>
            <a:r>
              <a:rPr kumimoji="1" lang="en-US" altLang="ko-KR" sz="1200" b="0" dirty="0">
                <a:latin typeface="+mj-lt"/>
              </a:rPr>
              <a:t>scalar</a:t>
            </a:r>
            <a:r>
              <a:rPr kumimoji="1" lang="ko-KR" altLang="en-US" sz="1200" b="0" dirty="0">
                <a:latin typeface="+mj-lt"/>
              </a:rPr>
              <a:t>인 것처럼 </a:t>
            </a:r>
            <a:r>
              <a:rPr kumimoji="1" lang="ko-KR" altLang="en-US" sz="1200" b="0" dirty="0" err="1">
                <a:latin typeface="+mj-lt"/>
              </a:rPr>
              <a:t>해놨는데</a:t>
            </a:r>
            <a:r>
              <a:rPr kumimoji="1" lang="ko-KR" altLang="en-US" sz="1200" b="0" dirty="0">
                <a:latin typeface="+mj-lt"/>
              </a:rPr>
              <a:t> </a:t>
            </a:r>
            <a:r>
              <a:rPr kumimoji="1" lang="en-US" altLang="ko-KR" sz="1200" b="0" dirty="0">
                <a:latin typeface="+mj-lt"/>
              </a:rPr>
              <a:t>learnable parameter</a:t>
            </a:r>
            <a:r>
              <a:rPr kumimoji="1" lang="ko-KR" altLang="en-US" sz="1200" b="0" dirty="0">
                <a:latin typeface="+mj-lt"/>
              </a:rPr>
              <a:t>였다는 점</a:t>
            </a:r>
            <a:r>
              <a:rPr kumimoji="1" lang="en-US" altLang="ko-KR" sz="1200" b="0" dirty="0">
                <a:latin typeface="+mj-lt"/>
              </a:rPr>
              <a:t>.</a:t>
            </a:r>
          </a:p>
          <a:p>
            <a:pPr marL="0" marR="0" lvl="0" indent="0" algn="l" defTabSz="914400" rtl="0" eaLnBrk="1" fontAlgn="auto" latinLnBrk="1" hangingPunct="1">
              <a:lnSpc>
                <a:spcPct val="100000"/>
              </a:lnSpc>
              <a:spcBef>
                <a:spcPts val="0"/>
              </a:spcBef>
              <a:spcAft>
                <a:spcPts val="0"/>
              </a:spcAft>
              <a:buClrTx/>
              <a:buSzTx/>
              <a:buFontTx/>
              <a:buNone/>
              <a:tabLst/>
              <a:defRPr/>
            </a:pPr>
            <a:endParaRPr kumimoji="1" lang="en-US" altLang="ko-KR" sz="1200" b="0" dirty="0">
              <a:latin typeface="+mj-lt"/>
            </a:endParaRPr>
          </a:p>
          <a:p>
            <a:pPr marL="0" marR="0" lvl="0" indent="0" algn="l" defTabSz="914400" rtl="0" eaLnBrk="1" fontAlgn="auto" latinLnBrk="1" hangingPunct="1">
              <a:lnSpc>
                <a:spcPct val="100000"/>
              </a:lnSpc>
              <a:spcBef>
                <a:spcPts val="0"/>
              </a:spcBef>
              <a:spcAft>
                <a:spcPts val="0"/>
              </a:spcAft>
              <a:buClrTx/>
              <a:buSzTx/>
              <a:buFontTx/>
              <a:buNone/>
              <a:tabLst/>
              <a:defRPr/>
            </a:pPr>
            <a:r>
              <a:rPr kumimoji="1" lang="en-US" altLang="ko-KR" sz="1200" b="0" dirty="0">
                <a:latin typeface="+mj-lt"/>
              </a:rPr>
              <a:t>Re-</a:t>
            </a:r>
            <a:r>
              <a:rPr kumimoji="1" lang="en-US" altLang="ko-KR" sz="1200" b="0" dirty="0" err="1">
                <a:latin typeface="+mj-lt"/>
              </a:rPr>
              <a:t>Aggre</a:t>
            </a:r>
            <a:r>
              <a:rPr kumimoji="1" lang="ko-KR" altLang="en-US" sz="1200" b="0" dirty="0">
                <a:latin typeface="+mj-lt"/>
              </a:rPr>
              <a:t>는 </a:t>
            </a:r>
            <a:r>
              <a:rPr kumimoji="1" lang="en-US" altLang="ko-KR" sz="1200" b="0" dirty="0">
                <a:latin typeface="+mj-lt"/>
              </a:rPr>
              <a:t>R-ELAN</a:t>
            </a:r>
          </a:p>
          <a:p>
            <a:pPr marL="0" marR="0" lvl="0" indent="0" algn="l" defTabSz="914400" rtl="0" eaLnBrk="1" fontAlgn="auto" latinLnBrk="1" hangingPunct="1">
              <a:lnSpc>
                <a:spcPct val="100000"/>
              </a:lnSpc>
              <a:spcBef>
                <a:spcPts val="0"/>
              </a:spcBef>
              <a:spcAft>
                <a:spcPts val="0"/>
              </a:spcAft>
              <a:buClrTx/>
              <a:buSzTx/>
              <a:buFontTx/>
              <a:buNone/>
              <a:tabLst/>
              <a:defRPr/>
            </a:pPr>
            <a:r>
              <a:rPr kumimoji="1" lang="en-US" altLang="ko-KR" sz="1200" b="0" dirty="0">
                <a:latin typeface="+mj-lt"/>
              </a:rPr>
              <a:t>Residual</a:t>
            </a:r>
            <a:r>
              <a:rPr kumimoji="1" lang="ko-KR" altLang="en-US" sz="1200" b="0" dirty="0">
                <a:latin typeface="+mj-lt"/>
              </a:rPr>
              <a:t>은 </a:t>
            </a:r>
            <a:r>
              <a:rPr kumimoji="1" lang="en-US" altLang="ko-KR" sz="1200" b="0" dirty="0">
                <a:latin typeface="+mj-lt"/>
              </a:rPr>
              <a:t>Residual connection</a:t>
            </a:r>
          </a:p>
          <a:p>
            <a:pPr marL="0" marR="0" lvl="0" indent="0" algn="l" defTabSz="914400" rtl="0" eaLnBrk="1" fontAlgn="auto" latinLnBrk="1" hangingPunct="1">
              <a:lnSpc>
                <a:spcPct val="100000"/>
              </a:lnSpc>
              <a:spcBef>
                <a:spcPts val="0"/>
              </a:spcBef>
              <a:spcAft>
                <a:spcPts val="0"/>
              </a:spcAft>
              <a:buClrTx/>
              <a:buSzTx/>
              <a:buFontTx/>
              <a:buNone/>
              <a:tabLst/>
              <a:defRPr/>
            </a:pPr>
            <a:endParaRPr kumimoji="1" lang="en-US" altLang="ko-KR" sz="1200" b="0" dirty="0">
              <a:latin typeface="+mj-lt"/>
            </a:endParaRPr>
          </a:p>
          <a:p>
            <a:pPr marL="0" marR="0" lvl="0" indent="0" algn="l" defTabSz="914400" rtl="0" eaLnBrk="1" fontAlgn="auto" latinLnBrk="1" hangingPunct="1">
              <a:lnSpc>
                <a:spcPct val="100000"/>
              </a:lnSpc>
              <a:spcBef>
                <a:spcPts val="0"/>
              </a:spcBef>
              <a:spcAft>
                <a:spcPts val="0"/>
              </a:spcAft>
              <a:buClrTx/>
              <a:buSzTx/>
              <a:buFontTx/>
              <a:buNone/>
              <a:tabLst/>
              <a:defRPr/>
            </a:pPr>
            <a:r>
              <a:rPr kumimoji="1" lang="en-US" altLang="ko-KR" sz="1200" b="0" dirty="0">
                <a:latin typeface="+mj-lt"/>
              </a:rPr>
              <a:t>Residual</a:t>
            </a:r>
            <a:r>
              <a:rPr kumimoji="1" lang="ko-KR" altLang="en-US" sz="1200" b="0" dirty="0">
                <a:latin typeface="+mj-lt"/>
              </a:rPr>
              <a:t>을 해야 </a:t>
            </a:r>
            <a:r>
              <a:rPr kumimoji="1" lang="en-US" altLang="ko-KR" sz="1200" b="0" dirty="0">
                <a:latin typeface="+mj-lt"/>
              </a:rPr>
              <a:t>training stability</a:t>
            </a:r>
            <a:r>
              <a:rPr kumimoji="1" lang="ko-KR" altLang="en-US" sz="1200" b="0" dirty="0">
                <a:latin typeface="+mj-lt"/>
              </a:rPr>
              <a:t>가 높아져 </a:t>
            </a:r>
            <a:r>
              <a:rPr kumimoji="1" lang="en-US" altLang="ko-KR" sz="1200" b="0" dirty="0">
                <a:latin typeface="+mj-lt"/>
              </a:rPr>
              <a:t>convergence</a:t>
            </a:r>
            <a:r>
              <a:rPr kumimoji="1" lang="ko-KR" altLang="en-US" sz="1200" b="0" dirty="0">
                <a:latin typeface="+mj-lt"/>
              </a:rPr>
              <a:t>할 수 있었다</a:t>
            </a:r>
            <a:r>
              <a:rPr kumimoji="1" lang="en-US" altLang="ko-KR" sz="1200" b="0" dirty="0">
                <a:latin typeface="+mj-lt"/>
              </a:rPr>
              <a:t>.</a:t>
            </a:r>
          </a:p>
        </p:txBody>
      </p:sp>
      <p:sp>
        <p:nvSpPr>
          <p:cNvPr id="4" name="슬라이드 번호 개체 틀 3">
            <a:extLst>
              <a:ext uri="{FF2B5EF4-FFF2-40B4-BE49-F238E27FC236}">
                <a16:creationId xmlns:a16="http://schemas.microsoft.com/office/drawing/2014/main" id="{F63ADAA7-FF44-0A9F-F1D4-7BD31357186A}"/>
              </a:ext>
            </a:extLst>
          </p:cNvPr>
          <p:cNvSpPr>
            <a:spLocks noGrp="1"/>
          </p:cNvSpPr>
          <p:nvPr>
            <p:ph type="sldNum" sz="quarter" idx="5"/>
          </p:nvPr>
        </p:nvSpPr>
        <p:spPr/>
        <p:txBody>
          <a:bodyPr/>
          <a:lstStyle/>
          <a:p>
            <a:fld id="{2B8D3C5E-06BF-4547-A315-150B76FC98D2}" type="slidenum">
              <a:rPr kumimoji="1" lang="ko-KR" altLang="en-US" smtClean="0"/>
              <a:t>34</a:t>
            </a:fld>
            <a:endParaRPr kumimoji="1" lang="ko-KR" altLang="en-US"/>
          </a:p>
        </p:txBody>
      </p:sp>
    </p:spTree>
    <p:extLst>
      <p:ext uri="{BB962C8B-B14F-4D97-AF65-F5344CB8AC3E}">
        <p14:creationId xmlns:p14="http://schemas.microsoft.com/office/powerpoint/2010/main" val="360654626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039D4C-9B30-8837-5B0C-82916B35148C}"/>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5B41C1F2-B78F-BC25-6FF1-C9A64EEFCD73}"/>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E8843A17-C422-5553-0422-DDF09AAB6A49}"/>
              </a:ext>
            </a:extLst>
          </p:cNvPr>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1" lang="ko-KR" altLang="en-US" sz="1200" b="0" dirty="0">
                <a:latin typeface="+mj-lt"/>
              </a:rPr>
              <a:t>결국 </a:t>
            </a:r>
            <a:r>
              <a:rPr kumimoji="1" lang="en-US" altLang="ko-KR" sz="1200" b="0" dirty="0">
                <a:latin typeface="+mj-lt"/>
              </a:rPr>
              <a:t>novelty</a:t>
            </a:r>
            <a:r>
              <a:rPr kumimoji="1" lang="ko-KR" altLang="en-US" sz="1200" b="0" dirty="0">
                <a:latin typeface="+mj-lt"/>
              </a:rPr>
              <a:t>는 모르겠고</a:t>
            </a:r>
            <a:r>
              <a:rPr kumimoji="1" lang="en-US" altLang="ko-KR" sz="1200" b="0" dirty="0">
                <a:latin typeface="+mj-lt"/>
              </a:rPr>
              <a:t>, Flash Attention</a:t>
            </a:r>
            <a:r>
              <a:rPr kumimoji="1" lang="ko-KR" altLang="en-US" sz="1200" b="0" dirty="0">
                <a:latin typeface="+mj-lt"/>
              </a:rPr>
              <a:t>의 덕을 많이 봤다</a:t>
            </a:r>
            <a:endParaRPr kumimoji="1" lang="en-US" altLang="ko-KR" sz="1200" b="0" dirty="0">
              <a:latin typeface="+mj-lt"/>
            </a:endParaRPr>
          </a:p>
          <a:p>
            <a:pPr marL="0" marR="0" lvl="0" indent="0" algn="l" defTabSz="914400" rtl="0" eaLnBrk="1" fontAlgn="auto" latinLnBrk="1" hangingPunct="1">
              <a:lnSpc>
                <a:spcPct val="100000"/>
              </a:lnSpc>
              <a:spcBef>
                <a:spcPts val="0"/>
              </a:spcBef>
              <a:spcAft>
                <a:spcPts val="0"/>
              </a:spcAft>
              <a:buClrTx/>
              <a:buSzTx/>
              <a:buFontTx/>
              <a:buNone/>
              <a:tabLst/>
              <a:defRPr/>
            </a:pPr>
            <a:endParaRPr kumimoji="1" lang="en-US" altLang="ko-KR" sz="1200" b="0" dirty="0">
              <a:latin typeface="+mj-lt"/>
            </a:endParaRPr>
          </a:p>
          <a:p>
            <a:pPr marL="0" marR="0" lvl="0" indent="0" algn="l" defTabSz="914400" rtl="0" eaLnBrk="1" fontAlgn="auto" latinLnBrk="1" hangingPunct="1">
              <a:lnSpc>
                <a:spcPct val="100000"/>
              </a:lnSpc>
              <a:spcBef>
                <a:spcPts val="0"/>
              </a:spcBef>
              <a:spcAft>
                <a:spcPts val="0"/>
              </a:spcAft>
              <a:buClrTx/>
              <a:buSzTx/>
              <a:buFontTx/>
              <a:buNone/>
              <a:tabLst/>
              <a:defRPr/>
            </a:pPr>
            <a:r>
              <a:rPr kumimoji="1" lang="en-US" altLang="ko-KR" sz="1200" b="0" dirty="0" err="1">
                <a:latin typeface="+mj-lt"/>
              </a:rPr>
              <a:t>NeurIPS</a:t>
            </a:r>
            <a:r>
              <a:rPr kumimoji="1" lang="ko-KR" altLang="en-US" sz="1200" b="0" dirty="0">
                <a:latin typeface="+mj-lt"/>
              </a:rPr>
              <a:t>급의 </a:t>
            </a:r>
            <a:r>
              <a:rPr kumimoji="1" lang="en-US" altLang="ko-KR" sz="1200" b="0" dirty="0">
                <a:latin typeface="+mj-lt"/>
              </a:rPr>
              <a:t>contribution</a:t>
            </a:r>
            <a:r>
              <a:rPr kumimoji="1" lang="ko-KR" altLang="en-US" sz="1200" b="0" dirty="0">
                <a:latin typeface="+mj-lt"/>
              </a:rPr>
              <a:t>은 모르겠고</a:t>
            </a:r>
            <a:r>
              <a:rPr kumimoji="1" lang="en-US" altLang="ko-KR" sz="1200" b="0" dirty="0">
                <a:latin typeface="+mj-lt"/>
              </a:rPr>
              <a:t>,.. SOTA </a:t>
            </a:r>
            <a:r>
              <a:rPr kumimoji="1" lang="ko-KR" altLang="en-US" sz="1200" b="0" dirty="0">
                <a:latin typeface="+mj-lt"/>
              </a:rPr>
              <a:t>달성했다는 것과 </a:t>
            </a:r>
            <a:r>
              <a:rPr kumimoji="1" lang="en-US" altLang="ko-KR" sz="1200" b="0" dirty="0">
                <a:latin typeface="+mj-lt"/>
              </a:rPr>
              <a:t>novelty</a:t>
            </a:r>
            <a:r>
              <a:rPr kumimoji="1" lang="ko-KR" altLang="en-US" sz="1200" b="0" dirty="0">
                <a:latin typeface="+mj-lt"/>
              </a:rPr>
              <a:t>가 약함을 고려했을 때</a:t>
            </a:r>
            <a:r>
              <a:rPr kumimoji="1" lang="en-US" altLang="ko-KR" sz="1200" b="0" dirty="0">
                <a:latin typeface="+mj-lt"/>
              </a:rPr>
              <a:t>,</a:t>
            </a:r>
            <a:r>
              <a:rPr kumimoji="1" lang="ko-KR" altLang="en-US" sz="1200" b="0" dirty="0">
                <a:latin typeface="+mj-lt"/>
              </a:rPr>
              <a:t> </a:t>
            </a:r>
            <a:r>
              <a:rPr kumimoji="1" lang="en-US" altLang="ko-KR" sz="1200" b="0" dirty="0">
                <a:latin typeface="+mj-lt"/>
              </a:rPr>
              <a:t>CV conference</a:t>
            </a:r>
            <a:r>
              <a:rPr kumimoji="1" lang="ko-KR" altLang="en-US" sz="1200" b="0" dirty="0" err="1">
                <a:latin typeface="+mj-lt"/>
              </a:rPr>
              <a:t>에</a:t>
            </a:r>
            <a:r>
              <a:rPr kumimoji="1" lang="ko-KR" altLang="en-US" sz="1200" b="0" dirty="0">
                <a:latin typeface="+mj-lt"/>
              </a:rPr>
              <a:t> 더 어울리는 논문 같다</a:t>
            </a:r>
            <a:r>
              <a:rPr kumimoji="1" lang="en-US" altLang="ko-KR" sz="1200" b="0" dirty="0">
                <a:latin typeface="+mj-lt"/>
              </a:rPr>
              <a:t>.</a:t>
            </a:r>
          </a:p>
          <a:p>
            <a:pPr marL="0" marR="0" lvl="0" indent="0" algn="l" defTabSz="914400" rtl="0" eaLnBrk="1" fontAlgn="auto" latinLnBrk="1" hangingPunct="1">
              <a:lnSpc>
                <a:spcPct val="100000"/>
              </a:lnSpc>
              <a:spcBef>
                <a:spcPts val="0"/>
              </a:spcBef>
              <a:spcAft>
                <a:spcPts val="0"/>
              </a:spcAft>
              <a:buClrTx/>
              <a:buSzTx/>
              <a:buFontTx/>
              <a:buNone/>
              <a:tabLst/>
              <a:defRPr/>
            </a:pPr>
            <a:endParaRPr kumimoji="1" lang="en-US" altLang="ko-KR" sz="1200" b="0" dirty="0">
              <a:latin typeface="+mj-lt"/>
            </a:endParaRPr>
          </a:p>
          <a:p>
            <a:pPr marL="0" marR="0" lvl="0" indent="0" algn="l" defTabSz="914400" rtl="0" eaLnBrk="1" fontAlgn="auto" latinLnBrk="1" hangingPunct="1">
              <a:lnSpc>
                <a:spcPct val="100000"/>
              </a:lnSpc>
              <a:spcBef>
                <a:spcPts val="0"/>
              </a:spcBef>
              <a:spcAft>
                <a:spcPts val="0"/>
              </a:spcAft>
              <a:buClrTx/>
              <a:buSzTx/>
              <a:buFontTx/>
              <a:buNone/>
              <a:tabLst/>
              <a:defRPr/>
            </a:pPr>
            <a:r>
              <a:rPr kumimoji="1" lang="en-US" altLang="ko-KR" sz="1200" b="0" dirty="0">
                <a:latin typeface="+mj-lt"/>
              </a:rPr>
              <a:t>+ </a:t>
            </a:r>
            <a:r>
              <a:rPr kumimoji="1" lang="ko-KR" altLang="en-US" sz="1200" b="0" dirty="0">
                <a:latin typeface="+mj-lt"/>
              </a:rPr>
              <a:t>현재로서 </a:t>
            </a:r>
            <a:r>
              <a:rPr kumimoji="1" lang="en-US" altLang="ko-KR" sz="1200" b="0" dirty="0" err="1">
                <a:latin typeface="+mj-lt"/>
              </a:rPr>
              <a:t>Flashattention</a:t>
            </a:r>
            <a:r>
              <a:rPr kumimoji="1" lang="ko-KR" altLang="en-US" sz="1200" b="0" dirty="0">
                <a:latin typeface="+mj-lt"/>
              </a:rPr>
              <a:t>은 </a:t>
            </a:r>
            <a:r>
              <a:rPr kumimoji="1" lang="en-US" altLang="ko-KR" sz="1200" b="0" dirty="0">
                <a:latin typeface="+mj-lt"/>
              </a:rPr>
              <a:t>edge</a:t>
            </a:r>
            <a:r>
              <a:rPr kumimoji="1" lang="ko-KR" altLang="en-US" sz="1200" b="0" dirty="0" err="1">
                <a:latin typeface="+mj-lt"/>
              </a:rPr>
              <a:t>에</a:t>
            </a:r>
            <a:r>
              <a:rPr kumimoji="1" lang="ko-KR" altLang="en-US" sz="1200" b="0" dirty="0">
                <a:latin typeface="+mj-lt"/>
              </a:rPr>
              <a:t> </a:t>
            </a:r>
            <a:r>
              <a:rPr kumimoji="1" lang="en-US" altLang="ko-KR" sz="1200" b="0" dirty="0">
                <a:latin typeface="+mj-lt"/>
              </a:rPr>
              <a:t>deploy</a:t>
            </a:r>
            <a:r>
              <a:rPr kumimoji="1" lang="ko-KR" altLang="en-US" sz="1200" b="0" dirty="0">
                <a:latin typeface="+mj-lt"/>
              </a:rPr>
              <a:t>될 수 없는 듯함</a:t>
            </a:r>
            <a:br>
              <a:rPr kumimoji="1" lang="en-US" altLang="ko-KR" sz="1200" b="0" dirty="0">
                <a:latin typeface="+mj-lt"/>
              </a:rPr>
            </a:br>
            <a:br>
              <a:rPr kumimoji="1" lang="en-US" altLang="ko-KR" sz="1200" b="0" dirty="0">
                <a:latin typeface="+mj-lt"/>
              </a:rPr>
            </a:br>
            <a:br>
              <a:rPr kumimoji="1" lang="en-US" altLang="ko-KR" sz="1200" b="0" dirty="0">
                <a:latin typeface="+mj-lt"/>
              </a:rPr>
            </a:br>
            <a:br>
              <a:rPr kumimoji="1" lang="en-US" altLang="ko-KR" sz="1200" b="0" dirty="0">
                <a:latin typeface="+mj-lt"/>
              </a:rPr>
            </a:br>
            <a:r>
              <a:rPr kumimoji="1" lang="ko-KR" altLang="en-US" sz="1200" b="0" dirty="0">
                <a:latin typeface="+mj-lt"/>
              </a:rPr>
              <a:t>내 논문은 이렇게 이렇게 했다 </a:t>
            </a:r>
            <a:r>
              <a:rPr kumimoji="1" lang="en-US" altLang="ko-KR" sz="1200" b="0" dirty="0">
                <a:latin typeface="+mj-lt"/>
              </a:rPr>
              <a:t>~ </a:t>
            </a:r>
            <a:r>
              <a:rPr kumimoji="1" lang="ko-KR" altLang="en-US" sz="1200" b="0" dirty="0">
                <a:latin typeface="+mj-lt"/>
              </a:rPr>
              <a:t>라는 설명으로 흘러가는데</a:t>
            </a:r>
            <a:br>
              <a:rPr kumimoji="1" lang="en-US" altLang="ko-KR" sz="1200" b="0" dirty="0">
                <a:latin typeface="+mj-lt"/>
              </a:rPr>
            </a:br>
            <a:r>
              <a:rPr kumimoji="1" lang="ko-KR" altLang="en-US" sz="1200" b="0" dirty="0">
                <a:latin typeface="+mj-lt"/>
              </a:rPr>
              <a:t>얘네는 다른 방식들의 문제점들을 계속해서 설명하며 제안하는 방법을 써야 하도록 유도하는 듯함</a:t>
            </a:r>
            <a:endParaRPr kumimoji="1" lang="en-US" altLang="ko-KR" sz="1200" b="0" dirty="0">
              <a:latin typeface="+mj-lt"/>
            </a:endParaRPr>
          </a:p>
        </p:txBody>
      </p:sp>
      <p:sp>
        <p:nvSpPr>
          <p:cNvPr id="4" name="슬라이드 번호 개체 틀 3">
            <a:extLst>
              <a:ext uri="{FF2B5EF4-FFF2-40B4-BE49-F238E27FC236}">
                <a16:creationId xmlns:a16="http://schemas.microsoft.com/office/drawing/2014/main" id="{D19A5689-EB84-F363-317B-87434189023F}"/>
              </a:ext>
            </a:extLst>
          </p:cNvPr>
          <p:cNvSpPr>
            <a:spLocks noGrp="1"/>
          </p:cNvSpPr>
          <p:nvPr>
            <p:ph type="sldNum" sz="quarter" idx="5"/>
          </p:nvPr>
        </p:nvSpPr>
        <p:spPr/>
        <p:txBody>
          <a:bodyPr/>
          <a:lstStyle/>
          <a:p>
            <a:fld id="{2B8D3C5E-06BF-4547-A315-150B76FC98D2}" type="slidenum">
              <a:rPr kumimoji="1" lang="ko-KR" altLang="en-US" smtClean="0"/>
              <a:t>35</a:t>
            </a:fld>
            <a:endParaRPr kumimoji="1" lang="ko-KR" altLang="en-US"/>
          </a:p>
        </p:txBody>
      </p:sp>
    </p:spTree>
    <p:extLst>
      <p:ext uri="{BB962C8B-B14F-4D97-AF65-F5344CB8AC3E}">
        <p14:creationId xmlns:p14="http://schemas.microsoft.com/office/powerpoint/2010/main" val="94864038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E63EC1-A9EA-3F3F-DB81-2E50FACD6577}"/>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566291FD-2ECB-AC0D-EF64-35B3AA7AE2DC}"/>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7B911266-3E6E-0934-B853-12B626F02F2A}"/>
              </a:ext>
            </a:extLst>
          </p:cNvPr>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kumimoji="1" lang="en-US" altLang="ko-KR" sz="1200" b="0" dirty="0">
              <a:latin typeface="+mj-lt"/>
            </a:endParaRPr>
          </a:p>
        </p:txBody>
      </p:sp>
      <p:sp>
        <p:nvSpPr>
          <p:cNvPr id="4" name="슬라이드 번호 개체 틀 3">
            <a:extLst>
              <a:ext uri="{FF2B5EF4-FFF2-40B4-BE49-F238E27FC236}">
                <a16:creationId xmlns:a16="http://schemas.microsoft.com/office/drawing/2014/main" id="{C4A99067-405A-96BC-4482-88FC390FBC52}"/>
              </a:ext>
            </a:extLst>
          </p:cNvPr>
          <p:cNvSpPr>
            <a:spLocks noGrp="1"/>
          </p:cNvSpPr>
          <p:nvPr>
            <p:ph type="sldNum" sz="quarter" idx="5"/>
          </p:nvPr>
        </p:nvSpPr>
        <p:spPr/>
        <p:txBody>
          <a:bodyPr/>
          <a:lstStyle/>
          <a:p>
            <a:fld id="{2B8D3C5E-06BF-4547-A315-150B76FC98D2}" type="slidenum">
              <a:rPr kumimoji="1" lang="ko-KR" altLang="en-US" smtClean="0"/>
              <a:t>36</a:t>
            </a:fld>
            <a:endParaRPr kumimoji="1" lang="ko-KR" altLang="en-US"/>
          </a:p>
        </p:txBody>
      </p:sp>
    </p:spTree>
    <p:extLst>
      <p:ext uri="{BB962C8B-B14F-4D97-AF65-F5344CB8AC3E}">
        <p14:creationId xmlns:p14="http://schemas.microsoft.com/office/powerpoint/2010/main" val="412035808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804445D-ECB8-0499-8964-4FDB7895337A}"/>
              </a:ext>
            </a:extLst>
          </p:cNvPr>
          <p:cNvSpPr>
            <a:spLocks noGrp="1"/>
          </p:cNvSpPr>
          <p:nvPr>
            <p:ph type="ctrTitle"/>
          </p:nvPr>
        </p:nvSpPr>
        <p:spPr>
          <a:xfrm>
            <a:off x="1524000" y="1122363"/>
            <a:ext cx="9144000" cy="2387600"/>
          </a:xfrm>
        </p:spPr>
        <p:txBody>
          <a:bodyPr anchor="b"/>
          <a:lstStyle>
            <a:lvl1pPr algn="ctr">
              <a:defRPr sz="6000"/>
            </a:lvl1pPr>
          </a:lstStyle>
          <a:p>
            <a:r>
              <a:rPr kumimoji="1" lang="ko-KR" altLang="en-US"/>
              <a:t>마스터 제목 스타일 편집</a:t>
            </a:r>
          </a:p>
        </p:txBody>
      </p:sp>
      <p:sp>
        <p:nvSpPr>
          <p:cNvPr id="3" name="부제목 2">
            <a:extLst>
              <a:ext uri="{FF2B5EF4-FFF2-40B4-BE49-F238E27FC236}">
                <a16:creationId xmlns:a16="http://schemas.microsoft.com/office/drawing/2014/main" id="{069A268D-9DEA-C3FD-00FE-2620A8BAFC0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ko-KR" altLang="en-US"/>
              <a:t>클릭하여 마스터 부제목 스타일 편집</a:t>
            </a:r>
          </a:p>
        </p:txBody>
      </p:sp>
      <p:sp>
        <p:nvSpPr>
          <p:cNvPr id="4" name="날짜 개체 틀 3">
            <a:extLst>
              <a:ext uri="{FF2B5EF4-FFF2-40B4-BE49-F238E27FC236}">
                <a16:creationId xmlns:a16="http://schemas.microsoft.com/office/drawing/2014/main" id="{66E8F5B5-AF9C-CA2A-02E2-61D40CC5FDCF}"/>
              </a:ext>
            </a:extLst>
          </p:cNvPr>
          <p:cNvSpPr>
            <a:spLocks noGrp="1"/>
          </p:cNvSpPr>
          <p:nvPr>
            <p:ph type="dt" sz="half" idx="10"/>
          </p:nvPr>
        </p:nvSpPr>
        <p:spPr>
          <a:xfrm>
            <a:off x="38100" y="6459442"/>
            <a:ext cx="2743200" cy="365125"/>
          </a:xfrm>
          <a:prstGeom prst="rect">
            <a:avLst/>
          </a:prstGeom>
        </p:spPr>
        <p:txBody>
          <a:bodyPr/>
          <a:lstStyle/>
          <a:p>
            <a:r>
              <a:rPr kumimoji="1" lang="en-US" altLang="ko-KR" dirty="0"/>
              <a:t>Embedded AI</a:t>
            </a:r>
            <a:endParaRPr kumimoji="1" lang="ko-KR" altLang="en-US" dirty="0"/>
          </a:p>
        </p:txBody>
      </p:sp>
      <p:pic>
        <p:nvPicPr>
          <p:cNvPr id="7" name="그림 2" descr="텍스트, 폰트, 로고, 그래픽이(가) 표시된 사진&#10;&#10;자동 생성된 설명">
            <a:extLst>
              <a:ext uri="{FF2B5EF4-FFF2-40B4-BE49-F238E27FC236}">
                <a16:creationId xmlns:a16="http://schemas.microsoft.com/office/drawing/2014/main" id="{6AB210DD-1824-17DF-FBC0-45C9B94F09B1}"/>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b="14375"/>
          <a:stretch>
            <a:fillRect/>
          </a:stretch>
        </p:blipFill>
        <p:spPr bwMode="auto">
          <a:xfrm>
            <a:off x="10766425" y="6435629"/>
            <a:ext cx="1387475" cy="388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7850469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78DC919-D7BD-8C3F-E5C1-551E747A20A6}"/>
              </a:ext>
            </a:extLst>
          </p:cNvPr>
          <p:cNvSpPr>
            <a:spLocks noGrp="1"/>
          </p:cNvSpPr>
          <p:nvPr>
            <p:ph type="title"/>
          </p:nvPr>
        </p:nvSpPr>
        <p:spPr/>
        <p:txBody>
          <a:bodyPr/>
          <a:lstStyle/>
          <a:p>
            <a:r>
              <a:rPr kumimoji="1" lang="ko-KR" altLang="en-US"/>
              <a:t>마스터 제목 스타일 편집</a:t>
            </a:r>
          </a:p>
        </p:txBody>
      </p:sp>
      <p:sp>
        <p:nvSpPr>
          <p:cNvPr id="3" name="내용 개체 틀 2">
            <a:extLst>
              <a:ext uri="{FF2B5EF4-FFF2-40B4-BE49-F238E27FC236}">
                <a16:creationId xmlns:a16="http://schemas.microsoft.com/office/drawing/2014/main" id="{7D47EA45-3008-48C5-F050-43B06FD0F28F}"/>
              </a:ext>
            </a:extLst>
          </p:cNvPr>
          <p:cNvSpPr>
            <a:spLocks noGrp="1"/>
          </p:cNvSpPr>
          <p:nvPr>
            <p:ph idx="1"/>
          </p:nvPr>
        </p:nvSpPr>
        <p:spPr>
          <a:xfrm>
            <a:off x="122102" y="859317"/>
            <a:ext cx="11952383" cy="5600124"/>
          </a:xfrm>
        </p:spPr>
        <p:txBody>
          <a:bodyPr/>
          <a:lstStyle/>
          <a:p>
            <a:pPr lvl="0"/>
            <a:r>
              <a:rPr kumimoji="1" lang="ko-KR" altLang="en-US"/>
              <a:t>마스터 텍스트 스타일을 편집하려면 클릭</a:t>
            </a:r>
          </a:p>
          <a:p>
            <a:pPr lvl="1"/>
            <a:r>
              <a:rPr kumimoji="1" lang="ko-KR" altLang="en-US"/>
              <a:t>두 번째 수준</a:t>
            </a:r>
          </a:p>
          <a:p>
            <a:pPr lvl="2"/>
            <a:r>
              <a:rPr kumimoji="1" lang="ko-KR" altLang="en-US"/>
              <a:t>세 번째 수준</a:t>
            </a:r>
          </a:p>
          <a:p>
            <a:pPr lvl="3"/>
            <a:r>
              <a:rPr kumimoji="1" lang="ko-KR" altLang="en-US"/>
              <a:t>네 번째 수준</a:t>
            </a:r>
          </a:p>
          <a:p>
            <a:pPr lvl="4"/>
            <a:r>
              <a:rPr kumimoji="1" lang="ko-KR" altLang="en-US"/>
              <a:t>다섯 번째 수준</a:t>
            </a:r>
          </a:p>
        </p:txBody>
      </p:sp>
      <p:sp>
        <p:nvSpPr>
          <p:cNvPr id="4" name="날짜 개체 틀 3">
            <a:extLst>
              <a:ext uri="{FF2B5EF4-FFF2-40B4-BE49-F238E27FC236}">
                <a16:creationId xmlns:a16="http://schemas.microsoft.com/office/drawing/2014/main" id="{D482A293-84BB-8176-79FA-93AD7D4C233B}"/>
              </a:ext>
            </a:extLst>
          </p:cNvPr>
          <p:cNvSpPr>
            <a:spLocks noGrp="1"/>
          </p:cNvSpPr>
          <p:nvPr>
            <p:ph type="dt" sz="half" idx="10"/>
          </p:nvPr>
        </p:nvSpPr>
        <p:spPr>
          <a:xfrm>
            <a:off x="838200" y="6356350"/>
            <a:ext cx="2743200" cy="365125"/>
          </a:xfrm>
          <a:prstGeom prst="rect">
            <a:avLst/>
          </a:prstGeom>
        </p:spPr>
        <p:txBody>
          <a:bodyPr/>
          <a:lstStyle/>
          <a:p>
            <a:fld id="{6D8358FE-4A8D-A043-BD7E-DF1CFFD7196F}" type="datetimeFigureOut">
              <a:rPr kumimoji="1" lang="ko-KR" altLang="en-US" smtClean="0"/>
              <a:t>2025. 10. 1.</a:t>
            </a:fld>
            <a:endParaRPr kumimoji="1" lang="ko-KR" altLang="en-US"/>
          </a:p>
        </p:txBody>
      </p:sp>
      <p:sp>
        <p:nvSpPr>
          <p:cNvPr id="5" name="바닥글 개체 틀 4">
            <a:extLst>
              <a:ext uri="{FF2B5EF4-FFF2-40B4-BE49-F238E27FC236}">
                <a16:creationId xmlns:a16="http://schemas.microsoft.com/office/drawing/2014/main" id="{00F0532F-39F4-1C59-48C6-349317E60BD7}"/>
              </a:ext>
            </a:extLst>
          </p:cNvPr>
          <p:cNvSpPr>
            <a:spLocks noGrp="1"/>
          </p:cNvSpPr>
          <p:nvPr>
            <p:ph type="ftr" sz="quarter" idx="11"/>
          </p:nvPr>
        </p:nvSpPr>
        <p:spPr>
          <a:xfrm>
            <a:off x="4038600" y="6356350"/>
            <a:ext cx="4114800" cy="365125"/>
          </a:xfrm>
          <a:prstGeom prst="rect">
            <a:avLst/>
          </a:prstGeom>
        </p:spPr>
        <p:txBody>
          <a:bodyPr/>
          <a:lstStyle/>
          <a:p>
            <a:endParaRPr kumimoji="1" lang="ko-KR" altLang="en-US" dirty="0"/>
          </a:p>
        </p:txBody>
      </p:sp>
      <p:sp>
        <p:nvSpPr>
          <p:cNvPr id="6" name="슬라이드 번호 개체 틀 5">
            <a:extLst>
              <a:ext uri="{FF2B5EF4-FFF2-40B4-BE49-F238E27FC236}">
                <a16:creationId xmlns:a16="http://schemas.microsoft.com/office/drawing/2014/main" id="{DD581470-8021-B9A6-C758-099E98E90AA9}"/>
              </a:ext>
            </a:extLst>
          </p:cNvPr>
          <p:cNvSpPr>
            <a:spLocks noGrp="1"/>
          </p:cNvSpPr>
          <p:nvPr>
            <p:ph type="sldNum" sz="quarter" idx="12"/>
          </p:nvPr>
        </p:nvSpPr>
        <p:spPr>
          <a:xfrm>
            <a:off x="8610600" y="6356350"/>
            <a:ext cx="2743200" cy="365125"/>
          </a:xfrm>
          <a:prstGeom prst="rect">
            <a:avLst/>
          </a:prstGeom>
        </p:spPr>
        <p:txBody>
          <a:bodyPr/>
          <a:lstStyle/>
          <a:p>
            <a:fld id="{44346EA7-1898-7E4A-A5B3-305006AD8040}" type="slidenum">
              <a:rPr kumimoji="1" lang="ko-KR" altLang="en-US" smtClean="0"/>
              <a:t>‹#›</a:t>
            </a:fld>
            <a:endParaRPr kumimoji="1" lang="ko-KR" altLang="en-US"/>
          </a:p>
        </p:txBody>
      </p:sp>
      <p:cxnSp>
        <p:nvCxnSpPr>
          <p:cNvPr id="8" name="직선 연결선[R] 7">
            <a:extLst>
              <a:ext uri="{FF2B5EF4-FFF2-40B4-BE49-F238E27FC236}">
                <a16:creationId xmlns:a16="http://schemas.microsoft.com/office/drawing/2014/main" id="{F364B3AA-2176-6CB6-535F-93713FAF6867}"/>
              </a:ext>
            </a:extLst>
          </p:cNvPr>
          <p:cNvCxnSpPr/>
          <p:nvPr userDrawn="1"/>
        </p:nvCxnSpPr>
        <p:spPr>
          <a:xfrm>
            <a:off x="122102" y="859316"/>
            <a:ext cx="1195238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1207255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33A27320-E9CF-58F3-25CF-EC84A6EC2807}"/>
              </a:ext>
            </a:extLst>
          </p:cNvPr>
          <p:cNvSpPr>
            <a:spLocks noGrp="1"/>
          </p:cNvSpPr>
          <p:nvPr>
            <p:ph type="title"/>
          </p:nvPr>
        </p:nvSpPr>
        <p:spPr>
          <a:xfrm>
            <a:off x="831850" y="1709738"/>
            <a:ext cx="10515600" cy="2852737"/>
          </a:xfrm>
        </p:spPr>
        <p:txBody>
          <a:bodyPr anchor="b"/>
          <a:lstStyle>
            <a:lvl1pPr>
              <a:defRPr sz="6000"/>
            </a:lvl1pPr>
          </a:lstStyle>
          <a:p>
            <a:r>
              <a:rPr kumimoji="1" lang="ko-KR" altLang="en-US"/>
              <a:t>마스터 제목 스타일 편집</a:t>
            </a:r>
          </a:p>
        </p:txBody>
      </p:sp>
      <p:sp>
        <p:nvSpPr>
          <p:cNvPr id="3" name="텍스트 개체 틀 2">
            <a:extLst>
              <a:ext uri="{FF2B5EF4-FFF2-40B4-BE49-F238E27FC236}">
                <a16:creationId xmlns:a16="http://schemas.microsoft.com/office/drawing/2014/main" id="{0F6A89B9-91DF-CD03-050F-5CF68068ADB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ko-KR" altLang="en-US"/>
              <a:t>마스터 텍스트 스타일을 편집하려면 클릭</a:t>
            </a:r>
          </a:p>
        </p:txBody>
      </p:sp>
      <p:sp>
        <p:nvSpPr>
          <p:cNvPr id="4" name="날짜 개체 틀 3">
            <a:extLst>
              <a:ext uri="{FF2B5EF4-FFF2-40B4-BE49-F238E27FC236}">
                <a16:creationId xmlns:a16="http://schemas.microsoft.com/office/drawing/2014/main" id="{C83D4811-1B9D-80F7-00D5-0AAF0F7B832F}"/>
              </a:ext>
            </a:extLst>
          </p:cNvPr>
          <p:cNvSpPr>
            <a:spLocks noGrp="1"/>
          </p:cNvSpPr>
          <p:nvPr>
            <p:ph type="dt" sz="half" idx="10"/>
          </p:nvPr>
        </p:nvSpPr>
        <p:spPr>
          <a:xfrm>
            <a:off x="838200" y="6356350"/>
            <a:ext cx="2743200" cy="365125"/>
          </a:xfrm>
          <a:prstGeom prst="rect">
            <a:avLst/>
          </a:prstGeom>
        </p:spPr>
        <p:txBody>
          <a:bodyPr/>
          <a:lstStyle/>
          <a:p>
            <a:fld id="{6D8358FE-4A8D-A043-BD7E-DF1CFFD7196F}" type="datetimeFigureOut">
              <a:rPr kumimoji="1" lang="ko-KR" altLang="en-US" smtClean="0"/>
              <a:t>2025. 10. 1.</a:t>
            </a:fld>
            <a:endParaRPr kumimoji="1" lang="ko-KR" altLang="en-US"/>
          </a:p>
        </p:txBody>
      </p:sp>
      <p:sp>
        <p:nvSpPr>
          <p:cNvPr id="5" name="바닥글 개체 틀 4">
            <a:extLst>
              <a:ext uri="{FF2B5EF4-FFF2-40B4-BE49-F238E27FC236}">
                <a16:creationId xmlns:a16="http://schemas.microsoft.com/office/drawing/2014/main" id="{04C1FC1B-853B-F10C-FE4A-E89C0E3AC6D9}"/>
              </a:ext>
            </a:extLst>
          </p:cNvPr>
          <p:cNvSpPr>
            <a:spLocks noGrp="1"/>
          </p:cNvSpPr>
          <p:nvPr>
            <p:ph type="ftr" sz="quarter" idx="11"/>
          </p:nvPr>
        </p:nvSpPr>
        <p:spPr>
          <a:xfrm>
            <a:off x="4038600" y="6356350"/>
            <a:ext cx="4114800" cy="365125"/>
          </a:xfrm>
          <a:prstGeom prst="rect">
            <a:avLst/>
          </a:prstGeom>
        </p:spPr>
        <p:txBody>
          <a:bodyPr/>
          <a:lstStyle/>
          <a:p>
            <a:endParaRPr kumimoji="1" lang="ko-KR" altLang="en-US"/>
          </a:p>
        </p:txBody>
      </p:sp>
      <p:sp>
        <p:nvSpPr>
          <p:cNvPr id="6" name="슬라이드 번호 개체 틀 5">
            <a:extLst>
              <a:ext uri="{FF2B5EF4-FFF2-40B4-BE49-F238E27FC236}">
                <a16:creationId xmlns:a16="http://schemas.microsoft.com/office/drawing/2014/main" id="{4AAD5286-AF7E-EF9C-4978-FF918E351619}"/>
              </a:ext>
            </a:extLst>
          </p:cNvPr>
          <p:cNvSpPr>
            <a:spLocks noGrp="1"/>
          </p:cNvSpPr>
          <p:nvPr>
            <p:ph type="sldNum" sz="quarter" idx="12"/>
          </p:nvPr>
        </p:nvSpPr>
        <p:spPr>
          <a:xfrm>
            <a:off x="8610600" y="6356350"/>
            <a:ext cx="2743200" cy="365125"/>
          </a:xfrm>
          <a:prstGeom prst="rect">
            <a:avLst/>
          </a:prstGeom>
        </p:spPr>
        <p:txBody>
          <a:bodyPr/>
          <a:lstStyle/>
          <a:p>
            <a:fld id="{44346EA7-1898-7E4A-A5B3-305006AD8040}" type="slidenum">
              <a:rPr kumimoji="1" lang="ko-KR" altLang="en-US" smtClean="0"/>
              <a:t>‹#›</a:t>
            </a:fld>
            <a:endParaRPr kumimoji="1" lang="ko-KR" altLang="en-US"/>
          </a:p>
        </p:txBody>
      </p:sp>
    </p:spTree>
    <p:extLst>
      <p:ext uri="{BB962C8B-B14F-4D97-AF65-F5344CB8AC3E}">
        <p14:creationId xmlns:p14="http://schemas.microsoft.com/office/powerpoint/2010/main" val="320361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AC094B5-CB9A-7C0A-1650-1E4E7098BD78}"/>
              </a:ext>
            </a:extLst>
          </p:cNvPr>
          <p:cNvSpPr>
            <a:spLocks noGrp="1"/>
          </p:cNvSpPr>
          <p:nvPr>
            <p:ph type="title"/>
          </p:nvPr>
        </p:nvSpPr>
        <p:spPr/>
        <p:txBody>
          <a:bodyPr/>
          <a:lstStyle/>
          <a:p>
            <a:r>
              <a:rPr kumimoji="1" lang="ko-KR" altLang="en-US"/>
              <a:t>마스터 제목 스타일 편집</a:t>
            </a:r>
          </a:p>
        </p:txBody>
      </p:sp>
      <p:sp>
        <p:nvSpPr>
          <p:cNvPr id="3" name="내용 개체 틀 2">
            <a:extLst>
              <a:ext uri="{FF2B5EF4-FFF2-40B4-BE49-F238E27FC236}">
                <a16:creationId xmlns:a16="http://schemas.microsoft.com/office/drawing/2014/main" id="{83BDB87A-834B-44EE-8FE7-7E0045916978}"/>
              </a:ext>
            </a:extLst>
          </p:cNvPr>
          <p:cNvSpPr>
            <a:spLocks noGrp="1"/>
          </p:cNvSpPr>
          <p:nvPr>
            <p:ph sz="half" idx="1"/>
          </p:nvPr>
        </p:nvSpPr>
        <p:spPr>
          <a:xfrm>
            <a:off x="838200" y="1825625"/>
            <a:ext cx="5181600" cy="4351338"/>
          </a:xfrm>
        </p:spPr>
        <p:txBody>
          <a:bodyPr/>
          <a:lstStyle/>
          <a:p>
            <a:pPr lvl="0"/>
            <a:r>
              <a:rPr kumimoji="1" lang="ko-KR" altLang="en-US"/>
              <a:t>마스터 텍스트 스타일을 편집하려면 클릭</a:t>
            </a:r>
          </a:p>
          <a:p>
            <a:pPr lvl="1"/>
            <a:r>
              <a:rPr kumimoji="1" lang="ko-KR" altLang="en-US"/>
              <a:t>두 번째 수준</a:t>
            </a:r>
          </a:p>
          <a:p>
            <a:pPr lvl="2"/>
            <a:r>
              <a:rPr kumimoji="1" lang="ko-KR" altLang="en-US"/>
              <a:t>세 번째 수준</a:t>
            </a:r>
          </a:p>
          <a:p>
            <a:pPr lvl="3"/>
            <a:r>
              <a:rPr kumimoji="1" lang="ko-KR" altLang="en-US"/>
              <a:t>네 번째 수준</a:t>
            </a:r>
          </a:p>
          <a:p>
            <a:pPr lvl="4"/>
            <a:r>
              <a:rPr kumimoji="1" lang="ko-KR" altLang="en-US"/>
              <a:t>다섯 번째 수준</a:t>
            </a:r>
          </a:p>
        </p:txBody>
      </p:sp>
      <p:sp>
        <p:nvSpPr>
          <p:cNvPr id="4" name="내용 개체 틀 3">
            <a:extLst>
              <a:ext uri="{FF2B5EF4-FFF2-40B4-BE49-F238E27FC236}">
                <a16:creationId xmlns:a16="http://schemas.microsoft.com/office/drawing/2014/main" id="{943BCAF8-2A6B-3C8F-28E7-0239954721B3}"/>
              </a:ext>
            </a:extLst>
          </p:cNvPr>
          <p:cNvSpPr>
            <a:spLocks noGrp="1"/>
          </p:cNvSpPr>
          <p:nvPr>
            <p:ph sz="half" idx="2"/>
          </p:nvPr>
        </p:nvSpPr>
        <p:spPr>
          <a:xfrm>
            <a:off x="6172200" y="1825625"/>
            <a:ext cx="5181600" cy="4351338"/>
          </a:xfrm>
        </p:spPr>
        <p:txBody>
          <a:bodyPr/>
          <a:lstStyle/>
          <a:p>
            <a:pPr lvl="0"/>
            <a:r>
              <a:rPr kumimoji="1" lang="ko-KR" altLang="en-US"/>
              <a:t>마스터 텍스트 스타일을 편집하려면 클릭</a:t>
            </a:r>
          </a:p>
          <a:p>
            <a:pPr lvl="1"/>
            <a:r>
              <a:rPr kumimoji="1" lang="ko-KR" altLang="en-US"/>
              <a:t>두 번째 수준</a:t>
            </a:r>
          </a:p>
          <a:p>
            <a:pPr lvl="2"/>
            <a:r>
              <a:rPr kumimoji="1" lang="ko-KR" altLang="en-US"/>
              <a:t>세 번째 수준</a:t>
            </a:r>
          </a:p>
          <a:p>
            <a:pPr lvl="3"/>
            <a:r>
              <a:rPr kumimoji="1" lang="ko-KR" altLang="en-US"/>
              <a:t>네 번째 수준</a:t>
            </a:r>
          </a:p>
          <a:p>
            <a:pPr lvl="4"/>
            <a:r>
              <a:rPr kumimoji="1" lang="ko-KR" altLang="en-US"/>
              <a:t>다섯 번째 수준</a:t>
            </a:r>
          </a:p>
        </p:txBody>
      </p:sp>
      <p:sp>
        <p:nvSpPr>
          <p:cNvPr id="5" name="날짜 개체 틀 4">
            <a:extLst>
              <a:ext uri="{FF2B5EF4-FFF2-40B4-BE49-F238E27FC236}">
                <a16:creationId xmlns:a16="http://schemas.microsoft.com/office/drawing/2014/main" id="{E7CE864D-30F7-3D52-4E18-911C2EE3C23D}"/>
              </a:ext>
            </a:extLst>
          </p:cNvPr>
          <p:cNvSpPr>
            <a:spLocks noGrp="1"/>
          </p:cNvSpPr>
          <p:nvPr>
            <p:ph type="dt" sz="half" idx="10"/>
          </p:nvPr>
        </p:nvSpPr>
        <p:spPr>
          <a:xfrm>
            <a:off x="838200" y="6356350"/>
            <a:ext cx="2743200" cy="365125"/>
          </a:xfrm>
          <a:prstGeom prst="rect">
            <a:avLst/>
          </a:prstGeom>
        </p:spPr>
        <p:txBody>
          <a:bodyPr/>
          <a:lstStyle/>
          <a:p>
            <a:fld id="{6D8358FE-4A8D-A043-BD7E-DF1CFFD7196F}" type="datetimeFigureOut">
              <a:rPr kumimoji="1" lang="ko-KR" altLang="en-US" smtClean="0"/>
              <a:t>2025. 10. 1.</a:t>
            </a:fld>
            <a:endParaRPr kumimoji="1" lang="ko-KR" altLang="en-US"/>
          </a:p>
        </p:txBody>
      </p:sp>
      <p:sp>
        <p:nvSpPr>
          <p:cNvPr id="6" name="바닥글 개체 틀 5">
            <a:extLst>
              <a:ext uri="{FF2B5EF4-FFF2-40B4-BE49-F238E27FC236}">
                <a16:creationId xmlns:a16="http://schemas.microsoft.com/office/drawing/2014/main" id="{ED0F0BA6-DBD3-3BCE-08B5-16F71406B7D7}"/>
              </a:ext>
            </a:extLst>
          </p:cNvPr>
          <p:cNvSpPr>
            <a:spLocks noGrp="1"/>
          </p:cNvSpPr>
          <p:nvPr>
            <p:ph type="ftr" sz="quarter" idx="11"/>
          </p:nvPr>
        </p:nvSpPr>
        <p:spPr>
          <a:xfrm>
            <a:off x="4038600" y="6356350"/>
            <a:ext cx="4114800" cy="365125"/>
          </a:xfrm>
          <a:prstGeom prst="rect">
            <a:avLst/>
          </a:prstGeom>
        </p:spPr>
        <p:txBody>
          <a:bodyPr/>
          <a:lstStyle/>
          <a:p>
            <a:endParaRPr kumimoji="1" lang="ko-KR" altLang="en-US"/>
          </a:p>
        </p:txBody>
      </p:sp>
      <p:sp>
        <p:nvSpPr>
          <p:cNvPr id="7" name="슬라이드 번호 개체 틀 6">
            <a:extLst>
              <a:ext uri="{FF2B5EF4-FFF2-40B4-BE49-F238E27FC236}">
                <a16:creationId xmlns:a16="http://schemas.microsoft.com/office/drawing/2014/main" id="{222A0F8F-CD96-1BD1-1094-9C812896B16B}"/>
              </a:ext>
            </a:extLst>
          </p:cNvPr>
          <p:cNvSpPr>
            <a:spLocks noGrp="1"/>
          </p:cNvSpPr>
          <p:nvPr>
            <p:ph type="sldNum" sz="quarter" idx="12"/>
          </p:nvPr>
        </p:nvSpPr>
        <p:spPr>
          <a:xfrm>
            <a:off x="8610600" y="6356350"/>
            <a:ext cx="2743200" cy="365125"/>
          </a:xfrm>
          <a:prstGeom prst="rect">
            <a:avLst/>
          </a:prstGeom>
        </p:spPr>
        <p:txBody>
          <a:bodyPr/>
          <a:lstStyle/>
          <a:p>
            <a:fld id="{44346EA7-1898-7E4A-A5B3-305006AD8040}" type="slidenum">
              <a:rPr kumimoji="1" lang="ko-KR" altLang="en-US" smtClean="0"/>
              <a:t>‹#›</a:t>
            </a:fld>
            <a:endParaRPr kumimoji="1" lang="ko-KR" altLang="en-US"/>
          </a:p>
        </p:txBody>
      </p:sp>
    </p:spTree>
    <p:extLst>
      <p:ext uri="{BB962C8B-B14F-4D97-AF65-F5344CB8AC3E}">
        <p14:creationId xmlns:p14="http://schemas.microsoft.com/office/powerpoint/2010/main" val="15087393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3526FC4D-ABFE-ADD1-B5A5-2262FA42326D}"/>
              </a:ext>
            </a:extLst>
          </p:cNvPr>
          <p:cNvSpPr>
            <a:spLocks noGrp="1"/>
          </p:cNvSpPr>
          <p:nvPr>
            <p:ph type="title"/>
          </p:nvPr>
        </p:nvSpPr>
        <p:spPr>
          <a:xfrm>
            <a:off x="839788" y="365125"/>
            <a:ext cx="10515600" cy="1325563"/>
          </a:xfrm>
        </p:spPr>
        <p:txBody>
          <a:bodyPr/>
          <a:lstStyle/>
          <a:p>
            <a:r>
              <a:rPr kumimoji="1" lang="ko-KR" altLang="en-US"/>
              <a:t>마스터 제목 스타일 편집</a:t>
            </a:r>
          </a:p>
        </p:txBody>
      </p:sp>
      <p:sp>
        <p:nvSpPr>
          <p:cNvPr id="3" name="텍스트 개체 틀 2">
            <a:extLst>
              <a:ext uri="{FF2B5EF4-FFF2-40B4-BE49-F238E27FC236}">
                <a16:creationId xmlns:a16="http://schemas.microsoft.com/office/drawing/2014/main" id="{DC9A8225-01C5-21AE-CB94-36DAB1A032A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ko-KR" altLang="en-US"/>
              <a:t>마스터 텍스트 스타일을 편집하려면 클릭</a:t>
            </a:r>
          </a:p>
        </p:txBody>
      </p:sp>
      <p:sp>
        <p:nvSpPr>
          <p:cNvPr id="4" name="내용 개체 틀 3">
            <a:extLst>
              <a:ext uri="{FF2B5EF4-FFF2-40B4-BE49-F238E27FC236}">
                <a16:creationId xmlns:a16="http://schemas.microsoft.com/office/drawing/2014/main" id="{D98C7E16-FED9-13BC-B1E7-B81A16F716C9}"/>
              </a:ext>
            </a:extLst>
          </p:cNvPr>
          <p:cNvSpPr>
            <a:spLocks noGrp="1"/>
          </p:cNvSpPr>
          <p:nvPr>
            <p:ph sz="half" idx="2"/>
          </p:nvPr>
        </p:nvSpPr>
        <p:spPr>
          <a:xfrm>
            <a:off x="839788" y="2505075"/>
            <a:ext cx="5157787" cy="3684588"/>
          </a:xfrm>
        </p:spPr>
        <p:txBody>
          <a:bodyPr/>
          <a:lstStyle/>
          <a:p>
            <a:pPr lvl="0"/>
            <a:r>
              <a:rPr kumimoji="1" lang="ko-KR" altLang="en-US"/>
              <a:t>마스터 텍스트 스타일을 편집하려면 클릭</a:t>
            </a:r>
          </a:p>
          <a:p>
            <a:pPr lvl="1"/>
            <a:r>
              <a:rPr kumimoji="1" lang="ko-KR" altLang="en-US"/>
              <a:t>두 번째 수준</a:t>
            </a:r>
          </a:p>
          <a:p>
            <a:pPr lvl="2"/>
            <a:r>
              <a:rPr kumimoji="1" lang="ko-KR" altLang="en-US"/>
              <a:t>세 번째 수준</a:t>
            </a:r>
          </a:p>
          <a:p>
            <a:pPr lvl="3"/>
            <a:r>
              <a:rPr kumimoji="1" lang="ko-KR" altLang="en-US"/>
              <a:t>네 번째 수준</a:t>
            </a:r>
          </a:p>
          <a:p>
            <a:pPr lvl="4"/>
            <a:r>
              <a:rPr kumimoji="1" lang="ko-KR" altLang="en-US"/>
              <a:t>다섯 번째 수준</a:t>
            </a:r>
          </a:p>
        </p:txBody>
      </p:sp>
      <p:sp>
        <p:nvSpPr>
          <p:cNvPr id="5" name="텍스트 개체 틀 4">
            <a:extLst>
              <a:ext uri="{FF2B5EF4-FFF2-40B4-BE49-F238E27FC236}">
                <a16:creationId xmlns:a16="http://schemas.microsoft.com/office/drawing/2014/main" id="{1CAFA172-42BD-39AA-622C-598885178E0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ko-KR" altLang="en-US"/>
              <a:t>마스터 텍스트 스타일을 편집하려면 클릭</a:t>
            </a:r>
          </a:p>
        </p:txBody>
      </p:sp>
      <p:sp>
        <p:nvSpPr>
          <p:cNvPr id="6" name="내용 개체 틀 5">
            <a:extLst>
              <a:ext uri="{FF2B5EF4-FFF2-40B4-BE49-F238E27FC236}">
                <a16:creationId xmlns:a16="http://schemas.microsoft.com/office/drawing/2014/main" id="{197817D7-3B1C-1E01-9921-2FBB09DDB042}"/>
              </a:ext>
            </a:extLst>
          </p:cNvPr>
          <p:cNvSpPr>
            <a:spLocks noGrp="1"/>
          </p:cNvSpPr>
          <p:nvPr>
            <p:ph sz="quarter" idx="4"/>
          </p:nvPr>
        </p:nvSpPr>
        <p:spPr>
          <a:xfrm>
            <a:off x="6172200" y="2505075"/>
            <a:ext cx="5183188" cy="3684588"/>
          </a:xfrm>
        </p:spPr>
        <p:txBody>
          <a:bodyPr/>
          <a:lstStyle/>
          <a:p>
            <a:pPr lvl="0"/>
            <a:r>
              <a:rPr kumimoji="1" lang="ko-KR" altLang="en-US"/>
              <a:t>마스터 텍스트 스타일을 편집하려면 클릭</a:t>
            </a:r>
          </a:p>
          <a:p>
            <a:pPr lvl="1"/>
            <a:r>
              <a:rPr kumimoji="1" lang="ko-KR" altLang="en-US"/>
              <a:t>두 번째 수준</a:t>
            </a:r>
          </a:p>
          <a:p>
            <a:pPr lvl="2"/>
            <a:r>
              <a:rPr kumimoji="1" lang="ko-KR" altLang="en-US"/>
              <a:t>세 번째 수준</a:t>
            </a:r>
          </a:p>
          <a:p>
            <a:pPr lvl="3"/>
            <a:r>
              <a:rPr kumimoji="1" lang="ko-KR" altLang="en-US"/>
              <a:t>네 번째 수준</a:t>
            </a:r>
          </a:p>
          <a:p>
            <a:pPr lvl="4"/>
            <a:r>
              <a:rPr kumimoji="1" lang="ko-KR" altLang="en-US"/>
              <a:t>다섯 번째 수준</a:t>
            </a:r>
          </a:p>
        </p:txBody>
      </p:sp>
      <p:sp>
        <p:nvSpPr>
          <p:cNvPr id="7" name="날짜 개체 틀 6">
            <a:extLst>
              <a:ext uri="{FF2B5EF4-FFF2-40B4-BE49-F238E27FC236}">
                <a16:creationId xmlns:a16="http://schemas.microsoft.com/office/drawing/2014/main" id="{FA8D3096-8CC2-79F6-E15C-D7E24284F950}"/>
              </a:ext>
            </a:extLst>
          </p:cNvPr>
          <p:cNvSpPr>
            <a:spLocks noGrp="1"/>
          </p:cNvSpPr>
          <p:nvPr>
            <p:ph type="dt" sz="half" idx="10"/>
          </p:nvPr>
        </p:nvSpPr>
        <p:spPr>
          <a:xfrm>
            <a:off x="838200" y="6356350"/>
            <a:ext cx="2743200" cy="365125"/>
          </a:xfrm>
          <a:prstGeom prst="rect">
            <a:avLst/>
          </a:prstGeom>
        </p:spPr>
        <p:txBody>
          <a:bodyPr/>
          <a:lstStyle/>
          <a:p>
            <a:fld id="{6D8358FE-4A8D-A043-BD7E-DF1CFFD7196F}" type="datetimeFigureOut">
              <a:rPr kumimoji="1" lang="ko-KR" altLang="en-US" smtClean="0"/>
              <a:t>2025. 10. 1.</a:t>
            </a:fld>
            <a:endParaRPr kumimoji="1" lang="ko-KR" altLang="en-US"/>
          </a:p>
        </p:txBody>
      </p:sp>
      <p:sp>
        <p:nvSpPr>
          <p:cNvPr id="8" name="바닥글 개체 틀 7">
            <a:extLst>
              <a:ext uri="{FF2B5EF4-FFF2-40B4-BE49-F238E27FC236}">
                <a16:creationId xmlns:a16="http://schemas.microsoft.com/office/drawing/2014/main" id="{F279F2CF-BA3D-5082-1E69-628EE7651297}"/>
              </a:ext>
            </a:extLst>
          </p:cNvPr>
          <p:cNvSpPr>
            <a:spLocks noGrp="1"/>
          </p:cNvSpPr>
          <p:nvPr>
            <p:ph type="ftr" sz="quarter" idx="11"/>
          </p:nvPr>
        </p:nvSpPr>
        <p:spPr>
          <a:xfrm>
            <a:off x="4038600" y="6356350"/>
            <a:ext cx="4114800" cy="365125"/>
          </a:xfrm>
          <a:prstGeom prst="rect">
            <a:avLst/>
          </a:prstGeom>
        </p:spPr>
        <p:txBody>
          <a:bodyPr/>
          <a:lstStyle/>
          <a:p>
            <a:endParaRPr kumimoji="1" lang="ko-KR" altLang="en-US"/>
          </a:p>
        </p:txBody>
      </p:sp>
      <p:sp>
        <p:nvSpPr>
          <p:cNvPr id="9" name="슬라이드 번호 개체 틀 8">
            <a:extLst>
              <a:ext uri="{FF2B5EF4-FFF2-40B4-BE49-F238E27FC236}">
                <a16:creationId xmlns:a16="http://schemas.microsoft.com/office/drawing/2014/main" id="{13ACE2ED-8653-AC3A-2511-FE07FEE65438}"/>
              </a:ext>
            </a:extLst>
          </p:cNvPr>
          <p:cNvSpPr>
            <a:spLocks noGrp="1"/>
          </p:cNvSpPr>
          <p:nvPr>
            <p:ph type="sldNum" sz="quarter" idx="12"/>
          </p:nvPr>
        </p:nvSpPr>
        <p:spPr>
          <a:xfrm>
            <a:off x="8610600" y="6356350"/>
            <a:ext cx="2743200" cy="365125"/>
          </a:xfrm>
          <a:prstGeom prst="rect">
            <a:avLst/>
          </a:prstGeom>
        </p:spPr>
        <p:txBody>
          <a:bodyPr/>
          <a:lstStyle/>
          <a:p>
            <a:fld id="{44346EA7-1898-7E4A-A5B3-305006AD8040}" type="slidenum">
              <a:rPr kumimoji="1" lang="ko-KR" altLang="en-US" smtClean="0"/>
              <a:t>‹#›</a:t>
            </a:fld>
            <a:endParaRPr kumimoji="1" lang="ko-KR" altLang="en-US"/>
          </a:p>
        </p:txBody>
      </p:sp>
    </p:spTree>
    <p:extLst>
      <p:ext uri="{BB962C8B-B14F-4D97-AF65-F5344CB8AC3E}">
        <p14:creationId xmlns:p14="http://schemas.microsoft.com/office/powerpoint/2010/main" val="22179976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1F765F9-5675-E99F-E67B-CECC0CB68545}"/>
              </a:ext>
            </a:extLst>
          </p:cNvPr>
          <p:cNvSpPr>
            <a:spLocks noGrp="1"/>
          </p:cNvSpPr>
          <p:nvPr>
            <p:ph type="title"/>
          </p:nvPr>
        </p:nvSpPr>
        <p:spPr/>
        <p:txBody>
          <a:bodyPr/>
          <a:lstStyle/>
          <a:p>
            <a:r>
              <a:rPr kumimoji="1" lang="ko-KR" altLang="en-US"/>
              <a:t>마스터 제목 스타일 편집</a:t>
            </a:r>
          </a:p>
        </p:txBody>
      </p:sp>
      <p:sp>
        <p:nvSpPr>
          <p:cNvPr id="3" name="날짜 개체 틀 2">
            <a:extLst>
              <a:ext uri="{FF2B5EF4-FFF2-40B4-BE49-F238E27FC236}">
                <a16:creationId xmlns:a16="http://schemas.microsoft.com/office/drawing/2014/main" id="{AFC9B367-9B68-C75F-3FE6-020277DC2619}"/>
              </a:ext>
            </a:extLst>
          </p:cNvPr>
          <p:cNvSpPr>
            <a:spLocks noGrp="1"/>
          </p:cNvSpPr>
          <p:nvPr>
            <p:ph type="dt" sz="half" idx="10"/>
          </p:nvPr>
        </p:nvSpPr>
        <p:spPr>
          <a:xfrm>
            <a:off x="838200" y="6356350"/>
            <a:ext cx="2743200" cy="365125"/>
          </a:xfrm>
          <a:prstGeom prst="rect">
            <a:avLst/>
          </a:prstGeom>
        </p:spPr>
        <p:txBody>
          <a:bodyPr/>
          <a:lstStyle/>
          <a:p>
            <a:fld id="{6D8358FE-4A8D-A043-BD7E-DF1CFFD7196F}" type="datetimeFigureOut">
              <a:rPr kumimoji="1" lang="ko-KR" altLang="en-US" smtClean="0"/>
              <a:t>2025. 10. 1.</a:t>
            </a:fld>
            <a:endParaRPr kumimoji="1" lang="ko-KR" altLang="en-US"/>
          </a:p>
        </p:txBody>
      </p:sp>
      <p:sp>
        <p:nvSpPr>
          <p:cNvPr id="4" name="바닥글 개체 틀 3">
            <a:extLst>
              <a:ext uri="{FF2B5EF4-FFF2-40B4-BE49-F238E27FC236}">
                <a16:creationId xmlns:a16="http://schemas.microsoft.com/office/drawing/2014/main" id="{209A20CE-F246-7FF8-A9A7-AA4E0BFC6622}"/>
              </a:ext>
            </a:extLst>
          </p:cNvPr>
          <p:cNvSpPr>
            <a:spLocks noGrp="1"/>
          </p:cNvSpPr>
          <p:nvPr>
            <p:ph type="ftr" sz="quarter" idx="11"/>
          </p:nvPr>
        </p:nvSpPr>
        <p:spPr>
          <a:xfrm>
            <a:off x="4038600" y="6356350"/>
            <a:ext cx="4114800" cy="365125"/>
          </a:xfrm>
          <a:prstGeom prst="rect">
            <a:avLst/>
          </a:prstGeom>
        </p:spPr>
        <p:txBody>
          <a:bodyPr/>
          <a:lstStyle/>
          <a:p>
            <a:endParaRPr kumimoji="1" lang="ko-KR" altLang="en-US"/>
          </a:p>
        </p:txBody>
      </p:sp>
      <p:sp>
        <p:nvSpPr>
          <p:cNvPr id="5" name="슬라이드 번호 개체 틀 4">
            <a:extLst>
              <a:ext uri="{FF2B5EF4-FFF2-40B4-BE49-F238E27FC236}">
                <a16:creationId xmlns:a16="http://schemas.microsoft.com/office/drawing/2014/main" id="{4DB29946-5AF7-EF36-8773-C7910A052884}"/>
              </a:ext>
            </a:extLst>
          </p:cNvPr>
          <p:cNvSpPr>
            <a:spLocks noGrp="1"/>
          </p:cNvSpPr>
          <p:nvPr>
            <p:ph type="sldNum" sz="quarter" idx="12"/>
          </p:nvPr>
        </p:nvSpPr>
        <p:spPr>
          <a:xfrm>
            <a:off x="8610600" y="6356350"/>
            <a:ext cx="2743200" cy="365125"/>
          </a:xfrm>
          <a:prstGeom prst="rect">
            <a:avLst/>
          </a:prstGeom>
        </p:spPr>
        <p:txBody>
          <a:bodyPr/>
          <a:lstStyle/>
          <a:p>
            <a:fld id="{44346EA7-1898-7E4A-A5B3-305006AD8040}" type="slidenum">
              <a:rPr kumimoji="1" lang="ko-KR" altLang="en-US" smtClean="0"/>
              <a:t>‹#›</a:t>
            </a:fld>
            <a:endParaRPr kumimoji="1" lang="ko-KR" altLang="en-US"/>
          </a:p>
        </p:txBody>
      </p:sp>
    </p:spTree>
    <p:extLst>
      <p:ext uri="{BB962C8B-B14F-4D97-AF65-F5344CB8AC3E}">
        <p14:creationId xmlns:p14="http://schemas.microsoft.com/office/powerpoint/2010/main" val="4736089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63C473F6-B740-4BA5-ACC4-16CF47B202F2}"/>
              </a:ext>
            </a:extLst>
          </p:cNvPr>
          <p:cNvSpPr>
            <a:spLocks noGrp="1"/>
          </p:cNvSpPr>
          <p:nvPr>
            <p:ph type="dt" sz="half" idx="10"/>
          </p:nvPr>
        </p:nvSpPr>
        <p:spPr>
          <a:xfrm>
            <a:off x="838200" y="6356350"/>
            <a:ext cx="2743200" cy="365125"/>
          </a:xfrm>
          <a:prstGeom prst="rect">
            <a:avLst/>
          </a:prstGeom>
        </p:spPr>
        <p:txBody>
          <a:bodyPr/>
          <a:lstStyle/>
          <a:p>
            <a:fld id="{6D8358FE-4A8D-A043-BD7E-DF1CFFD7196F}" type="datetimeFigureOut">
              <a:rPr kumimoji="1" lang="ko-KR" altLang="en-US" smtClean="0"/>
              <a:t>2025. 10. 1.</a:t>
            </a:fld>
            <a:endParaRPr kumimoji="1" lang="ko-KR" altLang="en-US"/>
          </a:p>
        </p:txBody>
      </p:sp>
      <p:sp>
        <p:nvSpPr>
          <p:cNvPr id="3" name="바닥글 개체 틀 2">
            <a:extLst>
              <a:ext uri="{FF2B5EF4-FFF2-40B4-BE49-F238E27FC236}">
                <a16:creationId xmlns:a16="http://schemas.microsoft.com/office/drawing/2014/main" id="{20804D54-98DA-AE3A-2420-38DD08FD337F}"/>
              </a:ext>
            </a:extLst>
          </p:cNvPr>
          <p:cNvSpPr>
            <a:spLocks noGrp="1"/>
          </p:cNvSpPr>
          <p:nvPr>
            <p:ph type="ftr" sz="quarter" idx="11"/>
          </p:nvPr>
        </p:nvSpPr>
        <p:spPr>
          <a:xfrm>
            <a:off x="4038600" y="6356350"/>
            <a:ext cx="4114800" cy="365125"/>
          </a:xfrm>
          <a:prstGeom prst="rect">
            <a:avLst/>
          </a:prstGeom>
        </p:spPr>
        <p:txBody>
          <a:bodyPr/>
          <a:lstStyle/>
          <a:p>
            <a:endParaRPr kumimoji="1" lang="ko-KR" altLang="en-US"/>
          </a:p>
        </p:txBody>
      </p:sp>
      <p:sp>
        <p:nvSpPr>
          <p:cNvPr id="4" name="슬라이드 번호 개체 틀 3">
            <a:extLst>
              <a:ext uri="{FF2B5EF4-FFF2-40B4-BE49-F238E27FC236}">
                <a16:creationId xmlns:a16="http://schemas.microsoft.com/office/drawing/2014/main" id="{A86EF982-8CF6-1696-5264-7B280A98E4BF}"/>
              </a:ext>
            </a:extLst>
          </p:cNvPr>
          <p:cNvSpPr>
            <a:spLocks noGrp="1"/>
          </p:cNvSpPr>
          <p:nvPr>
            <p:ph type="sldNum" sz="quarter" idx="12"/>
          </p:nvPr>
        </p:nvSpPr>
        <p:spPr>
          <a:xfrm>
            <a:off x="8610600" y="6356350"/>
            <a:ext cx="2743200" cy="365125"/>
          </a:xfrm>
          <a:prstGeom prst="rect">
            <a:avLst/>
          </a:prstGeom>
        </p:spPr>
        <p:txBody>
          <a:bodyPr/>
          <a:lstStyle/>
          <a:p>
            <a:fld id="{44346EA7-1898-7E4A-A5B3-305006AD8040}" type="slidenum">
              <a:rPr kumimoji="1" lang="ko-KR" altLang="en-US" smtClean="0"/>
              <a:t>‹#›</a:t>
            </a:fld>
            <a:endParaRPr kumimoji="1" lang="ko-KR" altLang="en-US"/>
          </a:p>
        </p:txBody>
      </p:sp>
    </p:spTree>
    <p:extLst>
      <p:ext uri="{BB962C8B-B14F-4D97-AF65-F5344CB8AC3E}">
        <p14:creationId xmlns:p14="http://schemas.microsoft.com/office/powerpoint/2010/main" val="21417334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355EED2-E92C-00DF-B61B-6332055E02A0}"/>
              </a:ext>
            </a:extLst>
          </p:cNvPr>
          <p:cNvSpPr>
            <a:spLocks noGrp="1"/>
          </p:cNvSpPr>
          <p:nvPr>
            <p:ph type="title"/>
          </p:nvPr>
        </p:nvSpPr>
        <p:spPr>
          <a:xfrm>
            <a:off x="839788" y="457200"/>
            <a:ext cx="3932237" cy="1600200"/>
          </a:xfrm>
        </p:spPr>
        <p:txBody>
          <a:bodyPr anchor="b"/>
          <a:lstStyle>
            <a:lvl1pPr>
              <a:defRPr sz="3200"/>
            </a:lvl1pPr>
          </a:lstStyle>
          <a:p>
            <a:r>
              <a:rPr kumimoji="1" lang="ko-KR" altLang="en-US"/>
              <a:t>마스터 제목 스타일 편집</a:t>
            </a:r>
          </a:p>
        </p:txBody>
      </p:sp>
      <p:sp>
        <p:nvSpPr>
          <p:cNvPr id="3" name="내용 개체 틀 2">
            <a:extLst>
              <a:ext uri="{FF2B5EF4-FFF2-40B4-BE49-F238E27FC236}">
                <a16:creationId xmlns:a16="http://schemas.microsoft.com/office/drawing/2014/main" id="{6C22F0C5-26C6-2BA4-7201-2D8F85ADC1A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ko-KR" altLang="en-US"/>
              <a:t>마스터 텍스트 스타일을 편집하려면 클릭</a:t>
            </a:r>
          </a:p>
          <a:p>
            <a:pPr lvl="1"/>
            <a:r>
              <a:rPr kumimoji="1" lang="ko-KR" altLang="en-US"/>
              <a:t>두 번째 수준</a:t>
            </a:r>
          </a:p>
          <a:p>
            <a:pPr lvl="2"/>
            <a:r>
              <a:rPr kumimoji="1" lang="ko-KR" altLang="en-US"/>
              <a:t>세 번째 수준</a:t>
            </a:r>
          </a:p>
          <a:p>
            <a:pPr lvl="3"/>
            <a:r>
              <a:rPr kumimoji="1" lang="ko-KR" altLang="en-US"/>
              <a:t>네 번째 수준</a:t>
            </a:r>
          </a:p>
          <a:p>
            <a:pPr lvl="4"/>
            <a:r>
              <a:rPr kumimoji="1" lang="ko-KR" altLang="en-US"/>
              <a:t>다섯 번째 수준</a:t>
            </a:r>
          </a:p>
        </p:txBody>
      </p:sp>
      <p:sp>
        <p:nvSpPr>
          <p:cNvPr id="4" name="텍스트 개체 틀 3">
            <a:extLst>
              <a:ext uri="{FF2B5EF4-FFF2-40B4-BE49-F238E27FC236}">
                <a16:creationId xmlns:a16="http://schemas.microsoft.com/office/drawing/2014/main" id="{5A9C73CA-C139-E086-24F8-6A9A0A7A719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ko-KR" altLang="en-US"/>
              <a:t>마스터 텍스트 스타일을 편집하려면 클릭</a:t>
            </a:r>
          </a:p>
        </p:txBody>
      </p:sp>
      <p:sp>
        <p:nvSpPr>
          <p:cNvPr id="5" name="날짜 개체 틀 4">
            <a:extLst>
              <a:ext uri="{FF2B5EF4-FFF2-40B4-BE49-F238E27FC236}">
                <a16:creationId xmlns:a16="http://schemas.microsoft.com/office/drawing/2014/main" id="{41F7587B-0668-B1E5-43C3-9D2FE2A235A1}"/>
              </a:ext>
            </a:extLst>
          </p:cNvPr>
          <p:cNvSpPr>
            <a:spLocks noGrp="1"/>
          </p:cNvSpPr>
          <p:nvPr>
            <p:ph type="dt" sz="half" idx="10"/>
          </p:nvPr>
        </p:nvSpPr>
        <p:spPr>
          <a:xfrm>
            <a:off x="838200" y="6356350"/>
            <a:ext cx="2743200" cy="365125"/>
          </a:xfrm>
          <a:prstGeom prst="rect">
            <a:avLst/>
          </a:prstGeom>
        </p:spPr>
        <p:txBody>
          <a:bodyPr/>
          <a:lstStyle/>
          <a:p>
            <a:fld id="{6D8358FE-4A8D-A043-BD7E-DF1CFFD7196F}" type="datetimeFigureOut">
              <a:rPr kumimoji="1" lang="ko-KR" altLang="en-US" smtClean="0"/>
              <a:t>2025. 10. 1.</a:t>
            </a:fld>
            <a:endParaRPr kumimoji="1" lang="ko-KR" altLang="en-US"/>
          </a:p>
        </p:txBody>
      </p:sp>
      <p:sp>
        <p:nvSpPr>
          <p:cNvPr id="6" name="바닥글 개체 틀 5">
            <a:extLst>
              <a:ext uri="{FF2B5EF4-FFF2-40B4-BE49-F238E27FC236}">
                <a16:creationId xmlns:a16="http://schemas.microsoft.com/office/drawing/2014/main" id="{3644FE70-985F-4528-7215-8696805C8026}"/>
              </a:ext>
            </a:extLst>
          </p:cNvPr>
          <p:cNvSpPr>
            <a:spLocks noGrp="1"/>
          </p:cNvSpPr>
          <p:nvPr>
            <p:ph type="ftr" sz="quarter" idx="11"/>
          </p:nvPr>
        </p:nvSpPr>
        <p:spPr>
          <a:xfrm>
            <a:off x="4038600" y="6356350"/>
            <a:ext cx="4114800" cy="365125"/>
          </a:xfrm>
          <a:prstGeom prst="rect">
            <a:avLst/>
          </a:prstGeom>
        </p:spPr>
        <p:txBody>
          <a:bodyPr/>
          <a:lstStyle/>
          <a:p>
            <a:endParaRPr kumimoji="1" lang="ko-KR" altLang="en-US"/>
          </a:p>
        </p:txBody>
      </p:sp>
      <p:sp>
        <p:nvSpPr>
          <p:cNvPr id="7" name="슬라이드 번호 개체 틀 6">
            <a:extLst>
              <a:ext uri="{FF2B5EF4-FFF2-40B4-BE49-F238E27FC236}">
                <a16:creationId xmlns:a16="http://schemas.microsoft.com/office/drawing/2014/main" id="{1D01EDB3-7C87-6C00-0EBB-9FBBC84CD4C6}"/>
              </a:ext>
            </a:extLst>
          </p:cNvPr>
          <p:cNvSpPr>
            <a:spLocks noGrp="1"/>
          </p:cNvSpPr>
          <p:nvPr>
            <p:ph type="sldNum" sz="quarter" idx="12"/>
          </p:nvPr>
        </p:nvSpPr>
        <p:spPr>
          <a:xfrm>
            <a:off x="8610600" y="6356350"/>
            <a:ext cx="2743200" cy="365125"/>
          </a:xfrm>
          <a:prstGeom prst="rect">
            <a:avLst/>
          </a:prstGeom>
        </p:spPr>
        <p:txBody>
          <a:bodyPr/>
          <a:lstStyle/>
          <a:p>
            <a:fld id="{44346EA7-1898-7E4A-A5B3-305006AD8040}" type="slidenum">
              <a:rPr kumimoji="1" lang="ko-KR" altLang="en-US" smtClean="0"/>
              <a:t>‹#›</a:t>
            </a:fld>
            <a:endParaRPr kumimoji="1" lang="ko-KR" altLang="en-US"/>
          </a:p>
        </p:txBody>
      </p:sp>
    </p:spTree>
    <p:extLst>
      <p:ext uri="{BB962C8B-B14F-4D97-AF65-F5344CB8AC3E}">
        <p14:creationId xmlns:p14="http://schemas.microsoft.com/office/powerpoint/2010/main" val="11211444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57669FA-63B0-E9A8-C2B9-D3A6DD7BF3C5}"/>
              </a:ext>
            </a:extLst>
          </p:cNvPr>
          <p:cNvSpPr>
            <a:spLocks noGrp="1"/>
          </p:cNvSpPr>
          <p:nvPr>
            <p:ph type="title"/>
          </p:nvPr>
        </p:nvSpPr>
        <p:spPr>
          <a:xfrm>
            <a:off x="839788" y="457200"/>
            <a:ext cx="3932237" cy="1600200"/>
          </a:xfrm>
        </p:spPr>
        <p:txBody>
          <a:bodyPr anchor="b"/>
          <a:lstStyle>
            <a:lvl1pPr>
              <a:defRPr sz="3200"/>
            </a:lvl1pPr>
          </a:lstStyle>
          <a:p>
            <a:r>
              <a:rPr kumimoji="1" lang="ko-KR" altLang="en-US"/>
              <a:t>마스터 제목 스타일 편집</a:t>
            </a:r>
          </a:p>
        </p:txBody>
      </p:sp>
      <p:sp>
        <p:nvSpPr>
          <p:cNvPr id="3" name="그림 개체 틀 2">
            <a:extLst>
              <a:ext uri="{FF2B5EF4-FFF2-40B4-BE49-F238E27FC236}">
                <a16:creationId xmlns:a16="http://schemas.microsoft.com/office/drawing/2014/main" id="{BF5F4837-551F-C9C2-D463-EC536A07ADF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ko-KR" altLang="en-US"/>
          </a:p>
        </p:txBody>
      </p:sp>
      <p:sp>
        <p:nvSpPr>
          <p:cNvPr id="4" name="텍스트 개체 틀 3">
            <a:extLst>
              <a:ext uri="{FF2B5EF4-FFF2-40B4-BE49-F238E27FC236}">
                <a16:creationId xmlns:a16="http://schemas.microsoft.com/office/drawing/2014/main" id="{08D37D25-9E48-DA22-DB03-95B50C0027E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ko-KR" altLang="en-US"/>
              <a:t>마스터 텍스트 스타일을 편집하려면 클릭</a:t>
            </a:r>
          </a:p>
        </p:txBody>
      </p:sp>
      <p:sp>
        <p:nvSpPr>
          <p:cNvPr id="5" name="날짜 개체 틀 4">
            <a:extLst>
              <a:ext uri="{FF2B5EF4-FFF2-40B4-BE49-F238E27FC236}">
                <a16:creationId xmlns:a16="http://schemas.microsoft.com/office/drawing/2014/main" id="{3FD609E1-9B07-ACE4-11EF-CD4D1D051870}"/>
              </a:ext>
            </a:extLst>
          </p:cNvPr>
          <p:cNvSpPr>
            <a:spLocks noGrp="1"/>
          </p:cNvSpPr>
          <p:nvPr>
            <p:ph type="dt" sz="half" idx="10"/>
          </p:nvPr>
        </p:nvSpPr>
        <p:spPr>
          <a:xfrm>
            <a:off x="838200" y="6356350"/>
            <a:ext cx="2743200" cy="365125"/>
          </a:xfrm>
          <a:prstGeom prst="rect">
            <a:avLst/>
          </a:prstGeom>
        </p:spPr>
        <p:txBody>
          <a:bodyPr/>
          <a:lstStyle/>
          <a:p>
            <a:fld id="{6D8358FE-4A8D-A043-BD7E-DF1CFFD7196F}" type="datetimeFigureOut">
              <a:rPr kumimoji="1" lang="ko-KR" altLang="en-US" smtClean="0"/>
              <a:t>2025. 10. 1.</a:t>
            </a:fld>
            <a:endParaRPr kumimoji="1" lang="ko-KR" altLang="en-US"/>
          </a:p>
        </p:txBody>
      </p:sp>
      <p:sp>
        <p:nvSpPr>
          <p:cNvPr id="6" name="바닥글 개체 틀 5">
            <a:extLst>
              <a:ext uri="{FF2B5EF4-FFF2-40B4-BE49-F238E27FC236}">
                <a16:creationId xmlns:a16="http://schemas.microsoft.com/office/drawing/2014/main" id="{B2381565-96D6-0B30-BE60-685F2B0F798B}"/>
              </a:ext>
            </a:extLst>
          </p:cNvPr>
          <p:cNvSpPr>
            <a:spLocks noGrp="1"/>
          </p:cNvSpPr>
          <p:nvPr>
            <p:ph type="ftr" sz="quarter" idx="11"/>
          </p:nvPr>
        </p:nvSpPr>
        <p:spPr>
          <a:xfrm>
            <a:off x="4038600" y="6356350"/>
            <a:ext cx="4114800" cy="365125"/>
          </a:xfrm>
          <a:prstGeom prst="rect">
            <a:avLst/>
          </a:prstGeom>
        </p:spPr>
        <p:txBody>
          <a:bodyPr/>
          <a:lstStyle/>
          <a:p>
            <a:endParaRPr kumimoji="1" lang="ko-KR" altLang="en-US"/>
          </a:p>
        </p:txBody>
      </p:sp>
      <p:sp>
        <p:nvSpPr>
          <p:cNvPr id="7" name="슬라이드 번호 개체 틀 6">
            <a:extLst>
              <a:ext uri="{FF2B5EF4-FFF2-40B4-BE49-F238E27FC236}">
                <a16:creationId xmlns:a16="http://schemas.microsoft.com/office/drawing/2014/main" id="{DAC95245-0716-8AD0-BC76-7C974E358C8A}"/>
              </a:ext>
            </a:extLst>
          </p:cNvPr>
          <p:cNvSpPr>
            <a:spLocks noGrp="1"/>
          </p:cNvSpPr>
          <p:nvPr>
            <p:ph type="sldNum" sz="quarter" idx="12"/>
          </p:nvPr>
        </p:nvSpPr>
        <p:spPr>
          <a:xfrm>
            <a:off x="8610600" y="6356350"/>
            <a:ext cx="2743200" cy="365125"/>
          </a:xfrm>
          <a:prstGeom prst="rect">
            <a:avLst/>
          </a:prstGeom>
        </p:spPr>
        <p:txBody>
          <a:bodyPr/>
          <a:lstStyle/>
          <a:p>
            <a:fld id="{44346EA7-1898-7E4A-A5B3-305006AD8040}" type="slidenum">
              <a:rPr kumimoji="1" lang="ko-KR" altLang="en-US" smtClean="0"/>
              <a:t>‹#›</a:t>
            </a:fld>
            <a:endParaRPr kumimoji="1" lang="ko-KR" altLang="en-US"/>
          </a:p>
        </p:txBody>
      </p:sp>
    </p:spTree>
    <p:extLst>
      <p:ext uri="{BB962C8B-B14F-4D97-AF65-F5344CB8AC3E}">
        <p14:creationId xmlns:p14="http://schemas.microsoft.com/office/powerpoint/2010/main" val="2197012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3514812-D785-2DE3-E44B-0DAA5181B099}"/>
              </a:ext>
            </a:extLst>
          </p:cNvPr>
          <p:cNvSpPr>
            <a:spLocks noGrp="1"/>
          </p:cNvSpPr>
          <p:nvPr>
            <p:ph type="title"/>
          </p:nvPr>
        </p:nvSpPr>
        <p:spPr/>
        <p:txBody>
          <a:bodyPr/>
          <a:lstStyle/>
          <a:p>
            <a:r>
              <a:rPr kumimoji="1" lang="ko-KR" altLang="en-US"/>
              <a:t>마스터 제목 스타일 편집</a:t>
            </a:r>
          </a:p>
        </p:txBody>
      </p:sp>
      <p:sp>
        <p:nvSpPr>
          <p:cNvPr id="3" name="세로 텍스트 개체 틀 2">
            <a:extLst>
              <a:ext uri="{FF2B5EF4-FFF2-40B4-BE49-F238E27FC236}">
                <a16:creationId xmlns:a16="http://schemas.microsoft.com/office/drawing/2014/main" id="{2F9F81B9-6F3D-44B1-105A-F5C70C30C43F}"/>
              </a:ext>
            </a:extLst>
          </p:cNvPr>
          <p:cNvSpPr>
            <a:spLocks noGrp="1"/>
          </p:cNvSpPr>
          <p:nvPr>
            <p:ph type="body" orient="vert" idx="1"/>
          </p:nvPr>
        </p:nvSpPr>
        <p:spPr/>
        <p:txBody>
          <a:bodyPr vert="eaVert"/>
          <a:lstStyle/>
          <a:p>
            <a:pPr lvl="0"/>
            <a:r>
              <a:rPr kumimoji="1" lang="ko-KR" altLang="en-US"/>
              <a:t>마스터 텍스트 스타일을 편집하려면 클릭</a:t>
            </a:r>
          </a:p>
          <a:p>
            <a:pPr lvl="1"/>
            <a:r>
              <a:rPr kumimoji="1" lang="ko-KR" altLang="en-US"/>
              <a:t>두 번째 수준</a:t>
            </a:r>
          </a:p>
          <a:p>
            <a:pPr lvl="2"/>
            <a:r>
              <a:rPr kumimoji="1" lang="ko-KR" altLang="en-US"/>
              <a:t>세 번째 수준</a:t>
            </a:r>
          </a:p>
          <a:p>
            <a:pPr lvl="3"/>
            <a:r>
              <a:rPr kumimoji="1" lang="ko-KR" altLang="en-US"/>
              <a:t>네 번째 수준</a:t>
            </a:r>
          </a:p>
          <a:p>
            <a:pPr lvl="4"/>
            <a:r>
              <a:rPr kumimoji="1" lang="ko-KR" altLang="en-US"/>
              <a:t>다섯 번째 수준</a:t>
            </a:r>
          </a:p>
        </p:txBody>
      </p:sp>
      <p:sp>
        <p:nvSpPr>
          <p:cNvPr id="4" name="날짜 개체 틀 3">
            <a:extLst>
              <a:ext uri="{FF2B5EF4-FFF2-40B4-BE49-F238E27FC236}">
                <a16:creationId xmlns:a16="http://schemas.microsoft.com/office/drawing/2014/main" id="{BC9AEA9A-9FFE-05D3-E2FE-5572F95598D1}"/>
              </a:ext>
            </a:extLst>
          </p:cNvPr>
          <p:cNvSpPr>
            <a:spLocks noGrp="1"/>
          </p:cNvSpPr>
          <p:nvPr>
            <p:ph type="dt" sz="half" idx="10"/>
          </p:nvPr>
        </p:nvSpPr>
        <p:spPr>
          <a:xfrm>
            <a:off x="838200" y="6356350"/>
            <a:ext cx="2743200" cy="365125"/>
          </a:xfrm>
          <a:prstGeom prst="rect">
            <a:avLst/>
          </a:prstGeom>
        </p:spPr>
        <p:txBody>
          <a:bodyPr/>
          <a:lstStyle/>
          <a:p>
            <a:fld id="{6D8358FE-4A8D-A043-BD7E-DF1CFFD7196F}" type="datetimeFigureOut">
              <a:rPr kumimoji="1" lang="ko-KR" altLang="en-US" smtClean="0"/>
              <a:t>2025. 10. 1.</a:t>
            </a:fld>
            <a:endParaRPr kumimoji="1" lang="ko-KR" altLang="en-US"/>
          </a:p>
        </p:txBody>
      </p:sp>
      <p:sp>
        <p:nvSpPr>
          <p:cNvPr id="5" name="바닥글 개체 틀 4">
            <a:extLst>
              <a:ext uri="{FF2B5EF4-FFF2-40B4-BE49-F238E27FC236}">
                <a16:creationId xmlns:a16="http://schemas.microsoft.com/office/drawing/2014/main" id="{ED44E24F-8065-66B2-3C24-45FF518E51E6}"/>
              </a:ext>
            </a:extLst>
          </p:cNvPr>
          <p:cNvSpPr>
            <a:spLocks noGrp="1"/>
          </p:cNvSpPr>
          <p:nvPr>
            <p:ph type="ftr" sz="quarter" idx="11"/>
          </p:nvPr>
        </p:nvSpPr>
        <p:spPr>
          <a:xfrm>
            <a:off x="4038600" y="6356350"/>
            <a:ext cx="4114800" cy="365125"/>
          </a:xfrm>
          <a:prstGeom prst="rect">
            <a:avLst/>
          </a:prstGeom>
        </p:spPr>
        <p:txBody>
          <a:bodyPr/>
          <a:lstStyle/>
          <a:p>
            <a:endParaRPr kumimoji="1" lang="ko-KR" altLang="en-US"/>
          </a:p>
        </p:txBody>
      </p:sp>
      <p:sp>
        <p:nvSpPr>
          <p:cNvPr id="6" name="슬라이드 번호 개체 틀 5">
            <a:extLst>
              <a:ext uri="{FF2B5EF4-FFF2-40B4-BE49-F238E27FC236}">
                <a16:creationId xmlns:a16="http://schemas.microsoft.com/office/drawing/2014/main" id="{754EF81F-7757-746A-6910-AE15DC522A70}"/>
              </a:ext>
            </a:extLst>
          </p:cNvPr>
          <p:cNvSpPr>
            <a:spLocks noGrp="1"/>
          </p:cNvSpPr>
          <p:nvPr>
            <p:ph type="sldNum" sz="quarter" idx="12"/>
          </p:nvPr>
        </p:nvSpPr>
        <p:spPr>
          <a:xfrm>
            <a:off x="8610600" y="6356350"/>
            <a:ext cx="2743200" cy="365125"/>
          </a:xfrm>
          <a:prstGeom prst="rect">
            <a:avLst/>
          </a:prstGeom>
        </p:spPr>
        <p:txBody>
          <a:bodyPr/>
          <a:lstStyle/>
          <a:p>
            <a:fld id="{44346EA7-1898-7E4A-A5B3-305006AD8040}" type="slidenum">
              <a:rPr kumimoji="1" lang="ko-KR" altLang="en-US" smtClean="0"/>
              <a:t>‹#›</a:t>
            </a:fld>
            <a:endParaRPr kumimoji="1" lang="ko-KR" altLang="en-US"/>
          </a:p>
        </p:txBody>
      </p:sp>
    </p:spTree>
    <p:extLst>
      <p:ext uri="{BB962C8B-B14F-4D97-AF65-F5344CB8AC3E}">
        <p14:creationId xmlns:p14="http://schemas.microsoft.com/office/powerpoint/2010/main" val="30556150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FD81C3E6-FA51-485B-031B-219E64D33982}"/>
              </a:ext>
            </a:extLst>
          </p:cNvPr>
          <p:cNvSpPr>
            <a:spLocks noGrp="1"/>
          </p:cNvSpPr>
          <p:nvPr>
            <p:ph type="title" orient="vert"/>
          </p:nvPr>
        </p:nvSpPr>
        <p:spPr>
          <a:xfrm>
            <a:off x="8724900" y="365125"/>
            <a:ext cx="2628900" cy="5811838"/>
          </a:xfrm>
        </p:spPr>
        <p:txBody>
          <a:bodyPr vert="eaVert"/>
          <a:lstStyle/>
          <a:p>
            <a:r>
              <a:rPr kumimoji="1" lang="ko-KR" altLang="en-US"/>
              <a:t>마스터 제목 스타일 편집</a:t>
            </a:r>
          </a:p>
        </p:txBody>
      </p:sp>
      <p:sp>
        <p:nvSpPr>
          <p:cNvPr id="3" name="세로 텍스트 개체 틀 2">
            <a:extLst>
              <a:ext uri="{FF2B5EF4-FFF2-40B4-BE49-F238E27FC236}">
                <a16:creationId xmlns:a16="http://schemas.microsoft.com/office/drawing/2014/main" id="{6675F77D-015E-6C14-7995-6DE3D39F2628}"/>
              </a:ext>
            </a:extLst>
          </p:cNvPr>
          <p:cNvSpPr>
            <a:spLocks noGrp="1"/>
          </p:cNvSpPr>
          <p:nvPr>
            <p:ph type="body" orient="vert" idx="1"/>
          </p:nvPr>
        </p:nvSpPr>
        <p:spPr>
          <a:xfrm>
            <a:off x="838200" y="365125"/>
            <a:ext cx="7734300" cy="5811838"/>
          </a:xfrm>
        </p:spPr>
        <p:txBody>
          <a:bodyPr vert="eaVert"/>
          <a:lstStyle/>
          <a:p>
            <a:pPr lvl="0"/>
            <a:r>
              <a:rPr kumimoji="1" lang="ko-KR" altLang="en-US"/>
              <a:t>마스터 텍스트 스타일을 편집하려면 클릭</a:t>
            </a:r>
          </a:p>
          <a:p>
            <a:pPr lvl="1"/>
            <a:r>
              <a:rPr kumimoji="1" lang="ko-KR" altLang="en-US"/>
              <a:t>두 번째 수준</a:t>
            </a:r>
          </a:p>
          <a:p>
            <a:pPr lvl="2"/>
            <a:r>
              <a:rPr kumimoji="1" lang="ko-KR" altLang="en-US"/>
              <a:t>세 번째 수준</a:t>
            </a:r>
          </a:p>
          <a:p>
            <a:pPr lvl="3"/>
            <a:r>
              <a:rPr kumimoji="1" lang="ko-KR" altLang="en-US"/>
              <a:t>네 번째 수준</a:t>
            </a:r>
          </a:p>
          <a:p>
            <a:pPr lvl="4"/>
            <a:r>
              <a:rPr kumimoji="1" lang="ko-KR" altLang="en-US"/>
              <a:t>다섯 번째 수준</a:t>
            </a:r>
          </a:p>
        </p:txBody>
      </p:sp>
      <p:sp>
        <p:nvSpPr>
          <p:cNvPr id="4" name="날짜 개체 틀 3">
            <a:extLst>
              <a:ext uri="{FF2B5EF4-FFF2-40B4-BE49-F238E27FC236}">
                <a16:creationId xmlns:a16="http://schemas.microsoft.com/office/drawing/2014/main" id="{F35D18FA-6F42-A8DF-EC8C-BAAECE3D6216}"/>
              </a:ext>
            </a:extLst>
          </p:cNvPr>
          <p:cNvSpPr>
            <a:spLocks noGrp="1"/>
          </p:cNvSpPr>
          <p:nvPr>
            <p:ph type="dt" sz="half" idx="10"/>
          </p:nvPr>
        </p:nvSpPr>
        <p:spPr>
          <a:xfrm>
            <a:off x="838200" y="6356350"/>
            <a:ext cx="2743200" cy="365125"/>
          </a:xfrm>
          <a:prstGeom prst="rect">
            <a:avLst/>
          </a:prstGeom>
        </p:spPr>
        <p:txBody>
          <a:bodyPr/>
          <a:lstStyle/>
          <a:p>
            <a:fld id="{6D8358FE-4A8D-A043-BD7E-DF1CFFD7196F}" type="datetimeFigureOut">
              <a:rPr kumimoji="1" lang="ko-KR" altLang="en-US" smtClean="0"/>
              <a:t>2025. 10. 1.</a:t>
            </a:fld>
            <a:endParaRPr kumimoji="1" lang="ko-KR" altLang="en-US"/>
          </a:p>
        </p:txBody>
      </p:sp>
      <p:sp>
        <p:nvSpPr>
          <p:cNvPr id="5" name="바닥글 개체 틀 4">
            <a:extLst>
              <a:ext uri="{FF2B5EF4-FFF2-40B4-BE49-F238E27FC236}">
                <a16:creationId xmlns:a16="http://schemas.microsoft.com/office/drawing/2014/main" id="{5EA8B3CA-0028-9132-5C62-0BEE2EFA6571}"/>
              </a:ext>
            </a:extLst>
          </p:cNvPr>
          <p:cNvSpPr>
            <a:spLocks noGrp="1"/>
          </p:cNvSpPr>
          <p:nvPr>
            <p:ph type="ftr" sz="quarter" idx="11"/>
          </p:nvPr>
        </p:nvSpPr>
        <p:spPr>
          <a:xfrm>
            <a:off x="4038600" y="6356350"/>
            <a:ext cx="4114800" cy="365125"/>
          </a:xfrm>
          <a:prstGeom prst="rect">
            <a:avLst/>
          </a:prstGeom>
        </p:spPr>
        <p:txBody>
          <a:bodyPr/>
          <a:lstStyle/>
          <a:p>
            <a:endParaRPr kumimoji="1" lang="ko-KR" altLang="en-US"/>
          </a:p>
        </p:txBody>
      </p:sp>
      <p:sp>
        <p:nvSpPr>
          <p:cNvPr id="6" name="슬라이드 번호 개체 틀 5">
            <a:extLst>
              <a:ext uri="{FF2B5EF4-FFF2-40B4-BE49-F238E27FC236}">
                <a16:creationId xmlns:a16="http://schemas.microsoft.com/office/drawing/2014/main" id="{F14A0168-5401-CEB8-A6D7-4ABF17995101}"/>
              </a:ext>
            </a:extLst>
          </p:cNvPr>
          <p:cNvSpPr>
            <a:spLocks noGrp="1"/>
          </p:cNvSpPr>
          <p:nvPr>
            <p:ph type="sldNum" sz="quarter" idx="12"/>
          </p:nvPr>
        </p:nvSpPr>
        <p:spPr>
          <a:xfrm>
            <a:off x="8610600" y="6356350"/>
            <a:ext cx="2743200" cy="365125"/>
          </a:xfrm>
          <a:prstGeom prst="rect">
            <a:avLst/>
          </a:prstGeom>
        </p:spPr>
        <p:txBody>
          <a:bodyPr/>
          <a:lstStyle/>
          <a:p>
            <a:fld id="{44346EA7-1898-7E4A-A5B3-305006AD8040}" type="slidenum">
              <a:rPr kumimoji="1" lang="ko-KR" altLang="en-US" smtClean="0"/>
              <a:t>‹#›</a:t>
            </a:fld>
            <a:endParaRPr kumimoji="1" lang="ko-KR" altLang="en-US"/>
          </a:p>
        </p:txBody>
      </p:sp>
    </p:spTree>
    <p:extLst>
      <p:ext uri="{BB962C8B-B14F-4D97-AF65-F5344CB8AC3E}">
        <p14:creationId xmlns:p14="http://schemas.microsoft.com/office/powerpoint/2010/main" val="31758204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767A02AF-19FE-5223-EE42-43D4F5416780}"/>
              </a:ext>
            </a:extLst>
          </p:cNvPr>
          <p:cNvSpPr>
            <a:spLocks noGrp="1"/>
          </p:cNvSpPr>
          <p:nvPr>
            <p:ph type="title"/>
          </p:nvPr>
        </p:nvSpPr>
        <p:spPr>
          <a:xfrm>
            <a:off x="122103" y="57035"/>
            <a:ext cx="11952383" cy="802281"/>
          </a:xfrm>
          <a:prstGeom prst="rect">
            <a:avLst/>
          </a:prstGeom>
        </p:spPr>
        <p:txBody>
          <a:bodyPr vert="horz" lIns="91440" tIns="45720" rIns="91440" bIns="45720" rtlCol="0" anchor="ctr">
            <a:normAutofit/>
          </a:bodyPr>
          <a:lstStyle/>
          <a:p>
            <a:r>
              <a:rPr kumimoji="1" lang="ko-KR" altLang="en-US" dirty="0"/>
              <a:t>마스터 제목 스타일 편집</a:t>
            </a:r>
          </a:p>
        </p:txBody>
      </p:sp>
      <p:sp>
        <p:nvSpPr>
          <p:cNvPr id="3" name="텍스트 개체 틀 2">
            <a:extLst>
              <a:ext uri="{FF2B5EF4-FFF2-40B4-BE49-F238E27FC236}">
                <a16:creationId xmlns:a16="http://schemas.microsoft.com/office/drawing/2014/main" id="{336B78F7-D9F7-1A4E-0F92-C14FAADAC3E1}"/>
              </a:ext>
            </a:extLst>
          </p:cNvPr>
          <p:cNvSpPr>
            <a:spLocks noGrp="1"/>
          </p:cNvSpPr>
          <p:nvPr>
            <p:ph type="body" idx="1"/>
          </p:nvPr>
        </p:nvSpPr>
        <p:spPr>
          <a:xfrm>
            <a:off x="122102" y="1021393"/>
            <a:ext cx="11952383" cy="5438047"/>
          </a:xfrm>
          <a:prstGeom prst="rect">
            <a:avLst/>
          </a:prstGeom>
        </p:spPr>
        <p:txBody>
          <a:bodyPr vert="horz" lIns="91440" tIns="45720" rIns="91440" bIns="45720" rtlCol="0">
            <a:normAutofit/>
          </a:bodyPr>
          <a:lstStyle/>
          <a:p>
            <a:pPr lvl="0"/>
            <a:r>
              <a:rPr kumimoji="1" lang="ko-KR" altLang="en-US" dirty="0"/>
              <a:t>마스터 텍스트 스타일을 편집하려면 클릭</a:t>
            </a:r>
          </a:p>
          <a:p>
            <a:pPr lvl="1"/>
            <a:r>
              <a:rPr kumimoji="1" lang="ko-KR" altLang="en-US" dirty="0"/>
              <a:t>두 번째 수준</a:t>
            </a:r>
          </a:p>
        </p:txBody>
      </p:sp>
      <p:sp>
        <p:nvSpPr>
          <p:cNvPr id="12" name="날짜 개체 틀 3">
            <a:extLst>
              <a:ext uri="{FF2B5EF4-FFF2-40B4-BE49-F238E27FC236}">
                <a16:creationId xmlns:a16="http://schemas.microsoft.com/office/drawing/2014/main" id="{AED9B35F-AB58-03CF-474F-1AFEC25C27A3}"/>
              </a:ext>
            </a:extLst>
          </p:cNvPr>
          <p:cNvSpPr txBox="1">
            <a:spLocks/>
          </p:cNvSpPr>
          <p:nvPr userDrawn="1"/>
        </p:nvSpPr>
        <p:spPr>
          <a:xfrm>
            <a:off x="38100" y="6459442"/>
            <a:ext cx="2743200" cy="365125"/>
          </a:xfrm>
          <a:prstGeom prst="rect">
            <a:avLst/>
          </a:prstGeom>
        </p:spPr>
        <p:txBody>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kumimoji="1" lang="en-US" altLang="ko-KR" sz="1500" dirty="0">
                <a:solidFill>
                  <a:schemeClr val="tx1">
                    <a:lumMod val="50000"/>
                    <a:lumOff val="50000"/>
                  </a:schemeClr>
                </a:solidFill>
              </a:rPr>
              <a:t>Embedded AI</a:t>
            </a:r>
            <a:endParaRPr kumimoji="1" lang="ko-KR" altLang="en-US" sz="1500" dirty="0">
              <a:solidFill>
                <a:schemeClr val="tx1">
                  <a:lumMod val="50000"/>
                  <a:lumOff val="50000"/>
                </a:schemeClr>
              </a:solidFill>
            </a:endParaRPr>
          </a:p>
        </p:txBody>
      </p:sp>
      <p:sp>
        <p:nvSpPr>
          <p:cNvPr id="13" name="바닥글 개체 틀 4">
            <a:extLst>
              <a:ext uri="{FF2B5EF4-FFF2-40B4-BE49-F238E27FC236}">
                <a16:creationId xmlns:a16="http://schemas.microsoft.com/office/drawing/2014/main" id="{D7807DFB-0F2F-C213-B5C9-704F44B5185E}"/>
              </a:ext>
            </a:extLst>
          </p:cNvPr>
          <p:cNvSpPr txBox="1">
            <a:spLocks/>
          </p:cNvSpPr>
          <p:nvPr userDrawn="1"/>
        </p:nvSpPr>
        <p:spPr>
          <a:xfrm>
            <a:off x="5581420" y="6459441"/>
            <a:ext cx="1029159" cy="365125"/>
          </a:xfrm>
          <a:prstGeom prst="rect">
            <a:avLst/>
          </a:prstGeom>
        </p:spPr>
        <p:txBody>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fld id="{44346EA7-1898-7E4A-A5B3-305006AD8040}" type="slidenum">
              <a:rPr kumimoji="1" lang="ko-KR" altLang="en-US" sz="1500" smtClean="0">
                <a:solidFill>
                  <a:schemeClr val="tx1">
                    <a:lumMod val="50000"/>
                    <a:lumOff val="50000"/>
                  </a:schemeClr>
                </a:solidFill>
              </a:rPr>
              <a:pPr/>
              <a:t>‹#›</a:t>
            </a:fld>
            <a:r>
              <a:rPr kumimoji="1" lang="en-US" altLang="ko-KR" sz="1500" dirty="0">
                <a:solidFill>
                  <a:schemeClr val="tx1">
                    <a:lumMod val="50000"/>
                    <a:lumOff val="50000"/>
                  </a:schemeClr>
                </a:solidFill>
              </a:rPr>
              <a:t> / 36</a:t>
            </a:r>
            <a:endParaRPr kumimoji="1" lang="ko-KR" altLang="en-US" sz="1500" dirty="0">
              <a:solidFill>
                <a:schemeClr val="tx1">
                  <a:lumMod val="50000"/>
                  <a:lumOff val="50000"/>
                </a:schemeClr>
              </a:solidFill>
            </a:endParaRPr>
          </a:p>
        </p:txBody>
      </p:sp>
      <p:pic>
        <p:nvPicPr>
          <p:cNvPr id="14" name="그림 2" descr="텍스트, 폰트, 로고, 그래픽이(가) 표시된 사진&#10;&#10;자동 생성된 설명">
            <a:extLst>
              <a:ext uri="{FF2B5EF4-FFF2-40B4-BE49-F238E27FC236}">
                <a16:creationId xmlns:a16="http://schemas.microsoft.com/office/drawing/2014/main" id="{84C0102A-8DBC-63BD-6797-14D0EBCB7839}"/>
              </a:ext>
            </a:extLst>
          </p:cNvPr>
          <p:cNvPicPr>
            <a:picLocks noChangeAspect="1" noChangeArrowheads="1"/>
          </p:cNvPicPr>
          <p:nvPr userDrawn="1"/>
        </p:nvPicPr>
        <p:blipFill>
          <a:blip r:embed="rId13">
            <a:extLst>
              <a:ext uri="{28A0092B-C50C-407E-A947-70E740481C1C}">
                <a14:useLocalDpi xmlns:a14="http://schemas.microsoft.com/office/drawing/2010/main" val="0"/>
              </a:ext>
            </a:extLst>
          </a:blip>
          <a:srcRect b="14375"/>
          <a:stretch>
            <a:fillRect/>
          </a:stretch>
        </p:blipFill>
        <p:spPr bwMode="auto">
          <a:xfrm>
            <a:off x="10766425" y="6435629"/>
            <a:ext cx="1387475" cy="388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799804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1" hangingPunct="1">
        <a:lnSpc>
          <a:spcPct val="90000"/>
        </a:lnSpc>
        <a:spcBef>
          <a:spcPct val="0"/>
        </a:spcBef>
        <a:buNone/>
        <a:defRPr sz="25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15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cv-foundation.org/openaccess/content_cvpr_2016/html/Redmon_You_Only_Look_CVPR_2016_paper.html"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hyperlink" Target="https://arxiv.org/pdf/2408.09332" TargetMode="Externa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hyperlink" Target="https://openaccess.thecvf.com/content_cvpr_2017/html/Redmon_YOLO9000_Better_Faster_CVPR_2017_paper.html"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hyperlink" Target="https://arxiv.org/pdf/1804.02767"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hyperlink" Target="https://arxiv.org/pdf/1406.4729" TargetMode="External"/><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hyperlink" Target="https://arxiv.org/pdf/2004.10934"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hyperlink" Target="https://arxiv.org/pdf/2301.05586"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hyperlink" Target="https://arxiv.org/pdf/2405.14458" TargetMode="Externa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12"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7.png"/><Relationship Id="rId11" Type="http://schemas.openxmlformats.org/officeDocument/2006/relationships/image" Target="../media/image22.png"/><Relationship Id="rId5" Type="http://schemas.openxmlformats.org/officeDocument/2006/relationships/image" Target="../media/image16.png"/><Relationship Id="rId10" Type="http://schemas.openxmlformats.org/officeDocument/2006/relationships/image" Target="../media/image21.png"/><Relationship Id="rId4" Type="http://schemas.openxmlformats.org/officeDocument/2006/relationships/image" Target="../media/image15.png"/><Relationship Id="rId9"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hyperlink" Target="https://arxiv.org/pdf/2103.14030"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hyperlink" Target="https://machinelearningmastery.com/a-gentle-introduction-to-positional-encoding-in-transformer-models-part-1/" TargetMode="External"/><Relationship Id="rId5" Type="http://schemas.openxmlformats.org/officeDocument/2006/relationships/image" Target="../media/image25.png"/><Relationship Id="rId4" Type="http://schemas.openxmlformats.org/officeDocument/2006/relationships/image" Target="../media/image24.png"/></Relationships>
</file>

<file path=ppt/slides/_rels/slide13.xml.rels><?xml version="1.0" encoding="UTF-8" standalone="yes"?>
<Relationships xmlns="http://schemas.openxmlformats.org/package/2006/relationships"><Relationship Id="rId3" Type="http://schemas.openxmlformats.org/officeDocument/2006/relationships/hyperlink" Target="https://arxiv.org/pdf/2205.14135"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s>
</file>

<file path=ppt/slides/_rels/slide1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hyperlink" Target="https://docs.nersc.gov/tools/performance/roofline/" TargetMode="External"/><Relationship Id="rId4" Type="http://schemas.openxmlformats.org/officeDocument/2006/relationships/image" Target="../media/image29.png"/></Relationships>
</file>

<file path=ppt/slides/_rels/slide1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hyperlink" Target="https://proceedings.neurips.cc/paper_files/paper/2022/file/67d57c32e20fd0a7a302cb81d36e40d5-Paper-Conference.pdf"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hyperlink" Target="https://huggingface.co/docs/text-generation-inference/conceptual/flash_attention" TargetMode="External"/><Relationship Id="rId5" Type="http://schemas.openxmlformats.org/officeDocument/2006/relationships/hyperlink" Target="https://arxiv.org/pdf/2205.14135" TargetMode="External"/><Relationship Id="rId4" Type="http://schemas.openxmlformats.org/officeDocument/2006/relationships/image" Target="../media/image29.png"/></Relationships>
</file>

<file path=ppt/slides/_rels/slide1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hyperlink" Target="https://huggingface.co/docs/text-generation-inference/conceptual/flash_attention" TargetMode="External"/><Relationship Id="rId5" Type="http://schemas.openxmlformats.org/officeDocument/2006/relationships/hyperlink" Target="https://arxiv.org/pdf/2205.14135" TargetMode="External"/><Relationship Id="rId4" Type="http://schemas.openxmlformats.org/officeDocument/2006/relationships/image" Target="../media/image29.png"/></Relationships>
</file>

<file path=ppt/slides/_rels/slide1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hyperlink" Target="https://arxiv.org/pdf/2205.14135" TargetMode="External"/></Relationships>
</file>

<file path=ppt/slides/_rels/slide1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36.png"/><Relationship Id="rId4" Type="http://schemas.openxmlformats.org/officeDocument/2006/relationships/image" Target="../media/image35.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330.png"/><Relationship Id="rId4" Type="http://schemas.openxmlformats.org/officeDocument/2006/relationships/image" Target="../media/image320.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39.png"/><Relationship Id="rId4" Type="http://schemas.openxmlformats.org/officeDocument/2006/relationships/hyperlink" Target="https://aclanthology.org/2022.emnlp-main.473/" TargetMode="External"/></Relationships>
</file>

<file path=ppt/slides/_rels/slide25.xml.rels><?xml version="1.0" encoding="UTF-8" standalone="yes"?>
<Relationships xmlns="http://schemas.openxmlformats.org/package/2006/relationships"><Relationship Id="rId3" Type="http://schemas.openxmlformats.org/officeDocument/2006/relationships/hyperlink" Target="https://openaccess.thecvf.com/content/WACV2024/papers/Koohpayegani_SimA_Simple_Softmax-Free_Attention_for_Vision_Transformers_WACV_2024_paper.pdf" TargetMode="External"/><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41.png"/><Relationship Id="rId4" Type="http://schemas.openxmlformats.org/officeDocument/2006/relationships/image" Target="../media/image40.png"/></Relationships>
</file>

<file path=ppt/slides/_rels/slide2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43.png"/><Relationship Id="rId7" Type="http://schemas.openxmlformats.org/officeDocument/2006/relationships/image" Target="../media/image45.png"/><Relationship Id="rId2" Type="http://schemas.openxmlformats.org/officeDocument/2006/relationships/image" Target="../media/image42.png"/><Relationship Id="rId1" Type="http://schemas.openxmlformats.org/officeDocument/2006/relationships/slideLayout" Target="../slideLayouts/slideLayout7.xml"/><Relationship Id="rId6" Type="http://schemas.openxmlformats.org/officeDocument/2006/relationships/image" Target="../media/image410.png"/><Relationship Id="rId11" Type="http://schemas.openxmlformats.org/officeDocument/2006/relationships/image" Target="../media/image49.png"/><Relationship Id="rId5" Type="http://schemas.openxmlformats.org/officeDocument/2006/relationships/image" Target="../media/image400.png"/><Relationship Id="rId10" Type="http://schemas.openxmlformats.org/officeDocument/2006/relationships/image" Target="../media/image48.png"/><Relationship Id="rId4" Type="http://schemas.openxmlformats.org/officeDocument/2006/relationships/image" Target="../media/image44.png"/><Relationship Id="rId9" Type="http://schemas.openxmlformats.org/officeDocument/2006/relationships/image" Target="../media/image47.png"/></Relationships>
</file>

<file path=ppt/slides/_rels/slide29.xml.rels><?xml version="1.0" encoding="UTF-8" standalone="yes"?>
<Relationships xmlns="http://schemas.openxmlformats.org/package/2006/relationships"><Relationship Id="rId13" Type="http://schemas.openxmlformats.org/officeDocument/2006/relationships/image" Target="../media/image470.png"/><Relationship Id="rId18" Type="http://schemas.openxmlformats.org/officeDocument/2006/relationships/image" Target="../media/image52.png"/><Relationship Id="rId26" Type="http://schemas.openxmlformats.org/officeDocument/2006/relationships/image" Target="../media/image60.png"/><Relationship Id="rId21" Type="http://schemas.openxmlformats.org/officeDocument/2006/relationships/image" Target="../media/image55.png"/><Relationship Id="rId12" Type="http://schemas.openxmlformats.org/officeDocument/2006/relationships/image" Target="../media/image460.png"/><Relationship Id="rId17" Type="http://schemas.openxmlformats.org/officeDocument/2006/relationships/image" Target="../media/image51.png"/><Relationship Id="rId25" Type="http://schemas.openxmlformats.org/officeDocument/2006/relationships/image" Target="../media/image59.png"/><Relationship Id="rId2" Type="http://schemas.openxmlformats.org/officeDocument/2006/relationships/notesSlide" Target="../notesSlides/notesSlide27.xml"/><Relationship Id="rId16" Type="http://schemas.openxmlformats.org/officeDocument/2006/relationships/image" Target="../media/image50.png"/><Relationship Id="rId20" Type="http://schemas.openxmlformats.org/officeDocument/2006/relationships/image" Target="../media/image54.png"/><Relationship Id="rId29" Type="http://schemas.openxmlformats.org/officeDocument/2006/relationships/image" Target="../media/image63.png"/><Relationship Id="rId1" Type="http://schemas.openxmlformats.org/officeDocument/2006/relationships/slideLayout" Target="../slideLayouts/slideLayout7.xml"/><Relationship Id="rId11" Type="http://schemas.openxmlformats.org/officeDocument/2006/relationships/image" Target="../media/image450.png"/><Relationship Id="rId24" Type="http://schemas.openxmlformats.org/officeDocument/2006/relationships/image" Target="../media/image58.png"/><Relationship Id="rId32" Type="http://schemas.openxmlformats.org/officeDocument/2006/relationships/image" Target="../media/image65.png"/><Relationship Id="rId15" Type="http://schemas.openxmlformats.org/officeDocument/2006/relationships/image" Target="../media/image490.png"/><Relationship Id="rId23" Type="http://schemas.openxmlformats.org/officeDocument/2006/relationships/image" Target="../media/image57.png"/><Relationship Id="rId28" Type="http://schemas.openxmlformats.org/officeDocument/2006/relationships/image" Target="../media/image62.png"/><Relationship Id="rId10" Type="http://schemas.openxmlformats.org/officeDocument/2006/relationships/image" Target="../media/image440.png"/><Relationship Id="rId19" Type="http://schemas.openxmlformats.org/officeDocument/2006/relationships/image" Target="../media/image53.png"/><Relationship Id="rId31" Type="http://schemas.openxmlformats.org/officeDocument/2006/relationships/image" Target="../media/image64.png"/><Relationship Id="rId9" Type="http://schemas.openxmlformats.org/officeDocument/2006/relationships/image" Target="../media/image430.png"/><Relationship Id="rId14" Type="http://schemas.openxmlformats.org/officeDocument/2006/relationships/image" Target="../media/image480.png"/><Relationship Id="rId22" Type="http://schemas.openxmlformats.org/officeDocument/2006/relationships/image" Target="../media/image56.png"/><Relationship Id="rId27" Type="http://schemas.openxmlformats.org/officeDocument/2006/relationships/image" Target="../media/image61.png"/><Relationship Id="rId30" Type="http://schemas.openxmlformats.org/officeDocument/2006/relationships/image" Target="../media/image42.png"/></Relationships>
</file>

<file path=ppt/slides/_rels/slide30.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hyperlink" Target="https://github.com/sunsmarterjie/yolov12/blob/main/ultralytics/nn/modules/block.py" TargetMode="External"/></Relationships>
</file>

<file path=ppt/slides/_rels/slide31.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29.xml"/><Relationship Id="rId1" Type="http://schemas.openxmlformats.org/officeDocument/2006/relationships/slideLayout" Target="../slideLayouts/slideLayout2.xml"/><Relationship Id="rId5" Type="http://schemas.openxmlformats.org/officeDocument/2006/relationships/image" Target="../media/image670.png"/><Relationship Id="rId4" Type="http://schemas.openxmlformats.org/officeDocument/2006/relationships/image" Target="../media/image660.png"/></Relationships>
</file>

<file path=ppt/slides/_rels/slide32.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hyperlink" Target="https://github.com/sunsmarterjie/yolov12/blob/main/ultralytics/nn/modules/block.py" TargetMode="External"/></Relationships>
</file>

<file path=ppt/slides/_rels/slide33.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71.png"/></Relationships>
</file>

<file path=ppt/slides/_rels/slide35.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73.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텍스트 개체 틀 1">
            <a:extLst>
              <a:ext uri="{FF2B5EF4-FFF2-40B4-BE49-F238E27FC236}">
                <a16:creationId xmlns:a16="http://schemas.microsoft.com/office/drawing/2014/main" id="{224796B4-F456-4062-68E6-04EE81691EF3}"/>
              </a:ext>
            </a:extLst>
          </p:cNvPr>
          <p:cNvSpPr txBox="1">
            <a:spLocks noChangeArrowheads="1"/>
          </p:cNvSpPr>
          <p:nvPr/>
        </p:nvSpPr>
        <p:spPr bwMode="auto">
          <a:xfrm>
            <a:off x="304800" y="266700"/>
            <a:ext cx="11557000" cy="6108699"/>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51435" tIns="25718" rIns="51435" bIns="25718" numCol="1" anchor="t" anchorCtr="0" compatLnSpc="1">
            <a:prstTxWarp prst="textNoShape">
              <a:avLst/>
            </a:prstTxWarp>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gn="ctr">
              <a:lnSpc>
                <a:spcPct val="150000"/>
              </a:lnSpc>
              <a:buFont typeface="Wingdings" pitchFamily="2" charset="2"/>
              <a:buNone/>
            </a:pPr>
            <a:r>
              <a:rPr kumimoji="1" lang="en-US" altLang="ko-KR" sz="3000" b="1" dirty="0">
                <a:latin typeface="맑은 고딕" panose="020B0503020000020004" pitchFamily="34" charset="-127"/>
                <a:ea typeface="맑은 고딕" panose="020B0503020000020004" pitchFamily="34" charset="-127"/>
              </a:rPr>
              <a:t>Paper Review</a:t>
            </a:r>
          </a:p>
          <a:p>
            <a:pPr algn="ctr">
              <a:lnSpc>
                <a:spcPct val="150000"/>
              </a:lnSpc>
              <a:buFont typeface="Wingdings" pitchFamily="2" charset="2"/>
              <a:buNone/>
            </a:pPr>
            <a:endParaRPr kumimoji="1" lang="en-US" altLang="ko-KR" sz="2000" dirty="0">
              <a:latin typeface="맑은 고딕" panose="020B0503020000020004" pitchFamily="34" charset="-127"/>
              <a:ea typeface="맑은 고딕" panose="020B0503020000020004" pitchFamily="34" charset="-127"/>
            </a:endParaRPr>
          </a:p>
          <a:p>
            <a:pPr algn="ctr">
              <a:lnSpc>
                <a:spcPct val="150000"/>
              </a:lnSpc>
              <a:buFont typeface="Wingdings" pitchFamily="2" charset="2"/>
              <a:buNone/>
            </a:pPr>
            <a:r>
              <a:rPr kumimoji="1" lang="en-US" altLang="ko-KR" sz="2500" b="1" dirty="0">
                <a:latin typeface="맑은 고딕" panose="020B0503020000020004" pitchFamily="34" charset="-127"/>
                <a:ea typeface="맑은 고딕" panose="020B0503020000020004" pitchFamily="34" charset="-127"/>
              </a:rPr>
              <a:t>2025 </a:t>
            </a:r>
            <a:r>
              <a:rPr kumimoji="1" lang="en-US" altLang="ko-KR" sz="2500" b="1" dirty="0" err="1">
                <a:latin typeface="맑은 고딕" panose="020B0503020000020004" pitchFamily="34" charset="-127"/>
                <a:ea typeface="맑은 고딕" panose="020B0503020000020004" pitchFamily="34" charset="-127"/>
              </a:rPr>
              <a:t>NeurIPS</a:t>
            </a:r>
            <a:br>
              <a:rPr kumimoji="1" lang="en-US" altLang="ko-KR" sz="2500" b="1" dirty="0">
                <a:latin typeface="맑은 고딕" panose="020B0503020000020004" pitchFamily="34" charset="-127"/>
                <a:ea typeface="맑은 고딕" panose="020B0503020000020004" pitchFamily="34" charset="-127"/>
              </a:rPr>
            </a:br>
            <a:endParaRPr kumimoji="1" lang="en-US" altLang="ko-KR" sz="2500" b="1" dirty="0">
              <a:latin typeface="맑은 고딕" panose="020B0503020000020004" pitchFamily="34" charset="-127"/>
              <a:ea typeface="맑은 고딕" panose="020B0503020000020004" pitchFamily="34" charset="-127"/>
            </a:endParaRPr>
          </a:p>
          <a:p>
            <a:pPr algn="ctr">
              <a:lnSpc>
                <a:spcPct val="150000"/>
              </a:lnSpc>
              <a:buFont typeface="Wingdings" pitchFamily="2" charset="2"/>
              <a:buNone/>
            </a:pPr>
            <a:endParaRPr lang="en-US" altLang="ko-KR" sz="1600" dirty="0"/>
          </a:p>
          <a:p>
            <a:pPr algn="ctr">
              <a:lnSpc>
                <a:spcPct val="150000"/>
              </a:lnSpc>
              <a:buFont typeface="Wingdings" pitchFamily="2" charset="2"/>
              <a:buNone/>
            </a:pPr>
            <a:endParaRPr kumimoji="1" lang="en-US" altLang="ko-KR" sz="1600" dirty="0">
              <a:latin typeface="맑은 고딕" panose="020B0503020000020004" pitchFamily="34" charset="-127"/>
              <a:ea typeface="맑은 고딕" panose="020B0503020000020004" pitchFamily="34" charset="-127"/>
            </a:endParaRPr>
          </a:p>
          <a:p>
            <a:pPr algn="ctr">
              <a:lnSpc>
                <a:spcPct val="150000"/>
              </a:lnSpc>
              <a:buFont typeface="Wingdings" pitchFamily="2" charset="2"/>
              <a:buNone/>
            </a:pPr>
            <a:endParaRPr kumimoji="1" lang="en-US" altLang="ko-KR" sz="1600" dirty="0">
              <a:latin typeface="맑은 고딕" panose="020B0503020000020004" pitchFamily="34" charset="-127"/>
              <a:ea typeface="맑은 고딕" panose="020B0503020000020004" pitchFamily="34" charset="-127"/>
            </a:endParaRPr>
          </a:p>
          <a:p>
            <a:pPr algn="ctr">
              <a:lnSpc>
                <a:spcPct val="150000"/>
              </a:lnSpc>
              <a:buFont typeface="Wingdings" pitchFamily="2" charset="2"/>
              <a:buNone/>
            </a:pPr>
            <a:endParaRPr kumimoji="1" lang="en-US" altLang="ko-KR" sz="1600" dirty="0">
              <a:latin typeface="맑은 고딕" panose="020B0503020000020004" pitchFamily="34" charset="-127"/>
              <a:ea typeface="맑은 고딕" panose="020B0503020000020004" pitchFamily="34" charset="-127"/>
            </a:endParaRPr>
          </a:p>
          <a:p>
            <a:pPr algn="ctr">
              <a:lnSpc>
                <a:spcPct val="150000"/>
              </a:lnSpc>
              <a:buFont typeface="Wingdings" pitchFamily="2" charset="2"/>
              <a:buNone/>
            </a:pPr>
            <a:endParaRPr kumimoji="1" lang="en-US" altLang="ko-KR" sz="1600" dirty="0">
              <a:latin typeface="맑은 고딕" panose="020B0503020000020004" pitchFamily="34" charset="-127"/>
              <a:ea typeface="맑은 고딕" panose="020B0503020000020004" pitchFamily="34" charset="-127"/>
            </a:endParaRPr>
          </a:p>
          <a:p>
            <a:pPr algn="ctr">
              <a:lnSpc>
                <a:spcPct val="150000"/>
              </a:lnSpc>
              <a:buFont typeface="Wingdings" pitchFamily="2" charset="2"/>
              <a:buNone/>
            </a:pPr>
            <a:endParaRPr kumimoji="1" lang="en-US" altLang="ko-KR" sz="1600" dirty="0">
              <a:latin typeface="맑은 고딕" panose="020B0503020000020004" pitchFamily="34" charset="-127"/>
              <a:ea typeface="맑은 고딕" panose="020B0503020000020004" pitchFamily="34" charset="-127"/>
            </a:endParaRPr>
          </a:p>
          <a:p>
            <a:pPr algn="ctr">
              <a:lnSpc>
                <a:spcPct val="150000"/>
              </a:lnSpc>
              <a:buFont typeface="Wingdings" pitchFamily="2" charset="2"/>
              <a:buNone/>
            </a:pPr>
            <a:endParaRPr kumimoji="1" lang="en-US" altLang="ko-KR" dirty="0">
              <a:latin typeface="맑은 고딕" panose="020B0503020000020004" pitchFamily="34" charset="-127"/>
              <a:ea typeface="맑은 고딕" panose="020B0503020000020004" pitchFamily="34" charset="-127"/>
            </a:endParaRPr>
          </a:p>
          <a:p>
            <a:pPr algn="r">
              <a:lnSpc>
                <a:spcPct val="150000"/>
              </a:lnSpc>
              <a:buFont typeface="Wingdings" pitchFamily="2" charset="2"/>
              <a:buNone/>
            </a:pPr>
            <a:r>
              <a:rPr kumimoji="1" lang="en-US" altLang="ko-KR" sz="1600" dirty="0" err="1">
                <a:latin typeface="맑은 고딕" panose="020B0503020000020004" pitchFamily="34" charset="-127"/>
                <a:ea typeface="맑은 고딕" panose="020B0503020000020004" pitchFamily="34" charset="-127"/>
              </a:rPr>
              <a:t>Hyungseop</a:t>
            </a:r>
            <a:r>
              <a:rPr kumimoji="1" lang="en-US" altLang="ko-KR" sz="1600" dirty="0">
                <a:latin typeface="맑은 고딕" panose="020B0503020000020004" pitchFamily="34" charset="-127"/>
                <a:ea typeface="맑은 고딕" panose="020B0503020000020004" pitchFamily="34" charset="-127"/>
              </a:rPr>
              <a:t> Lee</a:t>
            </a:r>
            <a:r>
              <a:rPr kumimoji="1" lang="ko-KR" altLang="en-US" sz="1600" dirty="0">
                <a:latin typeface="맑은 고딕" panose="020B0503020000020004" pitchFamily="34" charset="-127"/>
                <a:ea typeface="맑은 고딕" panose="020B0503020000020004" pitchFamily="34" charset="-127"/>
              </a:rPr>
              <a:t> </a:t>
            </a:r>
            <a:endParaRPr kumimoji="1" lang="en-US" altLang="ko-KR" sz="1600" dirty="0">
              <a:latin typeface="맑은 고딕" panose="020B0503020000020004" pitchFamily="34" charset="-127"/>
              <a:ea typeface="맑은 고딕" panose="020B0503020000020004" pitchFamily="34" charset="-127"/>
            </a:endParaRPr>
          </a:p>
          <a:p>
            <a:pPr algn="r">
              <a:lnSpc>
                <a:spcPct val="150000"/>
              </a:lnSpc>
              <a:buFont typeface="Wingdings" pitchFamily="2" charset="2"/>
              <a:buNone/>
            </a:pPr>
            <a:r>
              <a:rPr kumimoji="1" lang="en-US" altLang="ko-KR" sz="1600" dirty="0">
                <a:latin typeface="맑은 고딕" panose="020B0503020000020004" pitchFamily="34" charset="-127"/>
                <a:ea typeface="맑은 고딕" panose="020B0503020000020004" pitchFamily="34" charset="-127"/>
              </a:rPr>
              <a:t>Department of Embedded Systems Engineering, INU</a:t>
            </a:r>
            <a:br>
              <a:rPr kumimoji="1" lang="en-US" altLang="ko-KR" sz="1600" dirty="0">
                <a:latin typeface="맑은 고딕" panose="020B0503020000020004" pitchFamily="34" charset="-127"/>
                <a:ea typeface="맑은 고딕" panose="020B0503020000020004" pitchFamily="34" charset="-127"/>
              </a:rPr>
            </a:br>
            <a:r>
              <a:rPr kumimoji="1" lang="en-US" altLang="ko-KR" sz="1600" dirty="0">
                <a:latin typeface="맑은 고딕" panose="020B0503020000020004" pitchFamily="34" charset="-127"/>
                <a:ea typeface="맑은 고딕" panose="020B0503020000020004" pitchFamily="34" charset="-127"/>
              </a:rPr>
              <a:t>hhss0927@inu.ac.kr</a:t>
            </a:r>
          </a:p>
        </p:txBody>
      </p:sp>
      <p:sp>
        <p:nvSpPr>
          <p:cNvPr id="3" name="TextBox 2">
            <a:extLst>
              <a:ext uri="{FF2B5EF4-FFF2-40B4-BE49-F238E27FC236}">
                <a16:creationId xmlns:a16="http://schemas.microsoft.com/office/drawing/2014/main" id="{199834AE-3B08-C5F2-6FD3-C9BAAE5B03D0}"/>
              </a:ext>
            </a:extLst>
          </p:cNvPr>
          <p:cNvSpPr txBox="1"/>
          <p:nvPr/>
        </p:nvSpPr>
        <p:spPr>
          <a:xfrm>
            <a:off x="12103100" y="1543006"/>
            <a:ext cx="184731" cy="369332"/>
          </a:xfrm>
          <a:prstGeom prst="rect">
            <a:avLst/>
          </a:prstGeom>
          <a:noFill/>
        </p:spPr>
        <p:txBody>
          <a:bodyPr wrap="none" rtlCol="0">
            <a:spAutoFit/>
          </a:bodyPr>
          <a:lstStyle/>
          <a:p>
            <a:endParaRPr kumimoji="1" lang="ko-KR" altLang="en-US" dirty="0"/>
          </a:p>
        </p:txBody>
      </p:sp>
      <p:pic>
        <p:nvPicPr>
          <p:cNvPr id="6" name="그림 5" descr="텍스트, 폰트, 스크린샷, 영수증이(가) 표시된 사진&#10;&#10;AI 생성 콘텐츠는 정확하지 않을 수 있습니다.">
            <a:extLst>
              <a:ext uri="{FF2B5EF4-FFF2-40B4-BE49-F238E27FC236}">
                <a16:creationId xmlns:a16="http://schemas.microsoft.com/office/drawing/2014/main" id="{B73AF494-E758-8847-5A97-9C992EAF1477}"/>
              </a:ext>
            </a:extLst>
          </p:cNvPr>
          <p:cNvPicPr>
            <a:picLocks noChangeAspect="1"/>
          </p:cNvPicPr>
          <p:nvPr/>
        </p:nvPicPr>
        <p:blipFill>
          <a:blip r:embed="rId2"/>
          <a:stretch>
            <a:fillRect/>
          </a:stretch>
        </p:blipFill>
        <p:spPr>
          <a:xfrm>
            <a:off x="1032011" y="2462105"/>
            <a:ext cx="10127977" cy="1933789"/>
          </a:xfrm>
          <a:prstGeom prst="rect">
            <a:avLst/>
          </a:prstGeom>
        </p:spPr>
      </p:pic>
    </p:spTree>
    <p:extLst>
      <p:ext uri="{BB962C8B-B14F-4D97-AF65-F5344CB8AC3E}">
        <p14:creationId xmlns:p14="http://schemas.microsoft.com/office/powerpoint/2010/main" val="25415191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9262878-3482-178A-E776-A6670BB5D81E}"/>
              </a:ext>
            </a:extLst>
          </p:cNvPr>
          <p:cNvSpPr>
            <a:spLocks noGrp="1"/>
          </p:cNvSpPr>
          <p:nvPr>
            <p:ph type="title"/>
          </p:nvPr>
        </p:nvSpPr>
        <p:spPr/>
        <p:txBody>
          <a:bodyPr>
            <a:normAutofit/>
          </a:bodyPr>
          <a:lstStyle/>
          <a:p>
            <a:r>
              <a:rPr kumimoji="1" lang="en-US" altLang="ko-KR" sz="3000" b="1" dirty="0"/>
              <a:t>Outline</a:t>
            </a:r>
            <a:endParaRPr kumimoji="1" lang="ko-KR" altLang="en-US" sz="3000" b="1" dirty="0"/>
          </a:p>
        </p:txBody>
      </p:sp>
      <p:sp>
        <p:nvSpPr>
          <p:cNvPr id="3" name="내용 개체 틀 2">
            <a:extLst>
              <a:ext uri="{FF2B5EF4-FFF2-40B4-BE49-F238E27FC236}">
                <a16:creationId xmlns:a16="http://schemas.microsoft.com/office/drawing/2014/main" id="{CAF2C187-0F7B-3088-D810-FBE27C7B917D}"/>
              </a:ext>
            </a:extLst>
          </p:cNvPr>
          <p:cNvSpPr>
            <a:spLocks noGrp="1"/>
          </p:cNvSpPr>
          <p:nvPr>
            <p:ph idx="1"/>
          </p:nvPr>
        </p:nvSpPr>
        <p:spPr>
          <a:xfrm>
            <a:off x="117514" y="852966"/>
            <a:ext cx="11952383" cy="5438047"/>
          </a:xfrm>
        </p:spPr>
        <p:txBody>
          <a:bodyPr>
            <a:normAutofit/>
          </a:bodyPr>
          <a:lstStyle/>
          <a:p>
            <a:pPr marL="342900" indent="-342900">
              <a:lnSpc>
                <a:spcPct val="200000"/>
              </a:lnSpc>
              <a:buFont typeface="Arial" panose="020B0604020202020204" pitchFamily="34" charset="0"/>
              <a:buAutoNum type="arabicPeriod"/>
            </a:pPr>
            <a:r>
              <a:rPr kumimoji="1" lang="en-US" altLang="ko-KR" sz="2400" b="1" dirty="0"/>
              <a:t>Related Works: </a:t>
            </a:r>
            <a:r>
              <a:rPr kumimoji="1" lang="en-US" altLang="ko-KR" sz="2000" dirty="0"/>
              <a:t>Architecture </a:t>
            </a:r>
            <a:r>
              <a:rPr kumimoji="1" lang="ko-KR" altLang="en-US" sz="2000" dirty="0"/>
              <a:t>관점에서 </a:t>
            </a:r>
            <a:r>
              <a:rPr kumimoji="1" lang="en-US" altLang="ko-KR" sz="2000" dirty="0"/>
              <a:t>YOLO Series (v1~v10)</a:t>
            </a:r>
          </a:p>
          <a:p>
            <a:pPr marL="342900" indent="-342900">
              <a:lnSpc>
                <a:spcPct val="200000"/>
              </a:lnSpc>
              <a:buFont typeface="Arial" panose="020B0604020202020204" pitchFamily="34" charset="0"/>
              <a:buAutoNum type="arabicPeriod"/>
            </a:pPr>
            <a:r>
              <a:rPr kumimoji="1" lang="en-US" altLang="ko-KR" sz="2400" b="1" dirty="0"/>
              <a:t>Analysis: </a:t>
            </a:r>
            <a:r>
              <a:rPr kumimoji="1" lang="en-US" altLang="ko-KR" sz="2000" dirty="0"/>
              <a:t>Two Primary Bottlenecks of Attention Mechanisms</a:t>
            </a:r>
          </a:p>
          <a:p>
            <a:pPr marL="342900" indent="-342900">
              <a:lnSpc>
                <a:spcPct val="200000"/>
              </a:lnSpc>
              <a:buFont typeface="Arial" panose="020B0604020202020204" pitchFamily="34" charset="0"/>
              <a:buAutoNum type="arabicPeriod"/>
            </a:pPr>
            <a:r>
              <a:rPr kumimoji="1" lang="en-US" altLang="ko-KR" sz="2400" b="1" dirty="0"/>
              <a:t>Attention-centric YOLO Framework, YOLOv12</a:t>
            </a:r>
          </a:p>
          <a:p>
            <a:pPr marL="800100" lvl="1" indent="-342900">
              <a:lnSpc>
                <a:spcPct val="200000"/>
              </a:lnSpc>
              <a:buFont typeface="Arial" panose="020B0604020202020204" pitchFamily="34" charset="0"/>
              <a:buAutoNum type="arabicPeriod"/>
            </a:pPr>
            <a:r>
              <a:rPr kumimoji="1" lang="en-US" altLang="ko-KR" sz="2000" dirty="0"/>
              <a:t>Area Attention (A2) module with </a:t>
            </a:r>
            <a:r>
              <a:rPr kumimoji="1" lang="en-US" altLang="ko-KR" sz="2000" dirty="0" err="1"/>
              <a:t>FlashAttention</a:t>
            </a:r>
            <a:endParaRPr kumimoji="1" lang="en-US" altLang="ko-KR" sz="2000" dirty="0"/>
          </a:p>
          <a:p>
            <a:pPr marL="800100" lvl="1" indent="-342900">
              <a:lnSpc>
                <a:spcPct val="200000"/>
              </a:lnSpc>
              <a:buFont typeface="Arial" panose="020B0604020202020204" pitchFamily="34" charset="0"/>
              <a:buAutoNum type="arabicPeriod"/>
            </a:pPr>
            <a:r>
              <a:rPr kumimoji="1" lang="en-US" altLang="ko-KR" sz="2000" dirty="0"/>
              <a:t>Residual Efficient Layer Aggregation Networks (R-ELAN)</a:t>
            </a:r>
          </a:p>
          <a:p>
            <a:pPr marL="800100" lvl="1" indent="-342900">
              <a:lnSpc>
                <a:spcPct val="200000"/>
              </a:lnSpc>
              <a:buFont typeface="Arial" panose="020B0604020202020204" pitchFamily="34" charset="0"/>
              <a:buAutoNum type="arabicPeriod"/>
            </a:pPr>
            <a:r>
              <a:rPr kumimoji="1" lang="en-US" altLang="ko-KR" sz="2000" dirty="0"/>
              <a:t>Experiments</a:t>
            </a:r>
          </a:p>
          <a:p>
            <a:pPr marL="342900" indent="-342900">
              <a:lnSpc>
                <a:spcPct val="200000"/>
              </a:lnSpc>
              <a:buFont typeface="Arial" panose="020B0604020202020204" pitchFamily="34" charset="0"/>
              <a:buAutoNum type="arabicPeriod"/>
            </a:pPr>
            <a:r>
              <a:rPr kumimoji="1" lang="en-US" altLang="ko-KR" sz="2300" b="1" dirty="0"/>
              <a:t>Critique</a:t>
            </a:r>
          </a:p>
        </p:txBody>
      </p:sp>
    </p:spTree>
    <p:extLst>
      <p:ext uri="{BB962C8B-B14F-4D97-AF65-F5344CB8AC3E}">
        <p14:creationId xmlns:p14="http://schemas.microsoft.com/office/powerpoint/2010/main" val="18360604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AFEEC7-FB7A-97BA-BBC4-5557B63ED050}"/>
            </a:ext>
          </a:extLst>
        </p:cNvPr>
        <p:cNvGrpSpPr/>
        <p:nvPr/>
      </p:nvGrpSpPr>
      <p:grpSpPr>
        <a:xfrm>
          <a:off x="0" y="0"/>
          <a:ext cx="0" cy="0"/>
          <a:chOff x="0" y="0"/>
          <a:chExt cx="0" cy="0"/>
        </a:xfrm>
      </p:grpSpPr>
      <p:sp>
        <p:nvSpPr>
          <p:cNvPr id="27" name="제목 26">
            <a:extLst>
              <a:ext uri="{FF2B5EF4-FFF2-40B4-BE49-F238E27FC236}">
                <a16:creationId xmlns:a16="http://schemas.microsoft.com/office/drawing/2014/main" id="{9D008ECE-F8FB-6655-05DA-2CA10F3D5C3A}"/>
              </a:ext>
            </a:extLst>
          </p:cNvPr>
          <p:cNvSpPr>
            <a:spLocks noGrp="1"/>
          </p:cNvSpPr>
          <p:nvPr>
            <p:ph type="title"/>
          </p:nvPr>
        </p:nvSpPr>
        <p:spPr/>
        <p:txBody>
          <a:bodyPr/>
          <a:lstStyle/>
          <a:p>
            <a:r>
              <a:rPr kumimoji="1" lang="en-US" altLang="ko-KR" sz="2800" b="1" dirty="0"/>
              <a:t>1. Related Works: YOLO series (v1 ~ v10)</a:t>
            </a:r>
            <a:endParaRPr lang="ko-KR" altLang="en-US" dirty="0"/>
          </a:p>
        </p:txBody>
      </p:sp>
      <p:sp>
        <p:nvSpPr>
          <p:cNvPr id="47" name="내용 개체 틀 2">
            <a:extLst>
              <a:ext uri="{FF2B5EF4-FFF2-40B4-BE49-F238E27FC236}">
                <a16:creationId xmlns:a16="http://schemas.microsoft.com/office/drawing/2014/main" id="{2F8BD72C-DD93-CD49-9A9C-0D93A1DE0026}"/>
              </a:ext>
            </a:extLst>
          </p:cNvPr>
          <p:cNvSpPr txBox="1">
            <a:spLocks/>
          </p:cNvSpPr>
          <p:nvPr/>
        </p:nvSpPr>
        <p:spPr>
          <a:xfrm>
            <a:off x="117514" y="852966"/>
            <a:ext cx="11952383" cy="5438047"/>
          </a:xfrm>
          <a:prstGeom prst="rect">
            <a:avLst/>
          </a:prstGeom>
        </p:spPr>
        <p:txBody>
          <a:bodyPr vert="horz" lIns="91440" tIns="45720" rIns="91440" bIns="45720" rtlCol="0">
            <a:normAutofit/>
          </a:bodyPr>
          <a:lstStyle>
            <a:lvl1pPr marL="228600" indent="-228600" algn="l" defTabSz="914400" rtl="0" eaLnBrk="1" latinLnBrk="1"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15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endParaRPr lang="en" altLang="ko-KR" sz="2000" dirty="0"/>
          </a:p>
          <a:p>
            <a:pPr>
              <a:lnSpc>
                <a:spcPct val="150000"/>
              </a:lnSpc>
            </a:pPr>
            <a:endParaRPr kumimoji="1" lang="en" altLang="ko-KR" sz="2000" b="1" dirty="0"/>
          </a:p>
          <a:p>
            <a:pPr>
              <a:lnSpc>
                <a:spcPct val="150000"/>
              </a:lnSpc>
            </a:pPr>
            <a:endParaRPr kumimoji="1" lang="en" altLang="ko-KR" sz="2000" b="1" dirty="0"/>
          </a:p>
          <a:p>
            <a:pPr>
              <a:lnSpc>
                <a:spcPct val="150000"/>
              </a:lnSpc>
            </a:pPr>
            <a:endParaRPr kumimoji="1" lang="en" altLang="ko-KR" sz="2000" b="1" dirty="0"/>
          </a:p>
          <a:p>
            <a:pPr>
              <a:lnSpc>
                <a:spcPct val="150000"/>
              </a:lnSpc>
            </a:pPr>
            <a:endParaRPr kumimoji="1" lang="en" altLang="ko-KR" sz="2000" b="1" dirty="0"/>
          </a:p>
          <a:p>
            <a:pPr>
              <a:lnSpc>
                <a:spcPct val="150000"/>
              </a:lnSpc>
            </a:pPr>
            <a:endParaRPr kumimoji="1" lang="en" altLang="ko-KR" sz="2000" b="1" dirty="0"/>
          </a:p>
          <a:p>
            <a:pPr>
              <a:lnSpc>
                <a:spcPct val="150000"/>
              </a:lnSpc>
            </a:pPr>
            <a:endParaRPr kumimoji="1" lang="en" altLang="ko-KR" sz="2000" b="1" dirty="0"/>
          </a:p>
        </p:txBody>
      </p:sp>
      <p:sp>
        <p:nvSpPr>
          <p:cNvPr id="16" name="TextBox 15">
            <a:extLst>
              <a:ext uri="{FF2B5EF4-FFF2-40B4-BE49-F238E27FC236}">
                <a16:creationId xmlns:a16="http://schemas.microsoft.com/office/drawing/2014/main" id="{C9B71016-21CB-4A19-236D-5147F9994C93}"/>
              </a:ext>
            </a:extLst>
          </p:cNvPr>
          <p:cNvSpPr txBox="1"/>
          <p:nvPr/>
        </p:nvSpPr>
        <p:spPr>
          <a:xfrm>
            <a:off x="184193" y="843588"/>
            <a:ext cx="11952383" cy="1116396"/>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kumimoji="1" lang="en-US" altLang="ko-KR" sz="2500" dirty="0">
                <a:latin typeface="Times New Roman" panose="02020603050405020304" pitchFamily="18" charset="0"/>
                <a:cs typeface="Times New Roman" panose="02020603050405020304" pitchFamily="18" charset="0"/>
                <a:hlinkClick r:id="rId3"/>
              </a:rPr>
              <a:t>YOLOv1 (</a:t>
            </a:r>
            <a:r>
              <a:rPr kumimoji="1" lang="en" altLang="ko-KR" sz="2500" dirty="0">
                <a:latin typeface="Times New Roman" panose="02020603050405020304" pitchFamily="18" charset="0"/>
                <a:cs typeface="Times New Roman" panose="02020603050405020304" pitchFamily="18" charset="0"/>
                <a:hlinkClick r:id="rId3"/>
              </a:rPr>
              <a:t>2016, CVPR</a:t>
            </a:r>
            <a:r>
              <a:rPr kumimoji="1" lang="en-US" altLang="ko-KR" sz="2500" dirty="0">
                <a:latin typeface="Times New Roman" panose="02020603050405020304" pitchFamily="18" charset="0"/>
                <a:cs typeface="Times New Roman" panose="02020603050405020304" pitchFamily="18" charset="0"/>
                <a:hlinkClick r:id="rId3"/>
              </a:rPr>
              <a:t>)</a:t>
            </a:r>
            <a:endParaRPr kumimoji="1" lang="en-US" altLang="ko-KR" sz="2500" b="1" dirty="0">
              <a:latin typeface="Times New Roman" panose="02020603050405020304" pitchFamily="18" charset="0"/>
              <a:cs typeface="Times New Roman" panose="02020603050405020304" pitchFamily="18" charset="0"/>
            </a:endParaRPr>
          </a:p>
          <a:p>
            <a:pPr marL="1257300" lvl="2" indent="-342900">
              <a:lnSpc>
                <a:spcPct val="150000"/>
              </a:lnSpc>
              <a:buFont typeface="Arial" panose="020B0604020202020204" pitchFamily="34" charset="0"/>
              <a:buChar char="•"/>
            </a:pPr>
            <a:endParaRPr kumimoji="1" lang="en-US" altLang="ko-KR" sz="2200" dirty="0">
              <a:latin typeface="Times New Roman" panose="02020603050405020304" pitchFamily="18" charset="0"/>
              <a:cs typeface="Times New Roman" panose="02020603050405020304" pitchFamily="18" charset="0"/>
            </a:endParaRPr>
          </a:p>
        </p:txBody>
      </p:sp>
      <p:pic>
        <p:nvPicPr>
          <p:cNvPr id="22530" name="Picture 2">
            <a:extLst>
              <a:ext uri="{FF2B5EF4-FFF2-40B4-BE49-F238E27FC236}">
                <a16:creationId xmlns:a16="http://schemas.microsoft.com/office/drawing/2014/main" id="{102313B9-C508-D713-66BF-01274161A4C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4193" y="1682765"/>
            <a:ext cx="7696200" cy="2146300"/>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57EBA60E-C78C-DB67-7DB4-24C78327EF08}"/>
              </a:ext>
            </a:extLst>
          </p:cNvPr>
          <p:cNvSpPr txBox="1"/>
          <p:nvPr/>
        </p:nvSpPr>
        <p:spPr>
          <a:xfrm>
            <a:off x="184193" y="4652514"/>
            <a:ext cx="5160195" cy="1550361"/>
          </a:xfrm>
          <a:prstGeom prst="rect">
            <a:avLst/>
          </a:prstGeom>
          <a:noFill/>
        </p:spPr>
        <p:txBody>
          <a:bodyPr wrap="none" rtlCol="0">
            <a:spAutoFit/>
          </a:bodyPr>
          <a:lstStyle/>
          <a:p>
            <a:pPr marL="285750" indent="-285750">
              <a:lnSpc>
                <a:spcPct val="150000"/>
              </a:lnSpc>
              <a:buFont typeface="Arial" panose="020B0604020202020204" pitchFamily="34" charset="0"/>
              <a:buChar char="•"/>
            </a:pPr>
            <a:r>
              <a:rPr kumimoji="1" lang="en-US" altLang="ko-KR" sz="2200" dirty="0"/>
              <a:t>One-stage</a:t>
            </a:r>
          </a:p>
          <a:p>
            <a:pPr marL="285750" indent="-285750">
              <a:lnSpc>
                <a:spcPct val="150000"/>
              </a:lnSpc>
              <a:buFont typeface="Arial" panose="020B0604020202020204" pitchFamily="34" charset="0"/>
              <a:buChar char="•"/>
            </a:pPr>
            <a:r>
              <a:rPr kumimoji="1" lang="en-US" altLang="ko-KR" sz="2200" dirty="0"/>
              <a:t>Anchor-free </a:t>
            </a:r>
            <a:r>
              <a:rPr kumimoji="1" lang="en-US" altLang="ko-KR" sz="2200" dirty="0" err="1"/>
              <a:t>bbox</a:t>
            </a:r>
            <a:r>
              <a:rPr kumimoji="1" lang="en-US" altLang="ko-KR" sz="2200" dirty="0"/>
              <a:t> regression</a:t>
            </a:r>
          </a:p>
          <a:p>
            <a:pPr marL="285750" indent="-285750">
              <a:lnSpc>
                <a:spcPct val="150000"/>
              </a:lnSpc>
              <a:buFont typeface="Arial" panose="020B0604020202020204" pitchFamily="34" charset="0"/>
              <a:buChar char="•"/>
            </a:pPr>
            <a:r>
              <a:rPr kumimoji="1" lang="en-US" altLang="ko-KR" sz="2200" dirty="0"/>
              <a:t>2 FC layers to obtain global features</a:t>
            </a:r>
          </a:p>
        </p:txBody>
      </p:sp>
      <p:sp>
        <p:nvSpPr>
          <p:cNvPr id="19" name="TextBox 18">
            <a:extLst>
              <a:ext uri="{FF2B5EF4-FFF2-40B4-BE49-F238E27FC236}">
                <a16:creationId xmlns:a16="http://schemas.microsoft.com/office/drawing/2014/main" id="{A0A8BB58-A649-302F-E933-E64C5FF6AE99}"/>
              </a:ext>
            </a:extLst>
          </p:cNvPr>
          <p:cNvSpPr txBox="1"/>
          <p:nvPr/>
        </p:nvSpPr>
        <p:spPr>
          <a:xfrm>
            <a:off x="9759251" y="1009430"/>
            <a:ext cx="3582965" cy="261610"/>
          </a:xfrm>
          <a:prstGeom prst="rect">
            <a:avLst/>
          </a:prstGeom>
          <a:noFill/>
        </p:spPr>
        <p:txBody>
          <a:bodyPr wrap="square">
            <a:spAutoFit/>
          </a:bodyPr>
          <a:lstStyle/>
          <a:p>
            <a:r>
              <a:rPr lang="ko-KR" altLang="en-US" sz="1100" dirty="0" err="1">
                <a:hlinkClick r:id="rId5"/>
              </a:rPr>
              <a:t>https</a:t>
            </a:r>
            <a:r>
              <a:rPr lang="ko-KR" altLang="en-US" sz="1100" dirty="0">
                <a:hlinkClick r:id="rId5"/>
              </a:rPr>
              <a:t>://</a:t>
            </a:r>
            <a:r>
              <a:rPr lang="ko-KR" altLang="en-US" sz="1100" dirty="0" err="1">
                <a:hlinkClick r:id="rId5"/>
              </a:rPr>
              <a:t>arxiv.org</a:t>
            </a:r>
            <a:r>
              <a:rPr lang="ko-KR" altLang="en-US" sz="1100" dirty="0">
                <a:hlinkClick r:id="rId5"/>
              </a:rPr>
              <a:t>/</a:t>
            </a:r>
            <a:r>
              <a:rPr lang="ko-KR" altLang="en-US" sz="1100" dirty="0" err="1">
                <a:hlinkClick r:id="rId5"/>
              </a:rPr>
              <a:t>pdf</a:t>
            </a:r>
            <a:r>
              <a:rPr lang="ko-KR" altLang="en-US" sz="1100" dirty="0">
                <a:hlinkClick r:id="rId5"/>
              </a:rPr>
              <a:t>/2408.09332</a:t>
            </a:r>
            <a:endParaRPr lang="ko-KR" altLang="en-US" sz="1100" dirty="0"/>
          </a:p>
        </p:txBody>
      </p:sp>
      <p:pic>
        <p:nvPicPr>
          <p:cNvPr id="21" name="그림 20" descr="텍스트, 스크린샷이(가) 표시된 사진&#10;&#10;AI 생성 콘텐츠는 정확하지 않을 수 있습니다.">
            <a:extLst>
              <a:ext uri="{FF2B5EF4-FFF2-40B4-BE49-F238E27FC236}">
                <a16:creationId xmlns:a16="http://schemas.microsoft.com/office/drawing/2014/main" id="{C37C28E3-711F-7596-CC5C-3E0A2BA9DB70}"/>
              </a:ext>
            </a:extLst>
          </p:cNvPr>
          <p:cNvPicPr>
            <a:picLocks noChangeAspect="1"/>
          </p:cNvPicPr>
          <p:nvPr/>
        </p:nvPicPr>
        <p:blipFill>
          <a:blip r:embed="rId6"/>
          <a:stretch>
            <a:fillRect/>
          </a:stretch>
        </p:blipFill>
        <p:spPr>
          <a:xfrm>
            <a:off x="7906204" y="2855331"/>
            <a:ext cx="4275309" cy="3945634"/>
          </a:xfrm>
          <a:prstGeom prst="rect">
            <a:avLst/>
          </a:prstGeom>
        </p:spPr>
      </p:pic>
    </p:spTree>
    <p:extLst>
      <p:ext uri="{BB962C8B-B14F-4D97-AF65-F5344CB8AC3E}">
        <p14:creationId xmlns:p14="http://schemas.microsoft.com/office/powerpoint/2010/main" val="15854845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E7EB93-3F18-862F-7FA6-F0400B92D1A9}"/>
            </a:ext>
          </a:extLst>
        </p:cNvPr>
        <p:cNvGrpSpPr/>
        <p:nvPr/>
      </p:nvGrpSpPr>
      <p:grpSpPr>
        <a:xfrm>
          <a:off x="0" y="0"/>
          <a:ext cx="0" cy="0"/>
          <a:chOff x="0" y="0"/>
          <a:chExt cx="0" cy="0"/>
        </a:xfrm>
      </p:grpSpPr>
      <p:sp>
        <p:nvSpPr>
          <p:cNvPr id="27" name="제목 26">
            <a:extLst>
              <a:ext uri="{FF2B5EF4-FFF2-40B4-BE49-F238E27FC236}">
                <a16:creationId xmlns:a16="http://schemas.microsoft.com/office/drawing/2014/main" id="{354B37E8-A92B-AAE7-B713-4A881B343037}"/>
              </a:ext>
            </a:extLst>
          </p:cNvPr>
          <p:cNvSpPr>
            <a:spLocks noGrp="1"/>
          </p:cNvSpPr>
          <p:nvPr>
            <p:ph type="title"/>
          </p:nvPr>
        </p:nvSpPr>
        <p:spPr/>
        <p:txBody>
          <a:bodyPr/>
          <a:lstStyle/>
          <a:p>
            <a:r>
              <a:rPr kumimoji="1" lang="en-US" altLang="ko-KR" sz="2800" b="1" dirty="0"/>
              <a:t>1. Related Works: YOLO series (v1 ~ v10)</a:t>
            </a:r>
            <a:endParaRPr lang="ko-KR" altLang="en-US" dirty="0"/>
          </a:p>
        </p:txBody>
      </p:sp>
      <p:sp>
        <p:nvSpPr>
          <p:cNvPr id="47" name="내용 개체 틀 2">
            <a:extLst>
              <a:ext uri="{FF2B5EF4-FFF2-40B4-BE49-F238E27FC236}">
                <a16:creationId xmlns:a16="http://schemas.microsoft.com/office/drawing/2014/main" id="{47ED61F5-1672-574B-979E-FCA1D1893D48}"/>
              </a:ext>
            </a:extLst>
          </p:cNvPr>
          <p:cNvSpPr txBox="1">
            <a:spLocks/>
          </p:cNvSpPr>
          <p:nvPr/>
        </p:nvSpPr>
        <p:spPr>
          <a:xfrm>
            <a:off x="117514" y="852966"/>
            <a:ext cx="11952383" cy="5438047"/>
          </a:xfrm>
          <a:prstGeom prst="rect">
            <a:avLst/>
          </a:prstGeom>
        </p:spPr>
        <p:txBody>
          <a:bodyPr vert="horz" lIns="91440" tIns="45720" rIns="91440" bIns="45720" rtlCol="0">
            <a:normAutofit/>
          </a:bodyPr>
          <a:lstStyle>
            <a:lvl1pPr marL="228600" indent="-228600" algn="l" defTabSz="914400" rtl="0" eaLnBrk="1" latinLnBrk="1"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15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endParaRPr lang="en" altLang="ko-KR" sz="2000" dirty="0"/>
          </a:p>
          <a:p>
            <a:pPr>
              <a:lnSpc>
                <a:spcPct val="150000"/>
              </a:lnSpc>
            </a:pPr>
            <a:endParaRPr kumimoji="1" lang="en" altLang="ko-KR" sz="2000" b="1" dirty="0"/>
          </a:p>
          <a:p>
            <a:pPr>
              <a:lnSpc>
                <a:spcPct val="150000"/>
              </a:lnSpc>
            </a:pPr>
            <a:endParaRPr kumimoji="1" lang="en" altLang="ko-KR" sz="2000" b="1" dirty="0"/>
          </a:p>
          <a:p>
            <a:pPr>
              <a:lnSpc>
                <a:spcPct val="150000"/>
              </a:lnSpc>
            </a:pPr>
            <a:endParaRPr kumimoji="1" lang="en" altLang="ko-KR" sz="2000" b="1" dirty="0"/>
          </a:p>
          <a:p>
            <a:pPr>
              <a:lnSpc>
                <a:spcPct val="150000"/>
              </a:lnSpc>
            </a:pPr>
            <a:endParaRPr kumimoji="1" lang="en" altLang="ko-KR" sz="2000" b="1" dirty="0"/>
          </a:p>
          <a:p>
            <a:pPr>
              <a:lnSpc>
                <a:spcPct val="150000"/>
              </a:lnSpc>
            </a:pPr>
            <a:endParaRPr kumimoji="1" lang="en" altLang="ko-KR" sz="2000" b="1" dirty="0"/>
          </a:p>
          <a:p>
            <a:pPr>
              <a:lnSpc>
                <a:spcPct val="150000"/>
              </a:lnSpc>
            </a:pPr>
            <a:endParaRPr kumimoji="1" lang="en" altLang="ko-KR" sz="2000" b="1" dirty="0"/>
          </a:p>
        </p:txBody>
      </p:sp>
      <p:sp>
        <p:nvSpPr>
          <p:cNvPr id="16" name="TextBox 15">
            <a:extLst>
              <a:ext uri="{FF2B5EF4-FFF2-40B4-BE49-F238E27FC236}">
                <a16:creationId xmlns:a16="http://schemas.microsoft.com/office/drawing/2014/main" id="{3D6C3EC9-2D90-9D21-39D2-00A507BDC7E5}"/>
              </a:ext>
            </a:extLst>
          </p:cNvPr>
          <p:cNvSpPr txBox="1"/>
          <p:nvPr/>
        </p:nvSpPr>
        <p:spPr>
          <a:xfrm>
            <a:off x="184193" y="843588"/>
            <a:ext cx="11952383" cy="1116396"/>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kumimoji="1" lang="en-US" altLang="ko-KR" sz="2500" dirty="0">
                <a:latin typeface="Times New Roman" panose="02020603050405020304" pitchFamily="18" charset="0"/>
                <a:cs typeface="Times New Roman" panose="02020603050405020304" pitchFamily="18" charset="0"/>
                <a:hlinkClick r:id="rId3"/>
              </a:rPr>
              <a:t>YOLO9000 = YOLOv2 (</a:t>
            </a:r>
            <a:r>
              <a:rPr kumimoji="1" lang="en" altLang="ko-KR" sz="2500" dirty="0">
                <a:latin typeface="Times New Roman" panose="02020603050405020304" pitchFamily="18" charset="0"/>
                <a:cs typeface="Times New Roman" panose="02020603050405020304" pitchFamily="18" charset="0"/>
                <a:hlinkClick r:id="rId3"/>
              </a:rPr>
              <a:t>2017, </a:t>
            </a:r>
            <a:r>
              <a:rPr kumimoji="1" lang="en-US" altLang="ko-KR" sz="2500" dirty="0">
                <a:latin typeface="Times New Roman" panose="02020603050405020304" pitchFamily="18" charset="0"/>
                <a:cs typeface="Times New Roman" panose="02020603050405020304" pitchFamily="18" charset="0"/>
                <a:hlinkClick r:id="rId3"/>
              </a:rPr>
              <a:t>CVPR)</a:t>
            </a:r>
            <a:endParaRPr kumimoji="1" lang="en-US" altLang="ko-KR" sz="2500" b="1" dirty="0">
              <a:latin typeface="Times New Roman" panose="02020603050405020304" pitchFamily="18" charset="0"/>
              <a:cs typeface="Times New Roman" panose="02020603050405020304" pitchFamily="18" charset="0"/>
            </a:endParaRPr>
          </a:p>
          <a:p>
            <a:pPr marL="1257300" lvl="2" indent="-342900">
              <a:lnSpc>
                <a:spcPct val="150000"/>
              </a:lnSpc>
              <a:buFont typeface="Arial" panose="020B0604020202020204" pitchFamily="34" charset="0"/>
              <a:buChar char="•"/>
            </a:pPr>
            <a:endParaRPr kumimoji="1" lang="en-US" altLang="ko-KR" sz="2200" dirty="0">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id="{53F362EC-48B9-58BE-DCCA-246C4DCF40CB}"/>
              </a:ext>
            </a:extLst>
          </p:cNvPr>
          <p:cNvSpPr txBox="1"/>
          <p:nvPr/>
        </p:nvSpPr>
        <p:spPr>
          <a:xfrm>
            <a:off x="184193" y="4740652"/>
            <a:ext cx="6308586" cy="1550361"/>
          </a:xfrm>
          <a:prstGeom prst="rect">
            <a:avLst/>
          </a:prstGeom>
          <a:noFill/>
        </p:spPr>
        <p:txBody>
          <a:bodyPr wrap="none" rtlCol="0">
            <a:spAutoFit/>
          </a:bodyPr>
          <a:lstStyle/>
          <a:p>
            <a:pPr marL="285750" indent="-285750">
              <a:lnSpc>
                <a:spcPct val="150000"/>
              </a:lnSpc>
              <a:buFont typeface="Arial" panose="020B0604020202020204" pitchFamily="34" charset="0"/>
              <a:buChar char="•"/>
            </a:pPr>
            <a:r>
              <a:rPr kumimoji="1" lang="en-US" altLang="ko-KR" sz="2200" dirty="0"/>
              <a:t>Fully CNN</a:t>
            </a:r>
          </a:p>
          <a:p>
            <a:pPr marL="285750" indent="-285750">
              <a:lnSpc>
                <a:spcPct val="150000"/>
              </a:lnSpc>
              <a:buFont typeface="Arial" panose="020B0604020202020204" pitchFamily="34" charset="0"/>
              <a:buChar char="•"/>
            </a:pPr>
            <a:r>
              <a:rPr kumimoji="1" lang="en-US" altLang="ko-KR" sz="2200" dirty="0"/>
              <a:t>Anchor-based </a:t>
            </a:r>
            <a:r>
              <a:rPr kumimoji="1" lang="en-US" altLang="ko-KR" sz="2200" dirty="0" err="1"/>
              <a:t>bbox</a:t>
            </a:r>
            <a:r>
              <a:rPr kumimoji="1" lang="en-US" altLang="ko-KR" sz="2200" dirty="0"/>
              <a:t> regression, </a:t>
            </a:r>
            <a:r>
              <a:rPr kumimoji="1" lang="en-US" altLang="ko-KR" sz="2200" dirty="0" err="1"/>
              <a:t>IoU</a:t>
            </a:r>
            <a:r>
              <a:rPr kumimoji="1" lang="en-US" altLang="ko-KR" sz="2200" dirty="0"/>
              <a:t> distance</a:t>
            </a:r>
          </a:p>
          <a:p>
            <a:pPr marL="285750" indent="-285750">
              <a:lnSpc>
                <a:spcPct val="150000"/>
              </a:lnSpc>
              <a:buFont typeface="Arial" panose="020B0604020202020204" pitchFamily="34" charset="0"/>
              <a:buChar char="•"/>
            </a:pPr>
            <a:r>
              <a:rPr kumimoji="1" lang="en-US" altLang="ko-KR" sz="2200" dirty="0"/>
              <a:t>Passthrough layer to obtain global features</a:t>
            </a:r>
          </a:p>
        </p:txBody>
      </p:sp>
      <p:pic>
        <p:nvPicPr>
          <p:cNvPr id="24578" name="Picture 2">
            <a:extLst>
              <a:ext uri="{FF2B5EF4-FFF2-40B4-BE49-F238E27FC236}">
                <a16:creationId xmlns:a16="http://schemas.microsoft.com/office/drawing/2014/main" id="{E9E2C7A0-3BBD-3C85-301A-BA101D8A1D8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0377" y="1401786"/>
            <a:ext cx="6230412" cy="2843624"/>
          </a:xfrm>
          <a:prstGeom prst="rect">
            <a:avLst/>
          </a:prstGeom>
          <a:noFill/>
          <a:extLst>
            <a:ext uri="{909E8E84-426E-40DD-AFC4-6F175D3DCCD1}">
              <a14:hiddenFill xmlns:a14="http://schemas.microsoft.com/office/drawing/2010/main">
                <a:solidFill>
                  <a:srgbClr val="FFFFFF"/>
                </a:solidFill>
              </a14:hiddenFill>
            </a:ext>
          </a:extLst>
        </p:spPr>
      </p:pic>
      <p:pic>
        <p:nvPicPr>
          <p:cNvPr id="24580" name="Picture 4">
            <a:extLst>
              <a:ext uri="{FF2B5EF4-FFF2-40B4-BE49-F238E27FC236}">
                <a16:creationId xmlns:a16="http://schemas.microsoft.com/office/drawing/2014/main" id="{750F2632-27FD-2E8C-6127-B54F15DEFF7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02655" y="1793027"/>
            <a:ext cx="4705152" cy="4123810"/>
          </a:xfrm>
          <a:prstGeom prst="rect">
            <a:avLst/>
          </a:prstGeom>
          <a:noFill/>
          <a:extLst>
            <a:ext uri="{909E8E84-426E-40DD-AFC4-6F175D3DCCD1}">
              <a14:hiddenFill xmlns:a14="http://schemas.microsoft.com/office/drawing/2010/main">
                <a:solidFill>
                  <a:srgbClr val="FFFFFF"/>
                </a:solidFill>
              </a14:hiddenFill>
            </a:ext>
          </a:extLst>
        </p:spPr>
      </p:pic>
      <p:pic>
        <p:nvPicPr>
          <p:cNvPr id="2" name="그림 1">
            <a:extLst>
              <a:ext uri="{FF2B5EF4-FFF2-40B4-BE49-F238E27FC236}">
                <a16:creationId xmlns:a16="http://schemas.microsoft.com/office/drawing/2014/main" id="{43482A6C-602E-1446-9D29-55B0EFF4C035}"/>
              </a:ext>
            </a:extLst>
          </p:cNvPr>
          <p:cNvPicPr>
            <a:picLocks noChangeAspect="1"/>
          </p:cNvPicPr>
          <p:nvPr/>
        </p:nvPicPr>
        <p:blipFill>
          <a:blip r:embed="rId6"/>
          <a:stretch>
            <a:fillRect/>
          </a:stretch>
        </p:blipFill>
        <p:spPr>
          <a:xfrm>
            <a:off x="7298066" y="5916837"/>
            <a:ext cx="4021979" cy="462962"/>
          </a:xfrm>
          <a:prstGeom prst="rect">
            <a:avLst/>
          </a:prstGeom>
        </p:spPr>
      </p:pic>
    </p:spTree>
    <p:extLst>
      <p:ext uri="{BB962C8B-B14F-4D97-AF65-F5344CB8AC3E}">
        <p14:creationId xmlns:p14="http://schemas.microsoft.com/office/powerpoint/2010/main" val="41882971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E19482-EB4E-7160-BB77-3A673BDB2E5E}"/>
            </a:ext>
          </a:extLst>
        </p:cNvPr>
        <p:cNvGrpSpPr/>
        <p:nvPr/>
      </p:nvGrpSpPr>
      <p:grpSpPr>
        <a:xfrm>
          <a:off x="0" y="0"/>
          <a:ext cx="0" cy="0"/>
          <a:chOff x="0" y="0"/>
          <a:chExt cx="0" cy="0"/>
        </a:xfrm>
      </p:grpSpPr>
      <p:sp>
        <p:nvSpPr>
          <p:cNvPr id="27" name="제목 26">
            <a:extLst>
              <a:ext uri="{FF2B5EF4-FFF2-40B4-BE49-F238E27FC236}">
                <a16:creationId xmlns:a16="http://schemas.microsoft.com/office/drawing/2014/main" id="{FEEC43DC-507D-9639-A870-81F4BC89E7EE}"/>
              </a:ext>
            </a:extLst>
          </p:cNvPr>
          <p:cNvSpPr>
            <a:spLocks noGrp="1"/>
          </p:cNvSpPr>
          <p:nvPr>
            <p:ph type="title"/>
          </p:nvPr>
        </p:nvSpPr>
        <p:spPr/>
        <p:txBody>
          <a:bodyPr/>
          <a:lstStyle/>
          <a:p>
            <a:r>
              <a:rPr kumimoji="1" lang="en-US" altLang="ko-KR" sz="2800" b="1" dirty="0"/>
              <a:t>1. Related Works: YOLO series (v1 ~ v10)</a:t>
            </a:r>
            <a:endParaRPr lang="ko-KR" altLang="en-US" dirty="0"/>
          </a:p>
        </p:txBody>
      </p:sp>
      <p:sp>
        <p:nvSpPr>
          <p:cNvPr id="47" name="내용 개체 틀 2">
            <a:extLst>
              <a:ext uri="{FF2B5EF4-FFF2-40B4-BE49-F238E27FC236}">
                <a16:creationId xmlns:a16="http://schemas.microsoft.com/office/drawing/2014/main" id="{E844FDC4-06A2-DB88-6937-C04936FA7FB9}"/>
              </a:ext>
            </a:extLst>
          </p:cNvPr>
          <p:cNvSpPr txBox="1">
            <a:spLocks/>
          </p:cNvSpPr>
          <p:nvPr/>
        </p:nvSpPr>
        <p:spPr>
          <a:xfrm>
            <a:off x="117514" y="852966"/>
            <a:ext cx="11952383" cy="5438047"/>
          </a:xfrm>
          <a:prstGeom prst="rect">
            <a:avLst/>
          </a:prstGeom>
        </p:spPr>
        <p:txBody>
          <a:bodyPr vert="horz" lIns="91440" tIns="45720" rIns="91440" bIns="45720" rtlCol="0">
            <a:normAutofit/>
          </a:bodyPr>
          <a:lstStyle>
            <a:lvl1pPr marL="228600" indent="-228600" algn="l" defTabSz="914400" rtl="0" eaLnBrk="1" latinLnBrk="1"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15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endParaRPr lang="en" altLang="ko-KR" sz="2000" dirty="0"/>
          </a:p>
          <a:p>
            <a:pPr>
              <a:lnSpc>
                <a:spcPct val="150000"/>
              </a:lnSpc>
            </a:pPr>
            <a:endParaRPr kumimoji="1" lang="en" altLang="ko-KR" sz="2000" b="1" dirty="0"/>
          </a:p>
          <a:p>
            <a:pPr>
              <a:lnSpc>
                <a:spcPct val="150000"/>
              </a:lnSpc>
            </a:pPr>
            <a:endParaRPr kumimoji="1" lang="en" altLang="ko-KR" sz="2000" b="1" dirty="0"/>
          </a:p>
          <a:p>
            <a:pPr>
              <a:lnSpc>
                <a:spcPct val="150000"/>
              </a:lnSpc>
            </a:pPr>
            <a:endParaRPr kumimoji="1" lang="en" altLang="ko-KR" sz="2000" b="1" dirty="0"/>
          </a:p>
          <a:p>
            <a:pPr>
              <a:lnSpc>
                <a:spcPct val="150000"/>
              </a:lnSpc>
            </a:pPr>
            <a:endParaRPr kumimoji="1" lang="en" altLang="ko-KR" sz="2000" b="1" dirty="0"/>
          </a:p>
          <a:p>
            <a:pPr>
              <a:lnSpc>
                <a:spcPct val="150000"/>
              </a:lnSpc>
            </a:pPr>
            <a:endParaRPr kumimoji="1" lang="en" altLang="ko-KR" sz="2000" b="1" dirty="0"/>
          </a:p>
          <a:p>
            <a:pPr>
              <a:lnSpc>
                <a:spcPct val="150000"/>
              </a:lnSpc>
            </a:pPr>
            <a:endParaRPr kumimoji="1" lang="en" altLang="ko-KR" sz="2000" b="1" dirty="0"/>
          </a:p>
        </p:txBody>
      </p:sp>
      <p:sp>
        <p:nvSpPr>
          <p:cNvPr id="16" name="TextBox 15">
            <a:extLst>
              <a:ext uri="{FF2B5EF4-FFF2-40B4-BE49-F238E27FC236}">
                <a16:creationId xmlns:a16="http://schemas.microsoft.com/office/drawing/2014/main" id="{C2143B57-FC03-4259-9630-66CB51ED11BC}"/>
              </a:ext>
            </a:extLst>
          </p:cNvPr>
          <p:cNvSpPr txBox="1"/>
          <p:nvPr/>
        </p:nvSpPr>
        <p:spPr>
          <a:xfrm>
            <a:off x="184193" y="843588"/>
            <a:ext cx="11952383" cy="1116396"/>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kumimoji="1" lang="en-US" altLang="ko-KR" sz="2500" dirty="0">
                <a:latin typeface="Times New Roman" panose="02020603050405020304" pitchFamily="18" charset="0"/>
                <a:cs typeface="Times New Roman" panose="02020603050405020304" pitchFamily="18" charset="0"/>
                <a:hlinkClick r:id="rId3"/>
              </a:rPr>
              <a:t>YOLOv3 (</a:t>
            </a:r>
            <a:r>
              <a:rPr kumimoji="1" lang="en" altLang="ko-KR" sz="2500" dirty="0">
                <a:latin typeface="Times New Roman" panose="02020603050405020304" pitchFamily="18" charset="0"/>
                <a:cs typeface="Times New Roman" panose="02020603050405020304" pitchFamily="18" charset="0"/>
                <a:hlinkClick r:id="rId3"/>
              </a:rPr>
              <a:t>2018, </a:t>
            </a:r>
            <a:r>
              <a:rPr kumimoji="1" lang="en-US" altLang="ko-KR" sz="2500" dirty="0">
                <a:latin typeface="Times New Roman" panose="02020603050405020304" pitchFamily="18" charset="0"/>
                <a:cs typeface="Times New Roman" panose="02020603050405020304" pitchFamily="18" charset="0"/>
                <a:hlinkClick r:id="rId3"/>
              </a:rPr>
              <a:t>arXiv)</a:t>
            </a:r>
            <a:endParaRPr kumimoji="1" lang="en-US" altLang="ko-KR" sz="2500" b="1" dirty="0">
              <a:latin typeface="Times New Roman" panose="02020603050405020304" pitchFamily="18" charset="0"/>
              <a:cs typeface="Times New Roman" panose="02020603050405020304" pitchFamily="18" charset="0"/>
            </a:endParaRPr>
          </a:p>
          <a:p>
            <a:pPr marL="1257300" lvl="2" indent="-342900">
              <a:lnSpc>
                <a:spcPct val="150000"/>
              </a:lnSpc>
              <a:buFont typeface="Arial" panose="020B0604020202020204" pitchFamily="34" charset="0"/>
              <a:buChar char="•"/>
            </a:pPr>
            <a:endParaRPr kumimoji="1" lang="en-US" altLang="ko-KR" sz="2200" dirty="0">
              <a:latin typeface="Times New Roman" panose="02020603050405020304" pitchFamily="18" charset="0"/>
              <a:cs typeface="Times New Roman" panose="02020603050405020304" pitchFamily="18" charset="0"/>
            </a:endParaRPr>
          </a:p>
        </p:txBody>
      </p:sp>
      <p:pic>
        <p:nvPicPr>
          <p:cNvPr id="25602" name="Picture 2">
            <a:extLst>
              <a:ext uri="{FF2B5EF4-FFF2-40B4-BE49-F238E27FC236}">
                <a16:creationId xmlns:a16="http://schemas.microsoft.com/office/drawing/2014/main" id="{A692DCCF-52D7-1C8D-2AB2-A2DA5B5D70B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0377" y="1507930"/>
            <a:ext cx="8359333" cy="2253101"/>
          </a:xfrm>
          <a:prstGeom prst="rect">
            <a:avLst/>
          </a:prstGeom>
          <a:noFill/>
          <a:extLst>
            <a:ext uri="{909E8E84-426E-40DD-AFC4-6F175D3DCCD1}">
              <a14:hiddenFill xmlns:a14="http://schemas.microsoft.com/office/drawing/2010/main">
                <a:solidFill>
                  <a:srgbClr val="FFFFFF"/>
                </a:solidFill>
              </a14:hiddenFill>
            </a:ext>
          </a:extLst>
        </p:spPr>
      </p:pic>
      <p:pic>
        <p:nvPicPr>
          <p:cNvPr id="25604" name="Picture 4">
            <a:extLst>
              <a:ext uri="{FF2B5EF4-FFF2-40B4-BE49-F238E27FC236}">
                <a16:creationId xmlns:a16="http://schemas.microsoft.com/office/drawing/2014/main" id="{3356657E-C004-6F04-FD69-4BEEC27B86A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866463" y="3191512"/>
            <a:ext cx="4325537" cy="3669021"/>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252E2D68-5D70-E383-DE4D-F2C30CC3A545}"/>
              </a:ext>
            </a:extLst>
          </p:cNvPr>
          <p:cNvSpPr txBox="1"/>
          <p:nvPr/>
        </p:nvSpPr>
        <p:spPr>
          <a:xfrm>
            <a:off x="9007367" y="2277177"/>
            <a:ext cx="3184634" cy="938719"/>
          </a:xfrm>
          <a:prstGeom prst="rect">
            <a:avLst/>
          </a:prstGeom>
          <a:noFill/>
        </p:spPr>
        <p:txBody>
          <a:bodyPr wrap="square">
            <a:spAutoFit/>
          </a:bodyPr>
          <a:lstStyle/>
          <a:p>
            <a:r>
              <a:rPr lang="ko-KR" altLang="en-US" sz="1100" dirty="0" err="1">
                <a:hlinkClick r:id="rId6"/>
              </a:rPr>
              <a:t>He</a:t>
            </a:r>
            <a:r>
              <a:rPr lang="ko-KR" altLang="en-US" sz="1100" dirty="0">
                <a:hlinkClick r:id="rId6"/>
              </a:rPr>
              <a:t>, </a:t>
            </a:r>
            <a:r>
              <a:rPr lang="ko-KR" altLang="en-US" sz="1100" dirty="0" err="1">
                <a:hlinkClick r:id="rId6"/>
              </a:rPr>
              <a:t>Kaiming</a:t>
            </a:r>
            <a:r>
              <a:rPr lang="ko-KR" altLang="en-US" sz="1100" dirty="0">
                <a:hlinkClick r:id="rId6"/>
              </a:rPr>
              <a:t>, </a:t>
            </a:r>
            <a:r>
              <a:rPr lang="ko-KR" altLang="en-US" sz="1100" dirty="0" err="1">
                <a:hlinkClick r:id="rId6"/>
              </a:rPr>
              <a:t>et</a:t>
            </a:r>
            <a:r>
              <a:rPr lang="ko-KR" altLang="en-US" sz="1100" dirty="0">
                <a:hlinkClick r:id="rId6"/>
              </a:rPr>
              <a:t> </a:t>
            </a:r>
            <a:r>
              <a:rPr lang="ko-KR" altLang="en-US" sz="1100" dirty="0" err="1">
                <a:hlinkClick r:id="rId6"/>
              </a:rPr>
              <a:t>al</a:t>
            </a:r>
            <a:r>
              <a:rPr lang="ko-KR" altLang="en-US" sz="1100" dirty="0">
                <a:hlinkClick r:id="rId6"/>
              </a:rPr>
              <a:t>. "</a:t>
            </a:r>
            <a:r>
              <a:rPr lang="ko-KR" altLang="en-US" sz="1100" dirty="0" err="1">
                <a:hlinkClick r:id="rId6"/>
              </a:rPr>
              <a:t>Spatial</a:t>
            </a:r>
            <a:r>
              <a:rPr lang="ko-KR" altLang="en-US" sz="1100" dirty="0">
                <a:hlinkClick r:id="rId6"/>
              </a:rPr>
              <a:t> </a:t>
            </a:r>
            <a:r>
              <a:rPr lang="ko-KR" altLang="en-US" sz="1100" dirty="0" err="1">
                <a:hlinkClick r:id="rId6"/>
              </a:rPr>
              <a:t>pyramid</a:t>
            </a:r>
            <a:r>
              <a:rPr lang="ko-KR" altLang="en-US" sz="1100" dirty="0">
                <a:hlinkClick r:id="rId6"/>
              </a:rPr>
              <a:t> </a:t>
            </a:r>
            <a:r>
              <a:rPr lang="ko-KR" altLang="en-US" sz="1100" dirty="0" err="1">
                <a:hlinkClick r:id="rId6"/>
              </a:rPr>
              <a:t>pooling</a:t>
            </a:r>
            <a:r>
              <a:rPr lang="ko-KR" altLang="en-US" sz="1100" dirty="0">
                <a:hlinkClick r:id="rId6"/>
              </a:rPr>
              <a:t> </a:t>
            </a:r>
            <a:r>
              <a:rPr lang="ko-KR" altLang="en-US" sz="1100" dirty="0" err="1">
                <a:hlinkClick r:id="rId6"/>
              </a:rPr>
              <a:t>in</a:t>
            </a:r>
            <a:r>
              <a:rPr lang="ko-KR" altLang="en-US" sz="1100" dirty="0">
                <a:hlinkClick r:id="rId6"/>
              </a:rPr>
              <a:t> </a:t>
            </a:r>
            <a:r>
              <a:rPr lang="ko-KR" altLang="en-US" sz="1100" dirty="0" err="1">
                <a:hlinkClick r:id="rId6"/>
              </a:rPr>
              <a:t>deep</a:t>
            </a:r>
            <a:r>
              <a:rPr lang="ko-KR" altLang="en-US" sz="1100" dirty="0">
                <a:hlinkClick r:id="rId6"/>
              </a:rPr>
              <a:t> </a:t>
            </a:r>
            <a:r>
              <a:rPr lang="ko-KR" altLang="en-US" sz="1100" dirty="0" err="1">
                <a:hlinkClick r:id="rId6"/>
              </a:rPr>
              <a:t>convolutional</a:t>
            </a:r>
            <a:r>
              <a:rPr lang="ko-KR" altLang="en-US" sz="1100" dirty="0">
                <a:hlinkClick r:id="rId6"/>
              </a:rPr>
              <a:t> </a:t>
            </a:r>
            <a:r>
              <a:rPr lang="ko-KR" altLang="en-US" sz="1100" dirty="0" err="1">
                <a:hlinkClick r:id="rId6"/>
              </a:rPr>
              <a:t>networks</a:t>
            </a:r>
            <a:r>
              <a:rPr lang="ko-KR" altLang="en-US" sz="1100" dirty="0">
                <a:hlinkClick r:id="rId6"/>
              </a:rPr>
              <a:t> </a:t>
            </a:r>
            <a:r>
              <a:rPr lang="ko-KR" altLang="en-US" sz="1100" dirty="0" err="1">
                <a:hlinkClick r:id="rId6"/>
              </a:rPr>
              <a:t>for</a:t>
            </a:r>
            <a:r>
              <a:rPr lang="ko-KR" altLang="en-US" sz="1100" dirty="0">
                <a:hlinkClick r:id="rId6"/>
              </a:rPr>
              <a:t> </a:t>
            </a:r>
            <a:r>
              <a:rPr lang="ko-KR" altLang="en-US" sz="1100" dirty="0" err="1">
                <a:hlinkClick r:id="rId6"/>
              </a:rPr>
              <a:t>visual</a:t>
            </a:r>
            <a:r>
              <a:rPr lang="ko-KR" altLang="en-US" sz="1100" dirty="0">
                <a:hlinkClick r:id="rId6"/>
              </a:rPr>
              <a:t> </a:t>
            </a:r>
            <a:r>
              <a:rPr lang="ko-KR" altLang="en-US" sz="1100" dirty="0" err="1">
                <a:hlinkClick r:id="rId6"/>
              </a:rPr>
              <a:t>recognition</a:t>
            </a:r>
            <a:r>
              <a:rPr lang="ko-KR" altLang="en-US" sz="1100" dirty="0">
                <a:hlinkClick r:id="rId6"/>
              </a:rPr>
              <a:t>." IEEE </a:t>
            </a:r>
            <a:r>
              <a:rPr lang="ko-KR" altLang="en-US" sz="1100" dirty="0" err="1">
                <a:hlinkClick r:id="rId6"/>
              </a:rPr>
              <a:t>transactions</a:t>
            </a:r>
            <a:r>
              <a:rPr lang="ko-KR" altLang="en-US" sz="1100" dirty="0">
                <a:hlinkClick r:id="rId6"/>
              </a:rPr>
              <a:t> </a:t>
            </a:r>
            <a:r>
              <a:rPr lang="ko-KR" altLang="en-US" sz="1100" dirty="0" err="1">
                <a:hlinkClick r:id="rId6"/>
              </a:rPr>
              <a:t>on</a:t>
            </a:r>
            <a:r>
              <a:rPr lang="ko-KR" altLang="en-US" sz="1100" dirty="0">
                <a:hlinkClick r:id="rId6"/>
              </a:rPr>
              <a:t> </a:t>
            </a:r>
            <a:r>
              <a:rPr lang="ko-KR" altLang="en-US" sz="1100" dirty="0" err="1">
                <a:hlinkClick r:id="rId6"/>
              </a:rPr>
              <a:t>pattern</a:t>
            </a:r>
            <a:r>
              <a:rPr lang="ko-KR" altLang="en-US" sz="1100" dirty="0">
                <a:hlinkClick r:id="rId6"/>
              </a:rPr>
              <a:t> </a:t>
            </a:r>
            <a:r>
              <a:rPr lang="ko-KR" altLang="en-US" sz="1100" dirty="0" err="1">
                <a:hlinkClick r:id="rId6"/>
              </a:rPr>
              <a:t>analysis</a:t>
            </a:r>
            <a:r>
              <a:rPr lang="ko-KR" altLang="en-US" sz="1100" dirty="0">
                <a:hlinkClick r:id="rId6"/>
              </a:rPr>
              <a:t> and </a:t>
            </a:r>
            <a:r>
              <a:rPr lang="ko-KR" altLang="en-US" sz="1100" dirty="0" err="1">
                <a:hlinkClick r:id="rId6"/>
              </a:rPr>
              <a:t>machine</a:t>
            </a:r>
            <a:r>
              <a:rPr lang="ko-KR" altLang="en-US" sz="1100" dirty="0">
                <a:hlinkClick r:id="rId6"/>
              </a:rPr>
              <a:t> </a:t>
            </a:r>
            <a:r>
              <a:rPr lang="ko-KR" altLang="en-US" sz="1100" dirty="0" err="1">
                <a:hlinkClick r:id="rId6"/>
              </a:rPr>
              <a:t>intelligence</a:t>
            </a:r>
            <a:r>
              <a:rPr lang="ko-KR" altLang="en-US" sz="1100" dirty="0">
                <a:hlinkClick r:id="rId6"/>
              </a:rPr>
              <a:t> 37.9 (2015): 1904-1916.</a:t>
            </a:r>
            <a:endParaRPr lang="ko-KR" altLang="en-US" sz="1100" dirty="0"/>
          </a:p>
        </p:txBody>
      </p:sp>
      <p:sp>
        <p:nvSpPr>
          <p:cNvPr id="17" name="TextBox 16">
            <a:extLst>
              <a:ext uri="{FF2B5EF4-FFF2-40B4-BE49-F238E27FC236}">
                <a16:creationId xmlns:a16="http://schemas.microsoft.com/office/drawing/2014/main" id="{3226B7E8-C904-6076-E57F-4E36BC296E0D}"/>
              </a:ext>
            </a:extLst>
          </p:cNvPr>
          <p:cNvSpPr txBox="1"/>
          <p:nvPr/>
        </p:nvSpPr>
        <p:spPr>
          <a:xfrm>
            <a:off x="184193" y="4740652"/>
            <a:ext cx="8311250" cy="1550361"/>
          </a:xfrm>
          <a:prstGeom prst="rect">
            <a:avLst/>
          </a:prstGeom>
          <a:noFill/>
        </p:spPr>
        <p:txBody>
          <a:bodyPr wrap="none" rtlCol="0">
            <a:spAutoFit/>
          </a:bodyPr>
          <a:lstStyle/>
          <a:p>
            <a:pPr marL="285750" indent="-285750">
              <a:lnSpc>
                <a:spcPct val="150000"/>
              </a:lnSpc>
              <a:buFont typeface="Arial" panose="020B0604020202020204" pitchFamily="34" charset="0"/>
              <a:buChar char="•"/>
            </a:pPr>
            <a:endParaRPr kumimoji="1" lang="en-US" altLang="ko-KR" sz="2200" dirty="0">
              <a:sym typeface="Wingdings" pitchFamily="2" charset="2"/>
            </a:endParaRPr>
          </a:p>
          <a:p>
            <a:pPr marL="285750" indent="-285750">
              <a:lnSpc>
                <a:spcPct val="150000"/>
              </a:lnSpc>
              <a:buFont typeface="Arial" panose="020B0604020202020204" pitchFamily="34" charset="0"/>
              <a:buChar char="•"/>
            </a:pPr>
            <a:r>
              <a:rPr kumimoji="1" lang="en-US" altLang="ko-KR" sz="2200" dirty="0">
                <a:sym typeface="Wingdings" pitchFamily="2" charset="2"/>
              </a:rPr>
              <a:t>FPN to enable prediction of multiple scales at the same time</a:t>
            </a:r>
          </a:p>
          <a:p>
            <a:pPr marL="285750" indent="-285750">
              <a:lnSpc>
                <a:spcPct val="150000"/>
              </a:lnSpc>
              <a:buFont typeface="Arial" panose="020B0604020202020204" pitchFamily="34" charset="0"/>
              <a:buChar char="•"/>
            </a:pPr>
            <a:r>
              <a:rPr kumimoji="1" lang="en-US" altLang="ko-KR" sz="2200" dirty="0"/>
              <a:t>Spatial Pyramid Pooling (SPP) </a:t>
            </a:r>
          </a:p>
        </p:txBody>
      </p:sp>
    </p:spTree>
    <p:extLst>
      <p:ext uri="{BB962C8B-B14F-4D97-AF65-F5344CB8AC3E}">
        <p14:creationId xmlns:p14="http://schemas.microsoft.com/office/powerpoint/2010/main" val="13794119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B40E3F-02FE-CD27-B137-CAD1839D2DE3}"/>
            </a:ext>
          </a:extLst>
        </p:cNvPr>
        <p:cNvGrpSpPr/>
        <p:nvPr/>
      </p:nvGrpSpPr>
      <p:grpSpPr>
        <a:xfrm>
          <a:off x="0" y="0"/>
          <a:ext cx="0" cy="0"/>
          <a:chOff x="0" y="0"/>
          <a:chExt cx="0" cy="0"/>
        </a:xfrm>
      </p:grpSpPr>
      <p:sp>
        <p:nvSpPr>
          <p:cNvPr id="27" name="제목 26">
            <a:extLst>
              <a:ext uri="{FF2B5EF4-FFF2-40B4-BE49-F238E27FC236}">
                <a16:creationId xmlns:a16="http://schemas.microsoft.com/office/drawing/2014/main" id="{D31ADB81-9A43-100C-6ABC-DBB51DA8DB32}"/>
              </a:ext>
            </a:extLst>
          </p:cNvPr>
          <p:cNvSpPr>
            <a:spLocks noGrp="1"/>
          </p:cNvSpPr>
          <p:nvPr>
            <p:ph type="title"/>
          </p:nvPr>
        </p:nvSpPr>
        <p:spPr/>
        <p:txBody>
          <a:bodyPr/>
          <a:lstStyle/>
          <a:p>
            <a:r>
              <a:rPr kumimoji="1" lang="en-US" altLang="ko-KR" sz="2800" b="1" dirty="0"/>
              <a:t>1. Related Works: YOLO series (v1 ~ v10)</a:t>
            </a:r>
            <a:endParaRPr lang="ko-KR" altLang="en-US" dirty="0"/>
          </a:p>
        </p:txBody>
      </p:sp>
      <p:sp>
        <p:nvSpPr>
          <p:cNvPr id="47" name="내용 개체 틀 2">
            <a:extLst>
              <a:ext uri="{FF2B5EF4-FFF2-40B4-BE49-F238E27FC236}">
                <a16:creationId xmlns:a16="http://schemas.microsoft.com/office/drawing/2014/main" id="{83E4C771-74A5-DD16-26E7-85B960AF132E}"/>
              </a:ext>
            </a:extLst>
          </p:cNvPr>
          <p:cNvSpPr txBox="1">
            <a:spLocks/>
          </p:cNvSpPr>
          <p:nvPr/>
        </p:nvSpPr>
        <p:spPr>
          <a:xfrm>
            <a:off x="117514" y="852966"/>
            <a:ext cx="11952383" cy="5438047"/>
          </a:xfrm>
          <a:prstGeom prst="rect">
            <a:avLst/>
          </a:prstGeom>
        </p:spPr>
        <p:txBody>
          <a:bodyPr vert="horz" lIns="91440" tIns="45720" rIns="91440" bIns="45720" rtlCol="0">
            <a:normAutofit/>
          </a:bodyPr>
          <a:lstStyle>
            <a:lvl1pPr marL="228600" indent="-228600" algn="l" defTabSz="914400" rtl="0" eaLnBrk="1" latinLnBrk="1"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15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endParaRPr lang="en" altLang="ko-KR" sz="2000" dirty="0"/>
          </a:p>
          <a:p>
            <a:pPr>
              <a:lnSpc>
                <a:spcPct val="150000"/>
              </a:lnSpc>
            </a:pPr>
            <a:endParaRPr kumimoji="1" lang="en" altLang="ko-KR" sz="2000" b="1" dirty="0"/>
          </a:p>
          <a:p>
            <a:pPr>
              <a:lnSpc>
                <a:spcPct val="150000"/>
              </a:lnSpc>
            </a:pPr>
            <a:endParaRPr kumimoji="1" lang="en" altLang="ko-KR" sz="2000" b="1" dirty="0"/>
          </a:p>
          <a:p>
            <a:pPr>
              <a:lnSpc>
                <a:spcPct val="150000"/>
              </a:lnSpc>
            </a:pPr>
            <a:endParaRPr kumimoji="1" lang="en" altLang="ko-KR" sz="2000" b="1" dirty="0"/>
          </a:p>
          <a:p>
            <a:pPr>
              <a:lnSpc>
                <a:spcPct val="150000"/>
              </a:lnSpc>
            </a:pPr>
            <a:endParaRPr kumimoji="1" lang="en" altLang="ko-KR" sz="2000" b="1" dirty="0"/>
          </a:p>
          <a:p>
            <a:pPr>
              <a:lnSpc>
                <a:spcPct val="150000"/>
              </a:lnSpc>
            </a:pPr>
            <a:endParaRPr kumimoji="1" lang="en" altLang="ko-KR" sz="2000" b="1" dirty="0"/>
          </a:p>
          <a:p>
            <a:pPr>
              <a:lnSpc>
                <a:spcPct val="150000"/>
              </a:lnSpc>
            </a:pPr>
            <a:endParaRPr kumimoji="1" lang="en" altLang="ko-KR" sz="2000" b="1" dirty="0"/>
          </a:p>
        </p:txBody>
      </p:sp>
      <p:sp>
        <p:nvSpPr>
          <p:cNvPr id="16" name="TextBox 15">
            <a:extLst>
              <a:ext uri="{FF2B5EF4-FFF2-40B4-BE49-F238E27FC236}">
                <a16:creationId xmlns:a16="http://schemas.microsoft.com/office/drawing/2014/main" id="{DC5479F4-280D-FC12-B880-FDC5968A31B6}"/>
              </a:ext>
            </a:extLst>
          </p:cNvPr>
          <p:cNvSpPr txBox="1"/>
          <p:nvPr/>
        </p:nvSpPr>
        <p:spPr>
          <a:xfrm>
            <a:off x="184193" y="843588"/>
            <a:ext cx="11952383" cy="1116396"/>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kumimoji="1" lang="en-US" altLang="ko-KR" sz="2500" dirty="0">
                <a:latin typeface="Times New Roman" panose="02020603050405020304" pitchFamily="18" charset="0"/>
                <a:cs typeface="Times New Roman" panose="02020603050405020304" pitchFamily="18" charset="0"/>
                <a:hlinkClick r:id="rId3"/>
              </a:rPr>
              <a:t>YOLOv4 (</a:t>
            </a:r>
            <a:r>
              <a:rPr kumimoji="1" lang="en" altLang="ko-KR" sz="2500" dirty="0">
                <a:latin typeface="Times New Roman" panose="02020603050405020304" pitchFamily="18" charset="0"/>
                <a:cs typeface="Times New Roman" panose="02020603050405020304" pitchFamily="18" charset="0"/>
                <a:hlinkClick r:id="rId3"/>
              </a:rPr>
              <a:t>2020, </a:t>
            </a:r>
            <a:r>
              <a:rPr kumimoji="1" lang="en-US" altLang="ko-KR" sz="2500" dirty="0">
                <a:latin typeface="Times New Roman" panose="02020603050405020304" pitchFamily="18" charset="0"/>
                <a:cs typeface="Times New Roman" panose="02020603050405020304" pitchFamily="18" charset="0"/>
                <a:hlinkClick r:id="rId3"/>
              </a:rPr>
              <a:t>arXiv)</a:t>
            </a:r>
            <a:endParaRPr kumimoji="1" lang="en-US" altLang="ko-KR" sz="2500" b="1" dirty="0">
              <a:latin typeface="Times New Roman" panose="02020603050405020304" pitchFamily="18" charset="0"/>
              <a:cs typeface="Times New Roman" panose="02020603050405020304" pitchFamily="18" charset="0"/>
            </a:endParaRPr>
          </a:p>
          <a:p>
            <a:pPr marL="1257300" lvl="2" indent="-342900">
              <a:lnSpc>
                <a:spcPct val="150000"/>
              </a:lnSpc>
              <a:buFont typeface="Arial" panose="020B0604020202020204" pitchFamily="34" charset="0"/>
              <a:buChar char="•"/>
            </a:pPr>
            <a:endParaRPr kumimoji="1" lang="en-US" altLang="ko-KR" sz="2200" dirty="0">
              <a:latin typeface="Times New Roman" panose="02020603050405020304" pitchFamily="18" charset="0"/>
              <a:cs typeface="Times New Roman" panose="02020603050405020304" pitchFamily="18" charset="0"/>
            </a:endParaRPr>
          </a:p>
        </p:txBody>
      </p:sp>
      <p:pic>
        <p:nvPicPr>
          <p:cNvPr id="26626" name="Picture 2">
            <a:extLst>
              <a:ext uri="{FF2B5EF4-FFF2-40B4-BE49-F238E27FC236}">
                <a16:creationId xmlns:a16="http://schemas.microsoft.com/office/drawing/2014/main" id="{6DCDD8D8-CE83-8ACC-63E1-E81519E817C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85186" y="3711558"/>
            <a:ext cx="5942133" cy="3108014"/>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40B504C6-1E2D-F8D7-9792-5E719680F0A4}"/>
              </a:ext>
            </a:extLst>
          </p:cNvPr>
          <p:cNvSpPr txBox="1"/>
          <p:nvPr/>
        </p:nvSpPr>
        <p:spPr>
          <a:xfrm>
            <a:off x="184193" y="4740652"/>
            <a:ext cx="5588518" cy="1550361"/>
          </a:xfrm>
          <a:prstGeom prst="rect">
            <a:avLst/>
          </a:prstGeom>
          <a:noFill/>
        </p:spPr>
        <p:txBody>
          <a:bodyPr wrap="none" rtlCol="0">
            <a:spAutoFit/>
          </a:bodyPr>
          <a:lstStyle/>
          <a:p>
            <a:pPr marL="285750" indent="-285750">
              <a:lnSpc>
                <a:spcPct val="150000"/>
              </a:lnSpc>
              <a:buFont typeface="Arial" panose="020B0604020202020204" pitchFamily="34" charset="0"/>
              <a:buChar char="•"/>
            </a:pPr>
            <a:endParaRPr kumimoji="1" lang="en-US" altLang="ko-KR" sz="2200" dirty="0">
              <a:sym typeface="Wingdings" pitchFamily="2" charset="2"/>
            </a:endParaRPr>
          </a:p>
          <a:p>
            <a:pPr marL="285750" indent="-285750">
              <a:lnSpc>
                <a:spcPct val="150000"/>
              </a:lnSpc>
              <a:buFont typeface="Arial" panose="020B0604020202020204" pitchFamily="34" charset="0"/>
              <a:buChar char="•"/>
            </a:pPr>
            <a:r>
              <a:rPr kumimoji="1" lang="en-US" altLang="ko-KR" sz="2200" dirty="0">
                <a:sym typeface="Wingdings" pitchFamily="2" charset="2"/>
              </a:rPr>
              <a:t>Bag of Freebies (</a:t>
            </a:r>
            <a:r>
              <a:rPr kumimoji="1" lang="en-US" altLang="ko-KR" sz="2200" dirty="0" err="1">
                <a:sym typeface="Wingdings" pitchFamily="2" charset="2"/>
              </a:rPr>
              <a:t>BoF</a:t>
            </a:r>
            <a:r>
              <a:rPr kumimoji="1" lang="en-US" altLang="ko-KR" sz="2200" dirty="0">
                <a:sym typeface="Wingdings" pitchFamily="2" charset="2"/>
              </a:rPr>
              <a:t>): ex. loss function</a:t>
            </a:r>
          </a:p>
          <a:p>
            <a:pPr marL="285750" indent="-285750">
              <a:lnSpc>
                <a:spcPct val="150000"/>
              </a:lnSpc>
              <a:buFont typeface="Arial" panose="020B0604020202020204" pitchFamily="34" charset="0"/>
              <a:buChar char="•"/>
            </a:pPr>
            <a:r>
              <a:rPr kumimoji="1" lang="en-US" altLang="ko-KR" sz="2200" dirty="0"/>
              <a:t>Bag of Specials (BoS): ex. residual conn</a:t>
            </a:r>
          </a:p>
        </p:txBody>
      </p:sp>
      <p:pic>
        <p:nvPicPr>
          <p:cNvPr id="26628" name="Picture 4">
            <a:extLst>
              <a:ext uri="{FF2B5EF4-FFF2-40B4-BE49-F238E27FC236}">
                <a16:creationId xmlns:a16="http://schemas.microsoft.com/office/drawing/2014/main" id="{5CA63526-D5CB-95C1-6A2C-59CBA0139D3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4193" y="1514636"/>
            <a:ext cx="8534400" cy="2463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63304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3B7AB7-2062-B236-7DC8-13421FF271FD}"/>
            </a:ext>
          </a:extLst>
        </p:cNvPr>
        <p:cNvGrpSpPr/>
        <p:nvPr/>
      </p:nvGrpSpPr>
      <p:grpSpPr>
        <a:xfrm>
          <a:off x="0" y="0"/>
          <a:ext cx="0" cy="0"/>
          <a:chOff x="0" y="0"/>
          <a:chExt cx="0" cy="0"/>
        </a:xfrm>
      </p:grpSpPr>
      <p:sp>
        <p:nvSpPr>
          <p:cNvPr id="27" name="제목 26">
            <a:extLst>
              <a:ext uri="{FF2B5EF4-FFF2-40B4-BE49-F238E27FC236}">
                <a16:creationId xmlns:a16="http://schemas.microsoft.com/office/drawing/2014/main" id="{644AFBD0-E8D6-1CD3-5C1C-C36F0AA40D0B}"/>
              </a:ext>
            </a:extLst>
          </p:cNvPr>
          <p:cNvSpPr>
            <a:spLocks noGrp="1"/>
          </p:cNvSpPr>
          <p:nvPr>
            <p:ph type="title"/>
          </p:nvPr>
        </p:nvSpPr>
        <p:spPr/>
        <p:txBody>
          <a:bodyPr/>
          <a:lstStyle/>
          <a:p>
            <a:r>
              <a:rPr kumimoji="1" lang="en-US" altLang="ko-KR" sz="2800" b="1" dirty="0"/>
              <a:t>1. Related Works: YOLO series (v1 ~ v10)</a:t>
            </a:r>
            <a:endParaRPr lang="ko-KR" altLang="en-US" dirty="0"/>
          </a:p>
        </p:txBody>
      </p:sp>
      <p:sp>
        <p:nvSpPr>
          <p:cNvPr id="47" name="내용 개체 틀 2">
            <a:extLst>
              <a:ext uri="{FF2B5EF4-FFF2-40B4-BE49-F238E27FC236}">
                <a16:creationId xmlns:a16="http://schemas.microsoft.com/office/drawing/2014/main" id="{7F338BDE-4FB8-C746-1882-3CBEC8265470}"/>
              </a:ext>
            </a:extLst>
          </p:cNvPr>
          <p:cNvSpPr txBox="1">
            <a:spLocks/>
          </p:cNvSpPr>
          <p:nvPr/>
        </p:nvSpPr>
        <p:spPr>
          <a:xfrm>
            <a:off x="117514" y="852966"/>
            <a:ext cx="11952383" cy="5438047"/>
          </a:xfrm>
          <a:prstGeom prst="rect">
            <a:avLst/>
          </a:prstGeom>
        </p:spPr>
        <p:txBody>
          <a:bodyPr vert="horz" lIns="91440" tIns="45720" rIns="91440" bIns="45720" rtlCol="0">
            <a:normAutofit/>
          </a:bodyPr>
          <a:lstStyle>
            <a:lvl1pPr marL="228600" indent="-228600" algn="l" defTabSz="914400" rtl="0" eaLnBrk="1" latinLnBrk="1"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15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endParaRPr lang="en" altLang="ko-KR" sz="2000" dirty="0"/>
          </a:p>
          <a:p>
            <a:pPr>
              <a:lnSpc>
                <a:spcPct val="150000"/>
              </a:lnSpc>
            </a:pPr>
            <a:endParaRPr kumimoji="1" lang="en" altLang="ko-KR" sz="2000" b="1" dirty="0"/>
          </a:p>
          <a:p>
            <a:pPr>
              <a:lnSpc>
                <a:spcPct val="150000"/>
              </a:lnSpc>
            </a:pPr>
            <a:endParaRPr kumimoji="1" lang="en" altLang="ko-KR" sz="2000" b="1" dirty="0"/>
          </a:p>
          <a:p>
            <a:pPr>
              <a:lnSpc>
                <a:spcPct val="150000"/>
              </a:lnSpc>
            </a:pPr>
            <a:endParaRPr kumimoji="1" lang="en" altLang="ko-KR" sz="2000" b="1" dirty="0"/>
          </a:p>
          <a:p>
            <a:pPr>
              <a:lnSpc>
                <a:spcPct val="150000"/>
              </a:lnSpc>
            </a:pPr>
            <a:endParaRPr kumimoji="1" lang="en" altLang="ko-KR" sz="2000" b="1" dirty="0"/>
          </a:p>
          <a:p>
            <a:pPr>
              <a:lnSpc>
                <a:spcPct val="150000"/>
              </a:lnSpc>
            </a:pPr>
            <a:endParaRPr kumimoji="1" lang="en" altLang="ko-KR" sz="2000" b="1" dirty="0"/>
          </a:p>
          <a:p>
            <a:pPr>
              <a:lnSpc>
                <a:spcPct val="150000"/>
              </a:lnSpc>
            </a:pPr>
            <a:endParaRPr kumimoji="1" lang="en" altLang="ko-KR" sz="2000" b="1" dirty="0"/>
          </a:p>
        </p:txBody>
      </p:sp>
      <p:sp>
        <p:nvSpPr>
          <p:cNvPr id="16" name="TextBox 15">
            <a:extLst>
              <a:ext uri="{FF2B5EF4-FFF2-40B4-BE49-F238E27FC236}">
                <a16:creationId xmlns:a16="http://schemas.microsoft.com/office/drawing/2014/main" id="{B6A125EB-7560-9218-FC15-34382EE232E8}"/>
              </a:ext>
            </a:extLst>
          </p:cNvPr>
          <p:cNvSpPr txBox="1"/>
          <p:nvPr/>
        </p:nvSpPr>
        <p:spPr>
          <a:xfrm>
            <a:off x="184193" y="843588"/>
            <a:ext cx="11952383" cy="1116396"/>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kumimoji="1" lang="en-US" altLang="ko-KR" sz="2500" dirty="0">
                <a:latin typeface="Times New Roman" panose="02020603050405020304" pitchFamily="18" charset="0"/>
                <a:cs typeface="Times New Roman" panose="02020603050405020304" pitchFamily="18" charset="0"/>
                <a:hlinkClick r:id="rId3"/>
              </a:rPr>
              <a:t>YOLOv6 3.0 (</a:t>
            </a:r>
            <a:r>
              <a:rPr kumimoji="1" lang="en" altLang="ko-KR" sz="2500" dirty="0">
                <a:latin typeface="Times New Roman" panose="02020603050405020304" pitchFamily="18" charset="0"/>
                <a:cs typeface="Times New Roman" panose="02020603050405020304" pitchFamily="18" charset="0"/>
                <a:hlinkClick r:id="rId3"/>
              </a:rPr>
              <a:t>202</a:t>
            </a:r>
            <a:r>
              <a:rPr kumimoji="1" lang="en-US" altLang="ko-KR" sz="2500" dirty="0">
                <a:latin typeface="Times New Roman" panose="02020603050405020304" pitchFamily="18" charset="0"/>
                <a:cs typeface="Times New Roman" panose="02020603050405020304" pitchFamily="18" charset="0"/>
                <a:hlinkClick r:id="rId3"/>
              </a:rPr>
              <a:t>3</a:t>
            </a:r>
            <a:r>
              <a:rPr kumimoji="1" lang="en" altLang="ko-KR" sz="2500" dirty="0">
                <a:latin typeface="Times New Roman" panose="02020603050405020304" pitchFamily="18" charset="0"/>
                <a:cs typeface="Times New Roman" panose="02020603050405020304" pitchFamily="18" charset="0"/>
                <a:hlinkClick r:id="rId3"/>
              </a:rPr>
              <a:t>, </a:t>
            </a:r>
            <a:r>
              <a:rPr kumimoji="1" lang="en-US" altLang="ko-KR" sz="2500" dirty="0">
                <a:latin typeface="Times New Roman" panose="02020603050405020304" pitchFamily="18" charset="0"/>
                <a:cs typeface="Times New Roman" panose="02020603050405020304" pitchFamily="18" charset="0"/>
                <a:hlinkClick r:id="rId3"/>
              </a:rPr>
              <a:t>arXiv)</a:t>
            </a:r>
            <a:endParaRPr kumimoji="1" lang="en-US" altLang="ko-KR" sz="2500" b="1" dirty="0">
              <a:latin typeface="Times New Roman" panose="02020603050405020304" pitchFamily="18" charset="0"/>
              <a:cs typeface="Times New Roman" panose="02020603050405020304" pitchFamily="18" charset="0"/>
            </a:endParaRPr>
          </a:p>
          <a:p>
            <a:pPr marL="1257300" lvl="2" indent="-342900">
              <a:lnSpc>
                <a:spcPct val="150000"/>
              </a:lnSpc>
              <a:buFont typeface="Arial" panose="020B0604020202020204" pitchFamily="34" charset="0"/>
              <a:buChar char="•"/>
            </a:pPr>
            <a:endParaRPr kumimoji="1" lang="en-US" altLang="ko-KR" sz="2200"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E955E9A6-612B-46A7-2F07-F2B920CD9B97}"/>
              </a:ext>
            </a:extLst>
          </p:cNvPr>
          <p:cNvSpPr txBox="1"/>
          <p:nvPr/>
        </p:nvSpPr>
        <p:spPr>
          <a:xfrm>
            <a:off x="184193" y="4740652"/>
            <a:ext cx="10418621" cy="1550361"/>
          </a:xfrm>
          <a:prstGeom prst="rect">
            <a:avLst/>
          </a:prstGeom>
          <a:noFill/>
        </p:spPr>
        <p:txBody>
          <a:bodyPr wrap="none" rtlCol="0">
            <a:spAutoFit/>
          </a:bodyPr>
          <a:lstStyle/>
          <a:p>
            <a:pPr marL="285750" indent="-285750">
              <a:lnSpc>
                <a:spcPct val="150000"/>
              </a:lnSpc>
              <a:buFont typeface="Arial" panose="020B0604020202020204" pitchFamily="34" charset="0"/>
              <a:buChar char="•"/>
            </a:pPr>
            <a:endParaRPr kumimoji="1" lang="en-US" altLang="ko-KR" sz="2200" dirty="0">
              <a:sym typeface="Wingdings" pitchFamily="2" charset="2"/>
            </a:endParaRPr>
          </a:p>
          <a:p>
            <a:pPr marL="285750" indent="-285750">
              <a:lnSpc>
                <a:spcPct val="150000"/>
              </a:lnSpc>
              <a:buFont typeface="Arial" panose="020B0604020202020204" pitchFamily="34" charset="0"/>
              <a:buChar char="•"/>
            </a:pPr>
            <a:r>
              <a:rPr kumimoji="1" lang="en-US" altLang="ko-KR" sz="2200" dirty="0">
                <a:sym typeface="Wingdings" pitchFamily="2" charset="2"/>
              </a:rPr>
              <a:t>1.0, 2.0: Industry</a:t>
            </a:r>
            <a:r>
              <a:rPr kumimoji="1" lang="ko-KR" altLang="en-US" sz="2200" dirty="0" err="1">
                <a:sym typeface="Wingdings" pitchFamily="2" charset="2"/>
              </a:rPr>
              <a:t>를</a:t>
            </a:r>
            <a:r>
              <a:rPr kumimoji="1" lang="ko-KR" altLang="en-US" sz="2200" dirty="0">
                <a:sym typeface="Wingdings" pitchFamily="2" charset="2"/>
              </a:rPr>
              <a:t> 위해 특수 제작 </a:t>
            </a:r>
            <a:r>
              <a:rPr kumimoji="1" lang="en-US" altLang="ko-KR" sz="2200" dirty="0">
                <a:sym typeface="Wingdings" pitchFamily="2" charset="2"/>
              </a:rPr>
              <a:t> </a:t>
            </a:r>
            <a:r>
              <a:rPr kumimoji="1" lang="en-US" altLang="ko-KR" sz="2200" dirty="0" err="1">
                <a:sym typeface="Wingdings" pitchFamily="2" charset="2"/>
              </a:rPr>
              <a:t>RepVGG</a:t>
            </a:r>
            <a:r>
              <a:rPr kumimoji="1" lang="en-US" altLang="ko-KR" sz="2200" dirty="0">
                <a:sym typeface="Wingdings" pitchFamily="2" charset="2"/>
              </a:rPr>
              <a:t>, QAT, Knowledge distillation, …</a:t>
            </a:r>
            <a:endParaRPr kumimoji="1" lang="en-US" altLang="ko-KR" sz="2200" dirty="0"/>
          </a:p>
          <a:p>
            <a:pPr marL="285750" indent="-285750">
              <a:lnSpc>
                <a:spcPct val="150000"/>
              </a:lnSpc>
              <a:buFont typeface="Arial" panose="020B0604020202020204" pitchFamily="34" charset="0"/>
              <a:buChar char="•"/>
            </a:pPr>
            <a:r>
              <a:rPr kumimoji="1" lang="en-US" altLang="ko-KR" sz="2200" dirty="0">
                <a:sym typeface="Wingdings" pitchFamily="2" charset="2"/>
              </a:rPr>
              <a:t>3.0: Anchor-aid training</a:t>
            </a:r>
            <a:endParaRPr kumimoji="1" lang="en-US" altLang="ko-KR" sz="2200" dirty="0"/>
          </a:p>
        </p:txBody>
      </p:sp>
      <p:pic>
        <p:nvPicPr>
          <p:cNvPr id="27650" name="Picture 2">
            <a:extLst>
              <a:ext uri="{FF2B5EF4-FFF2-40B4-BE49-F238E27FC236}">
                <a16:creationId xmlns:a16="http://schemas.microsoft.com/office/drawing/2014/main" id="{66856EAD-DB6D-5C80-D0C6-760ECC2017D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5983" y="1571911"/>
            <a:ext cx="9075389" cy="24091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71830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551A40-68BA-1DFC-BA2A-662CB5F99B2C}"/>
            </a:ext>
          </a:extLst>
        </p:cNvPr>
        <p:cNvGrpSpPr/>
        <p:nvPr/>
      </p:nvGrpSpPr>
      <p:grpSpPr>
        <a:xfrm>
          <a:off x="0" y="0"/>
          <a:ext cx="0" cy="0"/>
          <a:chOff x="0" y="0"/>
          <a:chExt cx="0" cy="0"/>
        </a:xfrm>
      </p:grpSpPr>
      <p:sp>
        <p:nvSpPr>
          <p:cNvPr id="27" name="제목 26">
            <a:extLst>
              <a:ext uri="{FF2B5EF4-FFF2-40B4-BE49-F238E27FC236}">
                <a16:creationId xmlns:a16="http://schemas.microsoft.com/office/drawing/2014/main" id="{646EADF4-6CD5-BEB1-B35F-6EE7ACB8D6B1}"/>
              </a:ext>
            </a:extLst>
          </p:cNvPr>
          <p:cNvSpPr>
            <a:spLocks noGrp="1"/>
          </p:cNvSpPr>
          <p:nvPr>
            <p:ph type="title"/>
          </p:nvPr>
        </p:nvSpPr>
        <p:spPr/>
        <p:txBody>
          <a:bodyPr/>
          <a:lstStyle/>
          <a:p>
            <a:r>
              <a:rPr kumimoji="1" lang="en-US" altLang="ko-KR" sz="2800" b="1" dirty="0"/>
              <a:t>1. Related Works: YOLO series (v1 ~ v10)</a:t>
            </a:r>
            <a:endParaRPr lang="ko-KR" altLang="en-US" dirty="0"/>
          </a:p>
        </p:txBody>
      </p:sp>
      <p:sp>
        <p:nvSpPr>
          <p:cNvPr id="47" name="내용 개체 틀 2">
            <a:extLst>
              <a:ext uri="{FF2B5EF4-FFF2-40B4-BE49-F238E27FC236}">
                <a16:creationId xmlns:a16="http://schemas.microsoft.com/office/drawing/2014/main" id="{7E763DC8-CED3-F4EB-B180-35460D329160}"/>
              </a:ext>
            </a:extLst>
          </p:cNvPr>
          <p:cNvSpPr txBox="1">
            <a:spLocks/>
          </p:cNvSpPr>
          <p:nvPr/>
        </p:nvSpPr>
        <p:spPr>
          <a:xfrm>
            <a:off x="117514" y="852966"/>
            <a:ext cx="11952383" cy="5438047"/>
          </a:xfrm>
          <a:prstGeom prst="rect">
            <a:avLst/>
          </a:prstGeom>
        </p:spPr>
        <p:txBody>
          <a:bodyPr vert="horz" lIns="91440" tIns="45720" rIns="91440" bIns="45720" rtlCol="0">
            <a:normAutofit/>
          </a:bodyPr>
          <a:lstStyle>
            <a:lvl1pPr marL="228600" indent="-228600" algn="l" defTabSz="914400" rtl="0" eaLnBrk="1" latinLnBrk="1"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15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endParaRPr lang="en" altLang="ko-KR" sz="2000" dirty="0"/>
          </a:p>
          <a:p>
            <a:pPr>
              <a:lnSpc>
                <a:spcPct val="150000"/>
              </a:lnSpc>
            </a:pPr>
            <a:endParaRPr kumimoji="1" lang="en" altLang="ko-KR" sz="2000" b="1" dirty="0"/>
          </a:p>
          <a:p>
            <a:pPr>
              <a:lnSpc>
                <a:spcPct val="150000"/>
              </a:lnSpc>
            </a:pPr>
            <a:endParaRPr kumimoji="1" lang="en" altLang="ko-KR" sz="2000" b="1" dirty="0"/>
          </a:p>
          <a:p>
            <a:pPr>
              <a:lnSpc>
                <a:spcPct val="150000"/>
              </a:lnSpc>
            </a:pPr>
            <a:endParaRPr kumimoji="1" lang="en" altLang="ko-KR" sz="2000" b="1" dirty="0"/>
          </a:p>
          <a:p>
            <a:pPr>
              <a:lnSpc>
                <a:spcPct val="150000"/>
              </a:lnSpc>
            </a:pPr>
            <a:endParaRPr kumimoji="1" lang="en" altLang="ko-KR" sz="2000" b="1" dirty="0"/>
          </a:p>
          <a:p>
            <a:pPr>
              <a:lnSpc>
                <a:spcPct val="150000"/>
              </a:lnSpc>
            </a:pPr>
            <a:endParaRPr kumimoji="1" lang="en" altLang="ko-KR" sz="2000" b="1" dirty="0"/>
          </a:p>
          <a:p>
            <a:pPr>
              <a:lnSpc>
                <a:spcPct val="150000"/>
              </a:lnSpc>
            </a:pPr>
            <a:endParaRPr kumimoji="1" lang="en" altLang="ko-KR" sz="2000" b="1" dirty="0"/>
          </a:p>
        </p:txBody>
      </p:sp>
      <p:sp>
        <p:nvSpPr>
          <p:cNvPr id="2" name="TextBox 1">
            <a:extLst>
              <a:ext uri="{FF2B5EF4-FFF2-40B4-BE49-F238E27FC236}">
                <a16:creationId xmlns:a16="http://schemas.microsoft.com/office/drawing/2014/main" id="{CA23C918-A999-279E-8267-CD6FB221C50C}"/>
              </a:ext>
            </a:extLst>
          </p:cNvPr>
          <p:cNvSpPr txBox="1"/>
          <p:nvPr/>
        </p:nvSpPr>
        <p:spPr>
          <a:xfrm>
            <a:off x="184193" y="4740652"/>
            <a:ext cx="7350602" cy="1550361"/>
          </a:xfrm>
          <a:prstGeom prst="rect">
            <a:avLst/>
          </a:prstGeom>
          <a:noFill/>
        </p:spPr>
        <p:txBody>
          <a:bodyPr wrap="none" rtlCol="0">
            <a:spAutoFit/>
          </a:bodyPr>
          <a:lstStyle/>
          <a:p>
            <a:pPr marL="285750" indent="-285750">
              <a:lnSpc>
                <a:spcPct val="150000"/>
              </a:lnSpc>
              <a:buFont typeface="Arial" panose="020B0604020202020204" pitchFamily="34" charset="0"/>
              <a:buChar char="•"/>
            </a:pPr>
            <a:endParaRPr kumimoji="1" lang="en-US" altLang="ko-KR" sz="2200" dirty="0">
              <a:sym typeface="Wingdings" pitchFamily="2" charset="2"/>
            </a:endParaRPr>
          </a:p>
          <a:p>
            <a:pPr marL="285750" indent="-285750">
              <a:lnSpc>
                <a:spcPct val="150000"/>
              </a:lnSpc>
              <a:buFont typeface="Arial" panose="020B0604020202020204" pitchFamily="34" charset="0"/>
              <a:buChar char="•"/>
            </a:pPr>
            <a:r>
              <a:rPr kumimoji="1" lang="en-US" altLang="ko-KR" sz="2200" dirty="0">
                <a:sym typeface="Wingdings" pitchFamily="2" charset="2"/>
              </a:rPr>
              <a:t>Partial Self-Attention (PSA) </a:t>
            </a:r>
            <a:r>
              <a:rPr kumimoji="1" lang="en-US" altLang="ko-KR" sz="2200" dirty="0"/>
              <a:t>to obtain global features</a:t>
            </a:r>
          </a:p>
          <a:p>
            <a:pPr marL="285750" indent="-285750">
              <a:lnSpc>
                <a:spcPct val="150000"/>
              </a:lnSpc>
              <a:buFont typeface="Arial" panose="020B0604020202020204" pitchFamily="34" charset="0"/>
              <a:buChar char="•"/>
            </a:pPr>
            <a:r>
              <a:rPr kumimoji="1" lang="en-US" altLang="ko-KR" sz="2200" dirty="0">
                <a:sym typeface="Wingdings" pitchFamily="2" charset="2"/>
              </a:rPr>
              <a:t>Dual Label Assignments for NMS-free Training</a:t>
            </a:r>
            <a:endParaRPr kumimoji="1" lang="en-US" altLang="ko-KR" sz="2200" dirty="0"/>
          </a:p>
        </p:txBody>
      </p:sp>
      <p:pic>
        <p:nvPicPr>
          <p:cNvPr id="28676" name="Picture 4">
            <a:extLst>
              <a:ext uri="{FF2B5EF4-FFF2-40B4-BE49-F238E27FC236}">
                <a16:creationId xmlns:a16="http://schemas.microsoft.com/office/drawing/2014/main" id="{846DC240-3A54-0CC1-3E34-4F27DD7943C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8787" y="1609353"/>
            <a:ext cx="9075389" cy="2258094"/>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9E2620AD-E32B-FC44-6165-9D7A74636DA2}"/>
              </a:ext>
            </a:extLst>
          </p:cNvPr>
          <p:cNvSpPr txBox="1"/>
          <p:nvPr/>
        </p:nvSpPr>
        <p:spPr>
          <a:xfrm>
            <a:off x="184193" y="843588"/>
            <a:ext cx="11952383" cy="1116396"/>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kumimoji="1" lang="en-US" altLang="ko-KR" sz="2500" dirty="0">
                <a:latin typeface="Times New Roman" panose="02020603050405020304" pitchFamily="18" charset="0"/>
                <a:cs typeface="Times New Roman" panose="02020603050405020304" pitchFamily="18" charset="0"/>
                <a:hlinkClick r:id="rId4"/>
              </a:rPr>
              <a:t>YOLOv10 (</a:t>
            </a:r>
            <a:r>
              <a:rPr kumimoji="1" lang="en" altLang="ko-KR" sz="2500" dirty="0">
                <a:latin typeface="Times New Roman" panose="02020603050405020304" pitchFamily="18" charset="0"/>
                <a:cs typeface="Times New Roman" panose="02020603050405020304" pitchFamily="18" charset="0"/>
                <a:hlinkClick r:id="rId4"/>
              </a:rPr>
              <a:t>202</a:t>
            </a:r>
            <a:r>
              <a:rPr kumimoji="1" lang="en-US" altLang="ko-KR" sz="2500" dirty="0">
                <a:latin typeface="Times New Roman" panose="02020603050405020304" pitchFamily="18" charset="0"/>
                <a:cs typeface="Times New Roman" panose="02020603050405020304" pitchFamily="18" charset="0"/>
                <a:hlinkClick r:id="rId4"/>
              </a:rPr>
              <a:t>4</a:t>
            </a:r>
            <a:r>
              <a:rPr kumimoji="1" lang="en" altLang="ko-KR" sz="2500" dirty="0">
                <a:latin typeface="Times New Roman" panose="02020603050405020304" pitchFamily="18" charset="0"/>
                <a:cs typeface="Times New Roman" panose="02020603050405020304" pitchFamily="18" charset="0"/>
                <a:hlinkClick r:id="rId4"/>
              </a:rPr>
              <a:t>, </a:t>
            </a:r>
            <a:r>
              <a:rPr kumimoji="1" lang="en-US" altLang="ko-KR" sz="2500" dirty="0">
                <a:latin typeface="Times New Roman" panose="02020603050405020304" pitchFamily="18" charset="0"/>
                <a:cs typeface="Times New Roman" panose="02020603050405020304" pitchFamily="18" charset="0"/>
                <a:hlinkClick r:id="rId4"/>
              </a:rPr>
              <a:t>NeurIPS)</a:t>
            </a:r>
            <a:endParaRPr kumimoji="1" lang="en-US" altLang="ko-KR" sz="2500" b="1" dirty="0">
              <a:latin typeface="Times New Roman" panose="02020603050405020304" pitchFamily="18" charset="0"/>
              <a:cs typeface="Times New Roman" panose="02020603050405020304" pitchFamily="18" charset="0"/>
            </a:endParaRPr>
          </a:p>
          <a:p>
            <a:pPr marL="1257300" lvl="2" indent="-342900">
              <a:lnSpc>
                <a:spcPct val="150000"/>
              </a:lnSpc>
              <a:buFont typeface="Arial" panose="020B0604020202020204" pitchFamily="34" charset="0"/>
              <a:buChar char="•"/>
            </a:pPr>
            <a:endParaRPr kumimoji="1" lang="en-US" altLang="ko-KR"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695675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CE7E1-1744-0C39-9E38-FDDABEB8FF17}"/>
            </a:ext>
          </a:extLst>
        </p:cNvPr>
        <p:cNvGrpSpPr/>
        <p:nvPr/>
      </p:nvGrpSpPr>
      <p:grpSpPr>
        <a:xfrm>
          <a:off x="0" y="0"/>
          <a:ext cx="0" cy="0"/>
          <a:chOff x="0" y="0"/>
          <a:chExt cx="0" cy="0"/>
        </a:xfrm>
      </p:grpSpPr>
      <p:sp>
        <p:nvSpPr>
          <p:cNvPr id="27" name="제목 26">
            <a:extLst>
              <a:ext uri="{FF2B5EF4-FFF2-40B4-BE49-F238E27FC236}">
                <a16:creationId xmlns:a16="http://schemas.microsoft.com/office/drawing/2014/main" id="{FCB710F5-4545-44DA-E3D4-E26A00A3B1AB}"/>
              </a:ext>
            </a:extLst>
          </p:cNvPr>
          <p:cNvSpPr>
            <a:spLocks noGrp="1"/>
          </p:cNvSpPr>
          <p:nvPr>
            <p:ph type="title"/>
          </p:nvPr>
        </p:nvSpPr>
        <p:spPr/>
        <p:txBody>
          <a:bodyPr/>
          <a:lstStyle/>
          <a:p>
            <a:r>
              <a:rPr kumimoji="1" lang="en-US" altLang="ko-KR" sz="2800" b="1" dirty="0"/>
              <a:t>Motivation</a:t>
            </a:r>
            <a:endParaRPr lang="ko-KR" altLang="en-US" dirty="0"/>
          </a:p>
        </p:txBody>
      </p:sp>
      <p:sp>
        <p:nvSpPr>
          <p:cNvPr id="47" name="내용 개체 틀 2">
            <a:extLst>
              <a:ext uri="{FF2B5EF4-FFF2-40B4-BE49-F238E27FC236}">
                <a16:creationId xmlns:a16="http://schemas.microsoft.com/office/drawing/2014/main" id="{0D6CD914-8F04-16D9-F4E4-9E0DBC92251A}"/>
              </a:ext>
            </a:extLst>
          </p:cNvPr>
          <p:cNvSpPr txBox="1">
            <a:spLocks/>
          </p:cNvSpPr>
          <p:nvPr/>
        </p:nvSpPr>
        <p:spPr>
          <a:xfrm>
            <a:off x="117514" y="842456"/>
            <a:ext cx="11952383" cy="5438047"/>
          </a:xfrm>
          <a:prstGeom prst="rect">
            <a:avLst/>
          </a:prstGeom>
        </p:spPr>
        <p:txBody>
          <a:bodyPr vert="horz" lIns="91440" tIns="45720" rIns="91440" bIns="45720" rtlCol="0">
            <a:normAutofit/>
          </a:bodyPr>
          <a:lstStyle>
            <a:lvl1pPr marL="228600" indent="-228600" algn="l" defTabSz="914400" rtl="0" eaLnBrk="1" latinLnBrk="1"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15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endParaRPr lang="en" altLang="ko-KR" sz="2000" dirty="0"/>
          </a:p>
          <a:p>
            <a:pPr>
              <a:lnSpc>
                <a:spcPct val="150000"/>
              </a:lnSpc>
            </a:pPr>
            <a:endParaRPr kumimoji="1" lang="en" altLang="ko-KR" sz="2000" b="1" dirty="0"/>
          </a:p>
          <a:p>
            <a:pPr>
              <a:lnSpc>
                <a:spcPct val="150000"/>
              </a:lnSpc>
            </a:pPr>
            <a:endParaRPr kumimoji="1" lang="en" altLang="ko-KR" sz="2000" b="1" dirty="0"/>
          </a:p>
          <a:p>
            <a:pPr>
              <a:lnSpc>
                <a:spcPct val="150000"/>
              </a:lnSpc>
            </a:pPr>
            <a:endParaRPr kumimoji="1" lang="en" altLang="ko-KR" sz="2000" b="1" dirty="0"/>
          </a:p>
          <a:p>
            <a:pPr>
              <a:lnSpc>
                <a:spcPct val="150000"/>
              </a:lnSpc>
            </a:pPr>
            <a:endParaRPr kumimoji="1" lang="en" altLang="ko-KR" sz="2000" b="1" dirty="0"/>
          </a:p>
          <a:p>
            <a:pPr>
              <a:lnSpc>
                <a:spcPct val="150000"/>
              </a:lnSpc>
            </a:pPr>
            <a:endParaRPr kumimoji="1" lang="en" altLang="ko-KR" sz="2000" b="1" dirty="0"/>
          </a:p>
          <a:p>
            <a:pPr>
              <a:lnSpc>
                <a:spcPct val="150000"/>
              </a:lnSpc>
            </a:pPr>
            <a:endParaRPr kumimoji="1" lang="en" altLang="ko-KR" sz="2000" b="1" dirty="0"/>
          </a:p>
        </p:txBody>
      </p:sp>
      <p:sp>
        <p:nvSpPr>
          <p:cNvPr id="5" name="TextBox 4">
            <a:extLst>
              <a:ext uri="{FF2B5EF4-FFF2-40B4-BE49-F238E27FC236}">
                <a16:creationId xmlns:a16="http://schemas.microsoft.com/office/drawing/2014/main" id="{6A1EB95A-10A9-6776-975E-9F406770F0E4}"/>
              </a:ext>
            </a:extLst>
          </p:cNvPr>
          <p:cNvSpPr txBox="1"/>
          <p:nvPr/>
        </p:nvSpPr>
        <p:spPr>
          <a:xfrm>
            <a:off x="184193" y="843588"/>
            <a:ext cx="11952383" cy="3585405"/>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kumimoji="1" lang="en-US" altLang="ko-KR" sz="2200" dirty="0">
                <a:latin typeface="Times New Roman" panose="02020603050405020304" pitchFamily="18" charset="0"/>
                <a:cs typeface="Times New Roman" panose="02020603050405020304" pitchFamily="18" charset="0"/>
              </a:rPr>
              <a:t>“</a:t>
            </a:r>
            <a:r>
              <a:rPr kumimoji="1" lang="en-US" altLang="ko-KR" sz="2200" dirty="0" err="1">
                <a:latin typeface="Times New Roman" panose="02020603050405020304" pitchFamily="18" charset="0"/>
                <a:cs typeface="Times New Roman" panose="02020603050405020304" pitchFamily="18" charset="0"/>
              </a:rPr>
              <a:t>Enchancing</a:t>
            </a:r>
            <a:r>
              <a:rPr kumimoji="1" lang="en-US" altLang="ko-KR" sz="2200" dirty="0">
                <a:latin typeface="Times New Roman" panose="02020603050405020304" pitchFamily="18" charset="0"/>
                <a:cs typeface="Times New Roman" panose="02020603050405020304" pitchFamily="18" charset="0"/>
              </a:rPr>
              <a:t> the network architecture of the </a:t>
            </a:r>
            <a:r>
              <a:rPr kumimoji="1" lang="en-US" altLang="ko-KR" sz="2200" b="1" dirty="0">
                <a:latin typeface="Times New Roman" panose="02020603050405020304" pitchFamily="18" charset="0"/>
                <a:cs typeface="Times New Roman" panose="02020603050405020304" pitchFamily="18" charset="0"/>
              </a:rPr>
              <a:t>YOLO</a:t>
            </a:r>
            <a:r>
              <a:rPr kumimoji="1" lang="en-US" altLang="ko-KR" sz="2200" dirty="0">
                <a:latin typeface="Times New Roman" panose="02020603050405020304" pitchFamily="18" charset="0"/>
                <a:cs typeface="Times New Roman" panose="02020603050405020304" pitchFamily="18" charset="0"/>
              </a:rPr>
              <a:t> framework, …. </a:t>
            </a:r>
            <a:r>
              <a:rPr kumimoji="1" lang="en-US" altLang="ko-KR" sz="2200" b="1" dirty="0">
                <a:latin typeface="Times New Roman" panose="02020603050405020304" pitchFamily="18" charset="0"/>
                <a:cs typeface="Times New Roman" panose="02020603050405020304" pitchFamily="18" charset="0"/>
              </a:rPr>
              <a:t>has focused on CNN-based</a:t>
            </a:r>
            <a:r>
              <a:rPr kumimoji="1" lang="en-US" altLang="ko-KR" sz="2200" dirty="0">
                <a:latin typeface="Times New Roman" panose="02020603050405020304" pitchFamily="18" charset="0"/>
                <a:cs typeface="Times New Roman" panose="02020603050405020304" pitchFamily="18" charset="0"/>
              </a:rPr>
              <a:t> improvements </a:t>
            </a:r>
            <a:r>
              <a:rPr kumimoji="1" lang="en-US" altLang="ko-KR" sz="2200" b="1" dirty="0">
                <a:latin typeface="Times New Roman" panose="02020603050405020304" pitchFamily="18" charset="0"/>
                <a:cs typeface="Times New Roman" panose="02020603050405020304" pitchFamily="18" charset="0"/>
              </a:rPr>
              <a:t>despite the proven superiority of attention mechanisms in modeling capabilities</a:t>
            </a:r>
            <a:r>
              <a:rPr kumimoji="1" lang="en-US" altLang="ko-KR" sz="2200" dirty="0">
                <a:latin typeface="Times New Roman" panose="02020603050405020304" pitchFamily="18" charset="0"/>
                <a:cs typeface="Times New Roman" panose="02020603050405020304" pitchFamily="18" charset="0"/>
              </a:rPr>
              <a:t>.”</a:t>
            </a:r>
          </a:p>
          <a:p>
            <a:pPr marL="342900" indent="-342900">
              <a:lnSpc>
                <a:spcPct val="150000"/>
              </a:lnSpc>
              <a:buFont typeface="Arial" panose="020B0604020202020204" pitchFamily="34" charset="0"/>
              <a:buChar char="•"/>
            </a:pPr>
            <a:endParaRPr kumimoji="1" lang="en-US" altLang="ko-KR" sz="22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kumimoji="1" lang="en-US" altLang="ko-KR" sz="2200" dirty="0">
                <a:latin typeface="Times New Roman" panose="02020603050405020304" pitchFamily="18" charset="0"/>
                <a:cs typeface="Times New Roman" panose="02020603050405020304" pitchFamily="18" charset="0"/>
              </a:rPr>
              <a:t>“… most architectural designs continue to </a:t>
            </a:r>
            <a:r>
              <a:rPr kumimoji="1" lang="en-US" altLang="ko-KR" sz="2200" b="1" dirty="0">
                <a:latin typeface="Times New Roman" panose="02020603050405020304" pitchFamily="18" charset="0"/>
                <a:cs typeface="Times New Roman" panose="02020603050405020304" pitchFamily="18" charset="0"/>
              </a:rPr>
              <a:t>focus primarily on CNNs.</a:t>
            </a:r>
            <a:r>
              <a:rPr kumimoji="1" lang="en-US" altLang="ko-KR" sz="2200" dirty="0">
                <a:latin typeface="Times New Roman" panose="02020603050405020304" pitchFamily="18" charset="0"/>
                <a:cs typeface="Times New Roman" panose="02020603050405020304" pitchFamily="18" charset="0"/>
              </a:rPr>
              <a:t>”</a:t>
            </a:r>
          </a:p>
          <a:p>
            <a:pPr marL="342900" indent="-342900">
              <a:lnSpc>
                <a:spcPct val="150000"/>
              </a:lnSpc>
              <a:buFont typeface="Arial" panose="020B0604020202020204" pitchFamily="34" charset="0"/>
              <a:buChar char="•"/>
            </a:pPr>
            <a:endParaRPr kumimoji="1" lang="en-US" altLang="ko-KR" sz="2200" dirty="0">
              <a:latin typeface="Times New Roman" panose="02020603050405020304" pitchFamily="18" charset="0"/>
              <a:cs typeface="Times New Roman" panose="02020603050405020304" pitchFamily="18" charset="0"/>
            </a:endParaRPr>
          </a:p>
          <a:p>
            <a:pPr marL="342900" indent="-342900">
              <a:lnSpc>
                <a:spcPct val="150000"/>
              </a:lnSpc>
              <a:buFont typeface="Wingdings" pitchFamily="2" charset="2"/>
              <a:buChar char="à"/>
            </a:pPr>
            <a:r>
              <a:rPr kumimoji="1" lang="en-US" altLang="ko-KR" sz="2200" dirty="0">
                <a:latin typeface="Times New Roman" panose="02020603050405020304" pitchFamily="18" charset="0"/>
                <a:cs typeface="Times New Roman" panose="02020603050405020304" pitchFamily="18" charset="0"/>
                <a:sym typeface="Wingdings" pitchFamily="2" charset="2"/>
              </a:rPr>
              <a:t>YOLO series</a:t>
            </a:r>
            <a:r>
              <a:rPr kumimoji="1" lang="ko-KR" altLang="en-US" sz="2200" dirty="0">
                <a:latin typeface="Times New Roman" panose="02020603050405020304" pitchFamily="18" charset="0"/>
                <a:cs typeface="Times New Roman" panose="02020603050405020304" pitchFamily="18" charset="0"/>
                <a:sym typeface="Wingdings" pitchFamily="2" charset="2"/>
              </a:rPr>
              <a:t>에서 </a:t>
            </a:r>
            <a:r>
              <a:rPr kumimoji="1" lang="en-US" altLang="ko-KR" sz="2200" dirty="0">
                <a:latin typeface="Times New Roman" panose="02020603050405020304" pitchFamily="18" charset="0"/>
                <a:cs typeface="Times New Roman" panose="02020603050405020304" pitchFamily="18" charset="0"/>
                <a:sym typeface="Wingdings" pitchFamily="2" charset="2"/>
              </a:rPr>
              <a:t>attention mechanism</a:t>
            </a:r>
            <a:r>
              <a:rPr kumimoji="1" lang="ko-KR" altLang="en-US" sz="2200" dirty="0">
                <a:latin typeface="Times New Roman" panose="02020603050405020304" pitchFamily="18" charset="0"/>
                <a:cs typeface="Times New Roman" panose="02020603050405020304" pitchFamily="18" charset="0"/>
                <a:sym typeface="Wingdings" pitchFamily="2" charset="2"/>
              </a:rPr>
              <a:t>이 </a:t>
            </a:r>
            <a:r>
              <a:rPr kumimoji="1" lang="en-US" altLang="ko-KR" sz="2200" dirty="0">
                <a:latin typeface="Times New Roman" panose="02020603050405020304" pitchFamily="18" charset="0"/>
                <a:cs typeface="Times New Roman" panose="02020603050405020304" pitchFamily="18" charset="0"/>
                <a:sym typeface="Wingdings" pitchFamily="2" charset="2"/>
              </a:rPr>
              <a:t>modeling capability</a:t>
            </a:r>
            <a:r>
              <a:rPr kumimoji="1" lang="ko-KR" altLang="en-US" sz="2200" dirty="0">
                <a:latin typeface="Times New Roman" panose="02020603050405020304" pitchFamily="18" charset="0"/>
                <a:cs typeface="Times New Roman" panose="02020603050405020304" pitchFamily="18" charset="0"/>
                <a:sym typeface="Wingdings" pitchFamily="2" charset="2"/>
              </a:rPr>
              <a:t>가 더 좋은데도 불구하고</a:t>
            </a:r>
            <a:r>
              <a:rPr kumimoji="1" lang="en-US" altLang="ko-KR" sz="2200" dirty="0">
                <a:latin typeface="Times New Roman" panose="02020603050405020304" pitchFamily="18" charset="0"/>
                <a:cs typeface="Times New Roman" panose="02020603050405020304" pitchFamily="18" charset="0"/>
                <a:sym typeface="Wingdings" pitchFamily="2" charset="2"/>
              </a:rPr>
              <a:t>, </a:t>
            </a:r>
            <a:r>
              <a:rPr kumimoji="1" lang="ko-KR" altLang="en-US" sz="2200" dirty="0">
                <a:latin typeface="Times New Roman" panose="02020603050405020304" pitchFamily="18" charset="0"/>
                <a:cs typeface="Times New Roman" panose="02020603050405020304" pitchFamily="18" charset="0"/>
                <a:sym typeface="Wingdings" pitchFamily="2" charset="2"/>
              </a:rPr>
              <a:t>집중 </a:t>
            </a:r>
            <a:r>
              <a:rPr kumimoji="1" lang="en-US" altLang="ko-KR" sz="2200" dirty="0">
                <a:latin typeface="Times New Roman" panose="02020603050405020304" pitchFamily="18" charset="0"/>
                <a:cs typeface="Times New Roman" panose="02020603050405020304" pitchFamily="18" charset="0"/>
                <a:sym typeface="Wingdings" pitchFamily="2" charset="2"/>
              </a:rPr>
              <a:t>X</a:t>
            </a:r>
          </a:p>
          <a:p>
            <a:pPr marL="342900" indent="-342900">
              <a:lnSpc>
                <a:spcPct val="150000"/>
              </a:lnSpc>
              <a:buFont typeface="Wingdings" pitchFamily="2" charset="2"/>
              <a:buChar char="à"/>
            </a:pPr>
            <a:r>
              <a:rPr kumimoji="1" lang="ko-KR" altLang="en-US" sz="2200" dirty="0">
                <a:latin typeface="Times New Roman" panose="02020603050405020304" pitchFamily="18" charset="0"/>
                <a:cs typeface="Times New Roman" panose="02020603050405020304" pitchFamily="18" charset="0"/>
                <a:sym typeface="Wingdings" pitchFamily="2" charset="2"/>
              </a:rPr>
              <a:t>이는 </a:t>
            </a:r>
            <a:r>
              <a:rPr kumimoji="1" lang="en-US" altLang="ko-KR" sz="2200" dirty="0">
                <a:latin typeface="Times New Roman" panose="02020603050405020304" pitchFamily="18" charset="0"/>
                <a:cs typeface="Times New Roman" panose="02020603050405020304" pitchFamily="18" charset="0"/>
                <a:sym typeface="Wingdings" pitchFamily="2" charset="2"/>
              </a:rPr>
              <a:t>CNN-based models</a:t>
            </a:r>
            <a:r>
              <a:rPr kumimoji="1" lang="ko-KR" altLang="en-US" sz="2200" dirty="0">
                <a:latin typeface="Times New Roman" panose="02020603050405020304" pitchFamily="18" charset="0"/>
                <a:cs typeface="Times New Roman" panose="02020603050405020304" pitchFamily="18" charset="0"/>
                <a:sym typeface="Wingdings" pitchFamily="2" charset="2"/>
              </a:rPr>
              <a:t>의 속도를 따라가지 못하기 때문</a:t>
            </a:r>
            <a:endParaRPr kumimoji="1" lang="en-US" altLang="ko-KR" sz="2200" dirty="0">
              <a:latin typeface="Times New Roman" panose="02020603050405020304" pitchFamily="18" charset="0"/>
              <a:cs typeface="Times New Roman" panose="02020603050405020304" pitchFamily="18" charset="0"/>
              <a:sym typeface="Wingdings" pitchFamily="2" charset="2"/>
            </a:endParaRPr>
          </a:p>
        </p:txBody>
      </p:sp>
    </p:spTree>
    <p:extLst>
      <p:ext uri="{BB962C8B-B14F-4D97-AF65-F5344CB8AC3E}">
        <p14:creationId xmlns:p14="http://schemas.microsoft.com/office/powerpoint/2010/main" val="5767838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E677D6-FE1B-AC86-FE80-5088659B0565}"/>
            </a:ext>
          </a:extLst>
        </p:cNvPr>
        <p:cNvGrpSpPr/>
        <p:nvPr/>
      </p:nvGrpSpPr>
      <p:grpSpPr>
        <a:xfrm>
          <a:off x="0" y="0"/>
          <a:ext cx="0" cy="0"/>
          <a:chOff x="0" y="0"/>
          <a:chExt cx="0" cy="0"/>
        </a:xfrm>
      </p:grpSpPr>
      <p:sp>
        <p:nvSpPr>
          <p:cNvPr id="27" name="제목 26">
            <a:extLst>
              <a:ext uri="{FF2B5EF4-FFF2-40B4-BE49-F238E27FC236}">
                <a16:creationId xmlns:a16="http://schemas.microsoft.com/office/drawing/2014/main" id="{26B8C5B0-9D88-2579-702A-2D29C0760A70}"/>
              </a:ext>
            </a:extLst>
          </p:cNvPr>
          <p:cNvSpPr>
            <a:spLocks noGrp="1"/>
          </p:cNvSpPr>
          <p:nvPr>
            <p:ph type="title"/>
          </p:nvPr>
        </p:nvSpPr>
        <p:spPr/>
        <p:txBody>
          <a:bodyPr/>
          <a:lstStyle/>
          <a:p>
            <a:r>
              <a:rPr kumimoji="1" lang="en-US" altLang="ko-KR" sz="2800" b="1" dirty="0"/>
              <a:t>Motivation</a:t>
            </a:r>
            <a:endParaRPr lang="ko-KR" altLang="en-US" dirty="0"/>
          </a:p>
        </p:txBody>
      </p:sp>
      <p:sp>
        <p:nvSpPr>
          <p:cNvPr id="47" name="내용 개체 틀 2">
            <a:extLst>
              <a:ext uri="{FF2B5EF4-FFF2-40B4-BE49-F238E27FC236}">
                <a16:creationId xmlns:a16="http://schemas.microsoft.com/office/drawing/2014/main" id="{1C615411-931A-98C2-7C49-9C656D1D770B}"/>
              </a:ext>
            </a:extLst>
          </p:cNvPr>
          <p:cNvSpPr txBox="1">
            <a:spLocks/>
          </p:cNvSpPr>
          <p:nvPr/>
        </p:nvSpPr>
        <p:spPr>
          <a:xfrm>
            <a:off x="117514" y="842456"/>
            <a:ext cx="11952383" cy="5438047"/>
          </a:xfrm>
          <a:prstGeom prst="rect">
            <a:avLst/>
          </a:prstGeom>
        </p:spPr>
        <p:txBody>
          <a:bodyPr vert="horz" lIns="91440" tIns="45720" rIns="91440" bIns="45720" rtlCol="0">
            <a:normAutofit/>
          </a:bodyPr>
          <a:lstStyle>
            <a:lvl1pPr marL="228600" indent="-228600" algn="l" defTabSz="914400" rtl="0" eaLnBrk="1" latinLnBrk="1"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15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endParaRPr lang="en" altLang="ko-KR" sz="2000" dirty="0"/>
          </a:p>
          <a:p>
            <a:pPr>
              <a:lnSpc>
                <a:spcPct val="150000"/>
              </a:lnSpc>
            </a:pPr>
            <a:endParaRPr kumimoji="1" lang="en" altLang="ko-KR" sz="2000" b="1" dirty="0"/>
          </a:p>
          <a:p>
            <a:pPr>
              <a:lnSpc>
                <a:spcPct val="150000"/>
              </a:lnSpc>
            </a:pPr>
            <a:endParaRPr kumimoji="1" lang="en" altLang="ko-KR" sz="2000" b="1" dirty="0"/>
          </a:p>
          <a:p>
            <a:pPr>
              <a:lnSpc>
                <a:spcPct val="150000"/>
              </a:lnSpc>
            </a:pPr>
            <a:endParaRPr kumimoji="1" lang="en" altLang="ko-KR" sz="2000" b="1" dirty="0"/>
          </a:p>
          <a:p>
            <a:pPr>
              <a:lnSpc>
                <a:spcPct val="150000"/>
              </a:lnSpc>
            </a:pPr>
            <a:endParaRPr kumimoji="1" lang="en" altLang="ko-KR" sz="2000" b="1" dirty="0"/>
          </a:p>
          <a:p>
            <a:pPr>
              <a:lnSpc>
                <a:spcPct val="150000"/>
              </a:lnSpc>
            </a:pPr>
            <a:endParaRPr kumimoji="1" lang="en" altLang="ko-KR" sz="2000" b="1" dirty="0"/>
          </a:p>
          <a:p>
            <a:pPr>
              <a:lnSpc>
                <a:spcPct val="150000"/>
              </a:lnSpc>
            </a:pPr>
            <a:endParaRPr kumimoji="1" lang="en" altLang="ko-KR" sz="2000" b="1" dirty="0"/>
          </a:p>
        </p:txBody>
      </p:sp>
      <p:sp>
        <p:nvSpPr>
          <p:cNvPr id="5" name="TextBox 4">
            <a:extLst>
              <a:ext uri="{FF2B5EF4-FFF2-40B4-BE49-F238E27FC236}">
                <a16:creationId xmlns:a16="http://schemas.microsoft.com/office/drawing/2014/main" id="{A916A20B-7EA1-36E7-AD73-3FCDF11E91CB}"/>
              </a:ext>
            </a:extLst>
          </p:cNvPr>
          <p:cNvSpPr txBox="1"/>
          <p:nvPr/>
        </p:nvSpPr>
        <p:spPr>
          <a:xfrm>
            <a:off x="184193" y="843588"/>
            <a:ext cx="11952383" cy="5109797"/>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kumimoji="1" lang="en-US" altLang="ko-KR" sz="2200" dirty="0">
                <a:latin typeface="Times New Roman" panose="02020603050405020304" pitchFamily="18" charset="0"/>
                <a:cs typeface="Times New Roman" panose="02020603050405020304" pitchFamily="18" charset="0"/>
              </a:rPr>
              <a:t>“</a:t>
            </a:r>
            <a:r>
              <a:rPr kumimoji="1" lang="en-US" altLang="ko-KR" sz="2200" dirty="0" err="1">
                <a:latin typeface="Times New Roman" panose="02020603050405020304" pitchFamily="18" charset="0"/>
                <a:cs typeface="Times New Roman" panose="02020603050405020304" pitchFamily="18" charset="0"/>
              </a:rPr>
              <a:t>Enchancing</a:t>
            </a:r>
            <a:r>
              <a:rPr kumimoji="1" lang="en-US" altLang="ko-KR" sz="2200" dirty="0">
                <a:latin typeface="Times New Roman" panose="02020603050405020304" pitchFamily="18" charset="0"/>
                <a:cs typeface="Times New Roman" panose="02020603050405020304" pitchFamily="18" charset="0"/>
              </a:rPr>
              <a:t> the network architecture of the </a:t>
            </a:r>
            <a:r>
              <a:rPr kumimoji="1" lang="en-US" altLang="ko-KR" sz="2200" b="1" dirty="0">
                <a:latin typeface="Times New Roman" panose="02020603050405020304" pitchFamily="18" charset="0"/>
                <a:cs typeface="Times New Roman" panose="02020603050405020304" pitchFamily="18" charset="0"/>
              </a:rPr>
              <a:t>YOLO</a:t>
            </a:r>
            <a:r>
              <a:rPr kumimoji="1" lang="en-US" altLang="ko-KR" sz="2200" dirty="0">
                <a:latin typeface="Times New Roman" panose="02020603050405020304" pitchFamily="18" charset="0"/>
                <a:cs typeface="Times New Roman" panose="02020603050405020304" pitchFamily="18" charset="0"/>
              </a:rPr>
              <a:t> framework, …. </a:t>
            </a:r>
            <a:r>
              <a:rPr kumimoji="1" lang="en-US" altLang="ko-KR" sz="2200" b="1" dirty="0">
                <a:latin typeface="Times New Roman" panose="02020603050405020304" pitchFamily="18" charset="0"/>
                <a:cs typeface="Times New Roman" panose="02020603050405020304" pitchFamily="18" charset="0"/>
              </a:rPr>
              <a:t>has focused on CNN-based</a:t>
            </a:r>
            <a:r>
              <a:rPr kumimoji="1" lang="en-US" altLang="ko-KR" sz="2200" dirty="0">
                <a:latin typeface="Times New Roman" panose="02020603050405020304" pitchFamily="18" charset="0"/>
                <a:cs typeface="Times New Roman" panose="02020603050405020304" pitchFamily="18" charset="0"/>
              </a:rPr>
              <a:t> improvements </a:t>
            </a:r>
            <a:r>
              <a:rPr kumimoji="1" lang="en-US" altLang="ko-KR" sz="2200" b="1" dirty="0">
                <a:latin typeface="Times New Roman" panose="02020603050405020304" pitchFamily="18" charset="0"/>
                <a:cs typeface="Times New Roman" panose="02020603050405020304" pitchFamily="18" charset="0"/>
              </a:rPr>
              <a:t>despite the proven superiority of attention mechanisms in modeling capabilities</a:t>
            </a:r>
            <a:r>
              <a:rPr kumimoji="1" lang="en-US" altLang="ko-KR" sz="2200" dirty="0">
                <a:latin typeface="Times New Roman" panose="02020603050405020304" pitchFamily="18" charset="0"/>
                <a:cs typeface="Times New Roman" panose="02020603050405020304" pitchFamily="18" charset="0"/>
              </a:rPr>
              <a:t>.”</a:t>
            </a:r>
          </a:p>
          <a:p>
            <a:pPr marL="342900" indent="-342900">
              <a:lnSpc>
                <a:spcPct val="150000"/>
              </a:lnSpc>
              <a:buFont typeface="Arial" panose="020B0604020202020204" pitchFamily="34" charset="0"/>
              <a:buChar char="•"/>
            </a:pPr>
            <a:endParaRPr kumimoji="1" lang="en-US" altLang="ko-KR" sz="22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kumimoji="1" lang="en-US" altLang="ko-KR" sz="2200" dirty="0">
                <a:latin typeface="Times New Roman" panose="02020603050405020304" pitchFamily="18" charset="0"/>
                <a:cs typeface="Times New Roman" panose="02020603050405020304" pitchFamily="18" charset="0"/>
              </a:rPr>
              <a:t>“… most architectural designs continue to </a:t>
            </a:r>
            <a:r>
              <a:rPr kumimoji="1" lang="en-US" altLang="ko-KR" sz="2200" b="1" dirty="0">
                <a:latin typeface="Times New Roman" panose="02020603050405020304" pitchFamily="18" charset="0"/>
                <a:cs typeface="Times New Roman" panose="02020603050405020304" pitchFamily="18" charset="0"/>
              </a:rPr>
              <a:t>focus primarily on CNNs.</a:t>
            </a:r>
            <a:r>
              <a:rPr kumimoji="1" lang="en-US" altLang="ko-KR" sz="2200" dirty="0">
                <a:latin typeface="Times New Roman" panose="02020603050405020304" pitchFamily="18" charset="0"/>
                <a:cs typeface="Times New Roman" panose="02020603050405020304" pitchFamily="18" charset="0"/>
              </a:rPr>
              <a:t>”</a:t>
            </a:r>
          </a:p>
          <a:p>
            <a:pPr marL="342900" indent="-342900">
              <a:lnSpc>
                <a:spcPct val="150000"/>
              </a:lnSpc>
              <a:buFont typeface="Arial" panose="020B0604020202020204" pitchFamily="34" charset="0"/>
              <a:buChar char="•"/>
            </a:pPr>
            <a:endParaRPr kumimoji="1" lang="en-US" altLang="ko-KR" sz="2200" dirty="0">
              <a:latin typeface="Times New Roman" panose="02020603050405020304" pitchFamily="18" charset="0"/>
              <a:cs typeface="Times New Roman" panose="02020603050405020304" pitchFamily="18" charset="0"/>
            </a:endParaRPr>
          </a:p>
          <a:p>
            <a:pPr marL="342900" indent="-342900">
              <a:lnSpc>
                <a:spcPct val="150000"/>
              </a:lnSpc>
              <a:buFont typeface="Wingdings" pitchFamily="2" charset="2"/>
              <a:buChar char="à"/>
            </a:pPr>
            <a:r>
              <a:rPr kumimoji="1" lang="en-US" altLang="ko-KR" sz="2200" dirty="0">
                <a:latin typeface="Times New Roman" panose="02020603050405020304" pitchFamily="18" charset="0"/>
                <a:cs typeface="Times New Roman" panose="02020603050405020304" pitchFamily="18" charset="0"/>
                <a:sym typeface="Wingdings" pitchFamily="2" charset="2"/>
              </a:rPr>
              <a:t>YOLO series</a:t>
            </a:r>
            <a:r>
              <a:rPr kumimoji="1" lang="ko-KR" altLang="en-US" sz="2200" dirty="0">
                <a:latin typeface="Times New Roman" panose="02020603050405020304" pitchFamily="18" charset="0"/>
                <a:cs typeface="Times New Roman" panose="02020603050405020304" pitchFamily="18" charset="0"/>
                <a:sym typeface="Wingdings" pitchFamily="2" charset="2"/>
              </a:rPr>
              <a:t>에서 </a:t>
            </a:r>
            <a:r>
              <a:rPr kumimoji="1" lang="en-US" altLang="ko-KR" sz="2200" dirty="0">
                <a:latin typeface="Times New Roman" panose="02020603050405020304" pitchFamily="18" charset="0"/>
                <a:cs typeface="Times New Roman" panose="02020603050405020304" pitchFamily="18" charset="0"/>
                <a:sym typeface="Wingdings" pitchFamily="2" charset="2"/>
              </a:rPr>
              <a:t>attention mechanism</a:t>
            </a:r>
            <a:r>
              <a:rPr kumimoji="1" lang="ko-KR" altLang="en-US" sz="2200" dirty="0">
                <a:latin typeface="Times New Roman" panose="02020603050405020304" pitchFamily="18" charset="0"/>
                <a:cs typeface="Times New Roman" panose="02020603050405020304" pitchFamily="18" charset="0"/>
                <a:sym typeface="Wingdings" pitchFamily="2" charset="2"/>
              </a:rPr>
              <a:t>이 </a:t>
            </a:r>
            <a:r>
              <a:rPr kumimoji="1" lang="en-US" altLang="ko-KR" sz="2200" dirty="0">
                <a:latin typeface="Times New Roman" panose="02020603050405020304" pitchFamily="18" charset="0"/>
                <a:cs typeface="Times New Roman" panose="02020603050405020304" pitchFamily="18" charset="0"/>
                <a:sym typeface="Wingdings" pitchFamily="2" charset="2"/>
              </a:rPr>
              <a:t>modeling capability</a:t>
            </a:r>
            <a:r>
              <a:rPr kumimoji="1" lang="ko-KR" altLang="en-US" sz="2200" dirty="0">
                <a:latin typeface="Times New Roman" panose="02020603050405020304" pitchFamily="18" charset="0"/>
                <a:cs typeface="Times New Roman" panose="02020603050405020304" pitchFamily="18" charset="0"/>
                <a:sym typeface="Wingdings" pitchFamily="2" charset="2"/>
              </a:rPr>
              <a:t>가 더 좋은데도 불구하고</a:t>
            </a:r>
            <a:r>
              <a:rPr kumimoji="1" lang="en-US" altLang="ko-KR" sz="2200" dirty="0">
                <a:latin typeface="Times New Roman" panose="02020603050405020304" pitchFamily="18" charset="0"/>
                <a:cs typeface="Times New Roman" panose="02020603050405020304" pitchFamily="18" charset="0"/>
                <a:sym typeface="Wingdings" pitchFamily="2" charset="2"/>
              </a:rPr>
              <a:t>, </a:t>
            </a:r>
            <a:r>
              <a:rPr kumimoji="1" lang="ko-KR" altLang="en-US" sz="2200" dirty="0">
                <a:latin typeface="Times New Roman" panose="02020603050405020304" pitchFamily="18" charset="0"/>
                <a:cs typeface="Times New Roman" panose="02020603050405020304" pitchFamily="18" charset="0"/>
                <a:sym typeface="Wingdings" pitchFamily="2" charset="2"/>
              </a:rPr>
              <a:t>집중 </a:t>
            </a:r>
            <a:r>
              <a:rPr kumimoji="1" lang="en-US" altLang="ko-KR" sz="2200" dirty="0">
                <a:latin typeface="Times New Roman" panose="02020603050405020304" pitchFamily="18" charset="0"/>
                <a:cs typeface="Times New Roman" panose="02020603050405020304" pitchFamily="18" charset="0"/>
                <a:sym typeface="Wingdings" pitchFamily="2" charset="2"/>
              </a:rPr>
              <a:t>X</a:t>
            </a:r>
          </a:p>
          <a:p>
            <a:pPr marL="342900" indent="-342900">
              <a:lnSpc>
                <a:spcPct val="150000"/>
              </a:lnSpc>
              <a:buFont typeface="Wingdings" pitchFamily="2" charset="2"/>
              <a:buChar char="à"/>
            </a:pPr>
            <a:r>
              <a:rPr kumimoji="1" lang="ko-KR" altLang="en-US" sz="2200" dirty="0">
                <a:latin typeface="Times New Roman" panose="02020603050405020304" pitchFamily="18" charset="0"/>
                <a:cs typeface="Times New Roman" panose="02020603050405020304" pitchFamily="18" charset="0"/>
                <a:sym typeface="Wingdings" pitchFamily="2" charset="2"/>
              </a:rPr>
              <a:t>이는 </a:t>
            </a:r>
            <a:r>
              <a:rPr kumimoji="1" lang="en-US" altLang="ko-KR" sz="2200" dirty="0">
                <a:latin typeface="Times New Roman" panose="02020603050405020304" pitchFamily="18" charset="0"/>
                <a:cs typeface="Times New Roman" panose="02020603050405020304" pitchFamily="18" charset="0"/>
                <a:sym typeface="Wingdings" pitchFamily="2" charset="2"/>
              </a:rPr>
              <a:t>CNN-based models</a:t>
            </a:r>
            <a:r>
              <a:rPr kumimoji="1" lang="ko-KR" altLang="en-US" sz="2200" dirty="0">
                <a:latin typeface="Times New Roman" panose="02020603050405020304" pitchFamily="18" charset="0"/>
                <a:cs typeface="Times New Roman" panose="02020603050405020304" pitchFamily="18" charset="0"/>
                <a:sym typeface="Wingdings" pitchFamily="2" charset="2"/>
              </a:rPr>
              <a:t>의 속도를 따라가지 못하기 때문</a:t>
            </a:r>
            <a:endParaRPr kumimoji="1" lang="en-US" altLang="ko-KR" sz="2200" dirty="0">
              <a:latin typeface="Times New Roman" panose="02020603050405020304" pitchFamily="18" charset="0"/>
              <a:cs typeface="Times New Roman" panose="02020603050405020304" pitchFamily="18" charset="0"/>
              <a:sym typeface="Wingdings" pitchFamily="2" charset="2"/>
            </a:endParaRPr>
          </a:p>
          <a:p>
            <a:pPr marL="342900" indent="-342900">
              <a:lnSpc>
                <a:spcPct val="150000"/>
              </a:lnSpc>
              <a:buFont typeface="Wingdings" pitchFamily="2" charset="2"/>
              <a:buChar char="à"/>
            </a:pPr>
            <a:endParaRPr kumimoji="1" lang="en-US" altLang="ko-KR" sz="2200" dirty="0">
              <a:latin typeface="Times New Roman" panose="02020603050405020304" pitchFamily="18" charset="0"/>
              <a:cs typeface="Times New Roman" panose="02020603050405020304" pitchFamily="18" charset="0"/>
              <a:sym typeface="Wingdings" pitchFamily="2" charset="2"/>
            </a:endParaRPr>
          </a:p>
          <a:p>
            <a:pPr marL="342900" indent="-342900">
              <a:lnSpc>
                <a:spcPct val="150000"/>
              </a:lnSpc>
              <a:buFont typeface="Wingdings" pitchFamily="2" charset="2"/>
              <a:buChar char="à"/>
            </a:pPr>
            <a:r>
              <a:rPr kumimoji="1" lang="ko-KR" altLang="en-US" sz="2200" dirty="0">
                <a:highlight>
                  <a:srgbClr val="FFFF00"/>
                </a:highlight>
                <a:latin typeface="Times New Roman" panose="02020603050405020304" pitchFamily="18" charset="0"/>
                <a:cs typeface="Times New Roman" panose="02020603050405020304" pitchFamily="18" charset="0"/>
                <a:sym typeface="Wingdings" pitchFamily="2" charset="2"/>
              </a:rPr>
              <a:t>무엇이 </a:t>
            </a:r>
            <a:r>
              <a:rPr kumimoji="1" lang="en-US" altLang="ko-KR" sz="2200" dirty="0">
                <a:highlight>
                  <a:srgbClr val="FFFF00"/>
                </a:highlight>
                <a:latin typeface="Times New Roman" panose="02020603050405020304" pitchFamily="18" charset="0"/>
                <a:cs typeface="Times New Roman" panose="02020603050405020304" pitchFamily="18" charset="0"/>
                <a:sym typeface="Wingdings" pitchFamily="2" charset="2"/>
              </a:rPr>
              <a:t>attention mechanism</a:t>
            </a:r>
            <a:r>
              <a:rPr kumimoji="1" lang="ko-KR" altLang="en-US" sz="2200" dirty="0">
                <a:highlight>
                  <a:srgbClr val="FFFF00"/>
                </a:highlight>
                <a:latin typeface="Times New Roman" panose="02020603050405020304" pitchFamily="18" charset="0"/>
                <a:cs typeface="Times New Roman" panose="02020603050405020304" pitchFamily="18" charset="0"/>
                <a:sym typeface="Wingdings" pitchFamily="2" charset="2"/>
              </a:rPr>
              <a:t>을 느리게 만드는지</a:t>
            </a:r>
            <a:r>
              <a:rPr kumimoji="1" lang="en-US" altLang="ko-KR" sz="2200" dirty="0">
                <a:highlight>
                  <a:srgbClr val="FFFF00"/>
                </a:highlight>
                <a:latin typeface="Times New Roman" panose="02020603050405020304" pitchFamily="18" charset="0"/>
                <a:cs typeface="Times New Roman" panose="02020603050405020304" pitchFamily="18" charset="0"/>
                <a:sym typeface="Wingdings" pitchFamily="2" charset="2"/>
              </a:rPr>
              <a:t> </a:t>
            </a:r>
            <a:r>
              <a:rPr kumimoji="1" lang="ko-KR" altLang="en-US" sz="2200" dirty="0">
                <a:highlight>
                  <a:srgbClr val="FFFF00"/>
                </a:highlight>
                <a:latin typeface="Times New Roman" panose="02020603050405020304" pitchFamily="18" charset="0"/>
                <a:cs typeface="Times New Roman" panose="02020603050405020304" pitchFamily="18" charset="0"/>
                <a:sym typeface="Wingdings" pitchFamily="2" charset="2"/>
              </a:rPr>
              <a:t>분석 후</a:t>
            </a:r>
            <a:r>
              <a:rPr kumimoji="1" lang="en-US" altLang="ko-KR" sz="2200" dirty="0">
                <a:highlight>
                  <a:srgbClr val="FFFF00"/>
                </a:highlight>
                <a:latin typeface="Times New Roman" panose="02020603050405020304" pitchFamily="18" charset="0"/>
                <a:cs typeface="Times New Roman" panose="02020603050405020304" pitchFamily="18" charset="0"/>
                <a:sym typeface="Wingdings" pitchFamily="2" charset="2"/>
              </a:rPr>
              <a:t>,</a:t>
            </a:r>
          </a:p>
          <a:p>
            <a:pPr marL="342900" indent="-342900">
              <a:lnSpc>
                <a:spcPct val="150000"/>
              </a:lnSpc>
              <a:buFont typeface="Wingdings" pitchFamily="2" charset="2"/>
              <a:buChar char="à"/>
            </a:pPr>
            <a:r>
              <a:rPr kumimoji="1" lang="ko-KR" altLang="en-US" sz="2200" dirty="0">
                <a:highlight>
                  <a:srgbClr val="FFFF00"/>
                </a:highlight>
                <a:latin typeface="Times New Roman" panose="02020603050405020304" pitchFamily="18" charset="0"/>
                <a:cs typeface="Times New Roman" panose="02020603050405020304" pitchFamily="18" charset="0"/>
                <a:sym typeface="Wingdings" pitchFamily="2" charset="2"/>
              </a:rPr>
              <a:t>이를 개선하여 </a:t>
            </a:r>
            <a:r>
              <a:rPr kumimoji="1" lang="en-US" altLang="ko-KR" sz="2200" dirty="0">
                <a:highlight>
                  <a:srgbClr val="FFFF00"/>
                </a:highlight>
                <a:latin typeface="Times New Roman" panose="02020603050405020304" pitchFamily="18" charset="0"/>
                <a:cs typeface="Times New Roman" panose="02020603050405020304" pitchFamily="18" charset="0"/>
                <a:sym typeface="Wingdings" pitchFamily="2" charset="2"/>
              </a:rPr>
              <a:t>attention-centric YOLO framework, namely YOLOv12</a:t>
            </a:r>
            <a:r>
              <a:rPr kumimoji="1" lang="ko-KR" altLang="en-US" sz="2200" dirty="0">
                <a:highlight>
                  <a:srgbClr val="FFFF00"/>
                </a:highlight>
                <a:latin typeface="Times New Roman" panose="02020603050405020304" pitchFamily="18" charset="0"/>
                <a:cs typeface="Times New Roman" panose="02020603050405020304" pitchFamily="18" charset="0"/>
                <a:sym typeface="Wingdings" pitchFamily="2" charset="2"/>
              </a:rPr>
              <a:t> 을 제안</a:t>
            </a:r>
            <a:endParaRPr kumimoji="1" lang="en-US" altLang="ko-KR" sz="2200" dirty="0">
              <a:highlight>
                <a:srgbClr val="FFFF00"/>
              </a:highlight>
              <a:latin typeface="Times New Roman" panose="02020603050405020304" pitchFamily="18" charset="0"/>
              <a:cs typeface="Times New Roman" panose="02020603050405020304" pitchFamily="18" charset="0"/>
              <a:sym typeface="Wingdings" pitchFamily="2" charset="2"/>
            </a:endParaRPr>
          </a:p>
        </p:txBody>
      </p:sp>
    </p:spTree>
    <p:extLst>
      <p:ext uri="{BB962C8B-B14F-4D97-AF65-F5344CB8AC3E}">
        <p14:creationId xmlns:p14="http://schemas.microsoft.com/office/powerpoint/2010/main" val="25167103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B9DE43-6446-7E97-05B9-A3C9453C1E09}"/>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8" name="직사각형 27">
                <a:extLst>
                  <a:ext uri="{FF2B5EF4-FFF2-40B4-BE49-F238E27FC236}">
                    <a16:creationId xmlns:a16="http://schemas.microsoft.com/office/drawing/2014/main" id="{7E378AA0-3799-5BAF-A7BA-18D90AFE1936}"/>
                  </a:ext>
                </a:extLst>
              </p:cNvPr>
              <p:cNvSpPr/>
              <p:nvPr/>
            </p:nvSpPr>
            <p:spPr>
              <a:xfrm>
                <a:off x="2544601" y="3830386"/>
                <a:ext cx="883096" cy="1725105"/>
              </a:xfrm>
              <a:prstGeom prst="rect">
                <a:avLst/>
              </a:prstGeom>
              <a:solidFill>
                <a:schemeClr val="accent1">
                  <a:alpha val="50000"/>
                </a:schemeClr>
              </a:solidFill>
              <a:ln w="19050"/>
            </p:spPr>
            <p:style>
              <a:lnRef idx="2">
                <a:schemeClr val="accent1">
                  <a:shade val="15000"/>
                </a:schemeClr>
              </a:lnRef>
              <a:fillRef idx="1">
                <a:schemeClr val="accent1"/>
              </a:fillRef>
              <a:effectRef idx="0">
                <a:schemeClr val="accent1"/>
              </a:effectRef>
              <a:fontRef idx="minor">
                <a:schemeClr val="lt1"/>
              </a:fontRef>
            </p:style>
            <p:txBody>
              <a:bodyPr lIns="46800" tIns="46800" rIns="46800" rtlCol="0" anchor="ctr"/>
              <a:lstStyle/>
              <a:p>
                <a:pPr algn="ctr"/>
                <a14:m>
                  <m:oMathPara xmlns:m="http://schemas.openxmlformats.org/officeDocument/2006/math">
                    <m:oMathParaPr>
                      <m:jc m:val="center"/>
                    </m:oMathParaPr>
                    <m:oMath xmlns:m="http://schemas.openxmlformats.org/officeDocument/2006/math">
                      <m:r>
                        <a:rPr kumimoji="1" lang="en-US" altLang="ko-KR" sz="2000" b="0" i="1" dirty="0" smtClean="0">
                          <a:solidFill>
                            <a:schemeClr val="tx1"/>
                          </a:solidFill>
                          <a:latin typeface="Cambria Math" panose="02040503050406030204" pitchFamily="18" charset="0"/>
                        </a:rPr>
                        <m:t>𝑁</m:t>
                      </m:r>
                      <m:r>
                        <a:rPr kumimoji="1" lang="en-US" altLang="ko-KR" sz="2000" b="0" i="1" dirty="0" smtClean="0">
                          <a:solidFill>
                            <a:schemeClr val="tx1"/>
                          </a:solidFill>
                          <a:latin typeface="Cambria Math" panose="02040503050406030204" pitchFamily="18" charset="0"/>
                        </a:rPr>
                        <m:t> × </m:t>
                      </m:r>
                      <m:r>
                        <a:rPr kumimoji="1" lang="en-US" altLang="ko-KR" sz="2000" b="0" i="1" dirty="0" smtClean="0">
                          <a:solidFill>
                            <a:schemeClr val="tx1"/>
                          </a:solidFill>
                          <a:latin typeface="Cambria Math" panose="02040503050406030204" pitchFamily="18" charset="0"/>
                        </a:rPr>
                        <m:t>𝑑</m:t>
                      </m:r>
                    </m:oMath>
                  </m:oMathPara>
                </a14:m>
                <a:endParaRPr kumimoji="1" lang="ko-KR" altLang="en-US" sz="2000" dirty="0">
                  <a:solidFill>
                    <a:schemeClr val="tx1"/>
                  </a:solidFill>
                </a:endParaRPr>
              </a:p>
            </p:txBody>
          </p:sp>
        </mc:Choice>
        <mc:Fallback xmlns="">
          <p:sp>
            <p:nvSpPr>
              <p:cNvPr id="28" name="직사각형 27">
                <a:extLst>
                  <a:ext uri="{FF2B5EF4-FFF2-40B4-BE49-F238E27FC236}">
                    <a16:creationId xmlns:a16="http://schemas.microsoft.com/office/drawing/2014/main" id="{7E378AA0-3799-5BAF-A7BA-18D90AFE1936}"/>
                  </a:ext>
                </a:extLst>
              </p:cNvPr>
              <p:cNvSpPr>
                <a:spLocks noRot="1" noChangeAspect="1" noMove="1" noResize="1" noEditPoints="1" noAdjustHandles="1" noChangeArrowheads="1" noChangeShapeType="1" noTextEdit="1"/>
              </p:cNvSpPr>
              <p:nvPr/>
            </p:nvSpPr>
            <p:spPr>
              <a:xfrm>
                <a:off x="2544601" y="3830386"/>
                <a:ext cx="883096" cy="1725105"/>
              </a:xfrm>
              <a:prstGeom prst="rect">
                <a:avLst/>
              </a:prstGeom>
              <a:blipFill>
                <a:blip r:embed="rId3"/>
                <a:stretch>
                  <a:fillRect/>
                </a:stretch>
              </a:blipFill>
              <a:ln w="19050"/>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29" name="직사각형 28">
                <a:extLst>
                  <a:ext uri="{FF2B5EF4-FFF2-40B4-BE49-F238E27FC236}">
                    <a16:creationId xmlns:a16="http://schemas.microsoft.com/office/drawing/2014/main" id="{B6AF1D8C-FE5E-CDCA-43E3-FCE72EE3CB6B}"/>
                  </a:ext>
                </a:extLst>
              </p:cNvPr>
              <p:cNvSpPr/>
              <p:nvPr/>
            </p:nvSpPr>
            <p:spPr>
              <a:xfrm rot="16200000">
                <a:off x="4379780" y="4094863"/>
                <a:ext cx="883096" cy="1725105"/>
              </a:xfrm>
              <a:prstGeom prst="rect">
                <a:avLst/>
              </a:prstGeom>
              <a:solidFill>
                <a:schemeClr val="accent6">
                  <a:alpha val="50000"/>
                </a:schemeClr>
              </a:solidFill>
              <a:ln w="19050"/>
            </p:spPr>
            <p:style>
              <a:lnRef idx="2">
                <a:schemeClr val="accent1">
                  <a:shade val="15000"/>
                </a:schemeClr>
              </a:lnRef>
              <a:fillRef idx="1">
                <a:schemeClr val="accent1"/>
              </a:fillRef>
              <a:effectRef idx="0">
                <a:schemeClr val="accent1"/>
              </a:effectRef>
              <a:fontRef idx="minor">
                <a:schemeClr val="lt1"/>
              </a:fontRef>
            </p:style>
            <p:txBody>
              <a:bodyPr vert="eaVert" lIns="46800" tIns="46800" rIns="46800" rtlCol="0" anchor="ctr"/>
              <a:lstStyle/>
              <a:p>
                <a:pPr algn="ctr"/>
                <a14:m>
                  <m:oMathPara xmlns:m="http://schemas.openxmlformats.org/officeDocument/2006/math">
                    <m:oMathParaPr>
                      <m:jc m:val="center"/>
                    </m:oMathParaPr>
                    <m:oMath xmlns:m="http://schemas.openxmlformats.org/officeDocument/2006/math">
                      <m:r>
                        <a:rPr kumimoji="1" lang="en-US" altLang="ko-KR" sz="2000" b="0" i="1" dirty="0" smtClean="0">
                          <a:solidFill>
                            <a:schemeClr val="tx1"/>
                          </a:solidFill>
                          <a:latin typeface="Cambria Math" panose="02040503050406030204" pitchFamily="18" charset="0"/>
                        </a:rPr>
                        <m:t>𝑑</m:t>
                      </m:r>
                      <m:r>
                        <a:rPr kumimoji="1" lang="en-US" altLang="ko-KR" sz="2000" i="1" dirty="0">
                          <a:solidFill>
                            <a:schemeClr val="tx1"/>
                          </a:solidFill>
                          <a:latin typeface="Cambria Math" panose="02040503050406030204" pitchFamily="18" charset="0"/>
                        </a:rPr>
                        <m:t> × </m:t>
                      </m:r>
                      <m:r>
                        <a:rPr kumimoji="1" lang="en-US" altLang="ko-KR" sz="2000" b="0" i="1" dirty="0" smtClean="0">
                          <a:solidFill>
                            <a:schemeClr val="tx1"/>
                          </a:solidFill>
                          <a:latin typeface="Cambria Math" panose="02040503050406030204" pitchFamily="18" charset="0"/>
                        </a:rPr>
                        <m:t>𝑁</m:t>
                      </m:r>
                    </m:oMath>
                  </m:oMathPara>
                </a14:m>
                <a:endParaRPr kumimoji="1" lang="ko-KR" altLang="en-US" sz="2000" dirty="0">
                  <a:solidFill>
                    <a:schemeClr val="tx1"/>
                  </a:solidFill>
                </a:endParaRPr>
              </a:p>
            </p:txBody>
          </p:sp>
        </mc:Choice>
        <mc:Fallback xmlns="">
          <p:sp>
            <p:nvSpPr>
              <p:cNvPr id="29" name="직사각형 28">
                <a:extLst>
                  <a:ext uri="{FF2B5EF4-FFF2-40B4-BE49-F238E27FC236}">
                    <a16:creationId xmlns:a16="http://schemas.microsoft.com/office/drawing/2014/main" id="{B6AF1D8C-FE5E-CDCA-43E3-FCE72EE3CB6B}"/>
                  </a:ext>
                </a:extLst>
              </p:cNvPr>
              <p:cNvSpPr>
                <a:spLocks noRot="1" noChangeAspect="1" noMove="1" noResize="1" noEditPoints="1" noAdjustHandles="1" noChangeArrowheads="1" noChangeShapeType="1" noTextEdit="1"/>
              </p:cNvSpPr>
              <p:nvPr/>
            </p:nvSpPr>
            <p:spPr>
              <a:xfrm rot="16200000">
                <a:off x="4379780" y="4094863"/>
                <a:ext cx="883096" cy="1725105"/>
              </a:xfrm>
              <a:prstGeom prst="rect">
                <a:avLst/>
              </a:prstGeom>
              <a:blipFill>
                <a:blip r:embed="rId4"/>
                <a:stretch>
                  <a:fillRect/>
                </a:stretch>
              </a:blipFill>
              <a:ln w="19050"/>
            </p:spPr>
            <p:txBody>
              <a:bodyPr/>
              <a:lstStyle/>
              <a:p>
                <a:r>
                  <a:rPr lang="ko-KR" altLang="en-US">
                    <a:noFill/>
                  </a:rPr>
                  <a:t> </a:t>
                </a:r>
              </a:p>
            </p:txBody>
          </p:sp>
        </mc:Fallback>
      </mc:AlternateContent>
      <p:sp>
        <p:nvSpPr>
          <p:cNvPr id="30" name="곱하기 29">
            <a:extLst>
              <a:ext uri="{FF2B5EF4-FFF2-40B4-BE49-F238E27FC236}">
                <a16:creationId xmlns:a16="http://schemas.microsoft.com/office/drawing/2014/main" id="{6808151A-3962-A584-BAF5-188632600B90}"/>
              </a:ext>
            </a:extLst>
          </p:cNvPr>
          <p:cNvSpPr/>
          <p:nvPr/>
        </p:nvSpPr>
        <p:spPr>
          <a:xfrm>
            <a:off x="3473231" y="4451068"/>
            <a:ext cx="440010" cy="483739"/>
          </a:xfrm>
          <a:prstGeom prst="mathMultiply">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b="0" i="1" dirty="0">
              <a:latin typeface="Cambria Math" panose="02040503050406030204" pitchFamily="18" charset="0"/>
            </a:endParaRPr>
          </a:p>
        </p:txBody>
      </p:sp>
      <p:sp>
        <p:nvSpPr>
          <p:cNvPr id="31" name="직사각형 30">
            <a:extLst>
              <a:ext uri="{FF2B5EF4-FFF2-40B4-BE49-F238E27FC236}">
                <a16:creationId xmlns:a16="http://schemas.microsoft.com/office/drawing/2014/main" id="{0F43714E-4B44-AD06-A60A-66C937ABAC03}"/>
              </a:ext>
            </a:extLst>
          </p:cNvPr>
          <p:cNvSpPr/>
          <p:nvPr/>
        </p:nvSpPr>
        <p:spPr>
          <a:xfrm>
            <a:off x="2407084" y="3655146"/>
            <a:ext cx="3384223" cy="2075584"/>
          </a:xfrm>
          <a:prstGeom prst="rect">
            <a:avLst/>
          </a:prstGeom>
          <a:noFill/>
          <a:ln w="19050" cap="rnd">
            <a:prstDash val="dash"/>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b="0" i="1" dirty="0">
              <a:latin typeface="Cambria Math" panose="02040503050406030204" pitchFamily="18" charset="0"/>
            </a:endParaRPr>
          </a:p>
        </p:txBody>
      </p:sp>
      <mc:AlternateContent xmlns:mc="http://schemas.openxmlformats.org/markup-compatibility/2006" xmlns:a14="http://schemas.microsoft.com/office/drawing/2010/main">
        <mc:Choice Requires="a14">
          <p:sp>
            <p:nvSpPr>
              <p:cNvPr id="32" name="직사각형 31">
                <a:extLst>
                  <a:ext uri="{FF2B5EF4-FFF2-40B4-BE49-F238E27FC236}">
                    <a16:creationId xmlns:a16="http://schemas.microsoft.com/office/drawing/2014/main" id="{92ED40CC-3ECA-8EE5-19A4-4C46E9FE1106}"/>
                  </a:ext>
                </a:extLst>
              </p:cNvPr>
              <p:cNvSpPr/>
              <p:nvPr/>
            </p:nvSpPr>
            <p:spPr>
              <a:xfrm>
                <a:off x="3550860" y="5527604"/>
                <a:ext cx="1096670" cy="4007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14:m>
                  <m:oMathPara xmlns:m="http://schemas.openxmlformats.org/officeDocument/2006/math">
                    <m:oMathParaPr>
                      <m:jc m:val="centerGroup"/>
                    </m:oMathParaPr>
                    <m:oMath xmlns:m="http://schemas.openxmlformats.org/officeDocument/2006/math">
                      <m:r>
                        <a:rPr kumimoji="1" lang="en-US" altLang="ko-KR" b="0" i="1" dirty="0" smtClean="0">
                          <a:solidFill>
                            <a:schemeClr val="tx1"/>
                          </a:solidFill>
                          <a:latin typeface="Cambria Math" panose="02040503050406030204" pitchFamily="18" charset="0"/>
                        </a:rPr>
                        <m:t>𝑆𝑜𝑓𝑡𝑚𝑎𝑥</m:t>
                      </m:r>
                    </m:oMath>
                  </m:oMathPara>
                </a14:m>
                <a:endParaRPr kumimoji="1" lang="ko-KR" altLang="en-US" b="0" i="1" dirty="0">
                  <a:solidFill>
                    <a:schemeClr val="tx1"/>
                  </a:solidFill>
                  <a:latin typeface="Cambria Math" panose="02040503050406030204" pitchFamily="18" charset="0"/>
                </a:endParaRPr>
              </a:p>
            </p:txBody>
          </p:sp>
        </mc:Choice>
        <mc:Fallback xmlns="">
          <p:sp>
            <p:nvSpPr>
              <p:cNvPr id="32" name="직사각형 31">
                <a:extLst>
                  <a:ext uri="{FF2B5EF4-FFF2-40B4-BE49-F238E27FC236}">
                    <a16:creationId xmlns:a16="http://schemas.microsoft.com/office/drawing/2014/main" id="{92ED40CC-3ECA-8EE5-19A4-4C46E9FE1106}"/>
                  </a:ext>
                </a:extLst>
              </p:cNvPr>
              <p:cNvSpPr>
                <a:spLocks noRot="1" noChangeAspect="1" noMove="1" noResize="1" noEditPoints="1" noAdjustHandles="1" noChangeArrowheads="1" noChangeShapeType="1" noTextEdit="1"/>
              </p:cNvSpPr>
              <p:nvPr/>
            </p:nvSpPr>
            <p:spPr>
              <a:xfrm>
                <a:off x="3550860" y="5527604"/>
                <a:ext cx="1096670" cy="400725"/>
              </a:xfrm>
              <a:prstGeom prst="rect">
                <a:avLst/>
              </a:prstGeom>
              <a:blipFill>
                <a:blip r:embed="rId5"/>
                <a:stretch>
                  <a:fillRect l="-3448" b="-9375"/>
                </a:stretch>
              </a:blipFill>
              <a:ln>
                <a:noFill/>
              </a:ln>
            </p:spPr>
            <p:txBody>
              <a:bodyPr/>
              <a:lstStyle/>
              <a:p>
                <a:r>
                  <a:rPr lang="ko-KR" altLang="en-US">
                    <a:noFill/>
                  </a:rPr>
                  <a:t> </a:t>
                </a:r>
              </a:p>
            </p:txBody>
          </p:sp>
        </mc:Fallback>
      </mc:AlternateContent>
      <p:sp>
        <p:nvSpPr>
          <p:cNvPr id="33" name="곱하기 32">
            <a:extLst>
              <a:ext uri="{FF2B5EF4-FFF2-40B4-BE49-F238E27FC236}">
                <a16:creationId xmlns:a16="http://schemas.microsoft.com/office/drawing/2014/main" id="{FE8EF1DC-83D5-FFDF-A124-2D57A1049FC5}"/>
              </a:ext>
            </a:extLst>
          </p:cNvPr>
          <p:cNvSpPr/>
          <p:nvPr/>
        </p:nvSpPr>
        <p:spPr>
          <a:xfrm>
            <a:off x="5836841" y="4451067"/>
            <a:ext cx="440010" cy="483739"/>
          </a:xfrm>
          <a:prstGeom prst="mathMultiply">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b="0" i="1" dirty="0">
              <a:latin typeface="Cambria Math" panose="02040503050406030204" pitchFamily="18" charset="0"/>
            </a:endParaRPr>
          </a:p>
        </p:txBody>
      </p:sp>
      <mc:AlternateContent xmlns:mc="http://schemas.openxmlformats.org/markup-compatibility/2006" xmlns:a14="http://schemas.microsoft.com/office/drawing/2010/main">
        <mc:Choice Requires="a14">
          <p:sp>
            <p:nvSpPr>
              <p:cNvPr id="34" name="직사각형 33">
                <a:extLst>
                  <a:ext uri="{FF2B5EF4-FFF2-40B4-BE49-F238E27FC236}">
                    <a16:creationId xmlns:a16="http://schemas.microsoft.com/office/drawing/2014/main" id="{1B99D6BF-CC42-4D34-07B5-F1EFDDD43D24}"/>
                  </a:ext>
                </a:extLst>
              </p:cNvPr>
              <p:cNvSpPr/>
              <p:nvPr/>
            </p:nvSpPr>
            <p:spPr>
              <a:xfrm>
                <a:off x="6322385" y="3830386"/>
                <a:ext cx="883096" cy="1725105"/>
              </a:xfrm>
              <a:prstGeom prst="rect">
                <a:avLst/>
              </a:prstGeom>
              <a:solidFill>
                <a:schemeClr val="accent4">
                  <a:alpha val="50000"/>
                </a:schemeClr>
              </a:solidFill>
              <a:ln w="19050"/>
            </p:spPr>
            <p:style>
              <a:lnRef idx="2">
                <a:schemeClr val="accent1">
                  <a:shade val="15000"/>
                </a:schemeClr>
              </a:lnRef>
              <a:fillRef idx="1">
                <a:schemeClr val="accent1"/>
              </a:fillRef>
              <a:effectRef idx="0">
                <a:schemeClr val="accent1"/>
              </a:effectRef>
              <a:fontRef idx="minor">
                <a:schemeClr val="lt1"/>
              </a:fontRef>
            </p:style>
            <p:txBody>
              <a:bodyPr lIns="46800" tIns="46800" rIns="46800" rtlCol="0" anchor="ctr"/>
              <a:lstStyle/>
              <a:p>
                <a:pPr algn="ctr"/>
                <a14:m>
                  <m:oMathPara xmlns:m="http://schemas.openxmlformats.org/officeDocument/2006/math">
                    <m:oMathParaPr>
                      <m:jc m:val="center"/>
                    </m:oMathParaPr>
                    <m:oMath xmlns:m="http://schemas.openxmlformats.org/officeDocument/2006/math">
                      <m:r>
                        <a:rPr kumimoji="1" lang="en-US" altLang="ko-KR" sz="2000" b="0" i="1" dirty="0" smtClean="0">
                          <a:solidFill>
                            <a:schemeClr val="tx1"/>
                          </a:solidFill>
                          <a:latin typeface="Cambria Math" panose="02040503050406030204" pitchFamily="18" charset="0"/>
                        </a:rPr>
                        <m:t>𝑁</m:t>
                      </m:r>
                      <m:r>
                        <a:rPr kumimoji="1" lang="en-US" altLang="ko-KR" sz="2000" b="0" i="1" dirty="0" smtClean="0">
                          <a:solidFill>
                            <a:schemeClr val="tx1"/>
                          </a:solidFill>
                          <a:latin typeface="Cambria Math" panose="02040503050406030204" pitchFamily="18" charset="0"/>
                        </a:rPr>
                        <m:t> × </m:t>
                      </m:r>
                      <m:r>
                        <a:rPr kumimoji="1" lang="en-US" altLang="ko-KR" sz="2000" b="0" i="1" dirty="0" smtClean="0">
                          <a:solidFill>
                            <a:schemeClr val="tx1"/>
                          </a:solidFill>
                          <a:latin typeface="Cambria Math" panose="02040503050406030204" pitchFamily="18" charset="0"/>
                        </a:rPr>
                        <m:t>𝑑</m:t>
                      </m:r>
                    </m:oMath>
                  </m:oMathPara>
                </a14:m>
                <a:endParaRPr kumimoji="1" lang="ko-KR" altLang="en-US" sz="2000" dirty="0">
                  <a:solidFill>
                    <a:schemeClr val="tx1"/>
                  </a:solidFill>
                </a:endParaRPr>
              </a:p>
            </p:txBody>
          </p:sp>
        </mc:Choice>
        <mc:Fallback xmlns="">
          <p:sp>
            <p:nvSpPr>
              <p:cNvPr id="34" name="직사각형 33">
                <a:extLst>
                  <a:ext uri="{FF2B5EF4-FFF2-40B4-BE49-F238E27FC236}">
                    <a16:creationId xmlns:a16="http://schemas.microsoft.com/office/drawing/2014/main" id="{1B99D6BF-CC42-4D34-07B5-F1EFDDD43D24}"/>
                  </a:ext>
                </a:extLst>
              </p:cNvPr>
              <p:cNvSpPr>
                <a:spLocks noRot="1" noChangeAspect="1" noMove="1" noResize="1" noEditPoints="1" noAdjustHandles="1" noChangeArrowheads="1" noChangeShapeType="1" noTextEdit="1"/>
              </p:cNvSpPr>
              <p:nvPr/>
            </p:nvSpPr>
            <p:spPr>
              <a:xfrm>
                <a:off x="6322385" y="3830386"/>
                <a:ext cx="883096" cy="1725105"/>
              </a:xfrm>
              <a:prstGeom prst="rect">
                <a:avLst/>
              </a:prstGeom>
              <a:blipFill>
                <a:blip r:embed="rId6"/>
                <a:stretch>
                  <a:fillRect/>
                </a:stretch>
              </a:blipFill>
              <a:ln w="19050"/>
            </p:spPr>
            <p:txBody>
              <a:bodyPr/>
              <a:lstStyle/>
              <a:p>
                <a:r>
                  <a:rPr lang="ko-KR" altLang="en-US">
                    <a:noFill/>
                  </a:rPr>
                  <a:t> </a:t>
                </a:r>
              </a:p>
            </p:txBody>
          </p:sp>
        </mc:Fallback>
      </mc:AlternateContent>
      <p:sp>
        <p:nvSpPr>
          <p:cNvPr id="35" name="직사각형 34">
            <a:extLst>
              <a:ext uri="{FF2B5EF4-FFF2-40B4-BE49-F238E27FC236}">
                <a16:creationId xmlns:a16="http://schemas.microsoft.com/office/drawing/2014/main" id="{A532BC98-C619-1C4E-987E-AB359947B1A5}"/>
              </a:ext>
            </a:extLst>
          </p:cNvPr>
          <p:cNvSpPr/>
          <p:nvPr/>
        </p:nvSpPr>
        <p:spPr>
          <a:xfrm>
            <a:off x="2266663" y="3247927"/>
            <a:ext cx="5117774" cy="2680401"/>
          </a:xfrm>
          <a:prstGeom prst="rect">
            <a:avLst/>
          </a:prstGeom>
          <a:noFill/>
          <a:ln w="19050" cap="rnd">
            <a:prstDash val="dash"/>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b="0" i="1" dirty="0">
              <a:latin typeface="Cambria Math" panose="02040503050406030204" pitchFamily="18" charset="0"/>
            </a:endParaRPr>
          </a:p>
        </p:txBody>
      </p:sp>
      <mc:AlternateContent xmlns:mc="http://schemas.openxmlformats.org/markup-compatibility/2006" xmlns:a14="http://schemas.microsoft.com/office/drawing/2010/main">
        <mc:Choice Requires="a14">
          <p:sp>
            <p:nvSpPr>
              <p:cNvPr id="36" name="직사각형 35">
                <a:extLst>
                  <a:ext uri="{FF2B5EF4-FFF2-40B4-BE49-F238E27FC236}">
                    <a16:creationId xmlns:a16="http://schemas.microsoft.com/office/drawing/2014/main" id="{7E8E0B24-ED22-ABCF-F6AB-2ADAC5E6B62F}"/>
                  </a:ext>
                </a:extLst>
              </p:cNvPr>
              <p:cNvSpPr/>
              <p:nvPr/>
            </p:nvSpPr>
            <p:spPr>
              <a:xfrm>
                <a:off x="2437814" y="5979013"/>
                <a:ext cx="1096670" cy="4007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14:m>
                  <m:oMathPara xmlns:m="http://schemas.openxmlformats.org/officeDocument/2006/math">
                    <m:oMathParaPr>
                      <m:jc m:val="centerGroup"/>
                    </m:oMathParaPr>
                    <m:oMath xmlns:m="http://schemas.openxmlformats.org/officeDocument/2006/math">
                      <m:r>
                        <a:rPr kumimoji="1" lang="en-US" altLang="ko-KR" sz="2500" b="0" i="1" smtClean="0">
                          <a:solidFill>
                            <a:schemeClr val="tx1"/>
                          </a:solidFill>
                          <a:latin typeface="Cambria Math" panose="02040503050406030204" pitchFamily="18" charset="0"/>
                        </a:rPr>
                        <m:t>𝑄</m:t>
                      </m:r>
                    </m:oMath>
                  </m:oMathPara>
                </a14:m>
                <a:endParaRPr kumimoji="1" lang="ko-KR" altLang="en-US" sz="2500" i="1" dirty="0">
                  <a:solidFill>
                    <a:schemeClr val="tx1"/>
                  </a:solidFill>
                  <a:latin typeface="Cambria Math" panose="02040503050406030204" pitchFamily="18" charset="0"/>
                </a:endParaRPr>
              </a:p>
            </p:txBody>
          </p:sp>
        </mc:Choice>
        <mc:Fallback xmlns="">
          <p:sp>
            <p:nvSpPr>
              <p:cNvPr id="36" name="직사각형 35">
                <a:extLst>
                  <a:ext uri="{FF2B5EF4-FFF2-40B4-BE49-F238E27FC236}">
                    <a16:creationId xmlns:a16="http://schemas.microsoft.com/office/drawing/2014/main" id="{7E8E0B24-ED22-ABCF-F6AB-2ADAC5E6B62F}"/>
                  </a:ext>
                </a:extLst>
              </p:cNvPr>
              <p:cNvSpPr>
                <a:spLocks noRot="1" noChangeAspect="1" noMove="1" noResize="1" noEditPoints="1" noAdjustHandles="1" noChangeArrowheads="1" noChangeShapeType="1" noTextEdit="1"/>
              </p:cNvSpPr>
              <p:nvPr/>
            </p:nvSpPr>
            <p:spPr>
              <a:xfrm>
                <a:off x="2437814" y="5979013"/>
                <a:ext cx="1096670" cy="400725"/>
              </a:xfrm>
              <a:prstGeom prst="rect">
                <a:avLst/>
              </a:prstGeom>
              <a:blipFill>
                <a:blip r:embed="rId7"/>
                <a:stretch>
                  <a:fillRect b="-24242"/>
                </a:stretch>
              </a:blipFill>
              <a:ln>
                <a:no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37" name="직사각형 36">
                <a:extLst>
                  <a:ext uri="{FF2B5EF4-FFF2-40B4-BE49-F238E27FC236}">
                    <a16:creationId xmlns:a16="http://schemas.microsoft.com/office/drawing/2014/main" id="{288BBF87-4ED9-DFEF-F5A3-241FD0D5838B}"/>
                  </a:ext>
                </a:extLst>
              </p:cNvPr>
              <p:cNvSpPr/>
              <p:nvPr/>
            </p:nvSpPr>
            <p:spPr>
              <a:xfrm>
                <a:off x="4272993" y="5979013"/>
                <a:ext cx="1096670" cy="4007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14:m>
                  <m:oMathPara xmlns:m="http://schemas.openxmlformats.org/officeDocument/2006/math">
                    <m:oMathParaPr>
                      <m:jc m:val="centerGroup"/>
                    </m:oMathParaPr>
                    <m:oMath xmlns:m="http://schemas.openxmlformats.org/officeDocument/2006/math">
                      <m:sSup>
                        <m:sSupPr>
                          <m:ctrlPr>
                            <a:rPr kumimoji="1" lang="en-US" altLang="ko-KR" sz="2500" b="0" i="1" smtClean="0">
                              <a:solidFill>
                                <a:schemeClr val="tx1"/>
                              </a:solidFill>
                              <a:latin typeface="Cambria Math" panose="02040503050406030204" pitchFamily="18" charset="0"/>
                            </a:rPr>
                          </m:ctrlPr>
                        </m:sSupPr>
                        <m:e>
                          <m:r>
                            <a:rPr kumimoji="1" lang="en-US" altLang="ko-KR" sz="2500" b="0" i="1" smtClean="0">
                              <a:solidFill>
                                <a:schemeClr val="tx1"/>
                              </a:solidFill>
                              <a:latin typeface="Cambria Math" panose="02040503050406030204" pitchFamily="18" charset="0"/>
                            </a:rPr>
                            <m:t>𝐾</m:t>
                          </m:r>
                        </m:e>
                        <m:sup>
                          <m:r>
                            <a:rPr kumimoji="1" lang="en-US" altLang="ko-KR" sz="2500" b="0" i="1" smtClean="0">
                              <a:solidFill>
                                <a:schemeClr val="tx1"/>
                              </a:solidFill>
                              <a:latin typeface="Cambria Math" panose="02040503050406030204" pitchFamily="18" charset="0"/>
                            </a:rPr>
                            <m:t>𝑇</m:t>
                          </m:r>
                        </m:sup>
                      </m:sSup>
                    </m:oMath>
                  </m:oMathPara>
                </a14:m>
                <a:endParaRPr kumimoji="1" lang="ko-KR" altLang="en-US" sz="2500" i="1" dirty="0">
                  <a:solidFill>
                    <a:schemeClr val="tx1"/>
                  </a:solidFill>
                  <a:latin typeface="Cambria Math" panose="02040503050406030204" pitchFamily="18" charset="0"/>
                </a:endParaRPr>
              </a:p>
            </p:txBody>
          </p:sp>
        </mc:Choice>
        <mc:Fallback xmlns="">
          <p:sp>
            <p:nvSpPr>
              <p:cNvPr id="37" name="직사각형 36">
                <a:extLst>
                  <a:ext uri="{FF2B5EF4-FFF2-40B4-BE49-F238E27FC236}">
                    <a16:creationId xmlns:a16="http://schemas.microsoft.com/office/drawing/2014/main" id="{288BBF87-4ED9-DFEF-F5A3-241FD0D5838B}"/>
                  </a:ext>
                </a:extLst>
              </p:cNvPr>
              <p:cNvSpPr>
                <a:spLocks noRot="1" noChangeAspect="1" noMove="1" noResize="1" noEditPoints="1" noAdjustHandles="1" noChangeArrowheads="1" noChangeShapeType="1" noTextEdit="1"/>
              </p:cNvSpPr>
              <p:nvPr/>
            </p:nvSpPr>
            <p:spPr>
              <a:xfrm>
                <a:off x="4272993" y="5979013"/>
                <a:ext cx="1096670" cy="400725"/>
              </a:xfrm>
              <a:prstGeom prst="rect">
                <a:avLst/>
              </a:prstGeom>
              <a:blipFill>
                <a:blip r:embed="rId8"/>
                <a:stretch>
                  <a:fillRect b="-6061"/>
                </a:stretch>
              </a:blipFill>
              <a:ln>
                <a:no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38" name="직사각형 37">
                <a:extLst>
                  <a:ext uri="{FF2B5EF4-FFF2-40B4-BE49-F238E27FC236}">
                    <a16:creationId xmlns:a16="http://schemas.microsoft.com/office/drawing/2014/main" id="{D96C95A5-7856-014B-C2B4-81FA7BDDF246}"/>
                  </a:ext>
                </a:extLst>
              </p:cNvPr>
              <p:cNvSpPr/>
              <p:nvPr/>
            </p:nvSpPr>
            <p:spPr>
              <a:xfrm>
                <a:off x="6215598" y="5976603"/>
                <a:ext cx="1096670" cy="4007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14:m>
                  <m:oMathPara xmlns:m="http://schemas.openxmlformats.org/officeDocument/2006/math">
                    <m:oMathParaPr>
                      <m:jc m:val="centerGroup"/>
                    </m:oMathParaPr>
                    <m:oMath xmlns:m="http://schemas.openxmlformats.org/officeDocument/2006/math">
                      <m:r>
                        <a:rPr kumimoji="1" lang="en-US" altLang="ko-KR" sz="2500" b="0" i="1" smtClean="0">
                          <a:solidFill>
                            <a:schemeClr val="tx1"/>
                          </a:solidFill>
                          <a:latin typeface="Cambria Math" panose="02040503050406030204" pitchFamily="18" charset="0"/>
                        </a:rPr>
                        <m:t>𝑉</m:t>
                      </m:r>
                    </m:oMath>
                  </m:oMathPara>
                </a14:m>
                <a:endParaRPr kumimoji="1" lang="ko-KR" altLang="en-US" sz="2500" i="1" dirty="0">
                  <a:solidFill>
                    <a:schemeClr val="tx1"/>
                  </a:solidFill>
                  <a:latin typeface="Cambria Math" panose="02040503050406030204" pitchFamily="18" charset="0"/>
                </a:endParaRPr>
              </a:p>
            </p:txBody>
          </p:sp>
        </mc:Choice>
        <mc:Fallback xmlns="">
          <p:sp>
            <p:nvSpPr>
              <p:cNvPr id="38" name="직사각형 37">
                <a:extLst>
                  <a:ext uri="{FF2B5EF4-FFF2-40B4-BE49-F238E27FC236}">
                    <a16:creationId xmlns:a16="http://schemas.microsoft.com/office/drawing/2014/main" id="{D96C95A5-7856-014B-C2B4-81FA7BDDF246}"/>
                  </a:ext>
                </a:extLst>
              </p:cNvPr>
              <p:cNvSpPr>
                <a:spLocks noRot="1" noChangeAspect="1" noMove="1" noResize="1" noEditPoints="1" noAdjustHandles="1" noChangeArrowheads="1" noChangeShapeType="1" noTextEdit="1"/>
              </p:cNvSpPr>
              <p:nvPr/>
            </p:nvSpPr>
            <p:spPr>
              <a:xfrm>
                <a:off x="6215598" y="5976603"/>
                <a:ext cx="1096670" cy="400725"/>
              </a:xfrm>
              <a:prstGeom prst="rect">
                <a:avLst/>
              </a:prstGeom>
              <a:blipFill>
                <a:blip r:embed="rId9"/>
                <a:stretch>
                  <a:fillRect b="-3030"/>
                </a:stretch>
              </a:blipFill>
              <a:ln>
                <a:no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45" name="직사각형 44">
                <a:extLst>
                  <a:ext uri="{FF2B5EF4-FFF2-40B4-BE49-F238E27FC236}">
                    <a16:creationId xmlns:a16="http://schemas.microsoft.com/office/drawing/2014/main" id="{BA418682-7935-FE19-9269-D1FCA0FA6C46}"/>
                  </a:ext>
                </a:extLst>
              </p:cNvPr>
              <p:cNvSpPr/>
              <p:nvPr/>
            </p:nvSpPr>
            <p:spPr>
              <a:xfrm>
                <a:off x="4406539" y="3415026"/>
                <a:ext cx="1295895" cy="50819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14:m>
                  <m:oMathPara xmlns:m="http://schemas.openxmlformats.org/officeDocument/2006/math">
                    <m:oMathParaPr>
                      <m:jc m:val="centerGroup"/>
                    </m:oMathParaPr>
                    <m:oMath xmlns:m="http://schemas.openxmlformats.org/officeDocument/2006/math">
                      <m:r>
                        <a:rPr kumimoji="1" lang="en-US" altLang="ko-KR" sz="2500" b="0" i="1" smtClean="0">
                          <a:solidFill>
                            <a:srgbClr val="FF0000"/>
                          </a:solidFill>
                          <a:latin typeface="Cambria Math" panose="02040503050406030204" pitchFamily="18" charset="0"/>
                        </a:rPr>
                        <m:t>𝑂</m:t>
                      </m:r>
                      <m:d>
                        <m:dPr>
                          <m:ctrlPr>
                            <a:rPr kumimoji="1" lang="en-US" altLang="ko-KR" sz="2500" b="0" i="1" smtClean="0">
                              <a:solidFill>
                                <a:srgbClr val="FF0000"/>
                              </a:solidFill>
                              <a:latin typeface="Cambria Math" panose="02040503050406030204" pitchFamily="18" charset="0"/>
                            </a:rPr>
                          </m:ctrlPr>
                        </m:dPr>
                        <m:e>
                          <m:sSup>
                            <m:sSupPr>
                              <m:ctrlPr>
                                <a:rPr kumimoji="1" lang="en-US" altLang="ko-KR" sz="2500" b="0" i="1" smtClean="0">
                                  <a:solidFill>
                                    <a:srgbClr val="FF0000"/>
                                  </a:solidFill>
                                  <a:latin typeface="Cambria Math" panose="02040503050406030204" pitchFamily="18" charset="0"/>
                                </a:rPr>
                              </m:ctrlPr>
                            </m:sSupPr>
                            <m:e>
                              <m:r>
                                <a:rPr kumimoji="1" lang="en-US" altLang="ko-KR" sz="2500" b="0" i="1" smtClean="0">
                                  <a:solidFill>
                                    <a:srgbClr val="FF0000"/>
                                  </a:solidFill>
                                  <a:latin typeface="Cambria Math" panose="02040503050406030204" pitchFamily="18" charset="0"/>
                                </a:rPr>
                                <m:t>𝑁</m:t>
                              </m:r>
                            </m:e>
                            <m:sup>
                              <m:r>
                                <a:rPr kumimoji="1" lang="en-US" altLang="ko-KR" sz="2500" b="0" i="1" smtClean="0">
                                  <a:solidFill>
                                    <a:srgbClr val="FF0000"/>
                                  </a:solidFill>
                                  <a:latin typeface="Cambria Math" panose="02040503050406030204" pitchFamily="18" charset="0"/>
                                </a:rPr>
                                <m:t>2</m:t>
                              </m:r>
                            </m:sup>
                          </m:sSup>
                          <m:r>
                            <a:rPr kumimoji="1" lang="en-US" altLang="ko-KR" sz="2500" b="0" i="1" smtClean="0">
                              <a:solidFill>
                                <a:srgbClr val="FF0000"/>
                              </a:solidFill>
                              <a:latin typeface="Cambria Math" panose="02040503050406030204" pitchFamily="18" charset="0"/>
                            </a:rPr>
                            <m:t>𝑑</m:t>
                          </m:r>
                        </m:e>
                      </m:d>
                    </m:oMath>
                  </m:oMathPara>
                </a14:m>
                <a:endParaRPr kumimoji="1" lang="ko-KR" altLang="en-US" sz="2500" i="1" dirty="0">
                  <a:solidFill>
                    <a:srgbClr val="FF0000"/>
                  </a:solidFill>
                  <a:latin typeface="Cambria Math" panose="02040503050406030204" pitchFamily="18" charset="0"/>
                </a:endParaRPr>
              </a:p>
            </p:txBody>
          </p:sp>
        </mc:Choice>
        <mc:Fallback xmlns="">
          <p:sp>
            <p:nvSpPr>
              <p:cNvPr id="45" name="직사각형 44">
                <a:extLst>
                  <a:ext uri="{FF2B5EF4-FFF2-40B4-BE49-F238E27FC236}">
                    <a16:creationId xmlns:a16="http://schemas.microsoft.com/office/drawing/2014/main" id="{BA418682-7935-FE19-9269-D1FCA0FA6C46}"/>
                  </a:ext>
                </a:extLst>
              </p:cNvPr>
              <p:cNvSpPr>
                <a:spLocks noRot="1" noChangeAspect="1" noMove="1" noResize="1" noEditPoints="1" noAdjustHandles="1" noChangeArrowheads="1" noChangeShapeType="1" noTextEdit="1"/>
              </p:cNvSpPr>
              <p:nvPr/>
            </p:nvSpPr>
            <p:spPr>
              <a:xfrm>
                <a:off x="4406539" y="3415026"/>
                <a:ext cx="1295895" cy="508191"/>
              </a:xfrm>
              <a:prstGeom prst="rect">
                <a:avLst/>
              </a:prstGeom>
              <a:blipFill>
                <a:blip r:embed="rId10"/>
                <a:stretch>
                  <a:fillRect l="-2941"/>
                </a:stretch>
              </a:blipFill>
              <a:ln>
                <a:no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46" name="직사각형 45">
                <a:extLst>
                  <a:ext uri="{FF2B5EF4-FFF2-40B4-BE49-F238E27FC236}">
                    <a16:creationId xmlns:a16="http://schemas.microsoft.com/office/drawing/2014/main" id="{EFCB1111-CD35-6831-1353-C786694B5B3C}"/>
                  </a:ext>
                </a:extLst>
              </p:cNvPr>
              <p:cNvSpPr/>
              <p:nvPr/>
            </p:nvSpPr>
            <p:spPr>
              <a:xfrm>
                <a:off x="6031120" y="2993830"/>
                <a:ext cx="1295895" cy="50819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14:m>
                  <m:oMathPara xmlns:m="http://schemas.openxmlformats.org/officeDocument/2006/math">
                    <m:oMathParaPr>
                      <m:jc m:val="centerGroup"/>
                    </m:oMathParaPr>
                    <m:oMath xmlns:m="http://schemas.openxmlformats.org/officeDocument/2006/math">
                      <m:r>
                        <a:rPr kumimoji="1" lang="en-US" altLang="ko-KR" sz="2500" b="0" i="1" smtClean="0">
                          <a:solidFill>
                            <a:schemeClr val="tx1"/>
                          </a:solidFill>
                          <a:latin typeface="Cambria Math" panose="02040503050406030204" pitchFamily="18" charset="0"/>
                        </a:rPr>
                        <m:t>𝑂</m:t>
                      </m:r>
                      <m:d>
                        <m:dPr>
                          <m:ctrlPr>
                            <a:rPr kumimoji="1" lang="en-US" altLang="ko-KR" sz="2500" b="0" i="1" smtClean="0">
                              <a:solidFill>
                                <a:schemeClr val="tx1"/>
                              </a:solidFill>
                              <a:latin typeface="Cambria Math" panose="02040503050406030204" pitchFamily="18" charset="0"/>
                            </a:rPr>
                          </m:ctrlPr>
                        </m:dPr>
                        <m:e>
                          <m:sSup>
                            <m:sSupPr>
                              <m:ctrlPr>
                                <a:rPr kumimoji="1" lang="en-US" altLang="ko-KR" sz="2500" b="0" i="1" smtClean="0">
                                  <a:solidFill>
                                    <a:schemeClr val="tx1"/>
                                  </a:solidFill>
                                  <a:latin typeface="Cambria Math" panose="02040503050406030204" pitchFamily="18" charset="0"/>
                                </a:rPr>
                              </m:ctrlPr>
                            </m:sSupPr>
                            <m:e>
                              <m:r>
                                <a:rPr kumimoji="1" lang="en-US" altLang="ko-KR" sz="2500" b="0" i="1" smtClean="0">
                                  <a:solidFill>
                                    <a:schemeClr val="tx1"/>
                                  </a:solidFill>
                                  <a:latin typeface="Cambria Math" panose="02040503050406030204" pitchFamily="18" charset="0"/>
                                </a:rPr>
                                <m:t>𝑁</m:t>
                              </m:r>
                            </m:e>
                            <m:sup>
                              <m:r>
                                <a:rPr kumimoji="1" lang="en-US" altLang="ko-KR" sz="2500" b="0" i="1" smtClean="0">
                                  <a:solidFill>
                                    <a:schemeClr val="tx1"/>
                                  </a:solidFill>
                                  <a:latin typeface="Cambria Math" panose="02040503050406030204" pitchFamily="18" charset="0"/>
                                </a:rPr>
                                <m:t>2</m:t>
                              </m:r>
                            </m:sup>
                          </m:sSup>
                          <m:r>
                            <a:rPr kumimoji="1" lang="en-US" altLang="ko-KR" sz="2500" b="0" i="1" smtClean="0">
                              <a:solidFill>
                                <a:schemeClr val="tx1"/>
                              </a:solidFill>
                              <a:latin typeface="Cambria Math" panose="02040503050406030204" pitchFamily="18" charset="0"/>
                            </a:rPr>
                            <m:t>𝑑</m:t>
                          </m:r>
                        </m:e>
                      </m:d>
                    </m:oMath>
                  </m:oMathPara>
                </a14:m>
                <a:endParaRPr kumimoji="1" lang="ko-KR" altLang="en-US" sz="2500" i="1" dirty="0">
                  <a:solidFill>
                    <a:schemeClr val="tx1"/>
                  </a:solidFill>
                  <a:latin typeface="Cambria Math" panose="02040503050406030204" pitchFamily="18" charset="0"/>
                </a:endParaRPr>
              </a:p>
            </p:txBody>
          </p:sp>
        </mc:Choice>
        <mc:Fallback xmlns="">
          <p:sp>
            <p:nvSpPr>
              <p:cNvPr id="46" name="직사각형 45">
                <a:extLst>
                  <a:ext uri="{FF2B5EF4-FFF2-40B4-BE49-F238E27FC236}">
                    <a16:creationId xmlns:a16="http://schemas.microsoft.com/office/drawing/2014/main" id="{EFCB1111-CD35-6831-1353-C786694B5B3C}"/>
                  </a:ext>
                </a:extLst>
              </p:cNvPr>
              <p:cNvSpPr>
                <a:spLocks noRot="1" noChangeAspect="1" noMove="1" noResize="1" noEditPoints="1" noAdjustHandles="1" noChangeArrowheads="1" noChangeShapeType="1" noTextEdit="1"/>
              </p:cNvSpPr>
              <p:nvPr/>
            </p:nvSpPr>
            <p:spPr>
              <a:xfrm>
                <a:off x="6031120" y="2993830"/>
                <a:ext cx="1295895" cy="508191"/>
              </a:xfrm>
              <a:prstGeom prst="rect">
                <a:avLst/>
              </a:prstGeom>
              <a:blipFill>
                <a:blip r:embed="rId11"/>
                <a:stretch>
                  <a:fillRect l="-2913"/>
                </a:stretch>
              </a:blipFill>
              <a:ln>
                <a:noFill/>
              </a:ln>
            </p:spPr>
            <p:txBody>
              <a:bodyPr/>
              <a:lstStyle/>
              <a:p>
                <a:r>
                  <a:rPr lang="ko-KR" altLang="en-US">
                    <a:noFill/>
                  </a:rPr>
                  <a:t> </a:t>
                </a:r>
              </a:p>
            </p:txBody>
          </p:sp>
        </mc:Fallback>
      </mc:AlternateContent>
      <p:sp>
        <p:nvSpPr>
          <p:cNvPr id="47" name="내용 개체 틀 2">
            <a:extLst>
              <a:ext uri="{FF2B5EF4-FFF2-40B4-BE49-F238E27FC236}">
                <a16:creationId xmlns:a16="http://schemas.microsoft.com/office/drawing/2014/main" id="{33455A95-003F-DB29-802F-F770F0657A41}"/>
              </a:ext>
            </a:extLst>
          </p:cNvPr>
          <p:cNvSpPr txBox="1">
            <a:spLocks/>
          </p:cNvSpPr>
          <p:nvPr/>
        </p:nvSpPr>
        <p:spPr>
          <a:xfrm>
            <a:off x="117514" y="852966"/>
            <a:ext cx="11952383" cy="5438047"/>
          </a:xfrm>
          <a:prstGeom prst="rect">
            <a:avLst/>
          </a:prstGeom>
        </p:spPr>
        <p:txBody>
          <a:bodyPr vert="horz" lIns="91440" tIns="45720" rIns="91440" bIns="45720" rtlCol="0">
            <a:normAutofit/>
          </a:bodyPr>
          <a:lstStyle>
            <a:lvl1pPr marL="228600" indent="-228600" algn="l" defTabSz="914400" rtl="0" eaLnBrk="1" latinLnBrk="1"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15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endParaRPr lang="en" altLang="ko-KR" sz="2000" dirty="0"/>
          </a:p>
          <a:p>
            <a:pPr>
              <a:lnSpc>
                <a:spcPct val="150000"/>
              </a:lnSpc>
            </a:pPr>
            <a:endParaRPr kumimoji="1" lang="en" altLang="ko-KR" sz="2000" b="1" dirty="0"/>
          </a:p>
          <a:p>
            <a:pPr>
              <a:lnSpc>
                <a:spcPct val="150000"/>
              </a:lnSpc>
            </a:pPr>
            <a:endParaRPr kumimoji="1" lang="en" altLang="ko-KR" sz="2000" b="1" dirty="0"/>
          </a:p>
          <a:p>
            <a:pPr>
              <a:lnSpc>
                <a:spcPct val="150000"/>
              </a:lnSpc>
            </a:pPr>
            <a:endParaRPr kumimoji="1" lang="en" altLang="ko-KR" sz="2000" b="1" dirty="0"/>
          </a:p>
          <a:p>
            <a:pPr>
              <a:lnSpc>
                <a:spcPct val="150000"/>
              </a:lnSpc>
            </a:pPr>
            <a:endParaRPr kumimoji="1" lang="en" altLang="ko-KR" sz="2000" b="1" dirty="0"/>
          </a:p>
          <a:p>
            <a:pPr>
              <a:lnSpc>
                <a:spcPct val="150000"/>
              </a:lnSpc>
            </a:pPr>
            <a:endParaRPr kumimoji="1" lang="en" altLang="ko-KR" sz="2000" b="1" dirty="0"/>
          </a:p>
          <a:p>
            <a:pPr>
              <a:lnSpc>
                <a:spcPct val="150000"/>
              </a:lnSpc>
            </a:pPr>
            <a:endParaRPr kumimoji="1" lang="en" altLang="ko-KR" sz="2000" b="1" dirty="0"/>
          </a:p>
        </p:txBody>
      </p:sp>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21A095FB-E81D-808F-256A-0C4F04CCA3C1}"/>
                  </a:ext>
                </a:extLst>
              </p:cNvPr>
              <p:cNvSpPr txBox="1"/>
              <p:nvPr/>
            </p:nvSpPr>
            <p:spPr>
              <a:xfrm>
                <a:off x="126128" y="1775083"/>
                <a:ext cx="4623371" cy="1047146"/>
              </a:xfrm>
              <a:prstGeom prst="rect">
                <a:avLst/>
              </a:prstGeom>
              <a:noFill/>
            </p:spPr>
            <p:txBody>
              <a:bodyPr wrap="square" rtlCol="0">
                <a:spAutoFit/>
              </a:bodyPr>
              <a:lstStyle/>
              <a:p>
                <a:pPr>
                  <a:lnSpc>
                    <a:spcPct val="150000"/>
                  </a:lnSpc>
                </a:pPr>
                <a14:m>
                  <m:oMath xmlns:m="http://schemas.openxmlformats.org/officeDocument/2006/math">
                    <m:r>
                      <a:rPr kumimoji="1" lang="en-US" altLang="ko-KR" sz="2200" i="1" dirty="0" smtClean="0">
                        <a:latin typeface="Cambria Math" panose="02040503050406030204" pitchFamily="18" charset="0"/>
                      </a:rPr>
                      <m:t>𝑁</m:t>
                    </m:r>
                    <m:r>
                      <a:rPr kumimoji="1" lang="en-US" altLang="ko-KR" sz="2200" b="0" i="1" dirty="0" smtClean="0">
                        <a:latin typeface="Cambria Math" panose="02040503050406030204" pitchFamily="18" charset="0"/>
                      </a:rPr>
                      <m:t>:</m:t>
                    </m:r>
                  </m:oMath>
                </a14:m>
                <a:r>
                  <a:rPr kumimoji="1" lang="en-US" altLang="ko-KR" sz="2200" b="0" i="1" dirty="0">
                    <a:latin typeface="Times New Roman" panose="02020603050405020304" pitchFamily="18" charset="0"/>
                    <a:cs typeface="Times New Roman" panose="02020603050405020304" pitchFamily="18" charset="0"/>
                  </a:rPr>
                  <a:t> </a:t>
                </a:r>
                <a:r>
                  <a:rPr kumimoji="1" lang="en-US" altLang="ko-KR" sz="2200" dirty="0">
                    <a:latin typeface="Times New Roman" panose="02020603050405020304" pitchFamily="18" charset="0"/>
                    <a:cs typeface="Times New Roman" panose="02020603050405020304" pitchFamily="18" charset="0"/>
                  </a:rPr>
                  <a:t>input </a:t>
                </a:r>
                <a:r>
                  <a:rPr kumimoji="1" lang="en-US" altLang="ko-KR" sz="2200" b="0" dirty="0">
                    <a:latin typeface="Times New Roman" panose="02020603050405020304" pitchFamily="18" charset="0"/>
                    <a:cs typeface="Times New Roman" panose="02020603050405020304" pitchFamily="18" charset="0"/>
                  </a:rPr>
                  <a:t>sequence length (#tokens)</a:t>
                </a:r>
              </a:p>
              <a:p>
                <a:pPr>
                  <a:lnSpc>
                    <a:spcPct val="150000"/>
                  </a:lnSpc>
                </a:pPr>
                <a14:m>
                  <m:oMath xmlns:m="http://schemas.openxmlformats.org/officeDocument/2006/math">
                    <m:r>
                      <a:rPr kumimoji="1" lang="en-US" altLang="ko-KR" sz="2200" b="0" i="1" smtClean="0">
                        <a:latin typeface="Cambria Math" panose="02040503050406030204" pitchFamily="18" charset="0"/>
                      </a:rPr>
                      <m:t>𝑑</m:t>
                    </m:r>
                    <m:r>
                      <a:rPr kumimoji="1" lang="en-US" altLang="ko-KR" sz="2200" b="0" i="1" smtClean="0">
                        <a:latin typeface="Cambria Math" panose="02040503050406030204" pitchFamily="18" charset="0"/>
                      </a:rPr>
                      <m:t>:</m:t>
                    </m:r>
                  </m:oMath>
                </a14:m>
                <a:r>
                  <a:rPr kumimoji="1" lang="en-US" altLang="ko-KR" sz="2200" b="0" dirty="0">
                    <a:latin typeface="Times New Roman" panose="02020603050405020304" pitchFamily="18" charset="0"/>
                    <a:cs typeface="Times New Roman" panose="02020603050405020304" pitchFamily="18" charset="0"/>
                  </a:rPr>
                  <a:t> embedding dimension</a:t>
                </a:r>
              </a:p>
            </p:txBody>
          </p:sp>
        </mc:Choice>
        <mc:Fallback xmlns="">
          <p:sp>
            <p:nvSpPr>
              <p:cNvPr id="48" name="TextBox 47">
                <a:extLst>
                  <a:ext uri="{FF2B5EF4-FFF2-40B4-BE49-F238E27FC236}">
                    <a16:creationId xmlns:a16="http://schemas.microsoft.com/office/drawing/2014/main" id="{21A095FB-E81D-808F-256A-0C4F04CCA3C1}"/>
                  </a:ext>
                </a:extLst>
              </p:cNvPr>
              <p:cNvSpPr txBox="1">
                <a:spLocks noRot="1" noChangeAspect="1" noMove="1" noResize="1" noEditPoints="1" noAdjustHandles="1" noChangeArrowheads="1" noChangeShapeType="1" noTextEdit="1"/>
              </p:cNvSpPr>
              <p:nvPr/>
            </p:nvSpPr>
            <p:spPr>
              <a:xfrm>
                <a:off x="126128" y="1775083"/>
                <a:ext cx="4623371" cy="1047146"/>
              </a:xfrm>
              <a:prstGeom prst="rect">
                <a:avLst/>
              </a:prstGeom>
              <a:blipFill>
                <a:blip r:embed="rId12"/>
                <a:stretch>
                  <a:fillRect l="-275" b="-9524"/>
                </a:stretch>
              </a:blipFill>
            </p:spPr>
            <p:txBody>
              <a:bodyPr/>
              <a:lstStyle/>
              <a:p>
                <a:r>
                  <a:rPr lang="ko-KR" altLang="en-US">
                    <a:noFill/>
                  </a:rPr>
                  <a:t> </a:t>
                </a:r>
              </a:p>
            </p:txBody>
          </p:sp>
        </mc:Fallback>
      </mc:AlternateContent>
      <p:cxnSp>
        <p:nvCxnSpPr>
          <p:cNvPr id="3" name="구부러진 연결선[U] 2">
            <a:extLst>
              <a:ext uri="{FF2B5EF4-FFF2-40B4-BE49-F238E27FC236}">
                <a16:creationId xmlns:a16="http://schemas.microsoft.com/office/drawing/2014/main" id="{471B8520-A1F0-8463-BB55-EEDADC416016}"/>
              </a:ext>
            </a:extLst>
          </p:cNvPr>
          <p:cNvCxnSpPr>
            <a:cxnSpLocks/>
            <a:stCxn id="31" idx="0"/>
            <a:endCxn id="6" idx="1"/>
          </p:cNvCxnSpPr>
          <p:nvPr/>
        </p:nvCxnSpPr>
        <p:spPr>
          <a:xfrm rot="5400000" flipH="1" flipV="1">
            <a:off x="4490706" y="1701364"/>
            <a:ext cx="1562273" cy="2345292"/>
          </a:xfrm>
          <a:prstGeom prst="curvedConnector2">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20DAAA9D-D9DA-7E74-91F3-A9877B3E3A70}"/>
              </a:ext>
            </a:extLst>
          </p:cNvPr>
          <p:cNvSpPr txBox="1"/>
          <p:nvPr/>
        </p:nvSpPr>
        <p:spPr>
          <a:xfrm>
            <a:off x="6444488" y="1854346"/>
            <a:ext cx="6623828" cy="477054"/>
          </a:xfrm>
          <a:prstGeom prst="rect">
            <a:avLst/>
          </a:prstGeom>
          <a:noFill/>
        </p:spPr>
        <p:txBody>
          <a:bodyPr wrap="square">
            <a:spAutoFit/>
          </a:bodyPr>
          <a:lstStyle/>
          <a:p>
            <a:r>
              <a:rPr kumimoji="1" lang="en-US" altLang="ko-KR" sz="2500" dirty="0">
                <a:latin typeface="Times New Roman" panose="02020603050405020304" pitchFamily="18" charset="0"/>
                <a:cs typeface="Times New Roman" panose="02020603050405020304" pitchFamily="18" charset="0"/>
              </a:rPr>
              <a:t>The computation of the attention matrix</a:t>
            </a:r>
            <a:endParaRPr kumimoji="1" lang="ko-KR" altLang="en-US" sz="2500" i="1" dirty="0">
              <a:solidFill>
                <a:srgbClr val="FF0000"/>
              </a:solidFill>
              <a:latin typeface="Cambria Math" panose="02040503050406030204" pitchFamily="18" charset="0"/>
            </a:endParaRPr>
          </a:p>
        </p:txBody>
      </p:sp>
      <p:sp>
        <p:nvSpPr>
          <p:cNvPr id="4" name="TextBox 3">
            <a:extLst>
              <a:ext uri="{FF2B5EF4-FFF2-40B4-BE49-F238E27FC236}">
                <a16:creationId xmlns:a16="http://schemas.microsoft.com/office/drawing/2014/main" id="{6DDC6A9E-ABD4-2E68-70A9-B63673F87B0E}"/>
              </a:ext>
            </a:extLst>
          </p:cNvPr>
          <p:cNvSpPr txBox="1"/>
          <p:nvPr/>
        </p:nvSpPr>
        <p:spPr>
          <a:xfrm>
            <a:off x="184194" y="843588"/>
            <a:ext cx="9474156" cy="600293"/>
          </a:xfrm>
          <a:prstGeom prst="rect">
            <a:avLst/>
          </a:prstGeom>
          <a:noFill/>
        </p:spPr>
        <p:txBody>
          <a:bodyPr wrap="square" rtlCol="0">
            <a:spAutoFit/>
          </a:bodyPr>
          <a:lstStyle/>
          <a:p>
            <a:pPr marL="457200" indent="-457200">
              <a:lnSpc>
                <a:spcPct val="150000"/>
              </a:lnSpc>
              <a:buAutoNum type="arabicPeriod"/>
            </a:pPr>
            <a:r>
              <a:rPr kumimoji="1" lang="en-US" altLang="ko-KR" sz="2500" b="1" dirty="0">
                <a:latin typeface="Times New Roman" panose="02020603050405020304" pitchFamily="18" charset="0"/>
                <a:cs typeface="Times New Roman" panose="02020603050405020304" pitchFamily="18" charset="0"/>
              </a:rPr>
              <a:t>Quadratic computational complexity</a:t>
            </a:r>
          </a:p>
        </p:txBody>
      </p:sp>
      <p:sp>
        <p:nvSpPr>
          <p:cNvPr id="9" name="제목 26">
            <a:extLst>
              <a:ext uri="{FF2B5EF4-FFF2-40B4-BE49-F238E27FC236}">
                <a16:creationId xmlns:a16="http://schemas.microsoft.com/office/drawing/2014/main" id="{8558F0B0-9B1B-7AF6-2D67-E94F55E7EB49}"/>
              </a:ext>
            </a:extLst>
          </p:cNvPr>
          <p:cNvSpPr>
            <a:spLocks noGrp="1"/>
          </p:cNvSpPr>
          <p:nvPr>
            <p:ph type="title"/>
          </p:nvPr>
        </p:nvSpPr>
        <p:spPr>
          <a:xfrm>
            <a:off x="122103" y="57035"/>
            <a:ext cx="11952383" cy="802281"/>
          </a:xfrm>
        </p:spPr>
        <p:txBody>
          <a:bodyPr>
            <a:normAutofit/>
          </a:bodyPr>
          <a:lstStyle/>
          <a:p>
            <a:r>
              <a:rPr kumimoji="1" lang="en-US" altLang="ko-KR" sz="2800" b="1" dirty="0"/>
              <a:t>2. Analysis - Complexity</a:t>
            </a:r>
            <a:endParaRPr lang="ko-KR" altLang="en-US" dirty="0"/>
          </a:p>
        </p:txBody>
      </p:sp>
    </p:spTree>
    <p:extLst>
      <p:ext uri="{BB962C8B-B14F-4D97-AF65-F5344CB8AC3E}">
        <p14:creationId xmlns:p14="http://schemas.microsoft.com/office/powerpoint/2010/main" val="240831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2202E7-8496-BF5F-9FAB-D81EC903035E}"/>
            </a:ext>
          </a:extLst>
        </p:cNvPr>
        <p:cNvGrpSpPr/>
        <p:nvPr/>
      </p:nvGrpSpPr>
      <p:grpSpPr>
        <a:xfrm>
          <a:off x="0" y="0"/>
          <a:ext cx="0" cy="0"/>
          <a:chOff x="0" y="0"/>
          <a:chExt cx="0" cy="0"/>
        </a:xfrm>
      </p:grpSpPr>
      <p:sp>
        <p:nvSpPr>
          <p:cNvPr id="27" name="제목 26">
            <a:extLst>
              <a:ext uri="{FF2B5EF4-FFF2-40B4-BE49-F238E27FC236}">
                <a16:creationId xmlns:a16="http://schemas.microsoft.com/office/drawing/2014/main" id="{14D84D93-8456-70DD-1031-0A38391931AB}"/>
              </a:ext>
            </a:extLst>
          </p:cNvPr>
          <p:cNvSpPr>
            <a:spLocks noGrp="1"/>
          </p:cNvSpPr>
          <p:nvPr>
            <p:ph type="title"/>
          </p:nvPr>
        </p:nvSpPr>
        <p:spPr/>
        <p:txBody>
          <a:bodyPr>
            <a:normAutofit/>
          </a:bodyPr>
          <a:lstStyle/>
          <a:p>
            <a:r>
              <a:rPr kumimoji="1" lang="en-US" altLang="ko-KR" sz="2800" b="1" dirty="0"/>
              <a:t>2. Analysis - Complexity</a:t>
            </a:r>
            <a:endParaRPr lang="ko-KR" altLang="en-US" dirty="0"/>
          </a:p>
        </p:txBody>
      </p:sp>
      <p:sp>
        <p:nvSpPr>
          <p:cNvPr id="47" name="내용 개체 틀 2">
            <a:extLst>
              <a:ext uri="{FF2B5EF4-FFF2-40B4-BE49-F238E27FC236}">
                <a16:creationId xmlns:a16="http://schemas.microsoft.com/office/drawing/2014/main" id="{E90EDCC1-7AC4-CA7A-57A8-D46EA490FBE6}"/>
              </a:ext>
            </a:extLst>
          </p:cNvPr>
          <p:cNvSpPr txBox="1">
            <a:spLocks/>
          </p:cNvSpPr>
          <p:nvPr/>
        </p:nvSpPr>
        <p:spPr>
          <a:xfrm>
            <a:off x="117514" y="842456"/>
            <a:ext cx="11952383" cy="5438047"/>
          </a:xfrm>
          <a:prstGeom prst="rect">
            <a:avLst/>
          </a:prstGeom>
        </p:spPr>
        <p:txBody>
          <a:bodyPr vert="horz" lIns="91440" tIns="45720" rIns="91440" bIns="45720" rtlCol="0">
            <a:normAutofit/>
          </a:bodyPr>
          <a:lstStyle>
            <a:lvl1pPr marL="228600" indent="-228600" algn="l" defTabSz="914400" rtl="0" eaLnBrk="1" latinLnBrk="1"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15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endParaRPr lang="en" altLang="ko-KR" sz="2000" dirty="0"/>
          </a:p>
          <a:p>
            <a:pPr>
              <a:lnSpc>
                <a:spcPct val="150000"/>
              </a:lnSpc>
            </a:pPr>
            <a:endParaRPr kumimoji="1" lang="en" altLang="ko-KR" sz="2000" b="1" dirty="0"/>
          </a:p>
          <a:p>
            <a:pPr>
              <a:lnSpc>
                <a:spcPct val="150000"/>
              </a:lnSpc>
            </a:pPr>
            <a:endParaRPr kumimoji="1" lang="en" altLang="ko-KR" sz="2000" b="1" dirty="0"/>
          </a:p>
          <a:p>
            <a:pPr>
              <a:lnSpc>
                <a:spcPct val="150000"/>
              </a:lnSpc>
            </a:pPr>
            <a:endParaRPr kumimoji="1" lang="en" altLang="ko-KR" sz="2000" b="1" dirty="0"/>
          </a:p>
          <a:p>
            <a:pPr>
              <a:lnSpc>
                <a:spcPct val="150000"/>
              </a:lnSpc>
            </a:pPr>
            <a:endParaRPr kumimoji="1" lang="en" altLang="ko-KR" sz="2000" b="1" dirty="0"/>
          </a:p>
          <a:p>
            <a:pPr>
              <a:lnSpc>
                <a:spcPct val="150000"/>
              </a:lnSpc>
            </a:pPr>
            <a:endParaRPr kumimoji="1" lang="en" altLang="ko-KR" sz="2000" b="1" dirty="0"/>
          </a:p>
          <a:p>
            <a:pPr>
              <a:lnSpc>
                <a:spcPct val="150000"/>
              </a:lnSpc>
            </a:pPr>
            <a:endParaRPr kumimoji="1" lang="en" altLang="ko-KR" sz="2000" b="1" dirty="0"/>
          </a:p>
        </p:txBody>
      </p:sp>
      <p:sp>
        <p:nvSpPr>
          <p:cNvPr id="48" name="TextBox 47">
            <a:extLst>
              <a:ext uri="{FF2B5EF4-FFF2-40B4-BE49-F238E27FC236}">
                <a16:creationId xmlns:a16="http://schemas.microsoft.com/office/drawing/2014/main" id="{38054CB9-D7BB-36A0-7A3B-6B6177BFD298}"/>
              </a:ext>
            </a:extLst>
          </p:cNvPr>
          <p:cNvSpPr txBox="1"/>
          <p:nvPr/>
        </p:nvSpPr>
        <p:spPr>
          <a:xfrm>
            <a:off x="184194" y="843588"/>
            <a:ext cx="6836716" cy="1116396"/>
          </a:xfrm>
          <a:prstGeom prst="rect">
            <a:avLst/>
          </a:prstGeom>
          <a:noFill/>
        </p:spPr>
        <p:txBody>
          <a:bodyPr wrap="square" rtlCol="0">
            <a:spAutoFit/>
          </a:bodyPr>
          <a:lstStyle/>
          <a:p>
            <a:pPr>
              <a:lnSpc>
                <a:spcPct val="150000"/>
              </a:lnSpc>
            </a:pPr>
            <a:r>
              <a:rPr kumimoji="1" lang="en-US" altLang="ko-KR" sz="2500" b="1" dirty="0">
                <a:latin typeface="Times New Roman" panose="02020603050405020304" pitchFamily="18" charset="0"/>
                <a:cs typeface="Times New Roman" panose="02020603050405020304" pitchFamily="18" charset="0"/>
              </a:rPr>
              <a:t>2. Complex design</a:t>
            </a:r>
            <a:r>
              <a:rPr kumimoji="1" lang="en-US" altLang="ko-KR" sz="2200" b="0" dirty="0">
                <a:latin typeface="Times New Roman" panose="02020603050405020304" pitchFamily="18" charset="0"/>
                <a:cs typeface="Times New Roman" panose="02020603050405020304" pitchFamily="18" charset="0"/>
              </a:rPr>
              <a:t> </a:t>
            </a:r>
          </a:p>
          <a:p>
            <a:pPr>
              <a:lnSpc>
                <a:spcPct val="150000"/>
              </a:lnSpc>
            </a:pPr>
            <a:r>
              <a:rPr kumimoji="1" lang="en-US" altLang="ko-KR" sz="2200" b="0" dirty="0">
                <a:latin typeface="Times New Roman" panose="02020603050405020304" pitchFamily="18" charset="0"/>
                <a:cs typeface="Times New Roman" panose="02020603050405020304" pitchFamily="18" charset="0"/>
              </a:rPr>
              <a:t>(window partitioning/reversing in </a:t>
            </a:r>
            <a:r>
              <a:rPr kumimoji="1" lang="en-US" altLang="ko-KR" sz="2200" b="0" dirty="0" err="1">
                <a:latin typeface="Times New Roman" panose="02020603050405020304" pitchFamily="18" charset="0"/>
                <a:cs typeface="Times New Roman" panose="02020603050405020304" pitchFamily="18" charset="0"/>
                <a:hlinkClick r:id="rId3"/>
              </a:rPr>
              <a:t>SwinT</a:t>
            </a:r>
            <a:r>
              <a:rPr kumimoji="1" lang="en-US" altLang="ko-KR" sz="2200" b="0" dirty="0">
                <a:latin typeface="Times New Roman" panose="02020603050405020304" pitchFamily="18" charset="0"/>
                <a:cs typeface="Times New Roman" panose="02020603050405020304" pitchFamily="18" charset="0"/>
              </a:rPr>
              <a:t>)</a:t>
            </a:r>
          </a:p>
        </p:txBody>
      </p:sp>
      <p:sp>
        <p:nvSpPr>
          <p:cNvPr id="2" name="TextBox 1">
            <a:extLst>
              <a:ext uri="{FF2B5EF4-FFF2-40B4-BE49-F238E27FC236}">
                <a16:creationId xmlns:a16="http://schemas.microsoft.com/office/drawing/2014/main" id="{FE16467F-03BD-4257-7582-4D76A763A06A}"/>
              </a:ext>
            </a:extLst>
          </p:cNvPr>
          <p:cNvSpPr txBox="1"/>
          <p:nvPr/>
        </p:nvSpPr>
        <p:spPr>
          <a:xfrm>
            <a:off x="6127046" y="813289"/>
            <a:ext cx="5880760" cy="1116396"/>
          </a:xfrm>
          <a:prstGeom prst="rect">
            <a:avLst/>
          </a:prstGeom>
          <a:noFill/>
        </p:spPr>
        <p:txBody>
          <a:bodyPr wrap="square" rtlCol="0">
            <a:spAutoFit/>
          </a:bodyPr>
          <a:lstStyle/>
          <a:p>
            <a:pPr>
              <a:lnSpc>
                <a:spcPct val="150000"/>
              </a:lnSpc>
            </a:pPr>
            <a:r>
              <a:rPr kumimoji="1" lang="en-US" altLang="ko-KR" sz="2500" b="1" dirty="0">
                <a:latin typeface="Times New Roman" panose="02020603050405020304" pitchFamily="18" charset="0"/>
                <a:cs typeface="Times New Roman" panose="02020603050405020304" pitchFamily="18" charset="0"/>
              </a:rPr>
              <a:t>3. Positional encoding</a:t>
            </a:r>
          </a:p>
          <a:p>
            <a:pPr>
              <a:lnSpc>
                <a:spcPct val="150000"/>
              </a:lnSpc>
            </a:pPr>
            <a:r>
              <a:rPr kumimoji="1" lang="en-US" altLang="ko-KR" sz="2200" dirty="0">
                <a:latin typeface="Times New Roman" panose="02020603050405020304" pitchFamily="18" charset="0"/>
                <a:cs typeface="Times New Roman" panose="02020603050405020304" pitchFamily="18" charset="0"/>
              </a:rPr>
              <a:t>(Sinusoidal, Learned, Relative, Rotary, …)</a:t>
            </a:r>
            <a:endParaRPr kumimoji="1" lang="en-US" altLang="ko-KR" sz="2200" b="0" dirty="0">
              <a:latin typeface="Times New Roman" panose="02020603050405020304" pitchFamily="18" charset="0"/>
              <a:cs typeface="Times New Roman" panose="02020603050405020304" pitchFamily="18" charset="0"/>
            </a:endParaRPr>
          </a:p>
        </p:txBody>
      </p:sp>
      <p:pic>
        <p:nvPicPr>
          <p:cNvPr id="1026" name="Picture 2">
            <a:extLst>
              <a:ext uri="{FF2B5EF4-FFF2-40B4-BE49-F238E27FC236}">
                <a16:creationId xmlns:a16="http://schemas.microsoft.com/office/drawing/2014/main" id="{46D4F5F2-0AFA-ACD6-7FFB-04202287D82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4194" y="2686665"/>
            <a:ext cx="5675586" cy="2187465"/>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6854536C-EC52-28B8-ECE9-3F499D07A75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42478" y="2517447"/>
            <a:ext cx="5965328" cy="3175294"/>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B64F3D19-0058-1CDD-A84D-CB877CD03FEB}"/>
              </a:ext>
            </a:extLst>
          </p:cNvPr>
          <p:cNvSpPr txBox="1"/>
          <p:nvPr/>
        </p:nvSpPr>
        <p:spPr>
          <a:xfrm>
            <a:off x="6302963" y="6005034"/>
            <a:ext cx="5226885" cy="430887"/>
          </a:xfrm>
          <a:prstGeom prst="rect">
            <a:avLst/>
          </a:prstGeom>
          <a:noFill/>
        </p:spPr>
        <p:txBody>
          <a:bodyPr wrap="square">
            <a:spAutoFit/>
          </a:bodyPr>
          <a:lstStyle/>
          <a:p>
            <a:r>
              <a:rPr lang="ko-KR" altLang="en-US" sz="1100" dirty="0" err="1">
                <a:hlinkClick r:id="rId6"/>
              </a:rPr>
              <a:t>https</a:t>
            </a:r>
            <a:r>
              <a:rPr lang="ko-KR" altLang="en-US" sz="1100" dirty="0">
                <a:hlinkClick r:id="rId6"/>
              </a:rPr>
              <a:t>://</a:t>
            </a:r>
            <a:r>
              <a:rPr lang="ko-KR" altLang="en-US" sz="1100" dirty="0" err="1">
                <a:hlinkClick r:id="rId6"/>
              </a:rPr>
              <a:t>machinelearningmastery.com</a:t>
            </a:r>
            <a:r>
              <a:rPr lang="ko-KR" altLang="en-US" sz="1100" dirty="0">
                <a:hlinkClick r:id="rId6"/>
              </a:rPr>
              <a:t>/a-gentle-introduction-to-positional-encoding-in-transformer-models-part-1/</a:t>
            </a:r>
            <a:endParaRPr lang="ko-KR" altLang="en-US" sz="1100" dirty="0"/>
          </a:p>
        </p:txBody>
      </p:sp>
    </p:spTree>
    <p:extLst>
      <p:ext uri="{BB962C8B-B14F-4D97-AF65-F5344CB8AC3E}">
        <p14:creationId xmlns:p14="http://schemas.microsoft.com/office/powerpoint/2010/main" val="11036174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426FED-02A6-7968-436C-B2772E2989D1}"/>
            </a:ext>
          </a:extLst>
        </p:cNvPr>
        <p:cNvGrpSpPr/>
        <p:nvPr/>
      </p:nvGrpSpPr>
      <p:grpSpPr>
        <a:xfrm>
          <a:off x="0" y="0"/>
          <a:ext cx="0" cy="0"/>
          <a:chOff x="0" y="0"/>
          <a:chExt cx="0" cy="0"/>
        </a:xfrm>
      </p:grpSpPr>
      <p:sp>
        <p:nvSpPr>
          <p:cNvPr id="27" name="제목 26">
            <a:extLst>
              <a:ext uri="{FF2B5EF4-FFF2-40B4-BE49-F238E27FC236}">
                <a16:creationId xmlns:a16="http://schemas.microsoft.com/office/drawing/2014/main" id="{7A630792-1120-FCF5-7C04-26AF60AA6230}"/>
              </a:ext>
            </a:extLst>
          </p:cNvPr>
          <p:cNvSpPr>
            <a:spLocks noGrp="1"/>
          </p:cNvSpPr>
          <p:nvPr>
            <p:ph type="title"/>
          </p:nvPr>
        </p:nvSpPr>
        <p:spPr/>
        <p:txBody>
          <a:bodyPr>
            <a:normAutofit/>
          </a:bodyPr>
          <a:lstStyle/>
          <a:p>
            <a:r>
              <a:rPr kumimoji="1" lang="en-US" altLang="ko-KR" sz="2800" b="1" dirty="0"/>
              <a:t>2. Analysis - Inefficient memory accessing</a:t>
            </a:r>
            <a:endParaRPr lang="ko-KR" altLang="en-US" dirty="0"/>
          </a:p>
        </p:txBody>
      </p:sp>
      <p:sp>
        <p:nvSpPr>
          <p:cNvPr id="47" name="내용 개체 틀 2">
            <a:extLst>
              <a:ext uri="{FF2B5EF4-FFF2-40B4-BE49-F238E27FC236}">
                <a16:creationId xmlns:a16="http://schemas.microsoft.com/office/drawing/2014/main" id="{AB003803-66BE-FCA7-A7DB-2CF822C7514D}"/>
              </a:ext>
            </a:extLst>
          </p:cNvPr>
          <p:cNvSpPr txBox="1">
            <a:spLocks/>
          </p:cNvSpPr>
          <p:nvPr/>
        </p:nvSpPr>
        <p:spPr>
          <a:xfrm>
            <a:off x="117514" y="852966"/>
            <a:ext cx="11952383" cy="5438047"/>
          </a:xfrm>
          <a:prstGeom prst="rect">
            <a:avLst/>
          </a:prstGeom>
        </p:spPr>
        <p:txBody>
          <a:bodyPr vert="horz" lIns="91440" tIns="45720" rIns="91440" bIns="45720" rtlCol="0">
            <a:normAutofit/>
          </a:bodyPr>
          <a:lstStyle>
            <a:lvl1pPr marL="228600" indent="-228600" algn="l" defTabSz="914400" rtl="0" eaLnBrk="1" latinLnBrk="1"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15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endParaRPr lang="en" altLang="ko-KR" sz="2000" dirty="0"/>
          </a:p>
          <a:p>
            <a:pPr>
              <a:lnSpc>
                <a:spcPct val="150000"/>
              </a:lnSpc>
            </a:pPr>
            <a:endParaRPr kumimoji="1" lang="en" altLang="ko-KR" sz="2000" b="1" dirty="0"/>
          </a:p>
          <a:p>
            <a:pPr>
              <a:lnSpc>
                <a:spcPct val="150000"/>
              </a:lnSpc>
            </a:pPr>
            <a:endParaRPr kumimoji="1" lang="en" altLang="ko-KR" sz="2000" b="1" dirty="0"/>
          </a:p>
          <a:p>
            <a:pPr>
              <a:lnSpc>
                <a:spcPct val="150000"/>
              </a:lnSpc>
            </a:pPr>
            <a:endParaRPr kumimoji="1" lang="en" altLang="ko-KR" sz="2000" b="1" dirty="0"/>
          </a:p>
          <a:p>
            <a:pPr>
              <a:lnSpc>
                <a:spcPct val="150000"/>
              </a:lnSpc>
            </a:pPr>
            <a:endParaRPr kumimoji="1" lang="en" altLang="ko-KR" sz="2000" b="1" dirty="0"/>
          </a:p>
          <a:p>
            <a:pPr>
              <a:lnSpc>
                <a:spcPct val="150000"/>
              </a:lnSpc>
            </a:pPr>
            <a:endParaRPr kumimoji="1" lang="en" altLang="ko-KR" sz="2000" b="1" dirty="0"/>
          </a:p>
          <a:p>
            <a:pPr>
              <a:lnSpc>
                <a:spcPct val="150000"/>
              </a:lnSpc>
            </a:pPr>
            <a:endParaRPr kumimoji="1" lang="en" altLang="ko-KR" sz="2000" b="1" dirty="0"/>
          </a:p>
        </p:txBody>
      </p:sp>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7DE08146-F5B7-8000-C1B6-D3E8C705CA3A}"/>
                  </a:ext>
                </a:extLst>
              </p:cNvPr>
              <p:cNvSpPr txBox="1"/>
              <p:nvPr/>
            </p:nvSpPr>
            <p:spPr>
              <a:xfrm>
                <a:off x="184194" y="843588"/>
                <a:ext cx="12007806" cy="5324535"/>
              </a:xfrm>
              <a:prstGeom prst="rect">
                <a:avLst/>
              </a:prstGeom>
              <a:noFill/>
            </p:spPr>
            <p:txBody>
              <a:bodyPr wrap="square" rtlCol="0">
                <a:spAutoFit/>
              </a:bodyPr>
              <a:lstStyle/>
              <a:p>
                <a:pPr>
                  <a:lnSpc>
                    <a:spcPct val="150000"/>
                  </a:lnSpc>
                </a:pPr>
                <a:r>
                  <a:rPr kumimoji="1" lang="en-US" altLang="ko-KR" sz="2200" dirty="0">
                    <a:latin typeface="Times New Roman" panose="02020603050405020304" pitchFamily="18" charset="0"/>
                    <a:cs typeface="Times New Roman" panose="02020603050405020304" pitchFamily="18" charset="0"/>
                  </a:rPr>
                  <a:t>“during self-attention, </a:t>
                </a:r>
                <a:r>
                  <a:rPr kumimoji="1" lang="en-US" altLang="ko-KR" sz="2200" b="1" dirty="0">
                    <a:latin typeface="Times New Roman" panose="02020603050405020304" pitchFamily="18" charset="0"/>
                    <a:cs typeface="Times New Roman" panose="02020603050405020304" pitchFamily="18" charset="0"/>
                  </a:rPr>
                  <a:t>intermediate maps</a:t>
                </a:r>
                <a:r>
                  <a:rPr kumimoji="1" lang="en-US" altLang="ko-KR" sz="2200" dirty="0">
                    <a:latin typeface="Times New Roman" panose="02020603050405020304" pitchFamily="18" charset="0"/>
                    <a:cs typeface="Times New Roman" panose="02020603050405020304" pitchFamily="18" charset="0"/>
                  </a:rPr>
                  <a:t> such as the attention map and the </a:t>
                </a:r>
                <a:r>
                  <a:rPr kumimoji="1" lang="en-US" altLang="ko-KR" sz="2200" dirty="0" err="1">
                    <a:latin typeface="Times New Roman" panose="02020603050405020304" pitchFamily="18" charset="0"/>
                    <a:cs typeface="Times New Roman" panose="02020603050405020304" pitchFamily="18" charset="0"/>
                  </a:rPr>
                  <a:t>softmax</a:t>
                </a:r>
                <a:r>
                  <a:rPr kumimoji="1" lang="en-US" altLang="ko-KR" sz="2200" dirty="0">
                    <a:latin typeface="Times New Roman" panose="02020603050405020304" pitchFamily="18" charset="0"/>
                    <a:cs typeface="Times New Roman" panose="02020603050405020304" pitchFamily="18" charset="0"/>
                  </a:rPr>
                  <a:t> map </a:t>
                </a:r>
                <a:r>
                  <a:rPr kumimoji="1" lang="en-US" altLang="ko-KR" sz="2200" b="1" dirty="0">
                    <a:latin typeface="Times New Roman" panose="02020603050405020304" pitchFamily="18" charset="0"/>
                    <a:cs typeface="Times New Roman" panose="02020603050405020304" pitchFamily="18" charset="0"/>
                  </a:rPr>
                  <a:t>(L × L) need to be stored from high-speed GPU SRAM</a:t>
                </a:r>
                <a:r>
                  <a:rPr kumimoji="1" lang="en-US" altLang="ko-KR" sz="2200" dirty="0">
                    <a:latin typeface="Times New Roman" panose="02020603050405020304" pitchFamily="18" charset="0"/>
                    <a:cs typeface="Times New Roman" panose="02020603050405020304" pitchFamily="18" charset="0"/>
                  </a:rPr>
                  <a:t> (the actual location of the computation) </a:t>
                </a:r>
                <a:r>
                  <a:rPr kumimoji="1" lang="en-US" altLang="ko-KR" sz="2200" b="1" dirty="0">
                    <a:latin typeface="Times New Roman" panose="02020603050405020304" pitchFamily="18" charset="0"/>
                    <a:cs typeface="Times New Roman" panose="02020603050405020304" pitchFamily="18" charset="0"/>
                  </a:rPr>
                  <a:t>to high bandwidth GPU memory (HBM)</a:t>
                </a:r>
                <a:r>
                  <a:rPr kumimoji="1" lang="en-US" altLang="ko-KR" sz="2200" dirty="0">
                    <a:latin typeface="Times New Roman" panose="02020603050405020304" pitchFamily="18" charset="0"/>
                    <a:cs typeface="Times New Roman" panose="02020603050405020304" pitchFamily="18" charset="0"/>
                  </a:rPr>
                  <a:t> and later retrieved during the computation, and </a:t>
                </a:r>
                <a:r>
                  <a:rPr kumimoji="1" lang="en-US" altLang="ko-KR" sz="2200" b="1" dirty="0">
                    <a:latin typeface="Times New Roman" panose="02020603050405020304" pitchFamily="18" charset="0"/>
                    <a:cs typeface="Times New Roman" panose="02020603050405020304" pitchFamily="18" charset="0"/>
                  </a:rPr>
                  <a:t>the read and write speed</a:t>
                </a:r>
                <a:r>
                  <a:rPr kumimoji="1" lang="en-US" altLang="ko-KR" sz="2200" dirty="0">
                    <a:latin typeface="Times New Roman" panose="02020603050405020304" pitchFamily="18" charset="0"/>
                    <a:cs typeface="Times New Roman" panose="02020603050405020304" pitchFamily="18" charset="0"/>
                  </a:rPr>
                  <a:t> of the former is </a:t>
                </a:r>
                <a:r>
                  <a:rPr kumimoji="1" lang="en-US" altLang="ko-KR" sz="2200" b="1" dirty="0">
                    <a:latin typeface="Times New Roman" panose="02020603050405020304" pitchFamily="18" charset="0"/>
                    <a:cs typeface="Times New Roman" panose="02020603050405020304" pitchFamily="18" charset="0"/>
                  </a:rPr>
                  <a:t>more than 10 times that of the latter</a:t>
                </a:r>
                <a:r>
                  <a:rPr kumimoji="1" lang="en-US" altLang="ko-KR" sz="2200" dirty="0">
                    <a:latin typeface="Times New Roman" panose="02020603050405020304" pitchFamily="18" charset="0"/>
                    <a:cs typeface="Times New Roman" panose="02020603050405020304" pitchFamily="18" charset="0"/>
                  </a:rPr>
                  <a:t>, thus resulting in </a:t>
                </a:r>
                <a:r>
                  <a:rPr kumimoji="1" lang="en-US" altLang="ko-KR" sz="2200" b="1" dirty="0">
                    <a:latin typeface="Times New Roman" panose="02020603050405020304" pitchFamily="18" charset="0"/>
                    <a:cs typeface="Times New Roman" panose="02020603050405020304" pitchFamily="18" charset="0"/>
                  </a:rPr>
                  <a:t>significant memory accessing overhead</a:t>
                </a:r>
                <a:r>
                  <a:rPr kumimoji="1" lang="en-US" altLang="ko-KR" sz="2200" dirty="0">
                    <a:latin typeface="Times New Roman" panose="02020603050405020304" pitchFamily="18" charset="0"/>
                    <a:cs typeface="Times New Roman" panose="02020603050405020304" pitchFamily="18" charset="0"/>
                  </a:rPr>
                  <a:t> and increased wall-clock </a:t>
                </a:r>
                <a14:m>
                  <m:oMath xmlns:m="http://schemas.openxmlformats.org/officeDocument/2006/math">
                    <m:sSup>
                      <m:sSupPr>
                        <m:ctrlPr>
                          <a:rPr kumimoji="1" lang="en-US" altLang="ko-KR" sz="2200" b="0" i="1" smtClean="0">
                            <a:latin typeface="Cambria Math" panose="02040503050406030204" pitchFamily="18" charset="0"/>
                          </a:rPr>
                        </m:ctrlPr>
                      </m:sSupPr>
                      <m:e>
                        <m:r>
                          <m:rPr>
                            <m:sty m:val="p"/>
                          </m:rPr>
                          <a:rPr kumimoji="1" lang="en-US" altLang="ko-KR" sz="2200" b="0" i="0" smtClean="0">
                            <a:latin typeface="Cambria Math" panose="02040503050406030204" pitchFamily="18" charset="0"/>
                          </a:rPr>
                          <m:t>time</m:t>
                        </m:r>
                      </m:e>
                      <m:sup>
                        <m:r>
                          <a:rPr kumimoji="1" lang="en-US" altLang="ko-KR" sz="2200" b="0" i="0" smtClean="0">
                            <a:latin typeface="Cambria Math" panose="02040503050406030204" pitchFamily="18" charset="0"/>
                          </a:rPr>
                          <m:t>1</m:t>
                        </m:r>
                      </m:sup>
                    </m:sSup>
                  </m:oMath>
                </a14:m>
                <a:r>
                  <a:rPr kumimoji="1" lang="en-US" altLang="ko-KR" sz="2200" b="1" dirty="0">
                    <a:latin typeface="Times New Roman" panose="02020603050405020304" pitchFamily="18" charset="0"/>
                    <a:cs typeface="Times New Roman" panose="02020603050405020304" pitchFamily="18" charset="0"/>
                  </a:rPr>
                  <a:t>.”</a:t>
                </a:r>
              </a:p>
              <a:p>
                <a:endParaRPr kumimoji="1" lang="en-US" altLang="ko-KR" sz="2500" dirty="0">
                  <a:latin typeface="Times New Roman" panose="02020603050405020304" pitchFamily="18" charset="0"/>
                  <a:cs typeface="Times New Roman" panose="02020603050405020304" pitchFamily="18" charset="0"/>
                </a:endParaRPr>
              </a:p>
              <a:p>
                <a:endParaRPr kumimoji="1" lang="en-US" altLang="ko-KR" sz="2500" dirty="0">
                  <a:latin typeface="Times New Roman" panose="02020603050405020304" pitchFamily="18" charset="0"/>
                  <a:cs typeface="Times New Roman" panose="02020603050405020304" pitchFamily="18" charset="0"/>
                </a:endParaRPr>
              </a:p>
              <a:p>
                <a:endParaRPr kumimoji="1" lang="en-US" altLang="ko-KR" sz="2500" dirty="0">
                  <a:latin typeface="Times New Roman" panose="02020603050405020304" pitchFamily="18" charset="0"/>
                  <a:cs typeface="Times New Roman" panose="02020603050405020304" pitchFamily="18" charset="0"/>
                </a:endParaRPr>
              </a:p>
              <a:p>
                <a:endParaRPr kumimoji="1" lang="en-US" altLang="ko-KR" sz="2500" dirty="0">
                  <a:latin typeface="Times New Roman" panose="02020603050405020304" pitchFamily="18" charset="0"/>
                  <a:cs typeface="Times New Roman" panose="02020603050405020304" pitchFamily="18" charset="0"/>
                </a:endParaRPr>
              </a:p>
              <a:p>
                <a:endParaRPr kumimoji="1" lang="en-US" altLang="ko-KR" sz="2500" dirty="0">
                  <a:latin typeface="Times New Roman" panose="02020603050405020304" pitchFamily="18" charset="0"/>
                  <a:cs typeface="Times New Roman" panose="02020603050405020304" pitchFamily="18" charset="0"/>
                </a:endParaRPr>
              </a:p>
              <a:p>
                <a:endParaRPr kumimoji="1" lang="en-US" altLang="ko-KR" sz="2500" dirty="0">
                  <a:latin typeface="Times New Roman" panose="02020603050405020304" pitchFamily="18" charset="0"/>
                  <a:cs typeface="Times New Roman" panose="02020603050405020304" pitchFamily="18" charset="0"/>
                </a:endParaRPr>
              </a:p>
              <a:p>
                <a:r>
                  <a:rPr kumimoji="1" lang="en-US" altLang="ko-KR" sz="2500" dirty="0">
                    <a:latin typeface="Times New Roman" panose="02020603050405020304" pitchFamily="18" charset="0"/>
                    <a:cs typeface="Times New Roman" panose="02020603050405020304" pitchFamily="18" charset="0"/>
                    <a:sym typeface="Wingdings" pitchFamily="2" charset="2"/>
                  </a:rPr>
                  <a:t> </a:t>
                </a:r>
                <a:r>
                  <a:rPr kumimoji="1" lang="en-US" altLang="ko-KR" sz="2500" dirty="0" err="1">
                    <a:highlight>
                      <a:srgbClr val="FFFF00"/>
                    </a:highlight>
                    <a:latin typeface="Times New Roman" panose="02020603050405020304" pitchFamily="18" charset="0"/>
                    <a:cs typeface="Times New Roman" panose="02020603050405020304" pitchFamily="18" charset="0"/>
                    <a:sym typeface="Wingdings" pitchFamily="2" charset="2"/>
                    <a:hlinkClick r:id="rId3"/>
                  </a:rPr>
                  <a:t>FlashAttention</a:t>
                </a:r>
                <a:r>
                  <a:rPr kumimoji="1" lang="ko-KR" altLang="en-US" sz="2500" dirty="0">
                    <a:latin typeface="Times New Roman" panose="02020603050405020304" pitchFamily="18" charset="0"/>
                    <a:cs typeface="Times New Roman" panose="02020603050405020304" pitchFamily="18" charset="0"/>
                    <a:sym typeface="Wingdings" pitchFamily="2" charset="2"/>
                  </a:rPr>
                  <a:t>의 문제 제기와 접근 방법을 설명하며</a:t>
                </a:r>
                <a:r>
                  <a:rPr kumimoji="1" lang="en-US" altLang="ko-KR" sz="2500" dirty="0">
                    <a:latin typeface="Times New Roman" panose="02020603050405020304" pitchFamily="18" charset="0"/>
                    <a:cs typeface="Times New Roman" panose="02020603050405020304" pitchFamily="18" charset="0"/>
                    <a:sym typeface="Wingdings" pitchFamily="2" charset="2"/>
                  </a:rPr>
                  <a:t>, </a:t>
                </a:r>
                <a:r>
                  <a:rPr kumimoji="1" lang="ko-KR" altLang="en-US" sz="2500" dirty="0">
                    <a:highlight>
                      <a:srgbClr val="FFFF00"/>
                    </a:highlight>
                    <a:latin typeface="Times New Roman" panose="02020603050405020304" pitchFamily="18" charset="0"/>
                    <a:cs typeface="Times New Roman" panose="02020603050405020304" pitchFamily="18" charset="0"/>
                    <a:sym typeface="Wingdings" pitchFamily="2" charset="2"/>
                  </a:rPr>
                  <a:t>사용</a:t>
                </a:r>
                <a:r>
                  <a:rPr kumimoji="1" lang="ko-KR" altLang="en-US" sz="2500" dirty="0">
                    <a:latin typeface="Times New Roman" panose="02020603050405020304" pitchFamily="18" charset="0"/>
                    <a:cs typeface="Times New Roman" panose="02020603050405020304" pitchFamily="18" charset="0"/>
                    <a:sym typeface="Wingdings" pitchFamily="2" charset="2"/>
                  </a:rPr>
                  <a:t>했다고 언급</a:t>
                </a:r>
                <a:endParaRPr kumimoji="1" lang="en-US" altLang="ko-KR" sz="2500" dirty="0">
                  <a:latin typeface="Times New Roman" panose="02020603050405020304" pitchFamily="18" charset="0"/>
                  <a:cs typeface="Times New Roman" panose="02020603050405020304" pitchFamily="18" charset="0"/>
                </a:endParaRPr>
              </a:p>
            </p:txBody>
          </p:sp>
        </mc:Choice>
        <mc:Fallback>
          <p:sp>
            <p:nvSpPr>
              <p:cNvPr id="11" name="TextBox 10">
                <a:extLst>
                  <a:ext uri="{FF2B5EF4-FFF2-40B4-BE49-F238E27FC236}">
                    <a16:creationId xmlns:a16="http://schemas.microsoft.com/office/drawing/2014/main" id="{7DE08146-F5B7-8000-C1B6-D3E8C705CA3A}"/>
                  </a:ext>
                </a:extLst>
              </p:cNvPr>
              <p:cNvSpPr txBox="1">
                <a:spLocks noRot="1" noChangeAspect="1" noMove="1" noResize="1" noEditPoints="1" noAdjustHandles="1" noChangeArrowheads="1" noChangeShapeType="1" noTextEdit="1"/>
              </p:cNvSpPr>
              <p:nvPr/>
            </p:nvSpPr>
            <p:spPr>
              <a:xfrm>
                <a:off x="184194" y="843588"/>
                <a:ext cx="12007806" cy="5324535"/>
              </a:xfrm>
              <a:prstGeom prst="rect">
                <a:avLst/>
              </a:prstGeom>
              <a:blipFill>
                <a:blip r:embed="rId4"/>
                <a:stretch>
                  <a:fillRect l="-845" r="-211" b="-1905"/>
                </a:stretch>
              </a:blipFill>
            </p:spPr>
            <p:txBody>
              <a:bodyPr/>
              <a:lstStyle/>
              <a:p>
                <a:r>
                  <a:rPr lang="ko-KR" altLang="en-US">
                    <a:noFill/>
                  </a:rPr>
                  <a:t> </a:t>
                </a:r>
              </a:p>
            </p:txBody>
          </p:sp>
        </mc:Fallback>
      </mc:AlternateContent>
      <p:pic>
        <p:nvPicPr>
          <p:cNvPr id="2" name="그림 1">
            <a:extLst>
              <a:ext uri="{FF2B5EF4-FFF2-40B4-BE49-F238E27FC236}">
                <a16:creationId xmlns:a16="http://schemas.microsoft.com/office/drawing/2014/main" id="{0D9F7274-8D19-7121-71CF-131A2DA3E185}"/>
              </a:ext>
            </a:extLst>
          </p:cNvPr>
          <p:cNvPicPr>
            <a:picLocks noChangeAspect="1"/>
          </p:cNvPicPr>
          <p:nvPr/>
        </p:nvPicPr>
        <p:blipFill>
          <a:blip r:embed="rId5"/>
          <a:stretch>
            <a:fillRect/>
          </a:stretch>
        </p:blipFill>
        <p:spPr>
          <a:xfrm>
            <a:off x="415825" y="3897810"/>
            <a:ext cx="7960920" cy="917942"/>
          </a:xfrm>
          <a:prstGeom prst="rect">
            <a:avLst/>
          </a:prstGeom>
        </p:spPr>
      </p:pic>
    </p:spTree>
    <p:extLst>
      <p:ext uri="{BB962C8B-B14F-4D97-AF65-F5344CB8AC3E}">
        <p14:creationId xmlns:p14="http://schemas.microsoft.com/office/powerpoint/2010/main" val="20466904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617350-DC70-0F33-29F4-76AFA872AE2F}"/>
            </a:ext>
          </a:extLst>
        </p:cNvPr>
        <p:cNvGrpSpPr/>
        <p:nvPr/>
      </p:nvGrpSpPr>
      <p:grpSpPr>
        <a:xfrm>
          <a:off x="0" y="0"/>
          <a:ext cx="0" cy="0"/>
          <a:chOff x="0" y="0"/>
          <a:chExt cx="0" cy="0"/>
        </a:xfrm>
      </p:grpSpPr>
      <p:sp>
        <p:nvSpPr>
          <p:cNvPr id="27" name="제목 26">
            <a:extLst>
              <a:ext uri="{FF2B5EF4-FFF2-40B4-BE49-F238E27FC236}">
                <a16:creationId xmlns:a16="http://schemas.microsoft.com/office/drawing/2014/main" id="{714381F3-FE26-44E4-EDA6-7EFE25336641}"/>
              </a:ext>
            </a:extLst>
          </p:cNvPr>
          <p:cNvSpPr>
            <a:spLocks noGrp="1"/>
          </p:cNvSpPr>
          <p:nvPr>
            <p:ph type="title"/>
          </p:nvPr>
        </p:nvSpPr>
        <p:spPr/>
        <p:txBody>
          <a:bodyPr>
            <a:normAutofit/>
          </a:bodyPr>
          <a:lstStyle/>
          <a:p>
            <a:r>
              <a:rPr kumimoji="1" lang="en-US" altLang="ko-KR" sz="2800" b="1" dirty="0"/>
              <a:t>2. </a:t>
            </a:r>
            <a:r>
              <a:rPr kumimoji="1" lang="en-US" altLang="ko-KR" sz="2800" b="1" dirty="0" err="1"/>
              <a:t>FlashAttention</a:t>
            </a:r>
            <a:r>
              <a:rPr kumimoji="1" lang="ko-KR" altLang="en-US" sz="2800" b="1" dirty="0"/>
              <a:t>의 </a:t>
            </a:r>
            <a:r>
              <a:rPr kumimoji="1" lang="en-US" altLang="ko-KR" sz="2800" b="1" dirty="0"/>
              <a:t>Preliminary</a:t>
            </a:r>
            <a:endParaRPr lang="ko-KR" altLang="en-US" dirty="0"/>
          </a:p>
        </p:txBody>
      </p:sp>
      <p:sp>
        <p:nvSpPr>
          <p:cNvPr id="47" name="내용 개체 틀 2">
            <a:extLst>
              <a:ext uri="{FF2B5EF4-FFF2-40B4-BE49-F238E27FC236}">
                <a16:creationId xmlns:a16="http://schemas.microsoft.com/office/drawing/2014/main" id="{AE752E4C-3F41-C0D2-558A-4F129A087CBD}"/>
              </a:ext>
            </a:extLst>
          </p:cNvPr>
          <p:cNvSpPr txBox="1">
            <a:spLocks/>
          </p:cNvSpPr>
          <p:nvPr/>
        </p:nvSpPr>
        <p:spPr>
          <a:xfrm>
            <a:off x="117514" y="852966"/>
            <a:ext cx="11952383" cy="5438047"/>
          </a:xfrm>
          <a:prstGeom prst="rect">
            <a:avLst/>
          </a:prstGeom>
        </p:spPr>
        <p:txBody>
          <a:bodyPr vert="horz" lIns="91440" tIns="45720" rIns="91440" bIns="45720" rtlCol="0">
            <a:normAutofit/>
          </a:bodyPr>
          <a:lstStyle>
            <a:lvl1pPr marL="228600" indent="-228600" algn="l" defTabSz="914400" rtl="0" eaLnBrk="1" latinLnBrk="1"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15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endParaRPr lang="en" altLang="ko-KR" sz="2000" dirty="0"/>
          </a:p>
          <a:p>
            <a:pPr>
              <a:lnSpc>
                <a:spcPct val="150000"/>
              </a:lnSpc>
            </a:pPr>
            <a:endParaRPr kumimoji="1" lang="en" altLang="ko-KR" sz="2000" b="1" dirty="0"/>
          </a:p>
          <a:p>
            <a:pPr>
              <a:lnSpc>
                <a:spcPct val="150000"/>
              </a:lnSpc>
            </a:pPr>
            <a:endParaRPr kumimoji="1" lang="en" altLang="ko-KR" sz="2000" b="1" dirty="0"/>
          </a:p>
          <a:p>
            <a:pPr>
              <a:lnSpc>
                <a:spcPct val="150000"/>
              </a:lnSpc>
            </a:pPr>
            <a:endParaRPr kumimoji="1" lang="en" altLang="ko-KR" sz="2000" b="1" dirty="0"/>
          </a:p>
          <a:p>
            <a:pPr>
              <a:lnSpc>
                <a:spcPct val="150000"/>
              </a:lnSpc>
            </a:pPr>
            <a:endParaRPr kumimoji="1" lang="en" altLang="ko-KR" sz="2000" b="1" dirty="0"/>
          </a:p>
          <a:p>
            <a:pPr>
              <a:lnSpc>
                <a:spcPct val="150000"/>
              </a:lnSpc>
            </a:pPr>
            <a:endParaRPr kumimoji="1" lang="en" altLang="ko-KR" sz="2000" b="1" dirty="0"/>
          </a:p>
          <a:p>
            <a:pPr>
              <a:lnSpc>
                <a:spcPct val="150000"/>
              </a:lnSpc>
            </a:pPr>
            <a:endParaRPr kumimoji="1" lang="en" altLang="ko-KR" sz="2000" b="1" dirty="0"/>
          </a:p>
        </p:txBody>
      </p:sp>
      <p:pic>
        <p:nvPicPr>
          <p:cNvPr id="1026" name="Picture 2" descr="Roofline intro">
            <a:extLst>
              <a:ext uri="{FF2B5EF4-FFF2-40B4-BE49-F238E27FC236}">
                <a16:creationId xmlns:a16="http://schemas.microsoft.com/office/drawing/2014/main" id="{6C117BB0-11AA-7C69-8FB5-6C81E6E5539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02882" y="2398564"/>
            <a:ext cx="5307220" cy="4058962"/>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54D61970-47FD-449E-B177-495EE4C539DC}"/>
              </a:ext>
            </a:extLst>
          </p:cNvPr>
          <p:cNvSpPr txBox="1"/>
          <p:nvPr/>
        </p:nvSpPr>
        <p:spPr>
          <a:xfrm>
            <a:off x="184193" y="843588"/>
            <a:ext cx="5911807" cy="600293"/>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kumimoji="1" lang="en-US" altLang="ko-KR" sz="2500" dirty="0">
                <a:latin typeface="Times New Roman" panose="02020603050405020304" pitchFamily="18" charset="0"/>
                <a:cs typeface="Times New Roman" panose="02020603050405020304" pitchFamily="18" charset="0"/>
              </a:rPr>
              <a:t>GPU memory  hierarchy</a:t>
            </a:r>
          </a:p>
        </p:txBody>
      </p:sp>
      <p:pic>
        <p:nvPicPr>
          <p:cNvPr id="4" name="그림 3">
            <a:extLst>
              <a:ext uri="{FF2B5EF4-FFF2-40B4-BE49-F238E27FC236}">
                <a16:creationId xmlns:a16="http://schemas.microsoft.com/office/drawing/2014/main" id="{A0CF3BEA-FE3C-2C96-B98D-8ECE6DC1070C}"/>
              </a:ext>
            </a:extLst>
          </p:cNvPr>
          <p:cNvPicPr>
            <a:picLocks noChangeAspect="1"/>
          </p:cNvPicPr>
          <p:nvPr/>
        </p:nvPicPr>
        <p:blipFill>
          <a:blip r:embed="rId4"/>
          <a:srcRect l="5063"/>
          <a:stretch>
            <a:fillRect/>
          </a:stretch>
        </p:blipFill>
        <p:spPr>
          <a:xfrm>
            <a:off x="1588997" y="1391383"/>
            <a:ext cx="3072456" cy="2312439"/>
          </a:xfrm>
          <a:prstGeom prst="rect">
            <a:avLst/>
          </a:prstGeom>
        </p:spPr>
      </p:pic>
      <p:sp>
        <p:nvSpPr>
          <p:cNvPr id="5" name="TextBox 4">
            <a:extLst>
              <a:ext uri="{FF2B5EF4-FFF2-40B4-BE49-F238E27FC236}">
                <a16:creationId xmlns:a16="http://schemas.microsoft.com/office/drawing/2014/main" id="{557A680F-D5CD-BB43-84C5-89A505BCAE0E}"/>
              </a:ext>
            </a:extLst>
          </p:cNvPr>
          <p:cNvSpPr txBox="1"/>
          <p:nvPr/>
        </p:nvSpPr>
        <p:spPr>
          <a:xfrm>
            <a:off x="6100589" y="843587"/>
            <a:ext cx="5911807" cy="1623393"/>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kumimoji="1" lang="en-US" altLang="ko-KR" sz="2500" dirty="0">
                <a:latin typeface="Times New Roman" panose="02020603050405020304" pitchFamily="18" charset="0"/>
                <a:cs typeface="Times New Roman" panose="02020603050405020304" pitchFamily="18" charset="0"/>
              </a:rPr>
              <a:t>Arithmetic Intensity</a:t>
            </a:r>
          </a:p>
          <a:p>
            <a:pPr marL="800100" lvl="1" indent="-342900">
              <a:lnSpc>
                <a:spcPct val="150000"/>
              </a:lnSpc>
              <a:buFont typeface="Arial" panose="020B0604020202020204" pitchFamily="34" charset="0"/>
              <a:buChar char="•"/>
            </a:pPr>
            <a:r>
              <a:rPr kumimoji="1" lang="en-US" altLang="ko-KR" sz="2200" dirty="0">
                <a:latin typeface="Times New Roman" panose="02020603050405020304" pitchFamily="18" charset="0"/>
                <a:cs typeface="Times New Roman" panose="02020603050405020304" pitchFamily="18" charset="0"/>
              </a:rPr>
              <a:t>Compute-bound (compute </a:t>
            </a:r>
            <a:r>
              <a:rPr kumimoji="1" lang="ko-KR" altLang="en-US" sz="2200" dirty="0">
                <a:latin typeface="Times New Roman" panose="02020603050405020304" pitchFamily="18" charset="0"/>
                <a:cs typeface="Times New Roman" panose="02020603050405020304" pitchFamily="18" charset="0"/>
              </a:rPr>
              <a:t>속도가 더 느림</a:t>
            </a:r>
            <a:r>
              <a:rPr kumimoji="1" lang="en-US" altLang="ko-KR" sz="2200" dirty="0">
                <a:latin typeface="Times New Roman" panose="02020603050405020304" pitchFamily="18" charset="0"/>
                <a:cs typeface="Times New Roman" panose="02020603050405020304" pitchFamily="18" charset="0"/>
              </a:rPr>
              <a:t>)</a:t>
            </a:r>
          </a:p>
          <a:p>
            <a:pPr marL="800100" lvl="1" indent="-342900">
              <a:lnSpc>
                <a:spcPct val="150000"/>
              </a:lnSpc>
              <a:buFont typeface="Arial" panose="020B0604020202020204" pitchFamily="34" charset="0"/>
              <a:buChar char="•"/>
            </a:pPr>
            <a:r>
              <a:rPr kumimoji="1" lang="en-US" altLang="ko-KR" sz="2200" b="1" dirty="0">
                <a:latin typeface="Times New Roman" panose="02020603050405020304" pitchFamily="18" charset="0"/>
                <a:cs typeface="Times New Roman" panose="02020603050405020304" pitchFamily="18" charset="0"/>
              </a:rPr>
              <a:t>Memory-bound (r/w </a:t>
            </a:r>
            <a:r>
              <a:rPr kumimoji="1" lang="ko-KR" altLang="en-US" sz="2200" b="1" dirty="0">
                <a:latin typeface="Times New Roman" panose="02020603050405020304" pitchFamily="18" charset="0"/>
                <a:cs typeface="Times New Roman" panose="02020603050405020304" pitchFamily="18" charset="0"/>
              </a:rPr>
              <a:t>속도가 더 느림</a:t>
            </a:r>
            <a:r>
              <a:rPr kumimoji="1" lang="en-US" altLang="ko-KR" sz="2200" b="1" dirty="0">
                <a:latin typeface="Times New Roman" panose="02020603050405020304" pitchFamily="18" charset="0"/>
                <a:cs typeface="Times New Roman" panose="02020603050405020304" pitchFamily="18" charset="0"/>
              </a:rPr>
              <a:t>)</a:t>
            </a:r>
          </a:p>
        </p:txBody>
      </p:sp>
      <p:sp>
        <p:nvSpPr>
          <p:cNvPr id="7" name="TextBox 6">
            <a:extLst>
              <a:ext uri="{FF2B5EF4-FFF2-40B4-BE49-F238E27FC236}">
                <a16:creationId xmlns:a16="http://schemas.microsoft.com/office/drawing/2014/main" id="{F8F8D04C-7B4B-CF5C-217E-5F88BD4E70E3}"/>
              </a:ext>
            </a:extLst>
          </p:cNvPr>
          <p:cNvSpPr txBox="1"/>
          <p:nvPr/>
        </p:nvSpPr>
        <p:spPr>
          <a:xfrm>
            <a:off x="7307205" y="6251159"/>
            <a:ext cx="3498574" cy="246221"/>
          </a:xfrm>
          <a:prstGeom prst="rect">
            <a:avLst/>
          </a:prstGeom>
          <a:noFill/>
        </p:spPr>
        <p:txBody>
          <a:bodyPr wrap="square">
            <a:spAutoFit/>
          </a:bodyPr>
          <a:lstStyle/>
          <a:p>
            <a:r>
              <a:rPr lang="ko-KR" altLang="en-US" sz="1000" dirty="0" err="1">
                <a:hlinkClick r:id="rId5"/>
              </a:rPr>
              <a:t>https</a:t>
            </a:r>
            <a:r>
              <a:rPr lang="ko-KR" altLang="en-US" sz="1000" dirty="0">
                <a:hlinkClick r:id="rId5"/>
              </a:rPr>
              <a:t>://</a:t>
            </a:r>
            <a:r>
              <a:rPr lang="ko-KR" altLang="en-US" sz="1000" dirty="0" err="1">
                <a:hlinkClick r:id="rId5"/>
              </a:rPr>
              <a:t>docs.nersc.gov</a:t>
            </a:r>
            <a:r>
              <a:rPr lang="ko-KR" altLang="en-US" sz="1000" dirty="0">
                <a:hlinkClick r:id="rId5"/>
              </a:rPr>
              <a:t>/</a:t>
            </a:r>
            <a:r>
              <a:rPr lang="ko-KR" altLang="en-US" sz="1000" dirty="0" err="1">
                <a:hlinkClick r:id="rId5"/>
              </a:rPr>
              <a:t>tools</a:t>
            </a:r>
            <a:r>
              <a:rPr lang="ko-KR" altLang="en-US" sz="1000" dirty="0">
                <a:hlinkClick r:id="rId5"/>
              </a:rPr>
              <a:t>/</a:t>
            </a:r>
            <a:r>
              <a:rPr lang="ko-KR" altLang="en-US" sz="1000" dirty="0" err="1">
                <a:hlinkClick r:id="rId5"/>
              </a:rPr>
              <a:t>performance</a:t>
            </a:r>
            <a:r>
              <a:rPr lang="ko-KR" altLang="en-US" sz="1000" dirty="0">
                <a:hlinkClick r:id="rId5"/>
              </a:rPr>
              <a:t>/</a:t>
            </a:r>
            <a:r>
              <a:rPr lang="ko-KR" altLang="en-US" sz="1000" dirty="0" err="1">
                <a:hlinkClick r:id="rId5"/>
              </a:rPr>
              <a:t>roofline</a:t>
            </a:r>
            <a:r>
              <a:rPr lang="ko-KR" altLang="en-US" sz="1000" dirty="0">
                <a:hlinkClick r:id="rId5"/>
              </a:rPr>
              <a:t>/</a:t>
            </a:r>
            <a:endParaRPr lang="ko-KR" altLang="en-US" sz="1000" dirty="0"/>
          </a:p>
        </p:txBody>
      </p:sp>
      <p:sp>
        <p:nvSpPr>
          <p:cNvPr id="8" name="TextBox 7">
            <a:extLst>
              <a:ext uri="{FF2B5EF4-FFF2-40B4-BE49-F238E27FC236}">
                <a16:creationId xmlns:a16="http://schemas.microsoft.com/office/drawing/2014/main" id="{67BCA489-7773-4C95-F040-193166753BED}"/>
              </a:ext>
            </a:extLst>
          </p:cNvPr>
          <p:cNvSpPr txBox="1"/>
          <p:nvPr/>
        </p:nvSpPr>
        <p:spPr>
          <a:xfrm>
            <a:off x="184193" y="3818185"/>
            <a:ext cx="4523995" cy="2432974"/>
          </a:xfrm>
          <a:prstGeom prst="rect">
            <a:avLst/>
          </a:prstGeom>
          <a:noFill/>
        </p:spPr>
        <p:txBody>
          <a:bodyPr wrap="none" rtlCol="0">
            <a:spAutoFit/>
          </a:bodyPr>
          <a:lstStyle/>
          <a:p>
            <a:r>
              <a:rPr kumimoji="1" lang="en-US" altLang="ko-KR" sz="2000" dirty="0"/>
              <a:t>y=Ax </a:t>
            </a:r>
            <a:r>
              <a:rPr kumimoji="1" lang="ko-KR" altLang="en-US" sz="2000" dirty="0"/>
              <a:t>예시</a:t>
            </a:r>
            <a:endParaRPr kumimoji="1" lang="en-US" altLang="ko-KR" sz="2000" dirty="0"/>
          </a:p>
          <a:p>
            <a:pPr marL="800100" lvl="1" indent="-342900">
              <a:lnSpc>
                <a:spcPct val="150000"/>
              </a:lnSpc>
              <a:buAutoNum type="arabicPeriod"/>
            </a:pPr>
            <a:r>
              <a:rPr kumimoji="1" lang="en-US" altLang="ko-KR" sz="1500" dirty="0"/>
              <a:t>A, x </a:t>
            </a:r>
            <a:r>
              <a:rPr kumimoji="1" lang="ko-KR" altLang="en-US" sz="1500" dirty="0"/>
              <a:t>선언</a:t>
            </a:r>
            <a:endParaRPr kumimoji="1" lang="en-US" altLang="ko-KR" sz="1500" dirty="0"/>
          </a:p>
          <a:p>
            <a:pPr marL="800100" lvl="1" indent="-342900">
              <a:lnSpc>
                <a:spcPct val="150000"/>
              </a:lnSpc>
              <a:buAutoNum type="arabicPeriod"/>
            </a:pPr>
            <a:r>
              <a:rPr kumimoji="1" lang="en-US" altLang="ko-KR" sz="1500" dirty="0"/>
              <a:t>y</a:t>
            </a:r>
            <a:r>
              <a:rPr kumimoji="1" lang="ko-KR" altLang="en-US" sz="1500" dirty="0"/>
              <a:t> 선언</a:t>
            </a:r>
            <a:endParaRPr kumimoji="1" lang="en-US" altLang="ko-KR" sz="1500" dirty="0"/>
          </a:p>
          <a:p>
            <a:pPr marL="800100" lvl="1" indent="-342900">
              <a:lnSpc>
                <a:spcPct val="150000"/>
              </a:lnSpc>
              <a:buAutoNum type="arabicPeriod"/>
            </a:pPr>
            <a:r>
              <a:rPr kumimoji="1" lang="en-US" altLang="ko-KR" sz="1500" dirty="0"/>
              <a:t>A, x, y,</a:t>
            </a:r>
            <a:r>
              <a:rPr kumimoji="1" lang="ko-KR" altLang="en-US" sz="1500" dirty="0" err="1"/>
              <a:t>를</a:t>
            </a:r>
            <a:r>
              <a:rPr kumimoji="1" lang="ko-KR" altLang="en-US" sz="1500" dirty="0"/>
              <a:t> </a:t>
            </a:r>
            <a:r>
              <a:rPr kumimoji="1" lang="en-US" altLang="ko-KR" sz="1500" dirty="0"/>
              <a:t>HBM</a:t>
            </a:r>
            <a:r>
              <a:rPr kumimoji="1" lang="ko-KR" altLang="en-US" sz="1500" dirty="0" err="1"/>
              <a:t>으로</a:t>
            </a:r>
            <a:r>
              <a:rPr kumimoji="1" lang="ko-KR" altLang="en-US" sz="1500" dirty="0"/>
              <a:t> </a:t>
            </a:r>
            <a:r>
              <a:rPr kumimoji="1" lang="en-US" altLang="ko-KR" sz="1500" dirty="0"/>
              <a:t>Load # ex) .to(‘</a:t>
            </a:r>
            <a:r>
              <a:rPr kumimoji="1" lang="en-US" altLang="ko-KR" sz="1500" dirty="0" err="1"/>
              <a:t>cuda</a:t>
            </a:r>
            <a:r>
              <a:rPr kumimoji="1" lang="en-US" altLang="ko-KR" sz="1500" dirty="0"/>
              <a:t>’)</a:t>
            </a:r>
          </a:p>
          <a:p>
            <a:pPr marL="800100" lvl="1" indent="-342900">
              <a:lnSpc>
                <a:spcPct val="150000"/>
              </a:lnSpc>
              <a:buAutoNum type="arabicPeriod"/>
            </a:pPr>
            <a:r>
              <a:rPr kumimoji="1" lang="en-US" altLang="ko-KR" sz="1500" dirty="0"/>
              <a:t>A, x</a:t>
            </a:r>
            <a:r>
              <a:rPr kumimoji="1" lang="ko-KR" altLang="en-US" sz="1500" dirty="0" err="1"/>
              <a:t>를</a:t>
            </a:r>
            <a:r>
              <a:rPr kumimoji="1" lang="ko-KR" altLang="en-US" sz="1500" dirty="0"/>
              <a:t> </a:t>
            </a:r>
            <a:r>
              <a:rPr kumimoji="1" lang="en-US" altLang="ko-KR" sz="1500" dirty="0"/>
              <a:t>HBM</a:t>
            </a:r>
            <a:r>
              <a:rPr kumimoji="1" lang="ko-KR" altLang="en-US" sz="1500" dirty="0"/>
              <a:t>에서 </a:t>
            </a:r>
            <a:r>
              <a:rPr kumimoji="1" lang="en-US" altLang="ko-KR" sz="1500" dirty="0"/>
              <a:t>SRAM</a:t>
            </a:r>
            <a:r>
              <a:rPr kumimoji="1" lang="ko-KR" altLang="en-US" sz="1500" dirty="0" err="1"/>
              <a:t>으로</a:t>
            </a:r>
            <a:r>
              <a:rPr kumimoji="1" lang="ko-KR" altLang="en-US" sz="1500" dirty="0"/>
              <a:t> </a:t>
            </a:r>
            <a:r>
              <a:rPr kumimoji="1" lang="en-US" altLang="ko-KR" sz="1500" b="1" dirty="0"/>
              <a:t>read</a:t>
            </a:r>
          </a:p>
          <a:p>
            <a:pPr marL="800100" lvl="1" indent="-342900">
              <a:lnSpc>
                <a:spcPct val="150000"/>
              </a:lnSpc>
              <a:buAutoNum type="arabicPeriod"/>
            </a:pPr>
            <a:r>
              <a:rPr kumimoji="1" lang="en-US" altLang="ko-KR" sz="1500" dirty="0"/>
              <a:t>SRAM</a:t>
            </a:r>
            <a:r>
              <a:rPr kumimoji="1" lang="ko-KR" altLang="en-US" sz="1500" dirty="0"/>
              <a:t>에서 </a:t>
            </a:r>
            <a:r>
              <a:rPr kumimoji="1" lang="en-US" altLang="ko-KR" sz="1500" dirty="0"/>
              <a:t>A @ x</a:t>
            </a:r>
          </a:p>
          <a:p>
            <a:pPr marL="800100" lvl="1" indent="-342900">
              <a:lnSpc>
                <a:spcPct val="150000"/>
              </a:lnSpc>
              <a:buAutoNum type="arabicPeriod"/>
            </a:pPr>
            <a:r>
              <a:rPr kumimoji="1" lang="ko-KR" altLang="en-US" sz="1500" dirty="0"/>
              <a:t>결과를 </a:t>
            </a:r>
            <a:r>
              <a:rPr kumimoji="1" lang="en-US" altLang="ko-KR" sz="1500" dirty="0"/>
              <a:t>HBM</a:t>
            </a:r>
            <a:r>
              <a:rPr kumimoji="1" lang="ko-KR" altLang="en-US" sz="1500" dirty="0"/>
              <a:t>의 </a:t>
            </a:r>
            <a:r>
              <a:rPr kumimoji="1" lang="en-US" altLang="ko-KR" sz="1500" dirty="0"/>
              <a:t>y</a:t>
            </a:r>
            <a:r>
              <a:rPr kumimoji="1" lang="ko-KR" altLang="en-US" sz="1500" dirty="0"/>
              <a:t>로 </a:t>
            </a:r>
            <a:r>
              <a:rPr kumimoji="1" lang="en-US" altLang="ko-KR" sz="1500" b="1" dirty="0"/>
              <a:t>write</a:t>
            </a:r>
          </a:p>
        </p:txBody>
      </p:sp>
    </p:spTree>
    <p:extLst>
      <p:ext uri="{BB962C8B-B14F-4D97-AF65-F5344CB8AC3E}">
        <p14:creationId xmlns:p14="http://schemas.microsoft.com/office/powerpoint/2010/main" val="37008673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F81D58-DE77-DF9E-F69B-5FC5C12C16A2}"/>
            </a:ext>
          </a:extLst>
        </p:cNvPr>
        <p:cNvGrpSpPr/>
        <p:nvPr/>
      </p:nvGrpSpPr>
      <p:grpSpPr>
        <a:xfrm>
          <a:off x="0" y="0"/>
          <a:ext cx="0" cy="0"/>
          <a:chOff x="0" y="0"/>
          <a:chExt cx="0" cy="0"/>
        </a:xfrm>
      </p:grpSpPr>
      <p:sp>
        <p:nvSpPr>
          <p:cNvPr id="27" name="제목 26">
            <a:extLst>
              <a:ext uri="{FF2B5EF4-FFF2-40B4-BE49-F238E27FC236}">
                <a16:creationId xmlns:a16="http://schemas.microsoft.com/office/drawing/2014/main" id="{48372CA1-5AE8-AC2C-B0AB-B0BA7AEB73A8}"/>
              </a:ext>
            </a:extLst>
          </p:cNvPr>
          <p:cNvSpPr>
            <a:spLocks noGrp="1"/>
          </p:cNvSpPr>
          <p:nvPr>
            <p:ph type="title"/>
          </p:nvPr>
        </p:nvSpPr>
        <p:spPr/>
        <p:txBody>
          <a:bodyPr>
            <a:normAutofit/>
          </a:bodyPr>
          <a:lstStyle/>
          <a:p>
            <a:r>
              <a:rPr kumimoji="1" lang="en-US" altLang="ko-KR" sz="2800" b="1" dirty="0"/>
              <a:t>2. </a:t>
            </a:r>
            <a:r>
              <a:rPr kumimoji="1" lang="en-US" altLang="ko-KR" sz="2800" b="1" dirty="0" err="1"/>
              <a:t>FlashAttention</a:t>
            </a:r>
            <a:r>
              <a:rPr kumimoji="1" lang="ko-KR" altLang="en-US" sz="2800" b="1" dirty="0"/>
              <a:t>의 </a:t>
            </a:r>
            <a:r>
              <a:rPr kumimoji="1" lang="en-US" altLang="ko-KR" sz="2800" b="1" dirty="0"/>
              <a:t>Motivation</a:t>
            </a:r>
            <a:endParaRPr lang="ko-KR" altLang="en-US" dirty="0"/>
          </a:p>
        </p:txBody>
      </p:sp>
      <p:sp>
        <p:nvSpPr>
          <p:cNvPr id="47" name="내용 개체 틀 2">
            <a:extLst>
              <a:ext uri="{FF2B5EF4-FFF2-40B4-BE49-F238E27FC236}">
                <a16:creationId xmlns:a16="http://schemas.microsoft.com/office/drawing/2014/main" id="{91E70E67-2405-2EAC-FFCA-DE0886442DFE}"/>
              </a:ext>
            </a:extLst>
          </p:cNvPr>
          <p:cNvSpPr txBox="1">
            <a:spLocks/>
          </p:cNvSpPr>
          <p:nvPr/>
        </p:nvSpPr>
        <p:spPr>
          <a:xfrm>
            <a:off x="117514" y="852966"/>
            <a:ext cx="11952383" cy="5438047"/>
          </a:xfrm>
          <a:prstGeom prst="rect">
            <a:avLst/>
          </a:prstGeom>
        </p:spPr>
        <p:txBody>
          <a:bodyPr vert="horz" lIns="91440" tIns="45720" rIns="91440" bIns="45720" rtlCol="0">
            <a:normAutofit/>
          </a:bodyPr>
          <a:lstStyle>
            <a:lvl1pPr marL="228600" indent="-228600" algn="l" defTabSz="914400" rtl="0" eaLnBrk="1" latinLnBrk="1"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15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endParaRPr lang="en" altLang="ko-KR" sz="2000" dirty="0"/>
          </a:p>
          <a:p>
            <a:pPr>
              <a:lnSpc>
                <a:spcPct val="150000"/>
              </a:lnSpc>
            </a:pPr>
            <a:endParaRPr kumimoji="1" lang="en" altLang="ko-KR" sz="2000" b="1" dirty="0"/>
          </a:p>
          <a:p>
            <a:pPr>
              <a:lnSpc>
                <a:spcPct val="150000"/>
              </a:lnSpc>
            </a:pPr>
            <a:endParaRPr kumimoji="1" lang="en" altLang="ko-KR" sz="2000" b="1" dirty="0"/>
          </a:p>
          <a:p>
            <a:pPr>
              <a:lnSpc>
                <a:spcPct val="150000"/>
              </a:lnSpc>
            </a:pPr>
            <a:endParaRPr kumimoji="1" lang="en" altLang="ko-KR" sz="2000" b="1" dirty="0"/>
          </a:p>
          <a:p>
            <a:pPr>
              <a:lnSpc>
                <a:spcPct val="150000"/>
              </a:lnSpc>
            </a:pPr>
            <a:endParaRPr kumimoji="1" lang="en" altLang="ko-KR" sz="2000" b="1" dirty="0"/>
          </a:p>
          <a:p>
            <a:pPr>
              <a:lnSpc>
                <a:spcPct val="150000"/>
              </a:lnSpc>
            </a:pPr>
            <a:endParaRPr kumimoji="1" lang="en" altLang="ko-KR" sz="2000" b="1" dirty="0"/>
          </a:p>
          <a:p>
            <a:pPr>
              <a:lnSpc>
                <a:spcPct val="150000"/>
              </a:lnSpc>
            </a:pPr>
            <a:endParaRPr kumimoji="1" lang="en" altLang="ko-KR" sz="2000" b="1" dirty="0"/>
          </a:p>
        </p:txBody>
      </p:sp>
      <p:pic>
        <p:nvPicPr>
          <p:cNvPr id="2" name="그림 1">
            <a:extLst>
              <a:ext uri="{FF2B5EF4-FFF2-40B4-BE49-F238E27FC236}">
                <a16:creationId xmlns:a16="http://schemas.microsoft.com/office/drawing/2014/main" id="{A2ECCC60-397E-EDA7-DA83-C1C7F5DE38E4}"/>
              </a:ext>
            </a:extLst>
          </p:cNvPr>
          <p:cNvPicPr>
            <a:picLocks noChangeAspect="1"/>
          </p:cNvPicPr>
          <p:nvPr/>
        </p:nvPicPr>
        <p:blipFill>
          <a:blip r:embed="rId3"/>
          <a:srcRect l="1696" r="1879"/>
          <a:stretch>
            <a:fillRect/>
          </a:stretch>
        </p:blipFill>
        <p:spPr>
          <a:xfrm>
            <a:off x="112925" y="1164747"/>
            <a:ext cx="5983075" cy="2264253"/>
          </a:xfrm>
          <a:prstGeom prst="rect">
            <a:avLst/>
          </a:prstGeom>
        </p:spPr>
      </p:pic>
      <p:sp>
        <p:nvSpPr>
          <p:cNvPr id="9" name="TextBox 8">
            <a:extLst>
              <a:ext uri="{FF2B5EF4-FFF2-40B4-BE49-F238E27FC236}">
                <a16:creationId xmlns:a16="http://schemas.microsoft.com/office/drawing/2014/main" id="{759D84A4-2775-ACD3-59C6-0F44A38D9FA5}"/>
              </a:ext>
            </a:extLst>
          </p:cNvPr>
          <p:cNvSpPr txBox="1"/>
          <p:nvPr/>
        </p:nvSpPr>
        <p:spPr>
          <a:xfrm>
            <a:off x="0" y="3578600"/>
            <a:ext cx="6099242" cy="646331"/>
          </a:xfrm>
          <a:prstGeom prst="rect">
            <a:avLst/>
          </a:prstGeom>
          <a:noFill/>
        </p:spPr>
        <p:txBody>
          <a:bodyPr wrap="square">
            <a:spAutoFit/>
          </a:bodyPr>
          <a:lstStyle/>
          <a:p>
            <a:r>
              <a:rPr lang="ko-KR" altLang="en-US" sz="1200" dirty="0" err="1">
                <a:hlinkClick r:id="rId4"/>
              </a:rPr>
              <a:t>Dao</a:t>
            </a:r>
            <a:r>
              <a:rPr lang="ko-KR" altLang="en-US" sz="1200" dirty="0">
                <a:hlinkClick r:id="rId4"/>
              </a:rPr>
              <a:t>, </a:t>
            </a:r>
            <a:r>
              <a:rPr lang="ko-KR" altLang="en-US" sz="1200" dirty="0" err="1">
                <a:hlinkClick r:id="rId4"/>
              </a:rPr>
              <a:t>Tri</a:t>
            </a:r>
            <a:r>
              <a:rPr lang="ko-KR" altLang="en-US" sz="1200" dirty="0">
                <a:hlinkClick r:id="rId4"/>
              </a:rPr>
              <a:t>, </a:t>
            </a:r>
            <a:r>
              <a:rPr lang="ko-KR" altLang="en-US" sz="1200" dirty="0" err="1">
                <a:hlinkClick r:id="rId4"/>
              </a:rPr>
              <a:t>et</a:t>
            </a:r>
            <a:r>
              <a:rPr lang="ko-KR" altLang="en-US" sz="1200" dirty="0">
                <a:hlinkClick r:id="rId4"/>
              </a:rPr>
              <a:t> </a:t>
            </a:r>
            <a:r>
              <a:rPr lang="ko-KR" altLang="en-US" sz="1200" dirty="0" err="1">
                <a:hlinkClick r:id="rId4"/>
              </a:rPr>
              <a:t>al</a:t>
            </a:r>
            <a:r>
              <a:rPr lang="ko-KR" altLang="en-US" sz="1200" dirty="0">
                <a:hlinkClick r:id="rId4"/>
              </a:rPr>
              <a:t>. "</a:t>
            </a:r>
            <a:r>
              <a:rPr lang="ko-KR" altLang="en-US" sz="1200" dirty="0" err="1">
                <a:hlinkClick r:id="rId4"/>
              </a:rPr>
              <a:t>Flashattention</a:t>
            </a:r>
            <a:r>
              <a:rPr lang="ko-KR" altLang="en-US" sz="1200" dirty="0">
                <a:hlinkClick r:id="rId4"/>
              </a:rPr>
              <a:t>: </a:t>
            </a:r>
            <a:r>
              <a:rPr lang="ko-KR" altLang="en-US" sz="1200" dirty="0" err="1">
                <a:hlinkClick r:id="rId4"/>
              </a:rPr>
              <a:t>Fast</a:t>
            </a:r>
            <a:r>
              <a:rPr lang="ko-KR" altLang="en-US" sz="1200" dirty="0">
                <a:hlinkClick r:id="rId4"/>
              </a:rPr>
              <a:t> and </a:t>
            </a:r>
            <a:r>
              <a:rPr lang="ko-KR" altLang="en-US" sz="1200" dirty="0" err="1">
                <a:hlinkClick r:id="rId4"/>
              </a:rPr>
              <a:t>memory-efficient</a:t>
            </a:r>
            <a:r>
              <a:rPr lang="ko-KR" altLang="en-US" sz="1200" dirty="0">
                <a:hlinkClick r:id="rId4"/>
              </a:rPr>
              <a:t> </a:t>
            </a:r>
            <a:r>
              <a:rPr lang="ko-KR" altLang="en-US" sz="1200" dirty="0" err="1">
                <a:hlinkClick r:id="rId4"/>
              </a:rPr>
              <a:t>exact</a:t>
            </a:r>
            <a:r>
              <a:rPr lang="ko-KR" altLang="en-US" sz="1200" dirty="0">
                <a:hlinkClick r:id="rId4"/>
              </a:rPr>
              <a:t> </a:t>
            </a:r>
            <a:r>
              <a:rPr lang="ko-KR" altLang="en-US" sz="1200" dirty="0" err="1">
                <a:hlinkClick r:id="rId4"/>
              </a:rPr>
              <a:t>attention</a:t>
            </a:r>
            <a:r>
              <a:rPr lang="ko-KR" altLang="en-US" sz="1200" dirty="0">
                <a:hlinkClick r:id="rId4"/>
              </a:rPr>
              <a:t> </a:t>
            </a:r>
            <a:r>
              <a:rPr lang="ko-KR" altLang="en-US" sz="1200" dirty="0" err="1">
                <a:hlinkClick r:id="rId4"/>
              </a:rPr>
              <a:t>with</a:t>
            </a:r>
            <a:r>
              <a:rPr lang="ko-KR" altLang="en-US" sz="1200" dirty="0">
                <a:hlinkClick r:id="rId4"/>
              </a:rPr>
              <a:t> </a:t>
            </a:r>
            <a:r>
              <a:rPr lang="ko-KR" altLang="en-US" sz="1200" dirty="0" err="1">
                <a:hlinkClick r:id="rId4"/>
              </a:rPr>
              <a:t>io-awareness</a:t>
            </a:r>
            <a:r>
              <a:rPr lang="ko-KR" altLang="en-US" sz="1200" dirty="0">
                <a:hlinkClick r:id="rId4"/>
              </a:rPr>
              <a:t>." </a:t>
            </a:r>
            <a:r>
              <a:rPr lang="ko-KR" altLang="en-US" sz="1200" dirty="0" err="1">
                <a:hlinkClick r:id="rId4"/>
              </a:rPr>
              <a:t>Advances</a:t>
            </a:r>
            <a:r>
              <a:rPr lang="ko-KR" altLang="en-US" sz="1200" dirty="0">
                <a:hlinkClick r:id="rId4"/>
              </a:rPr>
              <a:t> </a:t>
            </a:r>
            <a:r>
              <a:rPr lang="ko-KR" altLang="en-US" sz="1200" dirty="0" err="1">
                <a:hlinkClick r:id="rId4"/>
              </a:rPr>
              <a:t>in</a:t>
            </a:r>
            <a:r>
              <a:rPr lang="ko-KR" altLang="en-US" sz="1200" dirty="0">
                <a:hlinkClick r:id="rId4"/>
              </a:rPr>
              <a:t> </a:t>
            </a:r>
            <a:r>
              <a:rPr lang="ko-KR" altLang="en-US" sz="1200" dirty="0" err="1">
                <a:hlinkClick r:id="rId4"/>
              </a:rPr>
              <a:t>neural</a:t>
            </a:r>
            <a:r>
              <a:rPr lang="ko-KR" altLang="en-US" sz="1200" dirty="0">
                <a:hlinkClick r:id="rId4"/>
              </a:rPr>
              <a:t> </a:t>
            </a:r>
            <a:r>
              <a:rPr lang="ko-KR" altLang="en-US" sz="1200" dirty="0" err="1">
                <a:hlinkClick r:id="rId4"/>
              </a:rPr>
              <a:t>information</a:t>
            </a:r>
            <a:r>
              <a:rPr lang="ko-KR" altLang="en-US" sz="1200" dirty="0">
                <a:hlinkClick r:id="rId4"/>
              </a:rPr>
              <a:t> </a:t>
            </a:r>
            <a:r>
              <a:rPr lang="ko-KR" altLang="en-US" sz="1200" dirty="0" err="1">
                <a:hlinkClick r:id="rId4"/>
              </a:rPr>
              <a:t>processing</a:t>
            </a:r>
            <a:r>
              <a:rPr lang="ko-KR" altLang="en-US" sz="1200" dirty="0">
                <a:hlinkClick r:id="rId4"/>
              </a:rPr>
              <a:t> </a:t>
            </a:r>
            <a:r>
              <a:rPr lang="ko-KR" altLang="en-US" sz="1200" dirty="0" err="1">
                <a:hlinkClick r:id="rId4"/>
              </a:rPr>
              <a:t>systems</a:t>
            </a:r>
            <a:r>
              <a:rPr lang="ko-KR" altLang="en-US" sz="1200" dirty="0">
                <a:hlinkClick r:id="rId4"/>
              </a:rPr>
              <a:t> 35 (2022): 16344-16359.</a:t>
            </a:r>
            <a:endParaRPr lang="ko-KR" altLang="en-US" sz="1200" dirty="0"/>
          </a:p>
        </p:txBody>
      </p:sp>
      <p:pic>
        <p:nvPicPr>
          <p:cNvPr id="11" name="그림 10" descr="텍스트, 스크린샷, 도표, 라인이(가) 표시된 사진&#10;&#10;AI 생성 콘텐츠는 정확하지 않을 수 있습니다.">
            <a:extLst>
              <a:ext uri="{FF2B5EF4-FFF2-40B4-BE49-F238E27FC236}">
                <a16:creationId xmlns:a16="http://schemas.microsoft.com/office/drawing/2014/main" id="{A23FC117-5306-9198-5843-1AAC5C6F63C8}"/>
              </a:ext>
            </a:extLst>
          </p:cNvPr>
          <p:cNvPicPr>
            <a:picLocks noChangeAspect="1"/>
          </p:cNvPicPr>
          <p:nvPr/>
        </p:nvPicPr>
        <p:blipFill>
          <a:blip r:embed="rId5"/>
          <a:stretch>
            <a:fillRect/>
          </a:stretch>
        </p:blipFill>
        <p:spPr>
          <a:xfrm>
            <a:off x="6213514" y="1097934"/>
            <a:ext cx="4549140" cy="4629150"/>
          </a:xfrm>
          <a:prstGeom prst="rect">
            <a:avLst/>
          </a:prstGeom>
        </p:spPr>
      </p:pic>
      <p:sp>
        <p:nvSpPr>
          <p:cNvPr id="13" name="TextBox 12">
            <a:extLst>
              <a:ext uri="{FF2B5EF4-FFF2-40B4-BE49-F238E27FC236}">
                <a16:creationId xmlns:a16="http://schemas.microsoft.com/office/drawing/2014/main" id="{C7795B1E-2392-AD30-2126-2DD84908B618}"/>
              </a:ext>
            </a:extLst>
          </p:cNvPr>
          <p:cNvSpPr txBox="1"/>
          <p:nvPr/>
        </p:nvSpPr>
        <p:spPr>
          <a:xfrm>
            <a:off x="122103" y="5965703"/>
            <a:ext cx="11698184" cy="400110"/>
          </a:xfrm>
          <a:prstGeom prst="rect">
            <a:avLst/>
          </a:prstGeom>
          <a:noFill/>
        </p:spPr>
        <p:txBody>
          <a:bodyPr wrap="square">
            <a:spAutoFit/>
          </a:bodyPr>
          <a:lstStyle/>
          <a:p>
            <a:r>
              <a:rPr kumimoji="1" lang="en-US" altLang="ko-KR" sz="2000" dirty="0">
                <a:latin typeface="Times New Roman" panose="02020603050405020304" pitchFamily="18" charset="0"/>
                <a:cs typeface="Times New Roman" panose="02020603050405020304" pitchFamily="18" charset="0"/>
                <a:sym typeface="Wingdings" pitchFamily="2" charset="2"/>
              </a:rPr>
              <a:t> </a:t>
            </a:r>
            <a:r>
              <a:rPr kumimoji="1" lang="ko-KR" altLang="en-US" sz="2000" dirty="0">
                <a:latin typeface="Times New Roman" panose="02020603050405020304" pitchFamily="18" charset="0"/>
                <a:cs typeface="Times New Roman" panose="02020603050405020304" pitchFamily="18" charset="0"/>
                <a:sym typeface="Wingdings" pitchFamily="2" charset="2"/>
              </a:rPr>
              <a:t>기존과 달리</a:t>
            </a:r>
            <a:r>
              <a:rPr kumimoji="1" lang="en-US" altLang="ko-KR" sz="2000" dirty="0">
                <a:latin typeface="Times New Roman" panose="02020603050405020304" pitchFamily="18" charset="0"/>
                <a:cs typeface="Times New Roman" panose="02020603050405020304" pitchFamily="18" charset="0"/>
                <a:sym typeface="Wingdings" pitchFamily="2" charset="2"/>
              </a:rPr>
              <a:t>, FLOPs</a:t>
            </a:r>
            <a:r>
              <a:rPr kumimoji="1" lang="ko-KR" altLang="en-US" sz="2000" dirty="0">
                <a:latin typeface="Times New Roman" panose="02020603050405020304" pitchFamily="18" charset="0"/>
                <a:cs typeface="Times New Roman" panose="02020603050405020304" pitchFamily="18" charset="0"/>
                <a:sym typeface="Wingdings" pitchFamily="2" charset="2"/>
              </a:rPr>
              <a:t>가 아니라 </a:t>
            </a:r>
            <a:r>
              <a:rPr kumimoji="1" lang="en-US" altLang="ko-KR" sz="2000" dirty="0">
                <a:latin typeface="Times New Roman" panose="02020603050405020304" pitchFamily="18" charset="0"/>
                <a:cs typeface="Times New Roman" panose="02020603050405020304" pitchFamily="18" charset="0"/>
                <a:sym typeface="Wingdings" pitchFamily="2" charset="2"/>
              </a:rPr>
              <a:t>IO</a:t>
            </a:r>
            <a:r>
              <a:rPr kumimoji="1" lang="ko-KR" altLang="en-US" sz="2000" dirty="0" err="1">
                <a:latin typeface="Times New Roman" panose="02020603050405020304" pitchFamily="18" charset="0"/>
                <a:cs typeface="Times New Roman" panose="02020603050405020304" pitchFamily="18" charset="0"/>
                <a:sym typeface="Wingdings" pitchFamily="2" charset="2"/>
              </a:rPr>
              <a:t>를</a:t>
            </a:r>
            <a:r>
              <a:rPr kumimoji="1" lang="ko-KR" altLang="en-US" sz="2000" dirty="0">
                <a:latin typeface="Times New Roman" panose="02020603050405020304" pitchFamily="18" charset="0"/>
                <a:cs typeface="Times New Roman" panose="02020603050405020304" pitchFamily="18" charset="0"/>
                <a:sym typeface="Wingdings" pitchFamily="2" charset="2"/>
              </a:rPr>
              <a:t> 줄이는 방향으로 </a:t>
            </a:r>
            <a:r>
              <a:rPr kumimoji="1" lang="en-US" altLang="ko-KR" sz="2000" dirty="0">
                <a:latin typeface="Times New Roman" panose="02020603050405020304" pitchFamily="18" charset="0"/>
                <a:cs typeface="Times New Roman" panose="02020603050405020304" pitchFamily="18" charset="0"/>
                <a:sym typeface="Wingdings" pitchFamily="2" charset="2"/>
              </a:rPr>
              <a:t>Efficiency</a:t>
            </a:r>
            <a:r>
              <a:rPr kumimoji="1" lang="ko-KR" altLang="en-US" sz="2000" dirty="0" err="1">
                <a:latin typeface="Times New Roman" panose="02020603050405020304" pitchFamily="18" charset="0"/>
                <a:cs typeface="Times New Roman" panose="02020603050405020304" pitchFamily="18" charset="0"/>
                <a:sym typeface="Wingdings" pitchFamily="2" charset="2"/>
              </a:rPr>
              <a:t>를</a:t>
            </a:r>
            <a:r>
              <a:rPr kumimoji="1" lang="ko-KR" altLang="en-US" sz="2000" dirty="0">
                <a:latin typeface="Times New Roman" panose="02020603050405020304" pitchFamily="18" charset="0"/>
                <a:cs typeface="Times New Roman" panose="02020603050405020304" pitchFamily="18" charset="0"/>
                <a:sym typeface="Wingdings" pitchFamily="2" charset="2"/>
              </a:rPr>
              <a:t> 달성하고자 함</a:t>
            </a:r>
            <a:r>
              <a:rPr kumimoji="1" lang="en-US" altLang="ko-KR" sz="2000" dirty="0">
                <a:latin typeface="Times New Roman" panose="02020603050405020304" pitchFamily="18" charset="0"/>
                <a:cs typeface="Times New Roman" panose="02020603050405020304" pitchFamily="18" charset="0"/>
                <a:sym typeface="Wingdings" pitchFamily="2" charset="2"/>
              </a:rPr>
              <a:t>.</a:t>
            </a:r>
            <a:endParaRPr kumimoji="1" lang="en-US" altLang="ko-KR" sz="2000"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B05FAC93-12ED-84E0-6D7D-F7377366C2DA}"/>
              </a:ext>
            </a:extLst>
          </p:cNvPr>
          <p:cNvSpPr txBox="1"/>
          <p:nvPr/>
        </p:nvSpPr>
        <p:spPr>
          <a:xfrm>
            <a:off x="9183241" y="1861978"/>
            <a:ext cx="2895834" cy="869790"/>
          </a:xfrm>
          <a:prstGeom prst="rect">
            <a:avLst/>
          </a:prstGeom>
          <a:noFill/>
        </p:spPr>
        <p:txBody>
          <a:bodyPr wrap="square" rtlCol="0">
            <a:spAutoFit/>
          </a:bodyPr>
          <a:lstStyle/>
          <a:p>
            <a:pPr>
              <a:lnSpc>
                <a:spcPct val="150000"/>
              </a:lnSpc>
            </a:pPr>
            <a:r>
              <a:rPr kumimoji="1" lang="en-US" altLang="ko-KR" dirty="0"/>
              <a:t>Speed</a:t>
            </a:r>
            <a:r>
              <a:rPr kumimoji="1" lang="ko-KR" altLang="en-US" dirty="0"/>
              <a:t>가 느릴 것 같은 </a:t>
            </a:r>
            <a:r>
              <a:rPr kumimoji="1" lang="en-US" altLang="ko-KR" dirty="0" err="1"/>
              <a:t>Matmul</a:t>
            </a:r>
            <a:r>
              <a:rPr kumimoji="1" lang="ko-KR" altLang="en-US" dirty="0"/>
              <a:t>은</a:t>
            </a:r>
            <a:r>
              <a:rPr kumimoji="1" lang="en-US" altLang="ko-KR" dirty="0"/>
              <a:t> </a:t>
            </a:r>
            <a:r>
              <a:rPr kumimoji="1" lang="ko-KR" altLang="en-US" dirty="0"/>
              <a:t>생각보다 빠름</a:t>
            </a:r>
            <a:r>
              <a:rPr kumimoji="1" lang="en-US" altLang="ko-KR" dirty="0"/>
              <a:t>.</a:t>
            </a:r>
          </a:p>
        </p:txBody>
      </p:sp>
    </p:spTree>
    <p:extLst>
      <p:ext uri="{BB962C8B-B14F-4D97-AF65-F5344CB8AC3E}">
        <p14:creationId xmlns:p14="http://schemas.microsoft.com/office/powerpoint/2010/main" val="22755566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C1BDD3-8AD6-FDB0-1744-3FC31C7562E3}"/>
            </a:ext>
          </a:extLst>
        </p:cNvPr>
        <p:cNvGrpSpPr/>
        <p:nvPr/>
      </p:nvGrpSpPr>
      <p:grpSpPr>
        <a:xfrm>
          <a:off x="0" y="0"/>
          <a:ext cx="0" cy="0"/>
          <a:chOff x="0" y="0"/>
          <a:chExt cx="0" cy="0"/>
        </a:xfrm>
      </p:grpSpPr>
      <p:sp>
        <p:nvSpPr>
          <p:cNvPr id="27" name="제목 26">
            <a:extLst>
              <a:ext uri="{FF2B5EF4-FFF2-40B4-BE49-F238E27FC236}">
                <a16:creationId xmlns:a16="http://schemas.microsoft.com/office/drawing/2014/main" id="{B6FE73CA-CCE5-50CE-6935-46D6A7DA3CE6}"/>
              </a:ext>
            </a:extLst>
          </p:cNvPr>
          <p:cNvSpPr>
            <a:spLocks noGrp="1"/>
          </p:cNvSpPr>
          <p:nvPr>
            <p:ph type="title"/>
          </p:nvPr>
        </p:nvSpPr>
        <p:spPr/>
        <p:txBody>
          <a:bodyPr>
            <a:normAutofit/>
          </a:bodyPr>
          <a:lstStyle/>
          <a:p>
            <a:r>
              <a:rPr kumimoji="1" lang="en-US" altLang="ko-KR" sz="2800" b="1" dirty="0"/>
              <a:t>2. Inefficient memory accessing</a:t>
            </a:r>
            <a:endParaRPr lang="ko-KR" altLang="en-US" dirty="0"/>
          </a:p>
        </p:txBody>
      </p:sp>
      <p:sp>
        <p:nvSpPr>
          <p:cNvPr id="47" name="내용 개체 틀 2">
            <a:extLst>
              <a:ext uri="{FF2B5EF4-FFF2-40B4-BE49-F238E27FC236}">
                <a16:creationId xmlns:a16="http://schemas.microsoft.com/office/drawing/2014/main" id="{5825CBFA-4EE5-1CE7-AA2E-150ECDDD9466}"/>
              </a:ext>
            </a:extLst>
          </p:cNvPr>
          <p:cNvSpPr txBox="1">
            <a:spLocks/>
          </p:cNvSpPr>
          <p:nvPr/>
        </p:nvSpPr>
        <p:spPr>
          <a:xfrm>
            <a:off x="117514" y="852966"/>
            <a:ext cx="11952383" cy="5438047"/>
          </a:xfrm>
          <a:prstGeom prst="rect">
            <a:avLst/>
          </a:prstGeom>
        </p:spPr>
        <p:txBody>
          <a:bodyPr vert="horz" lIns="91440" tIns="45720" rIns="91440" bIns="45720" rtlCol="0">
            <a:normAutofit/>
          </a:bodyPr>
          <a:lstStyle>
            <a:lvl1pPr marL="228600" indent="-228600" algn="l" defTabSz="914400" rtl="0" eaLnBrk="1" latinLnBrk="1"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15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endParaRPr lang="en" altLang="ko-KR" sz="2000" dirty="0"/>
          </a:p>
          <a:p>
            <a:pPr>
              <a:lnSpc>
                <a:spcPct val="150000"/>
              </a:lnSpc>
            </a:pPr>
            <a:endParaRPr kumimoji="1" lang="en" altLang="ko-KR" sz="2000" b="1" dirty="0"/>
          </a:p>
          <a:p>
            <a:pPr>
              <a:lnSpc>
                <a:spcPct val="150000"/>
              </a:lnSpc>
            </a:pPr>
            <a:endParaRPr kumimoji="1" lang="en" altLang="ko-KR" sz="2000" b="1" dirty="0"/>
          </a:p>
          <a:p>
            <a:pPr>
              <a:lnSpc>
                <a:spcPct val="150000"/>
              </a:lnSpc>
            </a:pPr>
            <a:endParaRPr kumimoji="1" lang="en" altLang="ko-KR" sz="2000" b="1" dirty="0"/>
          </a:p>
          <a:p>
            <a:pPr>
              <a:lnSpc>
                <a:spcPct val="150000"/>
              </a:lnSpc>
            </a:pPr>
            <a:endParaRPr kumimoji="1" lang="en" altLang="ko-KR" sz="2000" b="1" dirty="0"/>
          </a:p>
          <a:p>
            <a:pPr>
              <a:lnSpc>
                <a:spcPct val="150000"/>
              </a:lnSpc>
            </a:pPr>
            <a:endParaRPr kumimoji="1" lang="en" altLang="ko-KR" sz="2000" b="1" dirty="0"/>
          </a:p>
          <a:p>
            <a:pPr>
              <a:lnSpc>
                <a:spcPct val="150000"/>
              </a:lnSpc>
            </a:pPr>
            <a:endParaRPr kumimoji="1" lang="en" altLang="ko-KR" sz="2000" b="1" dirty="0"/>
          </a:p>
        </p:txBody>
      </p:sp>
      <p:pic>
        <p:nvPicPr>
          <p:cNvPr id="2050" name="Picture 2" descr="Flash Attention">
            <a:extLst>
              <a:ext uri="{FF2B5EF4-FFF2-40B4-BE49-F238E27FC236}">
                <a16:creationId xmlns:a16="http://schemas.microsoft.com/office/drawing/2014/main" id="{94A029FF-4CF1-8FC2-4D0D-173F28197BD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52819"/>
          <a:stretch>
            <a:fillRect/>
          </a:stretch>
        </p:blipFill>
        <p:spPr bwMode="auto">
          <a:xfrm>
            <a:off x="3476236" y="1955383"/>
            <a:ext cx="4112234" cy="4902617"/>
          </a:xfrm>
          <a:prstGeom prst="rect">
            <a:avLst/>
          </a:prstGeom>
          <a:noFill/>
          <a:extLst>
            <a:ext uri="{909E8E84-426E-40DD-AFC4-6F175D3DCCD1}">
              <a14:hiddenFill xmlns:a14="http://schemas.microsoft.com/office/drawing/2010/main">
                <a:solidFill>
                  <a:srgbClr val="FFFFFF"/>
                </a:solidFill>
              </a14:hiddenFill>
            </a:ext>
          </a:extLst>
        </p:spPr>
      </p:pic>
      <p:pic>
        <p:nvPicPr>
          <p:cNvPr id="3" name="그림 2">
            <a:extLst>
              <a:ext uri="{FF2B5EF4-FFF2-40B4-BE49-F238E27FC236}">
                <a16:creationId xmlns:a16="http://schemas.microsoft.com/office/drawing/2014/main" id="{B5AB6F79-2832-5B40-67E7-495ABEA2D763}"/>
              </a:ext>
            </a:extLst>
          </p:cNvPr>
          <p:cNvPicPr>
            <a:picLocks noChangeAspect="1"/>
          </p:cNvPicPr>
          <p:nvPr/>
        </p:nvPicPr>
        <p:blipFill>
          <a:blip r:embed="rId4"/>
          <a:srcRect l="5063"/>
          <a:stretch>
            <a:fillRect/>
          </a:stretch>
        </p:blipFill>
        <p:spPr>
          <a:xfrm>
            <a:off x="96128" y="873890"/>
            <a:ext cx="3241207" cy="2439447"/>
          </a:xfrm>
          <a:prstGeom prst="rect">
            <a:avLst/>
          </a:prstGeom>
        </p:spPr>
      </p:pic>
      <p:sp>
        <p:nvSpPr>
          <p:cNvPr id="4" name="TextBox 3">
            <a:extLst>
              <a:ext uri="{FF2B5EF4-FFF2-40B4-BE49-F238E27FC236}">
                <a16:creationId xmlns:a16="http://schemas.microsoft.com/office/drawing/2014/main" id="{0E6845BD-1EFC-EB08-CE92-52D11D7C3CC3}"/>
              </a:ext>
            </a:extLst>
          </p:cNvPr>
          <p:cNvSpPr txBox="1"/>
          <p:nvPr/>
        </p:nvSpPr>
        <p:spPr>
          <a:xfrm>
            <a:off x="96128" y="3429000"/>
            <a:ext cx="2977843" cy="1292662"/>
          </a:xfrm>
          <a:prstGeom prst="rect">
            <a:avLst/>
          </a:prstGeom>
          <a:noFill/>
        </p:spPr>
        <p:txBody>
          <a:bodyPr wrap="square" rtlCol="0">
            <a:spAutoFit/>
          </a:bodyPr>
          <a:lstStyle/>
          <a:p>
            <a:r>
              <a:rPr kumimoji="1" lang="en-US" altLang="ko-KR" sz="1300" dirty="0">
                <a:hlinkClick r:id="rId5"/>
              </a:rPr>
              <a:t>Dao, Tri, et al. "</a:t>
            </a:r>
            <a:r>
              <a:rPr kumimoji="1" lang="en-US" altLang="ko-KR" sz="1300" dirty="0" err="1">
                <a:hlinkClick r:id="rId5"/>
              </a:rPr>
              <a:t>Flashattention</a:t>
            </a:r>
            <a:r>
              <a:rPr kumimoji="1" lang="en-US" altLang="ko-KR" sz="1300" dirty="0">
                <a:hlinkClick r:id="rId5"/>
              </a:rPr>
              <a:t>: Fast and memory-efficient exact attention with io-awareness." Advances in neural information processing systems 35 (2022): 16344-16359.</a:t>
            </a:r>
            <a:endParaRPr kumimoji="1" lang="ko-KR" altLang="en-US" sz="1300" dirty="0"/>
          </a:p>
        </p:txBody>
      </p:sp>
      <p:cxnSp>
        <p:nvCxnSpPr>
          <p:cNvPr id="7" name="직선 연결선[R] 6">
            <a:extLst>
              <a:ext uri="{FF2B5EF4-FFF2-40B4-BE49-F238E27FC236}">
                <a16:creationId xmlns:a16="http://schemas.microsoft.com/office/drawing/2014/main" id="{6A48C0FC-C01D-2F9E-3267-CB94F0888391}"/>
              </a:ext>
            </a:extLst>
          </p:cNvPr>
          <p:cNvCxnSpPr>
            <a:cxnSpLocks/>
          </p:cNvCxnSpPr>
          <p:nvPr/>
        </p:nvCxnSpPr>
        <p:spPr>
          <a:xfrm>
            <a:off x="3476235" y="1355834"/>
            <a:ext cx="0" cy="5502166"/>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D4638F2A-FC72-52CA-DA6D-4A12971D1D3B}"/>
              </a:ext>
            </a:extLst>
          </p:cNvPr>
          <p:cNvSpPr txBox="1"/>
          <p:nvPr/>
        </p:nvSpPr>
        <p:spPr>
          <a:xfrm>
            <a:off x="3497621" y="1524804"/>
            <a:ext cx="7506703" cy="323165"/>
          </a:xfrm>
          <a:prstGeom prst="rect">
            <a:avLst/>
          </a:prstGeom>
          <a:noFill/>
        </p:spPr>
        <p:txBody>
          <a:bodyPr wrap="square" rtlCol="0">
            <a:spAutoFit/>
          </a:bodyPr>
          <a:lstStyle/>
          <a:p>
            <a:r>
              <a:rPr kumimoji="1" lang="en-US" altLang="ko-KR" sz="1500" dirty="0">
                <a:hlinkClick r:id="rId6"/>
              </a:rPr>
              <a:t>https://</a:t>
            </a:r>
            <a:r>
              <a:rPr kumimoji="1" lang="en-US" altLang="ko-KR" sz="1500" dirty="0" err="1">
                <a:hlinkClick r:id="rId6"/>
              </a:rPr>
              <a:t>huggingface.co</a:t>
            </a:r>
            <a:r>
              <a:rPr kumimoji="1" lang="en-US" altLang="ko-KR" sz="1500" dirty="0">
                <a:hlinkClick r:id="rId6"/>
              </a:rPr>
              <a:t>/docs/text-generation-inference/conceptual/</a:t>
            </a:r>
            <a:r>
              <a:rPr kumimoji="1" lang="en-US" altLang="ko-KR" sz="1500" dirty="0" err="1">
                <a:hlinkClick r:id="rId6"/>
              </a:rPr>
              <a:t>flash_attention</a:t>
            </a:r>
            <a:endParaRPr kumimoji="1" lang="ko-KR" altLang="en-US" sz="1500" dirty="0"/>
          </a:p>
        </p:txBody>
      </p:sp>
      <p:sp>
        <p:nvSpPr>
          <p:cNvPr id="2" name="TextBox 1">
            <a:extLst>
              <a:ext uri="{FF2B5EF4-FFF2-40B4-BE49-F238E27FC236}">
                <a16:creationId xmlns:a16="http://schemas.microsoft.com/office/drawing/2014/main" id="{327820A0-C194-7209-F2E5-128D47B85C84}"/>
              </a:ext>
            </a:extLst>
          </p:cNvPr>
          <p:cNvSpPr txBox="1"/>
          <p:nvPr/>
        </p:nvSpPr>
        <p:spPr>
          <a:xfrm>
            <a:off x="3688773" y="4536996"/>
            <a:ext cx="697627" cy="369332"/>
          </a:xfrm>
          <a:prstGeom prst="rect">
            <a:avLst/>
          </a:prstGeom>
          <a:noFill/>
        </p:spPr>
        <p:txBody>
          <a:bodyPr wrap="none" rtlCol="0">
            <a:spAutoFit/>
          </a:bodyPr>
          <a:lstStyle/>
          <a:p>
            <a:r>
              <a:rPr kumimoji="1" lang="en-US" altLang="ko-KR" dirty="0"/>
              <a:t>HBM</a:t>
            </a:r>
            <a:endParaRPr kumimoji="1" lang="ko-KR" altLang="en-US" dirty="0"/>
          </a:p>
        </p:txBody>
      </p:sp>
      <p:sp>
        <p:nvSpPr>
          <p:cNvPr id="5" name="TextBox 4">
            <a:extLst>
              <a:ext uri="{FF2B5EF4-FFF2-40B4-BE49-F238E27FC236}">
                <a16:creationId xmlns:a16="http://schemas.microsoft.com/office/drawing/2014/main" id="{A2F75B32-38E2-D462-4943-A1C66CE3FA0A}"/>
              </a:ext>
            </a:extLst>
          </p:cNvPr>
          <p:cNvSpPr txBox="1"/>
          <p:nvPr/>
        </p:nvSpPr>
        <p:spPr>
          <a:xfrm>
            <a:off x="5405143" y="4553947"/>
            <a:ext cx="814647" cy="369332"/>
          </a:xfrm>
          <a:prstGeom prst="rect">
            <a:avLst/>
          </a:prstGeom>
          <a:noFill/>
        </p:spPr>
        <p:txBody>
          <a:bodyPr wrap="none" rtlCol="0">
            <a:spAutoFit/>
          </a:bodyPr>
          <a:lstStyle/>
          <a:p>
            <a:r>
              <a:rPr kumimoji="1" lang="en-US" altLang="ko-KR" dirty="0"/>
              <a:t>SRAM</a:t>
            </a:r>
            <a:endParaRPr kumimoji="1" lang="ko-KR" altLang="en-US" dirty="0"/>
          </a:p>
        </p:txBody>
      </p:sp>
    </p:spTree>
    <p:extLst>
      <p:ext uri="{BB962C8B-B14F-4D97-AF65-F5344CB8AC3E}">
        <p14:creationId xmlns:p14="http://schemas.microsoft.com/office/powerpoint/2010/main" val="16336623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E9BA4F-520F-DC86-D12B-45BF1F299604}"/>
            </a:ext>
          </a:extLst>
        </p:cNvPr>
        <p:cNvGrpSpPr/>
        <p:nvPr/>
      </p:nvGrpSpPr>
      <p:grpSpPr>
        <a:xfrm>
          <a:off x="0" y="0"/>
          <a:ext cx="0" cy="0"/>
          <a:chOff x="0" y="0"/>
          <a:chExt cx="0" cy="0"/>
        </a:xfrm>
      </p:grpSpPr>
      <p:sp>
        <p:nvSpPr>
          <p:cNvPr id="27" name="제목 26">
            <a:extLst>
              <a:ext uri="{FF2B5EF4-FFF2-40B4-BE49-F238E27FC236}">
                <a16:creationId xmlns:a16="http://schemas.microsoft.com/office/drawing/2014/main" id="{4A6B05D9-37E5-3082-136C-DF4039872C28}"/>
              </a:ext>
            </a:extLst>
          </p:cNvPr>
          <p:cNvSpPr>
            <a:spLocks noGrp="1"/>
          </p:cNvSpPr>
          <p:nvPr>
            <p:ph type="title"/>
          </p:nvPr>
        </p:nvSpPr>
        <p:spPr/>
        <p:txBody>
          <a:bodyPr>
            <a:normAutofit/>
          </a:bodyPr>
          <a:lstStyle/>
          <a:p>
            <a:r>
              <a:rPr kumimoji="1" lang="en-US" altLang="ko-KR" sz="2800" b="1" dirty="0"/>
              <a:t>2. Inefficient memory accessing</a:t>
            </a:r>
            <a:endParaRPr lang="ko-KR" altLang="en-US" dirty="0"/>
          </a:p>
        </p:txBody>
      </p:sp>
      <p:sp>
        <p:nvSpPr>
          <p:cNvPr id="47" name="내용 개체 틀 2">
            <a:extLst>
              <a:ext uri="{FF2B5EF4-FFF2-40B4-BE49-F238E27FC236}">
                <a16:creationId xmlns:a16="http://schemas.microsoft.com/office/drawing/2014/main" id="{1FC5103B-3F69-1982-0F73-257250EF6BDF}"/>
              </a:ext>
            </a:extLst>
          </p:cNvPr>
          <p:cNvSpPr txBox="1">
            <a:spLocks/>
          </p:cNvSpPr>
          <p:nvPr/>
        </p:nvSpPr>
        <p:spPr>
          <a:xfrm>
            <a:off x="117514" y="852966"/>
            <a:ext cx="11952383" cy="5438047"/>
          </a:xfrm>
          <a:prstGeom prst="rect">
            <a:avLst/>
          </a:prstGeom>
        </p:spPr>
        <p:txBody>
          <a:bodyPr vert="horz" lIns="91440" tIns="45720" rIns="91440" bIns="45720" rtlCol="0">
            <a:normAutofit/>
          </a:bodyPr>
          <a:lstStyle>
            <a:lvl1pPr marL="228600" indent="-228600" algn="l" defTabSz="914400" rtl="0" eaLnBrk="1" latinLnBrk="1"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15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endParaRPr lang="en" altLang="ko-KR" sz="2000" dirty="0"/>
          </a:p>
          <a:p>
            <a:pPr>
              <a:lnSpc>
                <a:spcPct val="150000"/>
              </a:lnSpc>
            </a:pPr>
            <a:endParaRPr kumimoji="1" lang="en" altLang="ko-KR" sz="2000" b="1" dirty="0"/>
          </a:p>
          <a:p>
            <a:pPr>
              <a:lnSpc>
                <a:spcPct val="150000"/>
              </a:lnSpc>
            </a:pPr>
            <a:endParaRPr kumimoji="1" lang="en" altLang="ko-KR" sz="2000" b="1" dirty="0"/>
          </a:p>
          <a:p>
            <a:pPr>
              <a:lnSpc>
                <a:spcPct val="150000"/>
              </a:lnSpc>
            </a:pPr>
            <a:endParaRPr kumimoji="1" lang="en" altLang="ko-KR" sz="2000" b="1" dirty="0"/>
          </a:p>
          <a:p>
            <a:pPr>
              <a:lnSpc>
                <a:spcPct val="150000"/>
              </a:lnSpc>
            </a:pPr>
            <a:endParaRPr kumimoji="1" lang="en" altLang="ko-KR" sz="2000" b="1" dirty="0"/>
          </a:p>
          <a:p>
            <a:pPr>
              <a:lnSpc>
                <a:spcPct val="150000"/>
              </a:lnSpc>
            </a:pPr>
            <a:endParaRPr kumimoji="1" lang="en" altLang="ko-KR" sz="2000" b="1" dirty="0"/>
          </a:p>
          <a:p>
            <a:pPr>
              <a:lnSpc>
                <a:spcPct val="150000"/>
              </a:lnSpc>
            </a:pPr>
            <a:endParaRPr kumimoji="1" lang="en" altLang="ko-KR" sz="2000" b="1" dirty="0"/>
          </a:p>
        </p:txBody>
      </p:sp>
      <p:pic>
        <p:nvPicPr>
          <p:cNvPr id="2050" name="Picture 2" descr="Flash Attention">
            <a:extLst>
              <a:ext uri="{FF2B5EF4-FFF2-40B4-BE49-F238E27FC236}">
                <a16:creationId xmlns:a16="http://schemas.microsoft.com/office/drawing/2014/main" id="{562A343B-FE2C-0549-D10A-FF9B4CE5E9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76235" y="1955383"/>
            <a:ext cx="8715765" cy="4902617"/>
          </a:xfrm>
          <a:prstGeom prst="rect">
            <a:avLst/>
          </a:prstGeom>
          <a:noFill/>
          <a:extLst>
            <a:ext uri="{909E8E84-426E-40DD-AFC4-6F175D3DCCD1}">
              <a14:hiddenFill xmlns:a14="http://schemas.microsoft.com/office/drawing/2010/main">
                <a:solidFill>
                  <a:srgbClr val="FFFFFF"/>
                </a:solidFill>
              </a14:hiddenFill>
            </a:ext>
          </a:extLst>
        </p:spPr>
      </p:pic>
      <p:pic>
        <p:nvPicPr>
          <p:cNvPr id="3" name="그림 2">
            <a:extLst>
              <a:ext uri="{FF2B5EF4-FFF2-40B4-BE49-F238E27FC236}">
                <a16:creationId xmlns:a16="http://schemas.microsoft.com/office/drawing/2014/main" id="{B7A33991-42C9-2ABA-6751-C0750C01237F}"/>
              </a:ext>
            </a:extLst>
          </p:cNvPr>
          <p:cNvPicPr>
            <a:picLocks noChangeAspect="1"/>
          </p:cNvPicPr>
          <p:nvPr/>
        </p:nvPicPr>
        <p:blipFill>
          <a:blip r:embed="rId4"/>
          <a:srcRect l="5063"/>
          <a:stretch>
            <a:fillRect/>
          </a:stretch>
        </p:blipFill>
        <p:spPr>
          <a:xfrm>
            <a:off x="96128" y="873890"/>
            <a:ext cx="3241207" cy="2439447"/>
          </a:xfrm>
          <a:prstGeom prst="rect">
            <a:avLst/>
          </a:prstGeom>
        </p:spPr>
      </p:pic>
      <p:sp>
        <p:nvSpPr>
          <p:cNvPr id="4" name="TextBox 3">
            <a:extLst>
              <a:ext uri="{FF2B5EF4-FFF2-40B4-BE49-F238E27FC236}">
                <a16:creationId xmlns:a16="http://schemas.microsoft.com/office/drawing/2014/main" id="{6A058D9B-E0BB-04EC-88F6-BA0774BDCA8F}"/>
              </a:ext>
            </a:extLst>
          </p:cNvPr>
          <p:cNvSpPr txBox="1"/>
          <p:nvPr/>
        </p:nvSpPr>
        <p:spPr>
          <a:xfrm>
            <a:off x="96128" y="3429000"/>
            <a:ext cx="2977843" cy="1292662"/>
          </a:xfrm>
          <a:prstGeom prst="rect">
            <a:avLst/>
          </a:prstGeom>
          <a:noFill/>
        </p:spPr>
        <p:txBody>
          <a:bodyPr wrap="square" rtlCol="0">
            <a:spAutoFit/>
          </a:bodyPr>
          <a:lstStyle/>
          <a:p>
            <a:r>
              <a:rPr kumimoji="1" lang="en-US" altLang="ko-KR" sz="1300" dirty="0">
                <a:hlinkClick r:id="rId5"/>
              </a:rPr>
              <a:t>Dao, Tri, et al. "</a:t>
            </a:r>
            <a:r>
              <a:rPr kumimoji="1" lang="en-US" altLang="ko-KR" sz="1300" dirty="0" err="1">
                <a:hlinkClick r:id="rId5"/>
              </a:rPr>
              <a:t>Flashattention</a:t>
            </a:r>
            <a:r>
              <a:rPr kumimoji="1" lang="en-US" altLang="ko-KR" sz="1300" dirty="0">
                <a:hlinkClick r:id="rId5"/>
              </a:rPr>
              <a:t>: Fast and memory-efficient exact attention with io-awareness." Advances in neural information processing systems 35 (2022): 16344-16359.</a:t>
            </a:r>
            <a:endParaRPr kumimoji="1" lang="ko-KR" altLang="en-US" sz="1300" dirty="0"/>
          </a:p>
        </p:txBody>
      </p:sp>
      <p:cxnSp>
        <p:nvCxnSpPr>
          <p:cNvPr id="7" name="직선 연결선[R] 6">
            <a:extLst>
              <a:ext uri="{FF2B5EF4-FFF2-40B4-BE49-F238E27FC236}">
                <a16:creationId xmlns:a16="http://schemas.microsoft.com/office/drawing/2014/main" id="{F911A1F2-4659-FC4E-DF14-DEB560E24BE2}"/>
              </a:ext>
            </a:extLst>
          </p:cNvPr>
          <p:cNvCxnSpPr>
            <a:cxnSpLocks/>
          </p:cNvCxnSpPr>
          <p:nvPr/>
        </p:nvCxnSpPr>
        <p:spPr>
          <a:xfrm>
            <a:off x="3476235" y="1355834"/>
            <a:ext cx="0" cy="5502166"/>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CD17EE11-A60F-36BD-825C-8CCDEC97B6CA}"/>
              </a:ext>
            </a:extLst>
          </p:cNvPr>
          <p:cNvSpPr txBox="1"/>
          <p:nvPr/>
        </p:nvSpPr>
        <p:spPr>
          <a:xfrm>
            <a:off x="3497621" y="1524804"/>
            <a:ext cx="7506703" cy="323165"/>
          </a:xfrm>
          <a:prstGeom prst="rect">
            <a:avLst/>
          </a:prstGeom>
          <a:noFill/>
        </p:spPr>
        <p:txBody>
          <a:bodyPr wrap="square" rtlCol="0">
            <a:spAutoFit/>
          </a:bodyPr>
          <a:lstStyle/>
          <a:p>
            <a:r>
              <a:rPr kumimoji="1" lang="en-US" altLang="ko-KR" sz="1500" dirty="0">
                <a:hlinkClick r:id="rId6"/>
              </a:rPr>
              <a:t>https://</a:t>
            </a:r>
            <a:r>
              <a:rPr kumimoji="1" lang="en-US" altLang="ko-KR" sz="1500" dirty="0" err="1">
                <a:hlinkClick r:id="rId6"/>
              </a:rPr>
              <a:t>huggingface.co</a:t>
            </a:r>
            <a:r>
              <a:rPr kumimoji="1" lang="en-US" altLang="ko-KR" sz="1500" dirty="0">
                <a:hlinkClick r:id="rId6"/>
              </a:rPr>
              <a:t>/docs/text-generation-inference/conceptual/</a:t>
            </a:r>
            <a:r>
              <a:rPr kumimoji="1" lang="en-US" altLang="ko-KR" sz="1500" dirty="0" err="1">
                <a:hlinkClick r:id="rId6"/>
              </a:rPr>
              <a:t>flash_attention</a:t>
            </a:r>
            <a:endParaRPr kumimoji="1" lang="ko-KR" altLang="en-US" sz="1500" dirty="0"/>
          </a:p>
        </p:txBody>
      </p:sp>
      <p:sp>
        <p:nvSpPr>
          <p:cNvPr id="2" name="TextBox 1">
            <a:extLst>
              <a:ext uri="{FF2B5EF4-FFF2-40B4-BE49-F238E27FC236}">
                <a16:creationId xmlns:a16="http://schemas.microsoft.com/office/drawing/2014/main" id="{22709BB2-7BBA-650C-EA51-DBA0F394C11C}"/>
              </a:ext>
            </a:extLst>
          </p:cNvPr>
          <p:cNvSpPr txBox="1"/>
          <p:nvPr/>
        </p:nvSpPr>
        <p:spPr>
          <a:xfrm>
            <a:off x="7514896" y="2039007"/>
            <a:ext cx="1692151" cy="357352"/>
          </a:xfrm>
          <a:prstGeom prst="rect">
            <a:avLst/>
          </a:prstGeom>
          <a:noFill/>
          <a:ln w="38100">
            <a:solidFill>
              <a:srgbClr val="FF0000"/>
            </a:solidFill>
          </a:ln>
        </p:spPr>
        <p:txBody>
          <a:bodyPr wrap="square" rtlCol="0">
            <a:spAutoFit/>
          </a:bodyPr>
          <a:lstStyle/>
          <a:p>
            <a:endParaRPr kumimoji="1" lang="ko-KR" altLang="en-US" dirty="0"/>
          </a:p>
        </p:txBody>
      </p:sp>
      <p:sp>
        <p:nvSpPr>
          <p:cNvPr id="5" name="TextBox 4">
            <a:extLst>
              <a:ext uri="{FF2B5EF4-FFF2-40B4-BE49-F238E27FC236}">
                <a16:creationId xmlns:a16="http://schemas.microsoft.com/office/drawing/2014/main" id="{EB4FF46F-5430-ECE8-9B56-5C68B6EF23D2}"/>
              </a:ext>
            </a:extLst>
          </p:cNvPr>
          <p:cNvSpPr txBox="1"/>
          <p:nvPr/>
        </p:nvSpPr>
        <p:spPr>
          <a:xfrm>
            <a:off x="9273482" y="2027027"/>
            <a:ext cx="2949846" cy="369332"/>
          </a:xfrm>
          <a:prstGeom prst="rect">
            <a:avLst/>
          </a:prstGeom>
          <a:noFill/>
        </p:spPr>
        <p:txBody>
          <a:bodyPr wrap="none" rtlCol="0">
            <a:spAutoFit/>
          </a:bodyPr>
          <a:lstStyle/>
          <a:p>
            <a:r>
              <a:rPr kumimoji="1" lang="en-US" altLang="ko-KR" dirty="0">
                <a:solidFill>
                  <a:srgbClr val="FF0000"/>
                </a:solidFill>
              </a:rPr>
              <a:t>Tiling = block</a:t>
            </a:r>
            <a:r>
              <a:rPr kumimoji="1" lang="ko-KR" altLang="en-US" dirty="0">
                <a:solidFill>
                  <a:srgbClr val="FF0000"/>
                </a:solidFill>
              </a:rPr>
              <a:t> 단위로 자름</a:t>
            </a:r>
          </a:p>
        </p:txBody>
      </p:sp>
      <p:sp>
        <p:nvSpPr>
          <p:cNvPr id="6" name="TextBox 5">
            <a:extLst>
              <a:ext uri="{FF2B5EF4-FFF2-40B4-BE49-F238E27FC236}">
                <a16:creationId xmlns:a16="http://schemas.microsoft.com/office/drawing/2014/main" id="{7BAEFB4F-4A76-1F4E-B580-E5F35F07058B}"/>
              </a:ext>
            </a:extLst>
          </p:cNvPr>
          <p:cNvSpPr txBox="1"/>
          <p:nvPr/>
        </p:nvSpPr>
        <p:spPr>
          <a:xfrm>
            <a:off x="3688773" y="4536996"/>
            <a:ext cx="697627" cy="369332"/>
          </a:xfrm>
          <a:prstGeom prst="rect">
            <a:avLst/>
          </a:prstGeom>
          <a:noFill/>
        </p:spPr>
        <p:txBody>
          <a:bodyPr wrap="none" rtlCol="0">
            <a:spAutoFit/>
          </a:bodyPr>
          <a:lstStyle/>
          <a:p>
            <a:r>
              <a:rPr kumimoji="1" lang="en-US" altLang="ko-KR" dirty="0"/>
              <a:t>HBM</a:t>
            </a:r>
            <a:endParaRPr kumimoji="1" lang="ko-KR" altLang="en-US" dirty="0"/>
          </a:p>
        </p:txBody>
      </p:sp>
      <p:sp>
        <p:nvSpPr>
          <p:cNvPr id="8" name="TextBox 7">
            <a:extLst>
              <a:ext uri="{FF2B5EF4-FFF2-40B4-BE49-F238E27FC236}">
                <a16:creationId xmlns:a16="http://schemas.microsoft.com/office/drawing/2014/main" id="{709565AD-D238-A1CB-B1AD-B3C5C6FA1A1A}"/>
              </a:ext>
            </a:extLst>
          </p:cNvPr>
          <p:cNvSpPr txBox="1"/>
          <p:nvPr/>
        </p:nvSpPr>
        <p:spPr>
          <a:xfrm>
            <a:off x="5405143" y="4553947"/>
            <a:ext cx="814647" cy="369332"/>
          </a:xfrm>
          <a:prstGeom prst="rect">
            <a:avLst/>
          </a:prstGeom>
          <a:noFill/>
        </p:spPr>
        <p:txBody>
          <a:bodyPr wrap="none" rtlCol="0">
            <a:spAutoFit/>
          </a:bodyPr>
          <a:lstStyle/>
          <a:p>
            <a:r>
              <a:rPr kumimoji="1" lang="en-US" altLang="ko-KR" dirty="0"/>
              <a:t>SRAM</a:t>
            </a:r>
            <a:endParaRPr kumimoji="1" lang="ko-KR" altLang="en-US" dirty="0"/>
          </a:p>
        </p:txBody>
      </p:sp>
      <p:sp>
        <p:nvSpPr>
          <p:cNvPr id="10" name="TextBox 9">
            <a:extLst>
              <a:ext uri="{FF2B5EF4-FFF2-40B4-BE49-F238E27FC236}">
                <a16:creationId xmlns:a16="http://schemas.microsoft.com/office/drawing/2014/main" id="{6EF11E37-3C40-6967-5204-BDB2DE3F0002}"/>
              </a:ext>
            </a:extLst>
          </p:cNvPr>
          <p:cNvSpPr txBox="1"/>
          <p:nvPr/>
        </p:nvSpPr>
        <p:spPr>
          <a:xfrm>
            <a:off x="7781452" y="4578918"/>
            <a:ext cx="697627" cy="369332"/>
          </a:xfrm>
          <a:prstGeom prst="rect">
            <a:avLst/>
          </a:prstGeom>
          <a:noFill/>
        </p:spPr>
        <p:txBody>
          <a:bodyPr wrap="none" rtlCol="0">
            <a:spAutoFit/>
          </a:bodyPr>
          <a:lstStyle/>
          <a:p>
            <a:r>
              <a:rPr kumimoji="1" lang="en-US" altLang="ko-KR" dirty="0"/>
              <a:t>HBM</a:t>
            </a:r>
            <a:endParaRPr kumimoji="1" lang="ko-KR" altLang="en-US" dirty="0"/>
          </a:p>
        </p:txBody>
      </p:sp>
      <p:sp>
        <p:nvSpPr>
          <p:cNvPr id="11" name="TextBox 10">
            <a:extLst>
              <a:ext uri="{FF2B5EF4-FFF2-40B4-BE49-F238E27FC236}">
                <a16:creationId xmlns:a16="http://schemas.microsoft.com/office/drawing/2014/main" id="{E3616E5B-B785-ACFE-495A-E52B8508FC26}"/>
              </a:ext>
            </a:extLst>
          </p:cNvPr>
          <p:cNvSpPr txBox="1"/>
          <p:nvPr/>
        </p:nvSpPr>
        <p:spPr>
          <a:xfrm>
            <a:off x="9497822" y="4595869"/>
            <a:ext cx="814647" cy="369332"/>
          </a:xfrm>
          <a:prstGeom prst="rect">
            <a:avLst/>
          </a:prstGeom>
          <a:noFill/>
        </p:spPr>
        <p:txBody>
          <a:bodyPr wrap="none" rtlCol="0">
            <a:spAutoFit/>
          </a:bodyPr>
          <a:lstStyle/>
          <a:p>
            <a:r>
              <a:rPr kumimoji="1" lang="en-US" altLang="ko-KR" dirty="0"/>
              <a:t>SRAM</a:t>
            </a:r>
            <a:endParaRPr kumimoji="1" lang="ko-KR" altLang="en-US" dirty="0"/>
          </a:p>
        </p:txBody>
      </p:sp>
    </p:spTree>
    <p:extLst>
      <p:ext uri="{BB962C8B-B14F-4D97-AF65-F5344CB8AC3E}">
        <p14:creationId xmlns:p14="http://schemas.microsoft.com/office/powerpoint/2010/main" val="39378953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B5E550-6531-5803-27D8-A3A305E02F1F}"/>
            </a:ext>
          </a:extLst>
        </p:cNvPr>
        <p:cNvGrpSpPr/>
        <p:nvPr/>
      </p:nvGrpSpPr>
      <p:grpSpPr>
        <a:xfrm>
          <a:off x="0" y="0"/>
          <a:ext cx="0" cy="0"/>
          <a:chOff x="0" y="0"/>
          <a:chExt cx="0" cy="0"/>
        </a:xfrm>
      </p:grpSpPr>
      <p:sp>
        <p:nvSpPr>
          <p:cNvPr id="27" name="제목 26">
            <a:extLst>
              <a:ext uri="{FF2B5EF4-FFF2-40B4-BE49-F238E27FC236}">
                <a16:creationId xmlns:a16="http://schemas.microsoft.com/office/drawing/2014/main" id="{42B3B041-FE29-0D2B-4079-8C977ED0B5CF}"/>
              </a:ext>
            </a:extLst>
          </p:cNvPr>
          <p:cNvSpPr>
            <a:spLocks noGrp="1"/>
          </p:cNvSpPr>
          <p:nvPr>
            <p:ph type="title"/>
          </p:nvPr>
        </p:nvSpPr>
        <p:spPr/>
        <p:txBody>
          <a:bodyPr>
            <a:normAutofit/>
          </a:bodyPr>
          <a:lstStyle/>
          <a:p>
            <a:r>
              <a:rPr kumimoji="1" lang="en-US" altLang="ko-KR" sz="2800" b="1" dirty="0"/>
              <a:t>2. Inefficient memory accessing</a:t>
            </a:r>
            <a:endParaRPr lang="ko-KR" altLang="en-US" dirty="0"/>
          </a:p>
        </p:txBody>
      </p:sp>
      <p:pic>
        <p:nvPicPr>
          <p:cNvPr id="6" name="그림 5">
            <a:extLst>
              <a:ext uri="{FF2B5EF4-FFF2-40B4-BE49-F238E27FC236}">
                <a16:creationId xmlns:a16="http://schemas.microsoft.com/office/drawing/2014/main" id="{2F164221-685A-C867-C0A0-3EF8EF766F9D}"/>
              </a:ext>
            </a:extLst>
          </p:cNvPr>
          <p:cNvPicPr>
            <a:picLocks noChangeAspect="1"/>
          </p:cNvPicPr>
          <p:nvPr/>
        </p:nvPicPr>
        <p:blipFill>
          <a:blip r:embed="rId3"/>
          <a:srcRect t="3726"/>
          <a:stretch>
            <a:fillRect/>
          </a:stretch>
        </p:blipFill>
        <p:spPr>
          <a:xfrm>
            <a:off x="907364" y="1356279"/>
            <a:ext cx="10377272" cy="5444686"/>
          </a:xfrm>
          <a:prstGeom prst="rect">
            <a:avLst/>
          </a:prstGeom>
        </p:spPr>
      </p:pic>
      <p:sp>
        <p:nvSpPr>
          <p:cNvPr id="10" name="TextBox 9">
            <a:extLst>
              <a:ext uri="{FF2B5EF4-FFF2-40B4-BE49-F238E27FC236}">
                <a16:creationId xmlns:a16="http://schemas.microsoft.com/office/drawing/2014/main" id="{B0916302-6E20-45BE-2AA8-54EE630DC517}"/>
              </a:ext>
            </a:extLst>
          </p:cNvPr>
          <p:cNvSpPr txBox="1"/>
          <p:nvPr/>
        </p:nvSpPr>
        <p:spPr>
          <a:xfrm>
            <a:off x="0" y="859316"/>
            <a:ext cx="12192000" cy="553998"/>
          </a:xfrm>
          <a:prstGeom prst="rect">
            <a:avLst/>
          </a:prstGeom>
          <a:noFill/>
        </p:spPr>
        <p:txBody>
          <a:bodyPr wrap="square">
            <a:spAutoFit/>
          </a:bodyPr>
          <a:lstStyle/>
          <a:p>
            <a:r>
              <a:rPr kumimoji="1" lang="en-US" altLang="ko-KR" sz="1500" dirty="0">
                <a:hlinkClick r:id="rId4"/>
              </a:rPr>
              <a:t>Dao, Tri, et al. "Flashattention: Fast and memory-efficient exact attention with io-awareness." Advances in neural information processing systems 35 (2022): 16344-16359.</a:t>
            </a:r>
            <a:endParaRPr kumimoji="1" lang="ko-KR" altLang="en-US" sz="1500" dirty="0"/>
          </a:p>
        </p:txBody>
      </p:sp>
    </p:spTree>
    <p:extLst>
      <p:ext uri="{BB962C8B-B14F-4D97-AF65-F5344CB8AC3E}">
        <p14:creationId xmlns:p14="http://schemas.microsoft.com/office/powerpoint/2010/main" val="41259895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2CBAB4-BE6C-7E59-EB0D-91328BEA2372}"/>
            </a:ext>
          </a:extLst>
        </p:cNvPr>
        <p:cNvGrpSpPr/>
        <p:nvPr/>
      </p:nvGrpSpPr>
      <p:grpSpPr>
        <a:xfrm>
          <a:off x="0" y="0"/>
          <a:ext cx="0" cy="0"/>
          <a:chOff x="0" y="0"/>
          <a:chExt cx="0" cy="0"/>
        </a:xfrm>
      </p:grpSpPr>
      <p:sp>
        <p:nvSpPr>
          <p:cNvPr id="27" name="제목 26">
            <a:extLst>
              <a:ext uri="{FF2B5EF4-FFF2-40B4-BE49-F238E27FC236}">
                <a16:creationId xmlns:a16="http://schemas.microsoft.com/office/drawing/2014/main" id="{2B6F55C2-84F3-6667-BB41-72F438BB803B}"/>
              </a:ext>
            </a:extLst>
          </p:cNvPr>
          <p:cNvSpPr>
            <a:spLocks noGrp="1"/>
          </p:cNvSpPr>
          <p:nvPr>
            <p:ph type="title"/>
          </p:nvPr>
        </p:nvSpPr>
        <p:spPr/>
        <p:txBody>
          <a:bodyPr>
            <a:normAutofit/>
          </a:bodyPr>
          <a:lstStyle/>
          <a:p>
            <a:r>
              <a:rPr kumimoji="1" lang="en-US" altLang="ko-KR" sz="2800" b="1" dirty="0"/>
              <a:t>2. Inefficient memory accessing</a:t>
            </a:r>
            <a:endParaRPr lang="ko-KR" altLang="en-US" dirty="0"/>
          </a:p>
        </p:txBody>
      </p:sp>
      <p:pic>
        <p:nvPicPr>
          <p:cNvPr id="2" name="그림 1">
            <a:extLst>
              <a:ext uri="{FF2B5EF4-FFF2-40B4-BE49-F238E27FC236}">
                <a16:creationId xmlns:a16="http://schemas.microsoft.com/office/drawing/2014/main" id="{4F0033EE-150F-E4BD-7BEB-D55C735368C7}"/>
              </a:ext>
            </a:extLst>
          </p:cNvPr>
          <p:cNvPicPr>
            <a:picLocks noChangeAspect="1"/>
          </p:cNvPicPr>
          <p:nvPr/>
        </p:nvPicPr>
        <p:blipFill>
          <a:blip r:embed="rId3"/>
          <a:stretch>
            <a:fillRect/>
          </a:stretch>
        </p:blipFill>
        <p:spPr>
          <a:xfrm>
            <a:off x="122103" y="940798"/>
            <a:ext cx="8537599" cy="5498482"/>
          </a:xfrm>
          <a:prstGeom prst="rect">
            <a:avLst/>
          </a:prstGeom>
        </p:spPr>
      </p:pic>
      <p:sp>
        <p:nvSpPr>
          <p:cNvPr id="3" name="TextBox 2">
            <a:extLst>
              <a:ext uri="{FF2B5EF4-FFF2-40B4-BE49-F238E27FC236}">
                <a16:creationId xmlns:a16="http://schemas.microsoft.com/office/drawing/2014/main" id="{F90877B5-04C2-4871-34E1-91B6DC53133E}"/>
              </a:ext>
            </a:extLst>
          </p:cNvPr>
          <p:cNvSpPr txBox="1"/>
          <p:nvPr/>
        </p:nvSpPr>
        <p:spPr>
          <a:xfrm>
            <a:off x="525100" y="2138595"/>
            <a:ext cx="8048531" cy="450696"/>
          </a:xfrm>
          <a:prstGeom prst="rect">
            <a:avLst/>
          </a:prstGeom>
          <a:noFill/>
          <a:ln w="38100">
            <a:solidFill>
              <a:srgbClr val="FF0000"/>
            </a:solidFill>
          </a:ln>
        </p:spPr>
        <p:txBody>
          <a:bodyPr wrap="square" rtlCol="0">
            <a:spAutoFit/>
          </a:bodyPr>
          <a:lstStyle/>
          <a:p>
            <a:endParaRPr kumimoji="1" lang="ko-KR" altLang="en-US" dirty="0"/>
          </a:p>
        </p:txBody>
      </p:sp>
      <p:sp>
        <p:nvSpPr>
          <p:cNvPr id="4" name="TextBox 3">
            <a:extLst>
              <a:ext uri="{FF2B5EF4-FFF2-40B4-BE49-F238E27FC236}">
                <a16:creationId xmlns:a16="http://schemas.microsoft.com/office/drawing/2014/main" id="{70D25067-E8D3-96E9-2506-25AF3CF35FCA}"/>
              </a:ext>
            </a:extLst>
          </p:cNvPr>
          <p:cNvSpPr txBox="1"/>
          <p:nvPr/>
        </p:nvSpPr>
        <p:spPr>
          <a:xfrm>
            <a:off x="525101" y="3208756"/>
            <a:ext cx="1416821" cy="450696"/>
          </a:xfrm>
          <a:prstGeom prst="rect">
            <a:avLst/>
          </a:prstGeom>
          <a:noFill/>
          <a:ln w="38100">
            <a:solidFill>
              <a:srgbClr val="FF0000"/>
            </a:solidFill>
          </a:ln>
        </p:spPr>
        <p:txBody>
          <a:bodyPr wrap="square" rtlCol="0">
            <a:spAutoFit/>
          </a:bodyPr>
          <a:lstStyle/>
          <a:p>
            <a:endParaRPr kumimoji="1" lang="ko-KR" altLang="en-US" dirty="0"/>
          </a:p>
        </p:txBody>
      </p:sp>
      <p:sp>
        <p:nvSpPr>
          <p:cNvPr id="5" name="TextBox 4">
            <a:extLst>
              <a:ext uri="{FF2B5EF4-FFF2-40B4-BE49-F238E27FC236}">
                <a16:creationId xmlns:a16="http://schemas.microsoft.com/office/drawing/2014/main" id="{5F0BE68D-30BB-0637-A7F9-5810ADEAC8C3}"/>
              </a:ext>
            </a:extLst>
          </p:cNvPr>
          <p:cNvSpPr txBox="1"/>
          <p:nvPr/>
        </p:nvSpPr>
        <p:spPr>
          <a:xfrm>
            <a:off x="709770" y="3659452"/>
            <a:ext cx="1826040" cy="450696"/>
          </a:xfrm>
          <a:prstGeom prst="rect">
            <a:avLst/>
          </a:prstGeom>
          <a:noFill/>
          <a:ln w="38100">
            <a:solidFill>
              <a:srgbClr val="FF0000"/>
            </a:solidFill>
          </a:ln>
        </p:spPr>
        <p:txBody>
          <a:bodyPr wrap="square" rtlCol="0">
            <a:spAutoFit/>
          </a:bodyPr>
          <a:lstStyle/>
          <a:p>
            <a:endParaRPr kumimoji="1" lang="ko-KR" altLang="en-US" dirty="0"/>
          </a:p>
        </p:txBody>
      </p:sp>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208B3A8D-D028-DF04-D1EA-59245C3CC097}"/>
                  </a:ext>
                </a:extLst>
              </p:cNvPr>
              <p:cNvSpPr txBox="1"/>
              <p:nvPr/>
            </p:nvSpPr>
            <p:spPr>
              <a:xfrm>
                <a:off x="8826373" y="2138595"/>
                <a:ext cx="2917915" cy="369332"/>
              </a:xfrm>
              <a:prstGeom prst="rect">
                <a:avLst/>
              </a:prstGeom>
              <a:noFill/>
            </p:spPr>
            <p:txBody>
              <a:bodyPr wrap="none" rtlCol="0">
                <a:spAutoFit/>
              </a:bodyPr>
              <a:lstStyle/>
              <a:p>
                <a14:m>
                  <m:oMath xmlns:m="http://schemas.openxmlformats.org/officeDocument/2006/math">
                    <m:r>
                      <m:rPr>
                        <m:sty m:val="p"/>
                      </m:rPr>
                      <a:rPr kumimoji="1" lang="en-US" altLang="ko-KR" i="1" dirty="0" smtClean="0">
                        <a:latin typeface="Cambria Math" panose="02040503050406030204" pitchFamily="18" charset="0"/>
                      </a:rPr>
                      <m:t>Q</m:t>
                    </m:r>
                    <m:r>
                      <a:rPr kumimoji="1" lang="en-US" altLang="ko-KR" b="0" i="1" dirty="0" smtClean="0">
                        <a:latin typeface="Cambria Math" panose="02040503050406030204" pitchFamily="18" charset="0"/>
                      </a:rPr>
                      <m:t>, </m:t>
                    </m:r>
                    <m:r>
                      <a:rPr kumimoji="1" lang="en-US" altLang="ko-KR" b="0" i="1" dirty="0" smtClean="0">
                        <a:latin typeface="Cambria Math" panose="02040503050406030204" pitchFamily="18" charset="0"/>
                      </a:rPr>
                      <m:t>𝐾</m:t>
                    </m:r>
                    <m:r>
                      <a:rPr kumimoji="1" lang="en-US" altLang="ko-KR" b="0" i="1" dirty="0" smtClean="0">
                        <a:latin typeface="Cambria Math" panose="02040503050406030204" pitchFamily="18" charset="0"/>
                      </a:rPr>
                      <m:t>, </m:t>
                    </m:r>
                    <m:r>
                      <a:rPr kumimoji="1" lang="en-US" altLang="ko-KR" b="0" i="1" dirty="0" smtClean="0">
                        <a:latin typeface="Cambria Math" panose="02040503050406030204" pitchFamily="18" charset="0"/>
                      </a:rPr>
                      <m:t>𝑉</m:t>
                    </m:r>
                  </m:oMath>
                </a14:m>
                <a:r>
                  <a:rPr kumimoji="1" lang="ko-KR" altLang="en-US" dirty="0" err="1"/>
                  <a:t>를</a:t>
                </a:r>
                <a:r>
                  <a:rPr kumimoji="1" lang="ko-KR" altLang="en-US" dirty="0"/>
                  <a:t> </a:t>
                </a:r>
                <a14:m>
                  <m:oMath xmlns:m="http://schemas.openxmlformats.org/officeDocument/2006/math">
                    <m:r>
                      <a:rPr kumimoji="1" lang="en-US" altLang="ko-KR" b="0" i="1" smtClean="0">
                        <a:latin typeface="Cambria Math" panose="02040503050406030204" pitchFamily="18" charset="0"/>
                      </a:rPr>
                      <m:t>𝑇</m:t>
                    </m:r>
                  </m:oMath>
                </a14:m>
                <a:r>
                  <a:rPr kumimoji="1" lang="ko-KR" altLang="en-US" dirty="0"/>
                  <a:t>개의 </a:t>
                </a:r>
                <a:r>
                  <a:rPr kumimoji="1" lang="en-US" altLang="ko-KR" dirty="0"/>
                  <a:t>tile</a:t>
                </a:r>
                <a:r>
                  <a:rPr kumimoji="1" lang="ko-KR" altLang="en-US" dirty="0"/>
                  <a:t>로 나눔</a:t>
                </a:r>
                <a:endParaRPr kumimoji="1" lang="en-US" altLang="ko-KR" dirty="0"/>
              </a:p>
            </p:txBody>
          </p:sp>
        </mc:Choice>
        <mc:Fallback>
          <p:sp>
            <p:nvSpPr>
              <p:cNvPr id="7" name="TextBox 6">
                <a:extLst>
                  <a:ext uri="{FF2B5EF4-FFF2-40B4-BE49-F238E27FC236}">
                    <a16:creationId xmlns:a16="http://schemas.microsoft.com/office/drawing/2014/main" id="{208B3A8D-D028-DF04-D1EA-59245C3CC097}"/>
                  </a:ext>
                </a:extLst>
              </p:cNvPr>
              <p:cNvSpPr txBox="1">
                <a:spLocks noRot="1" noChangeAspect="1" noMove="1" noResize="1" noEditPoints="1" noAdjustHandles="1" noChangeArrowheads="1" noChangeShapeType="1" noTextEdit="1"/>
              </p:cNvSpPr>
              <p:nvPr/>
            </p:nvSpPr>
            <p:spPr>
              <a:xfrm>
                <a:off x="8826373" y="2138595"/>
                <a:ext cx="2917915" cy="369332"/>
              </a:xfrm>
              <a:prstGeom prst="rect">
                <a:avLst/>
              </a:prstGeom>
              <a:blipFill>
                <a:blip r:embed="rId4"/>
                <a:stretch>
                  <a:fillRect l="-435" t="-6667" r="-870" b="-26667"/>
                </a:stretch>
              </a:blipFill>
            </p:spPr>
            <p:txBody>
              <a:bodyPr/>
              <a:lstStyle/>
              <a:p>
                <a:r>
                  <a:rPr lang="ko-KR" altLang="en-US">
                    <a:noFill/>
                  </a:rPr>
                  <a:t> </a:t>
                </a:r>
              </a:p>
            </p:txBody>
          </p:sp>
        </mc:Fallback>
      </mc:AlternateContent>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0DD27A24-465C-2862-CC26-B9AD1E0AA016}"/>
                  </a:ext>
                </a:extLst>
              </p:cNvPr>
              <p:cNvSpPr txBox="1"/>
              <p:nvPr/>
            </p:nvSpPr>
            <p:spPr>
              <a:xfrm>
                <a:off x="8264963" y="3308580"/>
                <a:ext cx="3951082" cy="3778278"/>
              </a:xfrm>
              <a:prstGeom prst="rect">
                <a:avLst/>
              </a:prstGeom>
              <a:noFill/>
            </p:spPr>
            <p:txBody>
              <a:bodyPr wrap="none" rtlCol="0">
                <a:spAutoFit/>
              </a:bodyPr>
              <a:lstStyle/>
              <a:p>
                <a:pPr>
                  <a:lnSpc>
                    <a:spcPct val="150000"/>
                  </a:lnSpc>
                </a:pPr>
                <a:r>
                  <a:rPr kumimoji="1" lang="en-US" altLang="ko-KR" dirty="0"/>
                  <a:t>(outer) </a:t>
                </a:r>
                <a:r>
                  <a:rPr kumimoji="1" lang="ko-KR" altLang="en-US" dirty="0"/>
                  <a:t>각 </a:t>
                </a:r>
                <a14:m>
                  <m:oMath xmlns:m="http://schemas.openxmlformats.org/officeDocument/2006/math">
                    <m:r>
                      <a:rPr kumimoji="1" lang="en-US" altLang="ko-KR" i="1" dirty="0">
                        <a:latin typeface="Cambria Math" panose="02040503050406030204" pitchFamily="18" charset="0"/>
                      </a:rPr>
                      <m:t>𝐾</m:t>
                    </m:r>
                    <m:r>
                      <a:rPr kumimoji="1" lang="en-US" altLang="ko-KR" i="1" dirty="0">
                        <a:latin typeface="Cambria Math" panose="02040503050406030204" pitchFamily="18" charset="0"/>
                      </a:rPr>
                      <m:t>, </m:t>
                    </m:r>
                    <m:r>
                      <a:rPr kumimoji="1" lang="en-US" altLang="ko-KR" i="1" dirty="0">
                        <a:latin typeface="Cambria Math" panose="02040503050406030204" pitchFamily="18" charset="0"/>
                      </a:rPr>
                      <m:t>𝑉</m:t>
                    </m:r>
                  </m:oMath>
                </a14:m>
                <a:r>
                  <a:rPr kumimoji="1" lang="en-US" altLang="ko-KR" dirty="0"/>
                  <a:t> tile</a:t>
                </a:r>
                <a:r>
                  <a:rPr kumimoji="1" lang="ko-KR" altLang="en-US" dirty="0" err="1"/>
                  <a:t>에</a:t>
                </a:r>
                <a:r>
                  <a:rPr kumimoji="1" lang="ko-KR" altLang="en-US" dirty="0"/>
                  <a:t> 대해</a:t>
                </a:r>
                <a:endParaRPr kumimoji="1" lang="en-US" altLang="ko-KR" dirty="0"/>
              </a:p>
              <a:p>
                <a:pPr>
                  <a:lnSpc>
                    <a:spcPct val="150000"/>
                  </a:lnSpc>
                </a:pPr>
                <a:r>
                  <a:rPr kumimoji="1" lang="en-US" altLang="ko-KR" dirty="0"/>
                  <a:t>   (inner) </a:t>
                </a:r>
                <a14:m>
                  <m:oMath xmlns:m="http://schemas.openxmlformats.org/officeDocument/2006/math">
                    <m:r>
                      <m:rPr>
                        <m:sty m:val="p"/>
                      </m:rPr>
                      <a:rPr kumimoji="1" lang="en-US" altLang="ko-KR" i="1" dirty="0">
                        <a:latin typeface="Cambria Math" panose="02040503050406030204" pitchFamily="18" charset="0"/>
                      </a:rPr>
                      <m:t>Q</m:t>
                    </m:r>
                  </m:oMath>
                </a14:m>
                <a:r>
                  <a:rPr kumimoji="1" lang="ko-KR" altLang="en-US" dirty="0" err="1"/>
                  <a:t>와의</a:t>
                </a:r>
                <a:r>
                  <a:rPr kumimoji="1" lang="ko-KR" altLang="en-US" dirty="0"/>
                  <a:t> </a:t>
                </a:r>
                <a:r>
                  <a:rPr kumimoji="1" lang="en-US" altLang="ko-KR" dirty="0"/>
                  <a:t>attention</a:t>
                </a:r>
                <a:r>
                  <a:rPr kumimoji="1" lang="ko-KR" altLang="en-US" dirty="0"/>
                  <a:t> 구하는데</a:t>
                </a:r>
                <a:endParaRPr kumimoji="1" lang="en-US" altLang="ko-KR" dirty="0"/>
              </a:p>
              <a:p>
                <a:pPr>
                  <a:lnSpc>
                    <a:spcPct val="150000"/>
                  </a:lnSpc>
                </a:pPr>
                <a:r>
                  <a:rPr kumimoji="1" lang="en-US" altLang="ko-KR" dirty="0"/>
                  <a:t>      Tiling</a:t>
                </a:r>
                <a:r>
                  <a:rPr kumimoji="1" lang="ko-KR" altLang="en-US" dirty="0"/>
                  <a:t>을 고려한 </a:t>
                </a:r>
                <a:r>
                  <a:rPr kumimoji="1" lang="en-US" altLang="ko-KR" dirty="0" err="1"/>
                  <a:t>softmax</a:t>
                </a:r>
                <a:endParaRPr kumimoji="1" lang="en-US" altLang="ko-KR" dirty="0"/>
              </a:p>
              <a:p>
                <a:pPr>
                  <a:lnSpc>
                    <a:spcPct val="150000"/>
                  </a:lnSpc>
                </a:pPr>
                <a:r>
                  <a:rPr kumimoji="1" lang="en-US" altLang="ko-KR" dirty="0"/>
                  <a:t>      </a:t>
                </a:r>
                <a:r>
                  <a:rPr kumimoji="1" lang="en-US" altLang="ko-KR" dirty="0">
                    <a:sym typeface="Wingdings" pitchFamily="2" charset="2"/>
                  </a:rPr>
                  <a:t> </a:t>
                </a:r>
                <a:r>
                  <a:rPr kumimoji="1" lang="en-US" altLang="ko-KR" dirty="0"/>
                  <a:t>statistic </a:t>
                </a:r>
                <a14:m>
                  <m:oMath xmlns:m="http://schemas.openxmlformats.org/officeDocument/2006/math">
                    <m:r>
                      <m:rPr>
                        <m:sty m:val="p"/>
                      </m:rPr>
                      <a:rPr kumimoji="1" lang="en-US" altLang="ko-KR" i="1" dirty="0" smtClean="0">
                        <a:latin typeface="Cambria Math" panose="02040503050406030204" pitchFamily="18" charset="0"/>
                      </a:rPr>
                      <m:t>m</m:t>
                    </m:r>
                    <m:r>
                      <a:rPr kumimoji="1" lang="en-US" altLang="ko-KR" b="0" i="1" dirty="0" smtClean="0">
                        <a:latin typeface="Cambria Math" panose="02040503050406030204" pitchFamily="18" charset="0"/>
                      </a:rPr>
                      <m:t>, </m:t>
                    </m:r>
                    <m:r>
                      <a:rPr kumimoji="1" lang="en-US" altLang="ko-KR" b="0" i="1" dirty="0" smtClean="0">
                        <a:latin typeface="Cambria Math" panose="02040503050406030204" pitchFamily="18" charset="0"/>
                      </a:rPr>
                      <m:t>𝑙</m:t>
                    </m:r>
                    <m:r>
                      <a:rPr kumimoji="1" lang="en-US" altLang="ko-KR" i="1">
                        <a:latin typeface="Cambria Math" panose="02040503050406030204" pitchFamily="18" charset="0"/>
                      </a:rPr>
                      <m:t> </m:t>
                    </m:r>
                  </m:oMath>
                </a14:m>
                <a:r>
                  <a:rPr kumimoji="1" lang="ko-KR" altLang="en-US" dirty="0"/>
                  <a:t>을 추적</a:t>
                </a:r>
                <a:endParaRPr kumimoji="1" lang="en-US" altLang="ko-KR" dirty="0"/>
              </a:p>
              <a:p>
                <a:pPr>
                  <a:lnSpc>
                    <a:spcPct val="150000"/>
                  </a:lnSpc>
                </a:pPr>
                <a:r>
                  <a:rPr kumimoji="1" lang="en-US" altLang="ko-KR" dirty="0"/>
                  <a:t>      </a:t>
                </a:r>
                <a:r>
                  <a:rPr kumimoji="1" lang="en-US" altLang="ko-KR" dirty="0">
                    <a:sym typeface="Wingdings" pitchFamily="2" charset="2"/>
                  </a:rPr>
                  <a:t> decomposable</a:t>
                </a:r>
                <a:r>
                  <a:rPr kumimoji="1" lang="ko-KR" altLang="en-US" dirty="0">
                    <a:sym typeface="Wingdings" pitchFamily="2" charset="2"/>
                  </a:rPr>
                  <a:t> </a:t>
                </a:r>
                <a:r>
                  <a:rPr kumimoji="1" lang="en-US" altLang="ko-KR" dirty="0" err="1">
                    <a:sym typeface="Wingdings" pitchFamily="2" charset="2"/>
                  </a:rPr>
                  <a:t>softmax</a:t>
                </a:r>
                <a:endParaRPr kumimoji="1" lang="en-US" altLang="ko-KR" dirty="0"/>
              </a:p>
              <a:p>
                <a:pPr>
                  <a:lnSpc>
                    <a:spcPct val="150000"/>
                  </a:lnSpc>
                </a:pPr>
                <a:r>
                  <a:rPr kumimoji="1" lang="en-US" altLang="ko-KR" dirty="0">
                    <a:sym typeface="Wingdings" pitchFamily="2" charset="2"/>
                  </a:rPr>
                  <a:t>       </a:t>
                </a:r>
                <a:r>
                  <a:rPr kumimoji="1" lang="en-US" altLang="ko-KR" dirty="0"/>
                  <a:t>update O iteratively</a:t>
                </a:r>
              </a:p>
              <a:p>
                <a:pPr>
                  <a:lnSpc>
                    <a:spcPct val="150000"/>
                  </a:lnSpc>
                </a:pPr>
                <a:endParaRPr kumimoji="1" lang="en-US" altLang="ko-KR" dirty="0"/>
              </a:p>
              <a:p>
                <a:pPr>
                  <a:lnSpc>
                    <a:spcPct val="150000"/>
                  </a:lnSpc>
                </a:pPr>
                <a:endParaRPr kumimoji="1" lang="en-US" altLang="ko-KR" dirty="0"/>
              </a:p>
              <a:p>
                <a:pPr>
                  <a:lnSpc>
                    <a:spcPct val="150000"/>
                  </a:lnSpc>
                </a:pPr>
                <a:endParaRPr kumimoji="1" lang="en-US" altLang="ko-KR" dirty="0"/>
              </a:p>
            </p:txBody>
          </p:sp>
        </mc:Choice>
        <mc:Fallback>
          <p:sp>
            <p:nvSpPr>
              <p:cNvPr id="8" name="TextBox 7">
                <a:extLst>
                  <a:ext uri="{FF2B5EF4-FFF2-40B4-BE49-F238E27FC236}">
                    <a16:creationId xmlns:a16="http://schemas.microsoft.com/office/drawing/2014/main" id="{0DD27A24-465C-2862-CC26-B9AD1E0AA016}"/>
                  </a:ext>
                </a:extLst>
              </p:cNvPr>
              <p:cNvSpPr txBox="1">
                <a:spLocks noRot="1" noChangeAspect="1" noMove="1" noResize="1" noEditPoints="1" noAdjustHandles="1" noChangeArrowheads="1" noChangeShapeType="1" noTextEdit="1"/>
              </p:cNvSpPr>
              <p:nvPr/>
            </p:nvSpPr>
            <p:spPr>
              <a:xfrm>
                <a:off x="8264963" y="3308580"/>
                <a:ext cx="3951082" cy="3778278"/>
              </a:xfrm>
              <a:prstGeom prst="rect">
                <a:avLst/>
              </a:prstGeom>
              <a:blipFill>
                <a:blip r:embed="rId5"/>
                <a:stretch>
                  <a:fillRect l="-1282"/>
                </a:stretch>
              </a:blipFill>
            </p:spPr>
            <p:txBody>
              <a:bodyPr/>
              <a:lstStyle/>
              <a:p>
                <a:r>
                  <a:rPr lang="ko-KR" altLang="en-US">
                    <a:noFill/>
                  </a:rPr>
                  <a:t> </a:t>
                </a:r>
              </a:p>
            </p:txBody>
          </p:sp>
        </mc:Fallback>
      </mc:AlternateContent>
      <p:sp>
        <p:nvSpPr>
          <p:cNvPr id="9" name="TextBox 8">
            <a:extLst>
              <a:ext uri="{FF2B5EF4-FFF2-40B4-BE49-F238E27FC236}">
                <a16:creationId xmlns:a16="http://schemas.microsoft.com/office/drawing/2014/main" id="{BB9A218A-F149-B5A4-08C7-B09CFACDE8DC}"/>
              </a:ext>
            </a:extLst>
          </p:cNvPr>
          <p:cNvSpPr txBox="1"/>
          <p:nvPr/>
        </p:nvSpPr>
        <p:spPr>
          <a:xfrm>
            <a:off x="1941922" y="3123914"/>
            <a:ext cx="1330492" cy="369332"/>
          </a:xfrm>
          <a:prstGeom prst="rect">
            <a:avLst/>
          </a:prstGeom>
          <a:noFill/>
        </p:spPr>
        <p:txBody>
          <a:bodyPr wrap="none" rtlCol="0">
            <a:spAutoFit/>
          </a:bodyPr>
          <a:lstStyle/>
          <a:p>
            <a:r>
              <a:rPr kumimoji="1" lang="en-US" altLang="ko-KR" dirty="0">
                <a:solidFill>
                  <a:srgbClr val="FF0000"/>
                </a:solidFill>
              </a:rPr>
              <a:t>Outer loop</a:t>
            </a:r>
            <a:endParaRPr kumimoji="1" lang="ko-KR" altLang="en-US" dirty="0">
              <a:solidFill>
                <a:srgbClr val="FF0000"/>
              </a:solidFill>
            </a:endParaRPr>
          </a:p>
        </p:txBody>
      </p:sp>
      <p:sp>
        <p:nvSpPr>
          <p:cNvPr id="11" name="TextBox 10">
            <a:extLst>
              <a:ext uri="{FF2B5EF4-FFF2-40B4-BE49-F238E27FC236}">
                <a16:creationId xmlns:a16="http://schemas.microsoft.com/office/drawing/2014/main" id="{6B6A0493-7647-3EC9-EB4B-CC6B544A04A3}"/>
              </a:ext>
            </a:extLst>
          </p:cNvPr>
          <p:cNvSpPr txBox="1"/>
          <p:nvPr/>
        </p:nvSpPr>
        <p:spPr>
          <a:xfrm>
            <a:off x="2529589" y="3602422"/>
            <a:ext cx="1263487" cy="369332"/>
          </a:xfrm>
          <a:prstGeom prst="rect">
            <a:avLst/>
          </a:prstGeom>
          <a:noFill/>
        </p:spPr>
        <p:txBody>
          <a:bodyPr wrap="none" rtlCol="0">
            <a:spAutoFit/>
          </a:bodyPr>
          <a:lstStyle/>
          <a:p>
            <a:r>
              <a:rPr kumimoji="1" lang="en-US" altLang="ko-KR" dirty="0">
                <a:solidFill>
                  <a:srgbClr val="FF0000"/>
                </a:solidFill>
              </a:rPr>
              <a:t>inner loop</a:t>
            </a:r>
            <a:endParaRPr kumimoji="1" lang="ko-KR" altLang="en-US" dirty="0">
              <a:solidFill>
                <a:srgbClr val="FF0000"/>
              </a:solidFill>
            </a:endParaRPr>
          </a:p>
        </p:txBody>
      </p:sp>
    </p:spTree>
    <p:extLst>
      <p:ext uri="{BB962C8B-B14F-4D97-AF65-F5344CB8AC3E}">
        <p14:creationId xmlns:p14="http://schemas.microsoft.com/office/powerpoint/2010/main" val="19021422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C7368C-76EB-F942-70E0-BE0A04AE8930}"/>
            </a:ext>
          </a:extLst>
        </p:cNvPr>
        <p:cNvGrpSpPr/>
        <p:nvPr/>
      </p:nvGrpSpPr>
      <p:grpSpPr>
        <a:xfrm>
          <a:off x="0" y="0"/>
          <a:ext cx="0" cy="0"/>
          <a:chOff x="0" y="0"/>
          <a:chExt cx="0" cy="0"/>
        </a:xfrm>
      </p:grpSpPr>
      <p:sp>
        <p:nvSpPr>
          <p:cNvPr id="27" name="제목 26">
            <a:extLst>
              <a:ext uri="{FF2B5EF4-FFF2-40B4-BE49-F238E27FC236}">
                <a16:creationId xmlns:a16="http://schemas.microsoft.com/office/drawing/2014/main" id="{280508B2-22D5-F00B-1B08-1D7E2628B383}"/>
              </a:ext>
            </a:extLst>
          </p:cNvPr>
          <p:cNvSpPr>
            <a:spLocks noGrp="1"/>
          </p:cNvSpPr>
          <p:nvPr>
            <p:ph type="title"/>
          </p:nvPr>
        </p:nvSpPr>
        <p:spPr/>
        <p:txBody>
          <a:bodyPr/>
          <a:lstStyle/>
          <a:p>
            <a:r>
              <a:rPr kumimoji="1" lang="en-US" altLang="ko-KR" sz="2800" b="1" dirty="0"/>
              <a:t>3. YOLOv12</a:t>
            </a:r>
            <a:endParaRPr lang="ko-KR" altLang="en-US" dirty="0"/>
          </a:p>
        </p:txBody>
      </p:sp>
      <p:sp>
        <p:nvSpPr>
          <p:cNvPr id="47" name="내용 개체 틀 2">
            <a:extLst>
              <a:ext uri="{FF2B5EF4-FFF2-40B4-BE49-F238E27FC236}">
                <a16:creationId xmlns:a16="http://schemas.microsoft.com/office/drawing/2014/main" id="{ACBF7E05-8C53-5FF8-F406-EFE787150C13}"/>
              </a:ext>
            </a:extLst>
          </p:cNvPr>
          <p:cNvSpPr txBox="1">
            <a:spLocks/>
          </p:cNvSpPr>
          <p:nvPr/>
        </p:nvSpPr>
        <p:spPr>
          <a:xfrm>
            <a:off x="117514" y="852966"/>
            <a:ext cx="11952383" cy="5438047"/>
          </a:xfrm>
          <a:prstGeom prst="rect">
            <a:avLst/>
          </a:prstGeom>
        </p:spPr>
        <p:txBody>
          <a:bodyPr vert="horz" lIns="91440" tIns="45720" rIns="91440" bIns="45720" rtlCol="0">
            <a:normAutofit/>
          </a:bodyPr>
          <a:lstStyle>
            <a:lvl1pPr marL="228600" indent="-228600" algn="l" defTabSz="914400" rtl="0" eaLnBrk="1" latinLnBrk="1"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15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endParaRPr lang="en" altLang="ko-KR" sz="2000" dirty="0"/>
          </a:p>
          <a:p>
            <a:pPr>
              <a:lnSpc>
                <a:spcPct val="150000"/>
              </a:lnSpc>
            </a:pPr>
            <a:endParaRPr kumimoji="1" lang="en" altLang="ko-KR" sz="2000" b="1" dirty="0"/>
          </a:p>
          <a:p>
            <a:pPr>
              <a:lnSpc>
                <a:spcPct val="150000"/>
              </a:lnSpc>
            </a:pPr>
            <a:endParaRPr kumimoji="1" lang="en" altLang="ko-KR" sz="2000" b="1" dirty="0"/>
          </a:p>
          <a:p>
            <a:pPr>
              <a:lnSpc>
                <a:spcPct val="150000"/>
              </a:lnSpc>
            </a:pPr>
            <a:endParaRPr kumimoji="1" lang="en" altLang="ko-KR" sz="2000" b="1" dirty="0"/>
          </a:p>
          <a:p>
            <a:pPr>
              <a:lnSpc>
                <a:spcPct val="150000"/>
              </a:lnSpc>
            </a:pPr>
            <a:endParaRPr kumimoji="1" lang="en" altLang="ko-KR" sz="2000" b="1" dirty="0"/>
          </a:p>
          <a:p>
            <a:pPr>
              <a:lnSpc>
                <a:spcPct val="150000"/>
              </a:lnSpc>
            </a:pPr>
            <a:endParaRPr kumimoji="1" lang="en" altLang="ko-KR" sz="2000" b="1" dirty="0"/>
          </a:p>
          <a:p>
            <a:pPr>
              <a:lnSpc>
                <a:spcPct val="150000"/>
              </a:lnSpc>
            </a:pPr>
            <a:endParaRPr kumimoji="1" lang="en" altLang="ko-KR" sz="2000" b="1" dirty="0"/>
          </a:p>
        </p:txBody>
      </p:sp>
      <p:sp>
        <p:nvSpPr>
          <p:cNvPr id="48" name="TextBox 47">
            <a:extLst>
              <a:ext uri="{FF2B5EF4-FFF2-40B4-BE49-F238E27FC236}">
                <a16:creationId xmlns:a16="http://schemas.microsoft.com/office/drawing/2014/main" id="{0953AB7F-4C82-1438-CA52-050DCDBEDBB3}"/>
              </a:ext>
            </a:extLst>
          </p:cNvPr>
          <p:cNvSpPr txBox="1"/>
          <p:nvPr/>
        </p:nvSpPr>
        <p:spPr>
          <a:xfrm>
            <a:off x="184193" y="843588"/>
            <a:ext cx="11952383" cy="1554977"/>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kumimoji="1" lang="ko-KR" altLang="en-US" sz="2200" b="0" dirty="0">
                <a:latin typeface="Times New Roman" panose="02020603050405020304" pitchFamily="18" charset="0"/>
                <a:cs typeface="Times New Roman" panose="02020603050405020304" pitchFamily="18" charset="0"/>
              </a:rPr>
              <a:t>그러면 </a:t>
            </a:r>
            <a:r>
              <a:rPr kumimoji="1" lang="en-US" altLang="ko-KR" sz="2200" b="0" dirty="0">
                <a:latin typeface="Times New Roman" panose="02020603050405020304" pitchFamily="18" charset="0"/>
                <a:cs typeface="Times New Roman" panose="02020603050405020304" pitchFamily="18" charset="0"/>
              </a:rPr>
              <a:t>vanilla attention</a:t>
            </a:r>
            <a:r>
              <a:rPr kumimoji="1" lang="ko-KR" altLang="en-US" sz="2200" b="0" dirty="0">
                <a:latin typeface="Times New Roman" panose="02020603050405020304" pitchFamily="18" charset="0"/>
                <a:cs typeface="Times New Roman" panose="02020603050405020304" pitchFamily="18" charset="0"/>
              </a:rPr>
              <a:t>의 </a:t>
            </a:r>
            <a:r>
              <a:rPr kumimoji="1" lang="en-US" altLang="ko-KR" sz="2200" b="0" dirty="0">
                <a:latin typeface="Times New Roman" panose="02020603050405020304" pitchFamily="18" charset="0"/>
                <a:cs typeface="Times New Roman" panose="02020603050405020304" pitchFamily="18" charset="0"/>
              </a:rPr>
              <a:t>computational cost</a:t>
            </a:r>
            <a:r>
              <a:rPr kumimoji="1" lang="ko-KR" altLang="en-US" sz="2200" b="0" dirty="0" err="1">
                <a:latin typeface="Times New Roman" panose="02020603050405020304" pitchFamily="18" charset="0"/>
                <a:cs typeface="Times New Roman" panose="02020603050405020304" pitchFamily="18" charset="0"/>
              </a:rPr>
              <a:t>를</a:t>
            </a:r>
            <a:r>
              <a:rPr kumimoji="1" lang="ko-KR" altLang="en-US" sz="2200" b="0" dirty="0">
                <a:latin typeface="Times New Roman" panose="02020603050405020304" pitchFamily="18" charset="0"/>
                <a:cs typeface="Times New Roman" panose="02020603050405020304" pitchFamily="18" charset="0"/>
              </a:rPr>
              <a:t> 어떻게 줄일 수 있을까</a:t>
            </a:r>
            <a:r>
              <a:rPr kumimoji="1" lang="en-US" altLang="ko-KR" sz="2200" b="0" dirty="0">
                <a:latin typeface="Times New Roman" panose="02020603050405020304" pitchFamily="18" charset="0"/>
                <a:cs typeface="Times New Roman" panose="02020603050405020304" pitchFamily="18" charset="0"/>
              </a:rPr>
              <a:t>?</a:t>
            </a:r>
          </a:p>
          <a:p>
            <a:pPr marL="800100" lvl="1" indent="-342900">
              <a:lnSpc>
                <a:spcPct val="150000"/>
              </a:lnSpc>
              <a:buFont typeface="Arial" panose="020B0604020202020204" pitchFamily="34" charset="0"/>
              <a:buChar char="•"/>
            </a:pPr>
            <a:r>
              <a:rPr kumimoji="1" lang="ko-KR" altLang="en-US" sz="2200" dirty="0">
                <a:latin typeface="Times New Roman" panose="02020603050405020304" pitchFamily="18" charset="0"/>
                <a:cs typeface="Times New Roman" panose="02020603050405020304" pitchFamily="18" charset="0"/>
              </a:rPr>
              <a:t>방법 </a:t>
            </a:r>
            <a:r>
              <a:rPr kumimoji="1" lang="en-US" altLang="ko-KR" sz="2200" dirty="0">
                <a:latin typeface="Times New Roman" panose="02020603050405020304" pitchFamily="18" charset="0"/>
                <a:cs typeface="Times New Roman" panose="02020603050405020304" pitchFamily="18" charset="0"/>
              </a:rPr>
              <a:t>1: kernel-based linear attention</a:t>
            </a:r>
          </a:p>
          <a:p>
            <a:pPr marL="800100" lvl="1" indent="-342900">
              <a:lnSpc>
                <a:spcPct val="150000"/>
              </a:lnSpc>
              <a:buFont typeface="Arial" panose="020B0604020202020204" pitchFamily="34" charset="0"/>
              <a:buChar char="•"/>
            </a:pPr>
            <a:r>
              <a:rPr kumimoji="1" lang="ko-KR" altLang="en-US" sz="2200" b="0" dirty="0">
                <a:latin typeface="Times New Roman" panose="02020603050405020304" pitchFamily="18" charset="0"/>
                <a:cs typeface="Times New Roman" panose="02020603050405020304" pitchFamily="18" charset="0"/>
              </a:rPr>
              <a:t>방법 </a:t>
            </a:r>
            <a:r>
              <a:rPr kumimoji="1" lang="en-US" altLang="ko-KR" sz="2200" b="0" dirty="0">
                <a:latin typeface="Times New Roman" panose="02020603050405020304" pitchFamily="18" charset="0"/>
                <a:cs typeface="Times New Roman" panose="02020603050405020304" pitchFamily="18" charset="0"/>
              </a:rPr>
              <a:t>2: local attention mechanism</a:t>
            </a:r>
          </a:p>
        </p:txBody>
      </p:sp>
    </p:spTree>
    <p:extLst>
      <p:ext uri="{BB962C8B-B14F-4D97-AF65-F5344CB8AC3E}">
        <p14:creationId xmlns:p14="http://schemas.microsoft.com/office/powerpoint/2010/main" val="15881102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399F57-FB81-0B49-BE44-BCA1F79FC1F0}"/>
            </a:ext>
          </a:extLst>
        </p:cNvPr>
        <p:cNvGrpSpPr/>
        <p:nvPr/>
      </p:nvGrpSpPr>
      <p:grpSpPr>
        <a:xfrm>
          <a:off x="0" y="0"/>
          <a:ext cx="0" cy="0"/>
          <a:chOff x="0" y="0"/>
          <a:chExt cx="0" cy="0"/>
        </a:xfrm>
      </p:grpSpPr>
      <p:sp>
        <p:nvSpPr>
          <p:cNvPr id="27" name="제목 26">
            <a:extLst>
              <a:ext uri="{FF2B5EF4-FFF2-40B4-BE49-F238E27FC236}">
                <a16:creationId xmlns:a16="http://schemas.microsoft.com/office/drawing/2014/main" id="{97BDDDBE-A4A5-2F0F-9C7B-8D8BFC619DF5}"/>
              </a:ext>
            </a:extLst>
          </p:cNvPr>
          <p:cNvSpPr>
            <a:spLocks noGrp="1"/>
          </p:cNvSpPr>
          <p:nvPr>
            <p:ph type="title"/>
          </p:nvPr>
        </p:nvSpPr>
        <p:spPr/>
        <p:txBody>
          <a:bodyPr/>
          <a:lstStyle/>
          <a:p>
            <a:r>
              <a:rPr kumimoji="1" lang="en-US" altLang="ko-KR" sz="2800" b="1" dirty="0"/>
              <a:t>3. YOLOv12</a:t>
            </a:r>
            <a:endParaRPr lang="ko-KR" altLang="en-US" dirty="0"/>
          </a:p>
        </p:txBody>
      </p:sp>
      <p:sp>
        <p:nvSpPr>
          <p:cNvPr id="47" name="내용 개체 틀 2">
            <a:extLst>
              <a:ext uri="{FF2B5EF4-FFF2-40B4-BE49-F238E27FC236}">
                <a16:creationId xmlns:a16="http://schemas.microsoft.com/office/drawing/2014/main" id="{ADD289D9-D0F2-11A5-01BC-11A990A82102}"/>
              </a:ext>
            </a:extLst>
          </p:cNvPr>
          <p:cNvSpPr txBox="1">
            <a:spLocks/>
          </p:cNvSpPr>
          <p:nvPr/>
        </p:nvSpPr>
        <p:spPr>
          <a:xfrm>
            <a:off x="117514" y="852966"/>
            <a:ext cx="11952383" cy="5438047"/>
          </a:xfrm>
          <a:prstGeom prst="rect">
            <a:avLst/>
          </a:prstGeom>
        </p:spPr>
        <p:txBody>
          <a:bodyPr vert="horz" lIns="91440" tIns="45720" rIns="91440" bIns="45720" rtlCol="0">
            <a:normAutofit/>
          </a:bodyPr>
          <a:lstStyle>
            <a:lvl1pPr marL="228600" indent="-228600" algn="l" defTabSz="914400" rtl="0" eaLnBrk="1" latinLnBrk="1"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15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endParaRPr lang="en" altLang="ko-KR" sz="2000" dirty="0"/>
          </a:p>
          <a:p>
            <a:pPr>
              <a:lnSpc>
                <a:spcPct val="150000"/>
              </a:lnSpc>
            </a:pPr>
            <a:endParaRPr kumimoji="1" lang="en" altLang="ko-KR" sz="2000" b="1" dirty="0"/>
          </a:p>
          <a:p>
            <a:pPr>
              <a:lnSpc>
                <a:spcPct val="150000"/>
              </a:lnSpc>
            </a:pPr>
            <a:endParaRPr kumimoji="1" lang="en" altLang="ko-KR" sz="2000" b="1" dirty="0"/>
          </a:p>
          <a:p>
            <a:pPr>
              <a:lnSpc>
                <a:spcPct val="150000"/>
              </a:lnSpc>
            </a:pPr>
            <a:endParaRPr kumimoji="1" lang="en" altLang="ko-KR" sz="2000" b="1" dirty="0"/>
          </a:p>
          <a:p>
            <a:pPr>
              <a:lnSpc>
                <a:spcPct val="150000"/>
              </a:lnSpc>
            </a:pPr>
            <a:endParaRPr kumimoji="1" lang="en" altLang="ko-KR" sz="2000" b="1" dirty="0"/>
          </a:p>
          <a:p>
            <a:pPr>
              <a:lnSpc>
                <a:spcPct val="150000"/>
              </a:lnSpc>
            </a:pPr>
            <a:endParaRPr kumimoji="1" lang="en" altLang="ko-KR" sz="2000" b="1" dirty="0"/>
          </a:p>
          <a:p>
            <a:pPr>
              <a:lnSpc>
                <a:spcPct val="150000"/>
              </a:lnSpc>
            </a:pPr>
            <a:endParaRPr kumimoji="1" lang="en" altLang="ko-KR" sz="2000" b="1" dirty="0"/>
          </a:p>
        </p:txBody>
      </p:sp>
      <p:sp>
        <p:nvSpPr>
          <p:cNvPr id="48" name="TextBox 47">
            <a:extLst>
              <a:ext uri="{FF2B5EF4-FFF2-40B4-BE49-F238E27FC236}">
                <a16:creationId xmlns:a16="http://schemas.microsoft.com/office/drawing/2014/main" id="{77127F50-BFC5-0B08-BE9C-5F6865A0A629}"/>
              </a:ext>
            </a:extLst>
          </p:cNvPr>
          <p:cNvSpPr txBox="1"/>
          <p:nvPr/>
        </p:nvSpPr>
        <p:spPr>
          <a:xfrm>
            <a:off x="184193" y="843588"/>
            <a:ext cx="11952383" cy="1554977"/>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kumimoji="1" lang="ko-KR" altLang="en-US" sz="2200" b="0" dirty="0">
                <a:latin typeface="Times New Roman" panose="02020603050405020304" pitchFamily="18" charset="0"/>
                <a:cs typeface="Times New Roman" panose="02020603050405020304" pitchFamily="18" charset="0"/>
              </a:rPr>
              <a:t>그러면 </a:t>
            </a:r>
            <a:r>
              <a:rPr kumimoji="1" lang="en-US" altLang="ko-KR" sz="2200" b="0" dirty="0">
                <a:latin typeface="Times New Roman" panose="02020603050405020304" pitchFamily="18" charset="0"/>
                <a:cs typeface="Times New Roman" panose="02020603050405020304" pitchFamily="18" charset="0"/>
              </a:rPr>
              <a:t>vanilla attention</a:t>
            </a:r>
            <a:r>
              <a:rPr kumimoji="1" lang="ko-KR" altLang="en-US" sz="2200" b="0" dirty="0">
                <a:latin typeface="Times New Roman" panose="02020603050405020304" pitchFamily="18" charset="0"/>
                <a:cs typeface="Times New Roman" panose="02020603050405020304" pitchFamily="18" charset="0"/>
              </a:rPr>
              <a:t>의 </a:t>
            </a:r>
            <a:r>
              <a:rPr kumimoji="1" lang="en-US" altLang="ko-KR" sz="2200" b="0" dirty="0">
                <a:latin typeface="Times New Roman" panose="02020603050405020304" pitchFamily="18" charset="0"/>
                <a:cs typeface="Times New Roman" panose="02020603050405020304" pitchFamily="18" charset="0"/>
              </a:rPr>
              <a:t>computational cost</a:t>
            </a:r>
            <a:r>
              <a:rPr kumimoji="1" lang="ko-KR" altLang="en-US" sz="2200" b="0" dirty="0" err="1">
                <a:latin typeface="Times New Roman" panose="02020603050405020304" pitchFamily="18" charset="0"/>
                <a:cs typeface="Times New Roman" panose="02020603050405020304" pitchFamily="18" charset="0"/>
              </a:rPr>
              <a:t>를</a:t>
            </a:r>
            <a:r>
              <a:rPr kumimoji="1" lang="ko-KR" altLang="en-US" sz="2200" b="0" dirty="0">
                <a:latin typeface="Times New Roman" panose="02020603050405020304" pitchFamily="18" charset="0"/>
                <a:cs typeface="Times New Roman" panose="02020603050405020304" pitchFamily="18" charset="0"/>
              </a:rPr>
              <a:t> 어떻게 줄일 수 있을까</a:t>
            </a:r>
            <a:r>
              <a:rPr kumimoji="1" lang="en-US" altLang="ko-KR" sz="2200" b="0" dirty="0">
                <a:latin typeface="Times New Roman" panose="02020603050405020304" pitchFamily="18" charset="0"/>
                <a:cs typeface="Times New Roman" panose="02020603050405020304" pitchFamily="18" charset="0"/>
              </a:rPr>
              <a:t>?</a:t>
            </a:r>
          </a:p>
          <a:p>
            <a:pPr marL="800100" lvl="1" indent="-342900">
              <a:lnSpc>
                <a:spcPct val="150000"/>
              </a:lnSpc>
              <a:buFont typeface="Arial" panose="020B0604020202020204" pitchFamily="34" charset="0"/>
              <a:buChar char="•"/>
            </a:pPr>
            <a:r>
              <a:rPr kumimoji="1" lang="ko-KR" altLang="en-US" sz="2200" b="1" dirty="0">
                <a:latin typeface="Times New Roman" panose="02020603050405020304" pitchFamily="18" charset="0"/>
                <a:cs typeface="Times New Roman" panose="02020603050405020304" pitchFamily="18" charset="0"/>
              </a:rPr>
              <a:t>방법 </a:t>
            </a:r>
            <a:r>
              <a:rPr kumimoji="1" lang="en-US" altLang="ko-KR" sz="2200" b="1" dirty="0">
                <a:latin typeface="Times New Roman" panose="02020603050405020304" pitchFamily="18" charset="0"/>
                <a:cs typeface="Times New Roman" panose="02020603050405020304" pitchFamily="18" charset="0"/>
              </a:rPr>
              <a:t>1: kernel-based linear attention</a:t>
            </a:r>
          </a:p>
          <a:p>
            <a:pPr marL="800100" lvl="1" indent="-342900">
              <a:lnSpc>
                <a:spcPct val="150000"/>
              </a:lnSpc>
              <a:buFont typeface="Arial" panose="020B0604020202020204" pitchFamily="34" charset="0"/>
              <a:buChar char="•"/>
            </a:pPr>
            <a:r>
              <a:rPr kumimoji="1" lang="ko-KR" altLang="en-US" sz="2200" b="0" dirty="0">
                <a:latin typeface="Times New Roman" panose="02020603050405020304" pitchFamily="18" charset="0"/>
                <a:cs typeface="Times New Roman" panose="02020603050405020304" pitchFamily="18" charset="0"/>
              </a:rPr>
              <a:t>방법 </a:t>
            </a:r>
            <a:r>
              <a:rPr kumimoji="1" lang="en-US" altLang="ko-KR" sz="2200" b="0" dirty="0">
                <a:latin typeface="Times New Roman" panose="02020603050405020304" pitchFamily="18" charset="0"/>
                <a:cs typeface="Times New Roman" panose="02020603050405020304" pitchFamily="18" charset="0"/>
              </a:rPr>
              <a:t>2: local attention mechanism</a:t>
            </a:r>
          </a:p>
        </p:txBody>
      </p:sp>
    </p:spTree>
    <p:extLst>
      <p:ext uri="{BB962C8B-B14F-4D97-AF65-F5344CB8AC3E}">
        <p14:creationId xmlns:p14="http://schemas.microsoft.com/office/powerpoint/2010/main" val="20476171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86752F-2F28-C747-634D-CE4C255FFA01}"/>
            </a:ext>
          </a:extLst>
        </p:cNvPr>
        <p:cNvGrpSpPr/>
        <p:nvPr/>
      </p:nvGrpSpPr>
      <p:grpSpPr>
        <a:xfrm>
          <a:off x="0" y="0"/>
          <a:ext cx="0" cy="0"/>
          <a:chOff x="0" y="0"/>
          <a:chExt cx="0" cy="0"/>
        </a:xfrm>
      </p:grpSpPr>
      <p:sp>
        <p:nvSpPr>
          <p:cNvPr id="27" name="제목 26">
            <a:extLst>
              <a:ext uri="{FF2B5EF4-FFF2-40B4-BE49-F238E27FC236}">
                <a16:creationId xmlns:a16="http://schemas.microsoft.com/office/drawing/2014/main" id="{F450E389-1718-8D75-892D-2B954CF99EA6}"/>
              </a:ext>
            </a:extLst>
          </p:cNvPr>
          <p:cNvSpPr>
            <a:spLocks noGrp="1"/>
          </p:cNvSpPr>
          <p:nvPr>
            <p:ph type="title"/>
          </p:nvPr>
        </p:nvSpPr>
        <p:spPr/>
        <p:txBody>
          <a:bodyPr/>
          <a:lstStyle/>
          <a:p>
            <a:r>
              <a:rPr kumimoji="1" lang="en-US" altLang="ko-KR" sz="2800" b="1" dirty="0"/>
              <a:t>Proposition – Area Attention</a:t>
            </a:r>
            <a:endParaRPr lang="ko-KR" altLang="en-US" dirty="0"/>
          </a:p>
        </p:txBody>
      </p:sp>
      <p:sp>
        <p:nvSpPr>
          <p:cNvPr id="47" name="내용 개체 틀 2">
            <a:extLst>
              <a:ext uri="{FF2B5EF4-FFF2-40B4-BE49-F238E27FC236}">
                <a16:creationId xmlns:a16="http://schemas.microsoft.com/office/drawing/2014/main" id="{381AE7A1-99D2-4B1B-95F8-D93DFD8C456C}"/>
              </a:ext>
            </a:extLst>
          </p:cNvPr>
          <p:cNvSpPr txBox="1">
            <a:spLocks/>
          </p:cNvSpPr>
          <p:nvPr/>
        </p:nvSpPr>
        <p:spPr>
          <a:xfrm>
            <a:off x="117514" y="852966"/>
            <a:ext cx="11952383" cy="5438047"/>
          </a:xfrm>
          <a:prstGeom prst="rect">
            <a:avLst/>
          </a:prstGeom>
        </p:spPr>
        <p:txBody>
          <a:bodyPr vert="horz" lIns="91440" tIns="45720" rIns="91440" bIns="45720" rtlCol="0">
            <a:normAutofit/>
          </a:bodyPr>
          <a:lstStyle>
            <a:lvl1pPr marL="228600" indent="-228600" algn="l" defTabSz="914400" rtl="0" eaLnBrk="1" latinLnBrk="1"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15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endParaRPr lang="en" altLang="ko-KR" sz="2000" dirty="0"/>
          </a:p>
          <a:p>
            <a:pPr>
              <a:lnSpc>
                <a:spcPct val="150000"/>
              </a:lnSpc>
            </a:pPr>
            <a:endParaRPr kumimoji="1" lang="en" altLang="ko-KR" sz="2000" b="1" dirty="0"/>
          </a:p>
          <a:p>
            <a:pPr>
              <a:lnSpc>
                <a:spcPct val="150000"/>
              </a:lnSpc>
            </a:pPr>
            <a:endParaRPr kumimoji="1" lang="en" altLang="ko-KR" sz="2000" b="1" dirty="0"/>
          </a:p>
          <a:p>
            <a:pPr>
              <a:lnSpc>
                <a:spcPct val="150000"/>
              </a:lnSpc>
            </a:pPr>
            <a:endParaRPr kumimoji="1" lang="en" altLang="ko-KR" sz="2000" b="1" dirty="0"/>
          </a:p>
          <a:p>
            <a:pPr>
              <a:lnSpc>
                <a:spcPct val="150000"/>
              </a:lnSpc>
            </a:pPr>
            <a:endParaRPr kumimoji="1" lang="en" altLang="ko-KR" sz="2000" b="1" dirty="0"/>
          </a:p>
          <a:p>
            <a:pPr>
              <a:lnSpc>
                <a:spcPct val="150000"/>
              </a:lnSpc>
            </a:pPr>
            <a:endParaRPr kumimoji="1" lang="en" altLang="ko-KR" sz="2000" b="1" dirty="0"/>
          </a:p>
          <a:p>
            <a:pPr>
              <a:lnSpc>
                <a:spcPct val="150000"/>
              </a:lnSpc>
            </a:pPr>
            <a:endParaRPr kumimoji="1" lang="en" altLang="ko-KR" sz="2000" b="1" dirty="0"/>
          </a:p>
        </p:txBody>
      </p:sp>
      <p:pic>
        <p:nvPicPr>
          <p:cNvPr id="5" name="그림 4" descr="텍스트, 스크린샷, 도표, 직사각형이(가) 표시된 사진&#10;&#10;AI 생성 콘텐츠는 정확하지 않을 수 있습니다.">
            <a:extLst>
              <a:ext uri="{FF2B5EF4-FFF2-40B4-BE49-F238E27FC236}">
                <a16:creationId xmlns:a16="http://schemas.microsoft.com/office/drawing/2014/main" id="{7F1E2E85-B664-40D8-AB55-C2C0AEC752DA}"/>
              </a:ext>
            </a:extLst>
          </p:cNvPr>
          <p:cNvPicPr>
            <a:picLocks noChangeAspect="1"/>
          </p:cNvPicPr>
          <p:nvPr/>
        </p:nvPicPr>
        <p:blipFill>
          <a:blip r:embed="rId3"/>
          <a:srcRect t="-1" r="21569" b="53439"/>
          <a:stretch>
            <a:fillRect/>
          </a:stretch>
        </p:blipFill>
        <p:spPr>
          <a:xfrm>
            <a:off x="0" y="100131"/>
            <a:ext cx="5519057" cy="1842970"/>
          </a:xfrm>
          <a:prstGeom prst="rect">
            <a:avLst/>
          </a:prstGeom>
        </p:spPr>
      </p:pic>
      <p:pic>
        <p:nvPicPr>
          <p:cNvPr id="6" name="그림 5" descr="텍스트, 스크린샷, 도표, 직사각형이(가) 표시된 사진&#10;&#10;AI 생성 콘텐츠는 정확하지 않을 수 있습니다.">
            <a:extLst>
              <a:ext uri="{FF2B5EF4-FFF2-40B4-BE49-F238E27FC236}">
                <a16:creationId xmlns:a16="http://schemas.microsoft.com/office/drawing/2014/main" id="{93F284A4-13BE-1DD6-93BE-D8C96C913E63}"/>
              </a:ext>
            </a:extLst>
          </p:cNvPr>
          <p:cNvPicPr>
            <a:picLocks noChangeAspect="1"/>
          </p:cNvPicPr>
          <p:nvPr/>
        </p:nvPicPr>
        <p:blipFill>
          <a:blip r:embed="rId3"/>
          <a:srcRect t="49424" r="21569" b="6131"/>
          <a:stretch>
            <a:fillRect/>
          </a:stretch>
        </p:blipFill>
        <p:spPr>
          <a:xfrm>
            <a:off x="5562600" y="50066"/>
            <a:ext cx="6096000" cy="1943100"/>
          </a:xfrm>
          <a:prstGeom prst="rect">
            <a:avLst/>
          </a:prstGeom>
        </p:spPr>
      </p:pic>
      <p:cxnSp>
        <p:nvCxnSpPr>
          <p:cNvPr id="7" name="직선 연결선[R] 6">
            <a:extLst>
              <a:ext uri="{FF2B5EF4-FFF2-40B4-BE49-F238E27FC236}">
                <a16:creationId xmlns:a16="http://schemas.microsoft.com/office/drawing/2014/main" id="{7F889765-4E82-F4C3-9AB8-0AED52E822D1}"/>
              </a:ext>
            </a:extLst>
          </p:cNvPr>
          <p:cNvCxnSpPr>
            <a:cxnSpLocks/>
          </p:cNvCxnSpPr>
          <p:nvPr/>
        </p:nvCxnSpPr>
        <p:spPr>
          <a:xfrm flipV="1">
            <a:off x="5519057" y="100131"/>
            <a:ext cx="0" cy="628978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 name="내용 개체 틀 2">
                <a:extLst>
                  <a:ext uri="{FF2B5EF4-FFF2-40B4-BE49-F238E27FC236}">
                    <a16:creationId xmlns:a16="http://schemas.microsoft.com/office/drawing/2014/main" id="{31DF3CDF-9D73-FB33-A080-AED6E13E7217}"/>
                  </a:ext>
                </a:extLst>
              </p:cNvPr>
              <p:cNvSpPr txBox="1">
                <a:spLocks/>
              </p:cNvSpPr>
              <p:nvPr/>
            </p:nvSpPr>
            <p:spPr>
              <a:xfrm>
                <a:off x="108948" y="1943101"/>
                <a:ext cx="5301161" cy="4347912"/>
              </a:xfrm>
              <a:prstGeom prst="rect">
                <a:avLst/>
              </a:prstGeom>
            </p:spPr>
            <p:txBody>
              <a:bodyPr vert="horz" lIns="91440" tIns="45720" rIns="91440" bIns="45720" rtlCol="0">
                <a:normAutofit/>
              </a:bodyPr>
              <a:lstStyle>
                <a:lvl1pPr marL="228600" indent="-228600" algn="l" defTabSz="914400" rtl="0" eaLnBrk="1" latinLnBrk="1"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15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14:m>
                  <m:oMathPara xmlns:m="http://schemas.openxmlformats.org/officeDocument/2006/math">
                    <m:oMathParaPr>
                      <m:jc m:val="left"/>
                    </m:oMathParaPr>
                    <m:oMath xmlns:m="http://schemas.openxmlformats.org/officeDocument/2006/math">
                      <m:r>
                        <a:rPr kumimoji="1" lang="en-US" altLang="ko-KR" sz="2000" b="0" i="1" smtClean="0">
                          <a:latin typeface="Cambria Math" panose="02040503050406030204" pitchFamily="18" charset="0"/>
                        </a:rPr>
                        <m:t>𝑆</m:t>
                      </m:r>
                      <m:d>
                        <m:dPr>
                          <m:ctrlPr>
                            <a:rPr kumimoji="1" lang="en-US" altLang="ko-KR" sz="2000" b="0" i="1" smtClean="0">
                              <a:latin typeface="Cambria Math" panose="02040503050406030204" pitchFamily="18" charset="0"/>
                            </a:rPr>
                          </m:ctrlPr>
                        </m:dPr>
                        <m:e>
                          <m:r>
                            <a:rPr kumimoji="1" lang="en-US" altLang="ko-KR" sz="2000" b="0" i="1" smtClean="0">
                              <a:latin typeface="Cambria Math" panose="02040503050406030204" pitchFamily="18" charset="0"/>
                            </a:rPr>
                            <m:t>𝑄</m:t>
                          </m:r>
                          <m:r>
                            <a:rPr kumimoji="1" lang="en-US" altLang="ko-KR" sz="2000" b="0" i="1" smtClean="0">
                              <a:latin typeface="Cambria Math" panose="02040503050406030204" pitchFamily="18" charset="0"/>
                            </a:rPr>
                            <m:t>,</m:t>
                          </m:r>
                          <m:sSup>
                            <m:sSupPr>
                              <m:ctrlPr>
                                <a:rPr kumimoji="1" lang="en-US" altLang="ko-KR" sz="2000" b="0" i="1" smtClean="0">
                                  <a:latin typeface="Cambria Math" panose="02040503050406030204" pitchFamily="18" charset="0"/>
                                </a:rPr>
                              </m:ctrlPr>
                            </m:sSupPr>
                            <m:e>
                              <m:r>
                                <a:rPr kumimoji="1" lang="en-US" altLang="ko-KR" sz="2000" b="0" i="1" smtClean="0">
                                  <a:latin typeface="Cambria Math" panose="02040503050406030204" pitchFamily="18" charset="0"/>
                                </a:rPr>
                                <m:t>𝐾</m:t>
                              </m:r>
                            </m:e>
                            <m:sup>
                              <m:r>
                                <a:rPr kumimoji="1" lang="en-US" altLang="ko-KR" sz="2000" b="0" i="1" smtClean="0">
                                  <a:latin typeface="Cambria Math" panose="02040503050406030204" pitchFamily="18" charset="0"/>
                                </a:rPr>
                                <m:t>𝑇</m:t>
                              </m:r>
                            </m:sup>
                          </m:sSup>
                        </m:e>
                      </m:d>
                      <m:r>
                        <a:rPr kumimoji="1" lang="en-US" altLang="ko-KR" sz="2000" b="0" i="1" smtClean="0">
                          <a:latin typeface="Cambria Math" panose="02040503050406030204" pitchFamily="18" charset="0"/>
                        </a:rPr>
                        <m:t>=</m:t>
                      </m:r>
                      <m:r>
                        <a:rPr kumimoji="1" lang="en-US" altLang="ko-KR" sz="2000" b="0" i="1" smtClean="0">
                          <a:latin typeface="Cambria Math" panose="02040503050406030204" pitchFamily="18" charset="0"/>
                        </a:rPr>
                        <m:t>𝑆𝑜𝑓𝑡𝑚𝑎𝑥</m:t>
                      </m:r>
                      <m:d>
                        <m:dPr>
                          <m:ctrlPr>
                            <a:rPr kumimoji="1" lang="en-US" altLang="ko-KR" sz="2000" b="0" i="1" smtClean="0">
                              <a:latin typeface="Cambria Math" panose="02040503050406030204" pitchFamily="18" charset="0"/>
                            </a:rPr>
                          </m:ctrlPr>
                        </m:dPr>
                        <m:e>
                          <m:r>
                            <a:rPr kumimoji="1" lang="en-US" altLang="ko-KR" sz="2000" b="0" i="1" smtClean="0">
                              <a:latin typeface="Cambria Math" panose="02040503050406030204" pitchFamily="18" charset="0"/>
                            </a:rPr>
                            <m:t>𝑄</m:t>
                          </m:r>
                          <m:r>
                            <a:rPr kumimoji="1" lang="en-US" altLang="ko-KR" sz="2000" b="0" i="1" smtClean="0">
                              <a:latin typeface="Cambria Math" panose="02040503050406030204" pitchFamily="18" charset="0"/>
                            </a:rPr>
                            <m:t>, </m:t>
                          </m:r>
                          <m:sSup>
                            <m:sSupPr>
                              <m:ctrlPr>
                                <a:rPr kumimoji="1" lang="en-US" altLang="ko-KR" sz="2000" b="0" i="1" smtClean="0">
                                  <a:latin typeface="Cambria Math" panose="02040503050406030204" pitchFamily="18" charset="0"/>
                                </a:rPr>
                              </m:ctrlPr>
                            </m:sSupPr>
                            <m:e>
                              <m:r>
                                <a:rPr kumimoji="1" lang="en-US" altLang="ko-KR" sz="2000" b="0" i="1" smtClean="0">
                                  <a:latin typeface="Cambria Math" panose="02040503050406030204" pitchFamily="18" charset="0"/>
                                </a:rPr>
                                <m:t>𝐾</m:t>
                              </m:r>
                            </m:e>
                            <m:sup>
                              <m:r>
                                <a:rPr kumimoji="1" lang="en-US" altLang="ko-KR" sz="2000" b="0" i="1" smtClean="0">
                                  <a:latin typeface="Cambria Math" panose="02040503050406030204" pitchFamily="18" charset="0"/>
                                </a:rPr>
                                <m:t>𝑇</m:t>
                              </m:r>
                            </m:sup>
                          </m:sSup>
                        </m:e>
                      </m:d>
                    </m:oMath>
                  </m:oMathPara>
                </a14:m>
                <a:endParaRPr kumimoji="1" lang="en-US" altLang="ko-KR" sz="2000" b="0" dirty="0"/>
              </a:p>
              <a:p>
                <a:pPr marL="0" indent="0">
                  <a:lnSpc>
                    <a:spcPct val="150000"/>
                  </a:lnSpc>
                  <a:buNone/>
                </a:pPr>
                <a:endParaRPr kumimoji="1" lang="en-US" altLang="ko-KR" sz="2000" i="1" dirty="0">
                  <a:latin typeface="Cambria Math" panose="02040503050406030204" pitchFamily="18" charset="0"/>
                </a:endParaRPr>
              </a:p>
              <a:p>
                <a:pPr marL="0" indent="0">
                  <a:lnSpc>
                    <a:spcPct val="150000"/>
                  </a:lnSpc>
                  <a:buNone/>
                </a:pPr>
                <a14:m>
                  <m:oMathPara xmlns:m="http://schemas.openxmlformats.org/officeDocument/2006/math">
                    <m:oMathParaPr>
                      <m:jc m:val="left"/>
                    </m:oMathParaPr>
                    <m:oMath xmlns:m="http://schemas.openxmlformats.org/officeDocument/2006/math">
                      <m:r>
                        <a:rPr kumimoji="1" lang="en-US" altLang="ko-KR" sz="2000" b="0" i="1" smtClean="0">
                          <a:latin typeface="Cambria Math" panose="02040503050406030204" pitchFamily="18" charset="0"/>
                        </a:rPr>
                        <m:t>𝑆</m:t>
                      </m:r>
                      <m:d>
                        <m:dPr>
                          <m:ctrlPr>
                            <a:rPr kumimoji="1" lang="en-US" altLang="ko-KR" sz="2000" b="0" i="1" smtClean="0">
                              <a:latin typeface="Cambria Math" panose="02040503050406030204" pitchFamily="18" charset="0"/>
                            </a:rPr>
                          </m:ctrlPr>
                        </m:dPr>
                        <m:e>
                          <m:r>
                            <a:rPr kumimoji="1" lang="en-US" altLang="ko-KR" sz="2000" b="0" i="1" smtClean="0">
                              <a:latin typeface="Cambria Math" panose="02040503050406030204" pitchFamily="18" charset="0"/>
                            </a:rPr>
                            <m:t>𝑄</m:t>
                          </m:r>
                          <m:r>
                            <a:rPr kumimoji="1" lang="en-US" altLang="ko-KR" sz="2000" b="0" i="1" smtClean="0">
                              <a:latin typeface="Cambria Math" panose="02040503050406030204" pitchFamily="18" charset="0"/>
                            </a:rPr>
                            <m:t>, </m:t>
                          </m:r>
                          <m:sSup>
                            <m:sSupPr>
                              <m:ctrlPr>
                                <a:rPr kumimoji="1" lang="en-US" altLang="ko-KR" sz="2000" b="0" i="1" smtClean="0">
                                  <a:latin typeface="Cambria Math" panose="02040503050406030204" pitchFamily="18" charset="0"/>
                                </a:rPr>
                              </m:ctrlPr>
                            </m:sSupPr>
                            <m:e>
                              <m:r>
                                <a:rPr kumimoji="1" lang="en-US" altLang="ko-KR" sz="2000" b="0" i="1" smtClean="0">
                                  <a:latin typeface="Cambria Math" panose="02040503050406030204" pitchFamily="18" charset="0"/>
                                </a:rPr>
                                <m:t>𝐾</m:t>
                              </m:r>
                            </m:e>
                            <m:sup>
                              <m:r>
                                <a:rPr kumimoji="1" lang="en-US" altLang="ko-KR" sz="2000" b="0" i="1" smtClean="0">
                                  <a:latin typeface="Cambria Math" panose="02040503050406030204" pitchFamily="18" charset="0"/>
                                </a:rPr>
                                <m:t>𝑇</m:t>
                              </m:r>
                            </m:sup>
                          </m:sSup>
                        </m:e>
                      </m:d>
                      <m:r>
                        <a:rPr kumimoji="1" lang="en-US" altLang="ko-KR" sz="2000" b="0" i="1" smtClean="0">
                          <a:latin typeface="Cambria Math" panose="02040503050406030204" pitchFamily="18" charset="0"/>
                        </a:rPr>
                        <m:t>𝑉</m:t>
                      </m:r>
                    </m:oMath>
                  </m:oMathPara>
                </a14:m>
                <a:endParaRPr kumimoji="1" lang="en-US" altLang="ko-KR" sz="2000" b="0" dirty="0"/>
              </a:p>
              <a:p>
                <a:pPr marL="0" indent="0">
                  <a:lnSpc>
                    <a:spcPct val="150000"/>
                  </a:lnSpc>
                  <a:buNone/>
                </a:pPr>
                <a:endParaRPr kumimoji="1" lang="en-US" altLang="ko-KR" sz="2000" b="0" dirty="0"/>
              </a:p>
              <a:p>
                <a:pPr marL="0" indent="0">
                  <a:lnSpc>
                    <a:spcPct val="150000"/>
                  </a:lnSpc>
                  <a:buNone/>
                </a:pPr>
                <a:endParaRPr kumimoji="1" lang="en-US" altLang="ko-KR" sz="2000" dirty="0"/>
              </a:p>
              <a:p>
                <a:pPr marL="0" indent="0">
                  <a:lnSpc>
                    <a:spcPct val="150000"/>
                  </a:lnSpc>
                  <a:buNone/>
                </a:pPr>
                <a:endParaRPr kumimoji="1" lang="en-US" altLang="ko-KR" sz="2000" dirty="0"/>
              </a:p>
            </p:txBody>
          </p:sp>
        </mc:Choice>
        <mc:Fallback xmlns="">
          <p:sp>
            <p:nvSpPr>
              <p:cNvPr id="8" name="내용 개체 틀 2">
                <a:extLst>
                  <a:ext uri="{FF2B5EF4-FFF2-40B4-BE49-F238E27FC236}">
                    <a16:creationId xmlns:a16="http://schemas.microsoft.com/office/drawing/2014/main" id="{31DF3CDF-9D73-FB33-A080-AED6E13E7217}"/>
                  </a:ext>
                </a:extLst>
              </p:cNvPr>
              <p:cNvSpPr txBox="1">
                <a:spLocks noRot="1" noChangeAspect="1" noMove="1" noResize="1" noEditPoints="1" noAdjustHandles="1" noChangeArrowheads="1" noChangeShapeType="1" noTextEdit="1"/>
              </p:cNvSpPr>
              <p:nvPr/>
            </p:nvSpPr>
            <p:spPr>
              <a:xfrm>
                <a:off x="108948" y="1943101"/>
                <a:ext cx="5301161" cy="4347912"/>
              </a:xfrm>
              <a:prstGeom prst="rect">
                <a:avLst/>
              </a:prstGeom>
              <a:blipFill>
                <a:blip r:embed="rId4"/>
                <a:stretch>
                  <a:fillRect/>
                </a:stretch>
              </a:blipFill>
            </p:spPr>
            <p:txBody>
              <a:bodyPr/>
              <a:lstStyle/>
              <a:p>
                <a:r>
                  <a:rPr lang="ko-KR" altLang="en-US">
                    <a:noFill/>
                  </a:rPr>
                  <a:t> </a:t>
                </a:r>
              </a:p>
            </p:txBody>
          </p:sp>
        </mc:Fallback>
      </mc:AlternateContent>
      <p:sp>
        <p:nvSpPr>
          <p:cNvPr id="9" name="내용 개체 틀 2">
            <a:extLst>
              <a:ext uri="{FF2B5EF4-FFF2-40B4-BE49-F238E27FC236}">
                <a16:creationId xmlns:a16="http://schemas.microsoft.com/office/drawing/2014/main" id="{CF2873F6-4673-3D53-7E7E-4C33267BFDE7}"/>
              </a:ext>
            </a:extLst>
          </p:cNvPr>
          <p:cNvSpPr txBox="1">
            <a:spLocks/>
          </p:cNvSpPr>
          <p:nvPr/>
        </p:nvSpPr>
        <p:spPr>
          <a:xfrm>
            <a:off x="5780317" y="1943101"/>
            <a:ext cx="5769335" cy="4347912"/>
          </a:xfrm>
          <a:prstGeom prst="rect">
            <a:avLst/>
          </a:prstGeom>
        </p:spPr>
        <p:txBody>
          <a:bodyPr vert="horz" lIns="91440" tIns="45720" rIns="91440" bIns="45720" rtlCol="0">
            <a:normAutofit/>
          </a:bodyPr>
          <a:lstStyle>
            <a:lvl1pPr marL="228600" indent="-228600" algn="l" defTabSz="914400" rtl="0" eaLnBrk="1" latinLnBrk="1"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15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endParaRPr kumimoji="1" lang="en" altLang="ko-KR" sz="2000" dirty="0"/>
          </a:p>
          <a:p>
            <a:pPr marL="0" indent="0">
              <a:lnSpc>
                <a:spcPct val="150000"/>
              </a:lnSpc>
              <a:buNone/>
            </a:pPr>
            <a:endParaRPr kumimoji="1" lang="en" altLang="ko-KR" sz="2000" dirty="0"/>
          </a:p>
          <a:p>
            <a:pPr marL="0" indent="0">
              <a:lnSpc>
                <a:spcPct val="150000"/>
              </a:lnSpc>
              <a:buNone/>
            </a:pPr>
            <a:endParaRPr kumimoji="1" lang="en" altLang="ko-KR" sz="2000" dirty="0"/>
          </a:p>
        </p:txBody>
      </p:sp>
      <mc:AlternateContent xmlns:mc="http://schemas.openxmlformats.org/markup-compatibility/2006" xmlns:a14="http://schemas.microsoft.com/office/drawing/2010/main">
        <mc:Choice Requires="a14">
          <p:sp>
            <p:nvSpPr>
              <p:cNvPr id="10" name="내용 개체 틀 2">
                <a:extLst>
                  <a:ext uri="{FF2B5EF4-FFF2-40B4-BE49-F238E27FC236}">
                    <a16:creationId xmlns:a16="http://schemas.microsoft.com/office/drawing/2014/main" id="{9D3F2193-CE2D-063E-68A7-32C06A2F9145}"/>
                  </a:ext>
                </a:extLst>
              </p:cNvPr>
              <p:cNvSpPr txBox="1">
                <a:spLocks/>
              </p:cNvSpPr>
              <p:nvPr/>
            </p:nvSpPr>
            <p:spPr>
              <a:xfrm>
                <a:off x="5562600" y="1943101"/>
                <a:ext cx="6520452" cy="4446814"/>
              </a:xfrm>
              <a:prstGeom prst="rect">
                <a:avLst/>
              </a:prstGeom>
            </p:spPr>
            <p:txBody>
              <a:bodyPr vert="horz" lIns="91440" tIns="45720" rIns="91440" bIns="45720" rtlCol="0">
                <a:normAutofit/>
              </a:bodyPr>
              <a:lstStyle>
                <a:lvl1pPr marL="228600" indent="-228600" algn="l" defTabSz="914400" rtl="0" eaLnBrk="1" latinLnBrk="1"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15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14:m>
                  <m:oMathPara xmlns:m="http://schemas.openxmlformats.org/officeDocument/2006/math">
                    <m:oMathParaPr>
                      <m:jc m:val="left"/>
                    </m:oMathParaPr>
                    <m:oMath xmlns:m="http://schemas.openxmlformats.org/officeDocument/2006/math">
                      <m:r>
                        <a:rPr kumimoji="1" lang="en-US" altLang="ko-KR" sz="2000" b="0" i="1" smtClean="0">
                          <a:solidFill>
                            <a:schemeClr val="bg1"/>
                          </a:solidFill>
                          <a:latin typeface="Cambria Math" panose="02040503050406030204" pitchFamily="18" charset="0"/>
                        </a:rPr>
                        <m:t>𝑆𝑖𝑚𝑖𝑙𝑎𝑟𝑡𝑦</m:t>
                      </m:r>
                      <m:d>
                        <m:dPr>
                          <m:ctrlPr>
                            <a:rPr kumimoji="1" lang="en-US" altLang="ko-KR" sz="2000" b="0" i="1" smtClean="0">
                              <a:solidFill>
                                <a:schemeClr val="bg1"/>
                              </a:solidFill>
                              <a:latin typeface="Cambria Math" panose="02040503050406030204" pitchFamily="18" charset="0"/>
                            </a:rPr>
                          </m:ctrlPr>
                        </m:dPr>
                        <m:e>
                          <m:r>
                            <a:rPr kumimoji="1" lang="en-US" altLang="ko-KR" sz="2000" b="0" i="1" smtClean="0">
                              <a:solidFill>
                                <a:schemeClr val="bg1"/>
                              </a:solidFill>
                              <a:latin typeface="Cambria Math" panose="02040503050406030204" pitchFamily="18" charset="0"/>
                            </a:rPr>
                            <m:t>⋅,⋅</m:t>
                          </m:r>
                        </m:e>
                      </m:d>
                      <m:r>
                        <a:rPr kumimoji="1" lang="en-US" altLang="ko-KR" sz="2000" b="0" i="1" smtClean="0">
                          <a:solidFill>
                            <a:schemeClr val="bg1"/>
                          </a:solidFill>
                          <a:latin typeface="Cambria Math" panose="02040503050406030204" pitchFamily="18" charset="0"/>
                        </a:rPr>
                        <m:t>=</m:t>
                      </m:r>
                      <m:r>
                        <a:rPr kumimoji="1" lang="en-US" altLang="ko-KR" sz="2000" b="0" i="1" smtClean="0">
                          <a:solidFill>
                            <a:schemeClr val="bg1"/>
                          </a:solidFill>
                          <a:latin typeface="Cambria Math" panose="02040503050406030204" pitchFamily="18" charset="0"/>
                        </a:rPr>
                        <m:t>𝑆𝑜𝑓𝑡𝑚𝑎𝑥</m:t>
                      </m:r>
                      <m:d>
                        <m:dPr>
                          <m:ctrlPr>
                            <a:rPr kumimoji="1" lang="en-US" altLang="ko-KR" sz="2000" b="0" i="1" smtClean="0">
                              <a:solidFill>
                                <a:schemeClr val="bg1"/>
                              </a:solidFill>
                              <a:latin typeface="Cambria Math" panose="02040503050406030204" pitchFamily="18" charset="0"/>
                            </a:rPr>
                          </m:ctrlPr>
                        </m:dPr>
                        <m:e>
                          <m:r>
                            <a:rPr kumimoji="1" lang="en-US" altLang="ko-KR" sz="2000" b="0" i="1" smtClean="0">
                              <a:solidFill>
                                <a:schemeClr val="bg1"/>
                              </a:solidFill>
                              <a:latin typeface="Cambria Math" panose="02040503050406030204" pitchFamily="18" charset="0"/>
                            </a:rPr>
                            <m:t>⋅, ⋅</m:t>
                          </m:r>
                        </m:e>
                      </m:d>
                    </m:oMath>
                  </m:oMathPara>
                </a14:m>
                <a:endParaRPr kumimoji="1" lang="en-US" altLang="ko-KR" sz="2000" b="0" dirty="0">
                  <a:solidFill>
                    <a:schemeClr val="bg1"/>
                  </a:solidFill>
                </a:endParaRPr>
              </a:p>
              <a:p>
                <a:pPr marL="0" indent="0">
                  <a:lnSpc>
                    <a:spcPct val="150000"/>
                  </a:lnSpc>
                  <a:buNone/>
                </a:pPr>
                <a:endParaRPr kumimoji="1" lang="en-US" altLang="ko-KR" sz="2000" i="1" dirty="0">
                  <a:latin typeface="Cambria Math" panose="02040503050406030204" pitchFamily="18" charset="0"/>
                </a:endParaRPr>
              </a:p>
              <a:p>
                <a:pPr marL="0" indent="0">
                  <a:lnSpc>
                    <a:spcPct val="150000"/>
                  </a:lnSpc>
                  <a:buNone/>
                </a:pPr>
                <a14:m>
                  <m:oMath xmlns:m="http://schemas.openxmlformats.org/officeDocument/2006/math">
                    <m:r>
                      <a:rPr kumimoji="1" lang="en-US" altLang="ko-KR" sz="2000" b="0" i="1" smtClean="0">
                        <a:latin typeface="Cambria Math" panose="02040503050406030204" pitchFamily="18" charset="0"/>
                      </a:rPr>
                      <m:t>𝑄</m:t>
                    </m:r>
                    <m:r>
                      <a:rPr kumimoji="1" lang="en-US" altLang="ko-KR" sz="2000" b="0" i="1" smtClean="0">
                        <a:latin typeface="Cambria Math" panose="02040503050406030204" pitchFamily="18" charset="0"/>
                      </a:rPr>
                      <m:t>(</m:t>
                    </m:r>
                    <m:sSup>
                      <m:sSupPr>
                        <m:ctrlPr>
                          <a:rPr kumimoji="1" lang="en-US" altLang="ko-KR" sz="2000" b="0" i="1" smtClean="0">
                            <a:latin typeface="Cambria Math" panose="02040503050406030204" pitchFamily="18" charset="0"/>
                          </a:rPr>
                        </m:ctrlPr>
                      </m:sSupPr>
                      <m:e>
                        <m:r>
                          <a:rPr kumimoji="1" lang="en-US" altLang="ko-KR" sz="2000" b="0" i="1" smtClean="0">
                            <a:latin typeface="Cambria Math" panose="02040503050406030204" pitchFamily="18" charset="0"/>
                          </a:rPr>
                          <m:t>𝐾</m:t>
                        </m:r>
                      </m:e>
                      <m:sup>
                        <m:r>
                          <a:rPr kumimoji="1" lang="en-US" altLang="ko-KR" sz="2000" b="0" i="1" smtClean="0">
                            <a:latin typeface="Cambria Math" panose="02040503050406030204" pitchFamily="18" charset="0"/>
                          </a:rPr>
                          <m:t>𝑇</m:t>
                        </m:r>
                      </m:sup>
                    </m:sSup>
                    <m:r>
                      <a:rPr kumimoji="1" lang="en-US" altLang="ko-KR" sz="2000" b="0" i="1" smtClean="0">
                        <a:latin typeface="Cambria Math" panose="02040503050406030204" pitchFamily="18" charset="0"/>
                      </a:rPr>
                      <m:t>,</m:t>
                    </m:r>
                    <m:r>
                      <a:rPr kumimoji="1" lang="en-US" altLang="ko-KR" sz="2000" b="0" i="1" smtClean="0">
                        <a:latin typeface="Cambria Math" panose="02040503050406030204" pitchFamily="18" charset="0"/>
                      </a:rPr>
                      <m:t>𝑉</m:t>
                    </m:r>
                    <m:r>
                      <a:rPr kumimoji="1" lang="en-US" altLang="ko-KR" sz="2000" b="0" i="1" smtClean="0">
                        <a:latin typeface="Cambria Math" panose="02040503050406030204" pitchFamily="18" charset="0"/>
                      </a:rPr>
                      <m:t>)</m:t>
                    </m:r>
                  </m:oMath>
                </a14:m>
                <a:r>
                  <a:rPr kumimoji="1" lang="en-US" altLang="ko-KR" sz="2000" dirty="0">
                    <a:solidFill>
                      <a:srgbClr val="FF0000"/>
                    </a:solidFill>
                  </a:rPr>
                  <a:t>		    Where is </a:t>
                </a:r>
                <a14:m>
                  <m:oMath xmlns:m="http://schemas.openxmlformats.org/officeDocument/2006/math">
                    <m:r>
                      <a:rPr kumimoji="1" lang="en-US" altLang="ko-KR" sz="2000" i="1">
                        <a:solidFill>
                          <a:srgbClr val="FF0000"/>
                        </a:solidFill>
                        <a:latin typeface="Cambria Math" panose="02040503050406030204" pitchFamily="18" charset="0"/>
                      </a:rPr>
                      <m:t>𝑆</m:t>
                    </m:r>
                    <m:d>
                      <m:dPr>
                        <m:ctrlPr>
                          <a:rPr kumimoji="1" lang="en-US" altLang="ko-KR" sz="2000" i="1">
                            <a:solidFill>
                              <a:srgbClr val="FF0000"/>
                            </a:solidFill>
                            <a:latin typeface="Cambria Math" panose="02040503050406030204" pitchFamily="18" charset="0"/>
                          </a:rPr>
                        </m:ctrlPr>
                      </m:dPr>
                      <m:e>
                        <m:r>
                          <a:rPr kumimoji="1" lang="en-US" altLang="ko-KR" sz="2000" i="1">
                            <a:solidFill>
                              <a:srgbClr val="FF0000"/>
                            </a:solidFill>
                            <a:latin typeface="Cambria Math" panose="02040503050406030204" pitchFamily="18" charset="0"/>
                          </a:rPr>
                          <m:t>⋅,⋅</m:t>
                        </m:r>
                      </m:e>
                    </m:d>
                  </m:oMath>
                </a14:m>
                <a:r>
                  <a:rPr kumimoji="1" lang="en-US" altLang="ko-KR" sz="2000" dirty="0">
                    <a:solidFill>
                      <a:srgbClr val="FF0000"/>
                    </a:solidFill>
                  </a:rPr>
                  <a:t>?</a:t>
                </a:r>
              </a:p>
              <a:p>
                <a:pPr marL="0" indent="0">
                  <a:lnSpc>
                    <a:spcPct val="150000"/>
                  </a:lnSpc>
                  <a:buNone/>
                </a:pPr>
                <a:endParaRPr kumimoji="1" lang="en-US" altLang="ko-KR" sz="2000" dirty="0"/>
              </a:p>
              <a:p>
                <a:pPr marL="0" indent="0">
                  <a:lnSpc>
                    <a:spcPct val="150000"/>
                  </a:lnSpc>
                  <a:buNone/>
                </a:pPr>
                <a:r>
                  <a:rPr kumimoji="1" lang="en-US" altLang="ko-KR" sz="2000" b="0" dirty="0">
                    <a:latin typeface="Times New Roman" panose="02020603050405020304" pitchFamily="18" charset="0"/>
                    <a:cs typeface="Times New Roman" panose="02020603050405020304" pitchFamily="18" charset="0"/>
                  </a:rPr>
                  <a:t>Let.</a:t>
                </a:r>
                <a:r>
                  <a:rPr kumimoji="1" lang="en-US" altLang="ko-KR" sz="2000" b="0" dirty="0"/>
                  <a:t> </a:t>
                </a:r>
                <a14:m>
                  <m:oMath xmlns:m="http://schemas.openxmlformats.org/officeDocument/2006/math">
                    <m:r>
                      <a:rPr kumimoji="1" lang="en-US" altLang="ko-KR" sz="2000" i="1">
                        <a:latin typeface="Cambria Math" panose="02040503050406030204" pitchFamily="18" charset="0"/>
                      </a:rPr>
                      <m:t>𝑆</m:t>
                    </m:r>
                    <m:d>
                      <m:dPr>
                        <m:ctrlPr>
                          <a:rPr kumimoji="1" lang="en-US" altLang="ko-KR" sz="2000" i="1">
                            <a:latin typeface="Cambria Math" panose="02040503050406030204" pitchFamily="18" charset="0"/>
                          </a:rPr>
                        </m:ctrlPr>
                      </m:dPr>
                      <m:e>
                        <m:r>
                          <a:rPr kumimoji="1" lang="en-US" altLang="ko-KR" sz="2000" i="1">
                            <a:latin typeface="Cambria Math" panose="02040503050406030204" pitchFamily="18" charset="0"/>
                          </a:rPr>
                          <m:t>𝑄</m:t>
                        </m:r>
                        <m:r>
                          <a:rPr kumimoji="1" lang="en-US" altLang="ko-KR" sz="2000" i="1">
                            <a:latin typeface="Cambria Math" panose="02040503050406030204" pitchFamily="18" charset="0"/>
                          </a:rPr>
                          <m:t>, </m:t>
                        </m:r>
                        <m:sSup>
                          <m:sSupPr>
                            <m:ctrlPr>
                              <a:rPr kumimoji="1" lang="en-US" altLang="ko-KR" sz="2000" i="1">
                                <a:latin typeface="Cambria Math" panose="02040503050406030204" pitchFamily="18" charset="0"/>
                              </a:rPr>
                            </m:ctrlPr>
                          </m:sSupPr>
                          <m:e>
                            <m:r>
                              <a:rPr kumimoji="1" lang="en-US" altLang="ko-KR" sz="2000" i="1">
                                <a:latin typeface="Cambria Math" panose="02040503050406030204" pitchFamily="18" charset="0"/>
                              </a:rPr>
                              <m:t>𝐾</m:t>
                            </m:r>
                          </m:e>
                          <m:sup>
                            <m:r>
                              <a:rPr kumimoji="1" lang="en-US" altLang="ko-KR" sz="2000" i="1">
                                <a:latin typeface="Cambria Math" panose="02040503050406030204" pitchFamily="18" charset="0"/>
                              </a:rPr>
                              <m:t>𝑇</m:t>
                            </m:r>
                          </m:sup>
                        </m:sSup>
                      </m:e>
                    </m:d>
                    <m:r>
                      <a:rPr kumimoji="1" lang="en-US" altLang="ko-KR" sz="2000" i="1">
                        <a:latin typeface="Cambria Math" panose="02040503050406030204" pitchFamily="18" charset="0"/>
                      </a:rPr>
                      <m:t>≃</m:t>
                    </m:r>
                    <m:r>
                      <a:rPr kumimoji="1" lang="en-US" altLang="ko-KR" sz="2000" i="1">
                        <a:latin typeface="Cambria Math" panose="02040503050406030204" pitchFamily="18" charset="0"/>
                      </a:rPr>
                      <m:t>𝜙</m:t>
                    </m:r>
                    <m:d>
                      <m:dPr>
                        <m:ctrlPr>
                          <a:rPr kumimoji="1" lang="en-US" altLang="ko-KR" sz="2000" i="1">
                            <a:latin typeface="Cambria Math" panose="02040503050406030204" pitchFamily="18" charset="0"/>
                          </a:rPr>
                        </m:ctrlPr>
                      </m:dPr>
                      <m:e>
                        <m:r>
                          <a:rPr kumimoji="1" lang="en-US" altLang="ko-KR" sz="2000" i="1">
                            <a:latin typeface="Cambria Math" panose="02040503050406030204" pitchFamily="18" charset="0"/>
                          </a:rPr>
                          <m:t>𝑄</m:t>
                        </m:r>
                        <m:r>
                          <a:rPr kumimoji="1" lang="en-US" altLang="ko-KR" sz="2000" i="1">
                            <a:latin typeface="Cambria Math" panose="02040503050406030204" pitchFamily="18" charset="0"/>
                          </a:rPr>
                          <m:t>, </m:t>
                        </m:r>
                        <m:sSup>
                          <m:sSupPr>
                            <m:ctrlPr>
                              <a:rPr kumimoji="1" lang="en-US" altLang="ko-KR" sz="2000" i="1">
                                <a:latin typeface="Cambria Math" panose="02040503050406030204" pitchFamily="18" charset="0"/>
                              </a:rPr>
                            </m:ctrlPr>
                          </m:sSupPr>
                          <m:e>
                            <m:r>
                              <a:rPr kumimoji="1" lang="en-US" altLang="ko-KR" sz="2000" i="1">
                                <a:latin typeface="Cambria Math" panose="02040503050406030204" pitchFamily="18" charset="0"/>
                              </a:rPr>
                              <m:t>𝐾</m:t>
                            </m:r>
                          </m:e>
                          <m:sup>
                            <m:r>
                              <a:rPr kumimoji="1" lang="en-US" altLang="ko-KR" sz="2000" i="1">
                                <a:latin typeface="Cambria Math" panose="02040503050406030204" pitchFamily="18" charset="0"/>
                              </a:rPr>
                              <m:t>𝑇</m:t>
                            </m:r>
                          </m:sup>
                        </m:sSup>
                      </m:e>
                    </m:d>
                  </m:oMath>
                </a14:m>
                <a:r>
                  <a:rPr kumimoji="1" lang="en-US" altLang="ko-KR" sz="2000" dirty="0"/>
                  <a:t>      </a:t>
                </a:r>
                <a14:m>
                  <m:oMath xmlns:m="http://schemas.openxmlformats.org/officeDocument/2006/math">
                    <m:r>
                      <a:rPr kumimoji="1" lang="en-US" altLang="ko-KR" sz="2000" i="1">
                        <a:solidFill>
                          <a:srgbClr val="FF0000"/>
                        </a:solidFill>
                        <a:latin typeface="Cambria Math" panose="02040503050406030204" pitchFamily="18" charset="0"/>
                      </a:rPr>
                      <m:t>𝜙</m:t>
                    </m:r>
                    <m:d>
                      <m:dPr>
                        <m:ctrlPr>
                          <a:rPr kumimoji="1" lang="en-US" altLang="ko-KR" sz="2000" i="1">
                            <a:solidFill>
                              <a:srgbClr val="FF0000"/>
                            </a:solidFill>
                            <a:latin typeface="Cambria Math" panose="02040503050406030204" pitchFamily="18" charset="0"/>
                          </a:rPr>
                        </m:ctrlPr>
                      </m:dPr>
                      <m:e>
                        <m:r>
                          <a:rPr kumimoji="1" lang="en-US" altLang="ko-KR" sz="2000" i="1">
                            <a:solidFill>
                              <a:srgbClr val="FF0000"/>
                            </a:solidFill>
                            <a:latin typeface="Cambria Math" panose="02040503050406030204" pitchFamily="18" charset="0"/>
                          </a:rPr>
                          <m:t>⋅</m:t>
                        </m:r>
                      </m:e>
                    </m:d>
                  </m:oMath>
                </a14:m>
                <a:r>
                  <a:rPr kumimoji="1" lang="en-US" altLang="ko-KR" sz="2000" i="1" dirty="0">
                    <a:solidFill>
                      <a:srgbClr val="FF0000"/>
                    </a:solidFill>
                    <a:latin typeface="Times New Roman" panose="02020603050405020304" pitchFamily="18" charset="0"/>
                    <a:cs typeface="Times New Roman" panose="02020603050405020304" pitchFamily="18" charset="0"/>
                  </a:rPr>
                  <a:t> </a:t>
                </a:r>
                <a:r>
                  <a:rPr kumimoji="1" lang="en-US" altLang="ko-KR" sz="2000" dirty="0">
                    <a:solidFill>
                      <a:srgbClr val="FF0000"/>
                    </a:solidFill>
                    <a:latin typeface="Times New Roman" panose="02020603050405020304" pitchFamily="18" charset="0"/>
                    <a:cs typeface="Times New Roman" panose="02020603050405020304" pitchFamily="18" charset="0"/>
                  </a:rPr>
                  <a:t>must be decomposable</a:t>
                </a:r>
              </a:p>
              <a:p>
                <a:pPr marL="0" indent="0">
                  <a:lnSpc>
                    <a:spcPct val="150000"/>
                  </a:lnSpc>
                  <a:buNone/>
                </a:pPr>
                <a14:m>
                  <m:oMath xmlns:m="http://schemas.openxmlformats.org/officeDocument/2006/math">
                    <m:r>
                      <a:rPr kumimoji="1" lang="en-US" altLang="ko-KR" sz="2000" i="1">
                        <a:latin typeface="Cambria Math" panose="02040503050406030204" pitchFamily="18" charset="0"/>
                      </a:rPr>
                      <m:t>𝑆</m:t>
                    </m:r>
                    <m:d>
                      <m:dPr>
                        <m:ctrlPr>
                          <a:rPr kumimoji="1" lang="en-US" altLang="ko-KR" sz="2000" i="1">
                            <a:latin typeface="Cambria Math" panose="02040503050406030204" pitchFamily="18" charset="0"/>
                          </a:rPr>
                        </m:ctrlPr>
                      </m:dPr>
                      <m:e>
                        <m:r>
                          <a:rPr kumimoji="1" lang="en-US" altLang="ko-KR" sz="2000" i="1">
                            <a:latin typeface="Cambria Math" panose="02040503050406030204" pitchFamily="18" charset="0"/>
                          </a:rPr>
                          <m:t>𝑄</m:t>
                        </m:r>
                        <m:r>
                          <a:rPr kumimoji="1" lang="en-US" altLang="ko-KR" sz="2000" i="1">
                            <a:latin typeface="Cambria Math" panose="02040503050406030204" pitchFamily="18" charset="0"/>
                          </a:rPr>
                          <m:t>, </m:t>
                        </m:r>
                        <m:sSup>
                          <m:sSupPr>
                            <m:ctrlPr>
                              <a:rPr kumimoji="1" lang="en-US" altLang="ko-KR" sz="2000" i="1">
                                <a:latin typeface="Cambria Math" panose="02040503050406030204" pitchFamily="18" charset="0"/>
                              </a:rPr>
                            </m:ctrlPr>
                          </m:sSupPr>
                          <m:e>
                            <m:r>
                              <a:rPr kumimoji="1" lang="en-US" altLang="ko-KR" sz="2000" i="1">
                                <a:latin typeface="Cambria Math" panose="02040503050406030204" pitchFamily="18" charset="0"/>
                              </a:rPr>
                              <m:t>𝐾</m:t>
                            </m:r>
                          </m:e>
                          <m:sup>
                            <m:r>
                              <a:rPr kumimoji="1" lang="en-US" altLang="ko-KR" sz="2000" i="1">
                                <a:latin typeface="Cambria Math" panose="02040503050406030204" pitchFamily="18" charset="0"/>
                              </a:rPr>
                              <m:t>𝑇</m:t>
                            </m:r>
                          </m:sup>
                        </m:sSup>
                      </m:e>
                    </m:d>
                    <m:r>
                      <a:rPr kumimoji="1" lang="en-US" altLang="ko-KR" sz="2000" b="0" i="1" smtClean="0">
                        <a:latin typeface="Cambria Math" panose="02040503050406030204" pitchFamily="18" charset="0"/>
                      </a:rPr>
                      <m:t>𝑉</m:t>
                    </m:r>
                    <m:r>
                      <a:rPr kumimoji="1" lang="en-US" altLang="ko-KR" sz="2000" b="0" i="1" smtClean="0">
                        <a:latin typeface="Cambria Math" panose="02040503050406030204" pitchFamily="18" charset="0"/>
                      </a:rPr>
                      <m:t>≃</m:t>
                    </m:r>
                    <m:r>
                      <a:rPr kumimoji="1" lang="en-US" altLang="ko-KR" sz="2000" b="0" i="1" smtClean="0">
                        <a:highlight>
                          <a:srgbClr val="FFFF00"/>
                        </a:highlight>
                        <a:latin typeface="Cambria Math" panose="02040503050406030204" pitchFamily="18" charset="0"/>
                      </a:rPr>
                      <m:t>𝜙</m:t>
                    </m:r>
                    <m:d>
                      <m:dPr>
                        <m:ctrlPr>
                          <a:rPr kumimoji="1" lang="en-US" altLang="ko-KR" sz="2000" b="0" i="1" smtClean="0">
                            <a:highlight>
                              <a:srgbClr val="FFFF00"/>
                            </a:highlight>
                            <a:latin typeface="Cambria Math" panose="02040503050406030204" pitchFamily="18" charset="0"/>
                          </a:rPr>
                        </m:ctrlPr>
                      </m:dPr>
                      <m:e>
                        <m:r>
                          <a:rPr kumimoji="1" lang="en-US" altLang="ko-KR" sz="2000" b="0" i="1" smtClean="0">
                            <a:highlight>
                              <a:srgbClr val="FFFF00"/>
                            </a:highlight>
                            <a:latin typeface="Cambria Math" panose="02040503050406030204" pitchFamily="18" charset="0"/>
                          </a:rPr>
                          <m:t>𝑄</m:t>
                        </m:r>
                      </m:e>
                    </m:d>
                    <m:r>
                      <a:rPr kumimoji="1" lang="en-US" altLang="ko-KR" sz="2000" b="0" i="1" smtClean="0">
                        <a:highlight>
                          <a:srgbClr val="FFFF00"/>
                        </a:highlight>
                        <a:latin typeface="Cambria Math" panose="02040503050406030204" pitchFamily="18" charset="0"/>
                      </a:rPr>
                      <m:t>𝜙</m:t>
                    </m:r>
                    <m:d>
                      <m:dPr>
                        <m:ctrlPr>
                          <a:rPr kumimoji="1" lang="en-US" altLang="ko-KR" sz="2000" b="0" i="1" smtClean="0">
                            <a:highlight>
                              <a:srgbClr val="FFFF00"/>
                            </a:highlight>
                            <a:latin typeface="Cambria Math" panose="02040503050406030204" pitchFamily="18" charset="0"/>
                          </a:rPr>
                        </m:ctrlPr>
                      </m:dPr>
                      <m:e>
                        <m:sSup>
                          <m:sSupPr>
                            <m:ctrlPr>
                              <a:rPr kumimoji="1" lang="en-US" altLang="ko-KR" sz="2000" b="0" i="1" smtClean="0">
                                <a:highlight>
                                  <a:srgbClr val="FFFF00"/>
                                </a:highlight>
                                <a:latin typeface="Cambria Math" panose="02040503050406030204" pitchFamily="18" charset="0"/>
                              </a:rPr>
                            </m:ctrlPr>
                          </m:sSupPr>
                          <m:e>
                            <m:r>
                              <a:rPr kumimoji="1" lang="en-US" altLang="ko-KR" sz="2000" b="0" i="1" smtClean="0">
                                <a:highlight>
                                  <a:srgbClr val="FFFF00"/>
                                </a:highlight>
                                <a:latin typeface="Cambria Math" panose="02040503050406030204" pitchFamily="18" charset="0"/>
                              </a:rPr>
                              <m:t>𝐾</m:t>
                            </m:r>
                          </m:e>
                          <m:sup>
                            <m:r>
                              <a:rPr kumimoji="1" lang="en-US" altLang="ko-KR" sz="2000" b="0" i="1" smtClean="0">
                                <a:highlight>
                                  <a:srgbClr val="FFFF00"/>
                                </a:highlight>
                                <a:latin typeface="Cambria Math" panose="02040503050406030204" pitchFamily="18" charset="0"/>
                              </a:rPr>
                              <m:t>𝑇</m:t>
                            </m:r>
                          </m:sup>
                        </m:sSup>
                      </m:e>
                    </m:d>
                    <m:r>
                      <a:rPr kumimoji="1" lang="en-US" altLang="ko-KR" sz="2000" b="0" i="1" smtClean="0">
                        <a:latin typeface="Cambria Math" panose="02040503050406030204" pitchFamily="18" charset="0"/>
                      </a:rPr>
                      <m:t>𝑉</m:t>
                    </m:r>
                  </m:oMath>
                </a14:m>
                <a:r>
                  <a:rPr kumimoji="1" lang="en-US" altLang="ko-KR" sz="2000" b="0" i="1" dirty="0">
                    <a:latin typeface="Cambria Math" panose="02040503050406030204" pitchFamily="18" charset="0"/>
                  </a:rPr>
                  <a:t>        </a:t>
                </a:r>
                <a14:m>
                  <m:oMath xmlns:m="http://schemas.openxmlformats.org/officeDocument/2006/math">
                    <m:r>
                      <a:rPr kumimoji="1" lang="en-US" altLang="ko-KR" sz="2000" i="1" dirty="0">
                        <a:solidFill>
                          <a:srgbClr val="FF0000"/>
                        </a:solidFill>
                        <a:latin typeface="Cambria Math" panose="02040503050406030204" pitchFamily="18" charset="0"/>
                      </a:rPr>
                      <m:t>𝜙</m:t>
                    </m:r>
                    <m:d>
                      <m:dPr>
                        <m:ctrlPr>
                          <a:rPr kumimoji="1" lang="en-US" altLang="ko-KR" sz="2000" i="1" dirty="0">
                            <a:solidFill>
                              <a:srgbClr val="FF0000"/>
                            </a:solidFill>
                            <a:latin typeface="Cambria Math" panose="02040503050406030204" pitchFamily="18" charset="0"/>
                          </a:rPr>
                        </m:ctrlPr>
                      </m:dPr>
                      <m:e>
                        <m:r>
                          <a:rPr kumimoji="1" lang="en-US" altLang="ko-KR" sz="2000" i="1" dirty="0">
                            <a:solidFill>
                              <a:srgbClr val="FF0000"/>
                            </a:solidFill>
                            <a:latin typeface="Cambria Math" panose="02040503050406030204" pitchFamily="18" charset="0"/>
                          </a:rPr>
                          <m:t>⋅</m:t>
                        </m:r>
                      </m:e>
                    </m:d>
                  </m:oMath>
                </a14:m>
                <a:r>
                  <a:rPr kumimoji="1" lang="en-US" altLang="ko-KR" sz="2000" dirty="0">
                    <a:latin typeface="Times New Roman" panose="02020603050405020304" pitchFamily="18" charset="0"/>
                    <a:cs typeface="Times New Roman" panose="02020603050405020304" pitchFamily="18" charset="0"/>
                  </a:rPr>
                  <a:t> </a:t>
                </a:r>
                <a:r>
                  <a:rPr kumimoji="1" lang="en-US" altLang="ko-KR" sz="2000" dirty="0">
                    <a:solidFill>
                      <a:srgbClr val="FF0000"/>
                    </a:solidFill>
                    <a:latin typeface="Times New Roman" panose="02020603050405020304" pitchFamily="18" charset="0"/>
                    <a:cs typeface="Times New Roman" panose="02020603050405020304" pitchFamily="18" charset="0"/>
                  </a:rPr>
                  <a:t>is called kernel function</a:t>
                </a:r>
              </a:p>
              <a:p>
                <a:pPr marL="0" indent="0">
                  <a:lnSpc>
                    <a:spcPct val="150000"/>
                  </a:lnSpc>
                  <a:buNone/>
                </a:pPr>
                <a14:m>
                  <m:oMathPara xmlns:m="http://schemas.openxmlformats.org/officeDocument/2006/math">
                    <m:oMathParaPr>
                      <m:jc m:val="left"/>
                    </m:oMathParaPr>
                    <m:oMath xmlns:m="http://schemas.openxmlformats.org/officeDocument/2006/math">
                      <m:d>
                        <m:dPr>
                          <m:begChr m:val="{"/>
                          <m:endChr m:val="}"/>
                          <m:ctrlPr>
                            <a:rPr kumimoji="1" lang="en-US" altLang="ko-KR" sz="2000" b="0" i="1" smtClean="0">
                              <a:solidFill>
                                <a:schemeClr val="tx1"/>
                              </a:solidFill>
                              <a:latin typeface="Cambria Math" panose="02040503050406030204" pitchFamily="18" charset="0"/>
                            </a:rPr>
                          </m:ctrlPr>
                        </m:dPr>
                        <m:e>
                          <m:r>
                            <a:rPr kumimoji="1" lang="en-US" altLang="ko-KR" sz="2000" b="0" i="1" smtClean="0">
                              <a:solidFill>
                                <a:schemeClr val="tx1"/>
                              </a:solidFill>
                              <a:latin typeface="Cambria Math" panose="02040503050406030204" pitchFamily="18" charset="0"/>
                            </a:rPr>
                            <m:t>𝜙</m:t>
                          </m:r>
                          <m:d>
                            <m:dPr>
                              <m:ctrlPr>
                                <a:rPr kumimoji="1" lang="en-US" altLang="ko-KR" sz="2000" b="0" i="1" smtClean="0">
                                  <a:solidFill>
                                    <a:schemeClr val="tx1"/>
                                  </a:solidFill>
                                  <a:latin typeface="Cambria Math" panose="02040503050406030204" pitchFamily="18" charset="0"/>
                                </a:rPr>
                              </m:ctrlPr>
                            </m:dPr>
                            <m:e>
                              <m:r>
                                <a:rPr kumimoji="1" lang="en-US" altLang="ko-KR" sz="2000" b="0" i="1" smtClean="0">
                                  <a:solidFill>
                                    <a:schemeClr val="tx1"/>
                                  </a:solidFill>
                                  <a:latin typeface="Cambria Math" panose="02040503050406030204" pitchFamily="18" charset="0"/>
                                </a:rPr>
                                <m:t>𝑄</m:t>
                              </m:r>
                            </m:e>
                          </m:d>
                          <m:r>
                            <a:rPr kumimoji="1" lang="en-US" altLang="ko-KR" sz="2000" b="0" i="1" smtClean="0">
                              <a:solidFill>
                                <a:schemeClr val="tx1"/>
                              </a:solidFill>
                              <a:latin typeface="Cambria Math" panose="02040503050406030204" pitchFamily="18" charset="0"/>
                            </a:rPr>
                            <m:t>𝜙</m:t>
                          </m:r>
                          <m:d>
                            <m:dPr>
                              <m:ctrlPr>
                                <a:rPr kumimoji="1" lang="en-US" altLang="ko-KR" sz="2000" b="0" i="1" smtClean="0">
                                  <a:solidFill>
                                    <a:schemeClr val="tx1"/>
                                  </a:solidFill>
                                  <a:latin typeface="Cambria Math" panose="02040503050406030204" pitchFamily="18" charset="0"/>
                                </a:rPr>
                              </m:ctrlPr>
                            </m:dPr>
                            <m:e>
                              <m:sSup>
                                <m:sSupPr>
                                  <m:ctrlPr>
                                    <a:rPr kumimoji="1" lang="en-US" altLang="ko-KR" sz="2000" b="0" i="1" smtClean="0">
                                      <a:solidFill>
                                        <a:schemeClr val="tx1"/>
                                      </a:solidFill>
                                      <a:latin typeface="Cambria Math" panose="02040503050406030204" pitchFamily="18" charset="0"/>
                                    </a:rPr>
                                  </m:ctrlPr>
                                </m:sSupPr>
                                <m:e>
                                  <m:r>
                                    <a:rPr kumimoji="1" lang="en-US" altLang="ko-KR" sz="2000" b="0" i="1" smtClean="0">
                                      <a:solidFill>
                                        <a:schemeClr val="tx1"/>
                                      </a:solidFill>
                                      <a:latin typeface="Cambria Math" panose="02040503050406030204" pitchFamily="18" charset="0"/>
                                    </a:rPr>
                                    <m:t>𝐾</m:t>
                                  </m:r>
                                </m:e>
                                <m:sup>
                                  <m:r>
                                    <a:rPr kumimoji="1" lang="en-US" altLang="ko-KR" sz="2000" b="0" i="1" smtClean="0">
                                      <a:solidFill>
                                        <a:schemeClr val="tx1"/>
                                      </a:solidFill>
                                      <a:latin typeface="Cambria Math" panose="02040503050406030204" pitchFamily="18" charset="0"/>
                                    </a:rPr>
                                    <m:t>𝑇</m:t>
                                  </m:r>
                                </m:sup>
                              </m:sSup>
                            </m:e>
                          </m:d>
                        </m:e>
                      </m:d>
                      <m:r>
                        <a:rPr kumimoji="1" lang="en-US" altLang="ko-KR" sz="2000" b="0" i="1" smtClean="0">
                          <a:solidFill>
                            <a:schemeClr val="tx1"/>
                          </a:solidFill>
                          <a:latin typeface="Cambria Math" panose="02040503050406030204" pitchFamily="18" charset="0"/>
                        </a:rPr>
                        <m:t>𝑉</m:t>
                      </m:r>
                    </m:oMath>
                  </m:oMathPara>
                </a14:m>
                <a:endParaRPr kumimoji="1" lang="en-US" altLang="ko-KR" sz="2000" b="0" dirty="0">
                  <a:solidFill>
                    <a:schemeClr val="tx1"/>
                  </a:solidFill>
                </a:endParaRPr>
              </a:p>
              <a:p>
                <a:pPr marL="0" indent="0">
                  <a:lnSpc>
                    <a:spcPct val="150000"/>
                  </a:lnSpc>
                  <a:buNone/>
                </a:pPr>
                <a14:m>
                  <m:oMathPara xmlns:m="http://schemas.openxmlformats.org/officeDocument/2006/math">
                    <m:oMathParaPr>
                      <m:jc m:val="left"/>
                    </m:oMathParaPr>
                    <m:oMath xmlns:m="http://schemas.openxmlformats.org/officeDocument/2006/math">
                      <m:r>
                        <a:rPr kumimoji="1" lang="en-US" altLang="ko-KR" sz="2000" b="0" i="1" smtClean="0">
                          <a:solidFill>
                            <a:schemeClr val="tx1"/>
                          </a:solidFill>
                          <a:latin typeface="Cambria Math" panose="02040503050406030204" pitchFamily="18" charset="0"/>
                        </a:rPr>
                        <m:t>=</m:t>
                      </m:r>
                      <m:r>
                        <a:rPr kumimoji="1" lang="en-US" altLang="ko-KR" sz="2000" b="0" i="1" smtClean="0">
                          <a:solidFill>
                            <a:schemeClr val="tx1"/>
                          </a:solidFill>
                          <a:latin typeface="Cambria Math" panose="02040503050406030204" pitchFamily="18" charset="0"/>
                        </a:rPr>
                        <m:t>𝜙</m:t>
                      </m:r>
                      <m:d>
                        <m:dPr>
                          <m:ctrlPr>
                            <a:rPr kumimoji="1" lang="en-US" altLang="ko-KR" sz="2000" b="0" i="1" smtClean="0">
                              <a:solidFill>
                                <a:schemeClr val="tx1"/>
                              </a:solidFill>
                              <a:latin typeface="Cambria Math" panose="02040503050406030204" pitchFamily="18" charset="0"/>
                            </a:rPr>
                          </m:ctrlPr>
                        </m:dPr>
                        <m:e>
                          <m:r>
                            <a:rPr kumimoji="1" lang="en-US" altLang="ko-KR" sz="2000" b="0" i="1" smtClean="0">
                              <a:solidFill>
                                <a:schemeClr val="tx1"/>
                              </a:solidFill>
                              <a:latin typeface="Cambria Math" panose="02040503050406030204" pitchFamily="18" charset="0"/>
                            </a:rPr>
                            <m:t>𝑄</m:t>
                          </m:r>
                        </m:e>
                      </m:d>
                      <m:r>
                        <a:rPr kumimoji="1" lang="en-US" altLang="ko-KR" sz="2000" b="0" i="1" smtClean="0">
                          <a:solidFill>
                            <a:schemeClr val="tx1"/>
                          </a:solidFill>
                          <a:latin typeface="Cambria Math" panose="02040503050406030204" pitchFamily="18" charset="0"/>
                        </a:rPr>
                        <m:t>{</m:t>
                      </m:r>
                      <m:r>
                        <a:rPr kumimoji="1" lang="en-US" altLang="ko-KR" sz="2000" i="1">
                          <a:solidFill>
                            <a:schemeClr val="tx1"/>
                          </a:solidFill>
                          <a:latin typeface="Cambria Math" panose="02040503050406030204" pitchFamily="18" charset="0"/>
                        </a:rPr>
                        <m:t>𝜙</m:t>
                      </m:r>
                      <m:d>
                        <m:dPr>
                          <m:ctrlPr>
                            <a:rPr kumimoji="1" lang="en-US" altLang="ko-KR" sz="2000" i="1">
                              <a:solidFill>
                                <a:schemeClr val="tx1"/>
                              </a:solidFill>
                              <a:latin typeface="Cambria Math" panose="02040503050406030204" pitchFamily="18" charset="0"/>
                            </a:rPr>
                          </m:ctrlPr>
                        </m:dPr>
                        <m:e>
                          <m:sSup>
                            <m:sSupPr>
                              <m:ctrlPr>
                                <a:rPr kumimoji="1" lang="en-US" altLang="ko-KR" sz="2000" i="1">
                                  <a:solidFill>
                                    <a:schemeClr val="tx1"/>
                                  </a:solidFill>
                                  <a:latin typeface="Cambria Math" panose="02040503050406030204" pitchFamily="18" charset="0"/>
                                </a:rPr>
                              </m:ctrlPr>
                            </m:sSupPr>
                            <m:e>
                              <m:r>
                                <a:rPr kumimoji="1" lang="en-US" altLang="ko-KR" sz="2000" i="1">
                                  <a:solidFill>
                                    <a:schemeClr val="tx1"/>
                                  </a:solidFill>
                                  <a:latin typeface="Cambria Math" panose="02040503050406030204" pitchFamily="18" charset="0"/>
                                </a:rPr>
                                <m:t>𝐾</m:t>
                              </m:r>
                            </m:e>
                            <m:sup>
                              <m:r>
                                <a:rPr kumimoji="1" lang="en-US" altLang="ko-KR" sz="2000" i="1">
                                  <a:solidFill>
                                    <a:schemeClr val="tx1"/>
                                  </a:solidFill>
                                  <a:latin typeface="Cambria Math" panose="02040503050406030204" pitchFamily="18" charset="0"/>
                                </a:rPr>
                                <m:t>𝑇</m:t>
                              </m:r>
                            </m:sup>
                          </m:sSup>
                        </m:e>
                      </m:d>
                      <m:r>
                        <a:rPr kumimoji="1" lang="en-US" altLang="ko-KR" sz="2000" b="0" i="1" smtClean="0">
                          <a:solidFill>
                            <a:schemeClr val="tx1"/>
                          </a:solidFill>
                          <a:latin typeface="Cambria Math" panose="02040503050406030204" pitchFamily="18" charset="0"/>
                        </a:rPr>
                        <m:t>𝑉</m:t>
                      </m:r>
                      <m:r>
                        <a:rPr kumimoji="1" lang="en-US" altLang="ko-KR" sz="2000" b="0" i="1" smtClean="0">
                          <a:solidFill>
                            <a:schemeClr val="tx1"/>
                          </a:solidFill>
                          <a:latin typeface="Cambria Math" panose="02040503050406030204" pitchFamily="18" charset="0"/>
                        </a:rPr>
                        <m:t>}</m:t>
                      </m:r>
                    </m:oMath>
                  </m:oMathPara>
                </a14:m>
                <a:endParaRPr kumimoji="1" lang="en-US" altLang="ko-KR" sz="2000" dirty="0">
                  <a:solidFill>
                    <a:srgbClr val="FF0000"/>
                  </a:solidFill>
                </a:endParaRPr>
              </a:p>
            </p:txBody>
          </p:sp>
        </mc:Choice>
        <mc:Fallback xmlns="">
          <p:sp>
            <p:nvSpPr>
              <p:cNvPr id="10" name="내용 개체 틀 2">
                <a:extLst>
                  <a:ext uri="{FF2B5EF4-FFF2-40B4-BE49-F238E27FC236}">
                    <a16:creationId xmlns:a16="http://schemas.microsoft.com/office/drawing/2014/main" id="{9D3F2193-CE2D-063E-68A7-32C06A2F9145}"/>
                  </a:ext>
                </a:extLst>
              </p:cNvPr>
              <p:cNvSpPr txBox="1">
                <a:spLocks noRot="1" noChangeAspect="1" noMove="1" noResize="1" noEditPoints="1" noAdjustHandles="1" noChangeArrowheads="1" noChangeShapeType="1" noTextEdit="1"/>
              </p:cNvSpPr>
              <p:nvPr/>
            </p:nvSpPr>
            <p:spPr>
              <a:xfrm>
                <a:off x="5562600" y="1943101"/>
                <a:ext cx="6520452" cy="4446814"/>
              </a:xfrm>
              <a:prstGeom prst="rect">
                <a:avLst/>
              </a:prstGeom>
              <a:blipFill>
                <a:blip r:embed="rId5"/>
                <a:stretch>
                  <a:fillRect l="-1167" r="-389"/>
                </a:stretch>
              </a:blipFill>
            </p:spPr>
            <p:txBody>
              <a:bodyPr/>
              <a:lstStyle/>
              <a:p>
                <a:r>
                  <a:rPr lang="ko-KR" altLang="en-US">
                    <a:noFill/>
                  </a:rPr>
                  <a:t> </a:t>
                </a:r>
              </a:p>
            </p:txBody>
          </p:sp>
        </mc:Fallback>
      </mc:AlternateContent>
    </p:spTree>
    <p:extLst>
      <p:ext uri="{BB962C8B-B14F-4D97-AF65-F5344CB8AC3E}">
        <p14:creationId xmlns:p14="http://schemas.microsoft.com/office/powerpoint/2010/main" val="24413512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DB0FF9-C2BE-912A-5FF4-A21DDF3FCEA4}"/>
            </a:ext>
          </a:extLst>
        </p:cNvPr>
        <p:cNvGrpSpPr/>
        <p:nvPr/>
      </p:nvGrpSpPr>
      <p:grpSpPr>
        <a:xfrm>
          <a:off x="0" y="0"/>
          <a:ext cx="0" cy="0"/>
          <a:chOff x="0" y="0"/>
          <a:chExt cx="0" cy="0"/>
        </a:xfrm>
      </p:grpSpPr>
      <p:sp>
        <p:nvSpPr>
          <p:cNvPr id="27" name="제목 26">
            <a:extLst>
              <a:ext uri="{FF2B5EF4-FFF2-40B4-BE49-F238E27FC236}">
                <a16:creationId xmlns:a16="http://schemas.microsoft.com/office/drawing/2014/main" id="{5530C659-A55B-5E8A-EA29-EF6F52B9FB56}"/>
              </a:ext>
            </a:extLst>
          </p:cNvPr>
          <p:cNvSpPr>
            <a:spLocks noGrp="1"/>
          </p:cNvSpPr>
          <p:nvPr>
            <p:ph type="title"/>
          </p:nvPr>
        </p:nvSpPr>
        <p:spPr/>
        <p:txBody>
          <a:bodyPr/>
          <a:lstStyle/>
          <a:p>
            <a:r>
              <a:rPr kumimoji="1" lang="en-US" altLang="ko-KR" sz="2800" b="1" dirty="0"/>
              <a:t>3. YOLOv12</a:t>
            </a:r>
            <a:endParaRPr lang="ko-KR" altLang="en-US" dirty="0"/>
          </a:p>
        </p:txBody>
      </p:sp>
      <p:sp>
        <p:nvSpPr>
          <p:cNvPr id="47" name="내용 개체 틀 2">
            <a:extLst>
              <a:ext uri="{FF2B5EF4-FFF2-40B4-BE49-F238E27FC236}">
                <a16:creationId xmlns:a16="http://schemas.microsoft.com/office/drawing/2014/main" id="{83B4B14E-70DF-BC1F-7F95-BD4CA481E226}"/>
              </a:ext>
            </a:extLst>
          </p:cNvPr>
          <p:cNvSpPr txBox="1">
            <a:spLocks/>
          </p:cNvSpPr>
          <p:nvPr/>
        </p:nvSpPr>
        <p:spPr>
          <a:xfrm>
            <a:off x="117514" y="852966"/>
            <a:ext cx="11952383" cy="5438047"/>
          </a:xfrm>
          <a:prstGeom prst="rect">
            <a:avLst/>
          </a:prstGeom>
        </p:spPr>
        <p:txBody>
          <a:bodyPr vert="horz" lIns="91440" tIns="45720" rIns="91440" bIns="45720" rtlCol="0">
            <a:normAutofit/>
          </a:bodyPr>
          <a:lstStyle>
            <a:lvl1pPr marL="228600" indent="-228600" algn="l" defTabSz="914400" rtl="0" eaLnBrk="1" latinLnBrk="1"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15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endParaRPr lang="en" altLang="ko-KR" sz="2000" dirty="0"/>
          </a:p>
          <a:p>
            <a:pPr>
              <a:lnSpc>
                <a:spcPct val="150000"/>
              </a:lnSpc>
            </a:pPr>
            <a:endParaRPr kumimoji="1" lang="en" altLang="ko-KR" sz="2000" b="1" dirty="0"/>
          </a:p>
          <a:p>
            <a:pPr>
              <a:lnSpc>
                <a:spcPct val="150000"/>
              </a:lnSpc>
            </a:pPr>
            <a:endParaRPr kumimoji="1" lang="en" altLang="ko-KR" sz="2000" b="1" dirty="0"/>
          </a:p>
          <a:p>
            <a:pPr>
              <a:lnSpc>
                <a:spcPct val="150000"/>
              </a:lnSpc>
            </a:pPr>
            <a:endParaRPr kumimoji="1" lang="en" altLang="ko-KR" sz="2000" b="1" dirty="0"/>
          </a:p>
          <a:p>
            <a:pPr>
              <a:lnSpc>
                <a:spcPct val="150000"/>
              </a:lnSpc>
            </a:pPr>
            <a:endParaRPr kumimoji="1" lang="en" altLang="ko-KR" sz="2000" b="1" dirty="0"/>
          </a:p>
          <a:p>
            <a:pPr>
              <a:lnSpc>
                <a:spcPct val="150000"/>
              </a:lnSpc>
            </a:pPr>
            <a:endParaRPr kumimoji="1" lang="en" altLang="ko-KR" sz="2000" b="1" dirty="0"/>
          </a:p>
          <a:p>
            <a:pPr>
              <a:lnSpc>
                <a:spcPct val="150000"/>
              </a:lnSpc>
            </a:pPr>
            <a:endParaRPr kumimoji="1" lang="en" altLang="ko-KR" sz="2000" b="1" dirty="0"/>
          </a:p>
        </p:txBody>
      </p:sp>
      <p:sp>
        <p:nvSpPr>
          <p:cNvPr id="48" name="TextBox 47">
            <a:extLst>
              <a:ext uri="{FF2B5EF4-FFF2-40B4-BE49-F238E27FC236}">
                <a16:creationId xmlns:a16="http://schemas.microsoft.com/office/drawing/2014/main" id="{DCE97196-B114-BCC9-0D70-47CB5DABF27B}"/>
              </a:ext>
            </a:extLst>
          </p:cNvPr>
          <p:cNvSpPr txBox="1"/>
          <p:nvPr/>
        </p:nvSpPr>
        <p:spPr>
          <a:xfrm>
            <a:off x="184193" y="843588"/>
            <a:ext cx="11952383" cy="2062872"/>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kumimoji="1" lang="ko-KR" altLang="en-US" sz="2200" b="0" dirty="0">
                <a:latin typeface="Times New Roman" panose="02020603050405020304" pitchFamily="18" charset="0"/>
                <a:cs typeface="Times New Roman" panose="02020603050405020304" pitchFamily="18" charset="0"/>
              </a:rPr>
              <a:t>그러면 </a:t>
            </a:r>
            <a:r>
              <a:rPr kumimoji="1" lang="en-US" altLang="ko-KR" sz="2200" b="0" dirty="0">
                <a:latin typeface="Times New Roman" panose="02020603050405020304" pitchFamily="18" charset="0"/>
                <a:cs typeface="Times New Roman" panose="02020603050405020304" pitchFamily="18" charset="0"/>
              </a:rPr>
              <a:t>vanilla attention</a:t>
            </a:r>
            <a:r>
              <a:rPr kumimoji="1" lang="ko-KR" altLang="en-US" sz="2200" b="0" dirty="0">
                <a:latin typeface="Times New Roman" panose="02020603050405020304" pitchFamily="18" charset="0"/>
                <a:cs typeface="Times New Roman" panose="02020603050405020304" pitchFamily="18" charset="0"/>
              </a:rPr>
              <a:t>의 </a:t>
            </a:r>
            <a:r>
              <a:rPr kumimoji="1" lang="en-US" altLang="ko-KR" sz="2200" b="0" dirty="0">
                <a:latin typeface="Times New Roman" panose="02020603050405020304" pitchFamily="18" charset="0"/>
                <a:cs typeface="Times New Roman" panose="02020603050405020304" pitchFamily="18" charset="0"/>
              </a:rPr>
              <a:t>computational cost</a:t>
            </a:r>
            <a:r>
              <a:rPr kumimoji="1" lang="ko-KR" altLang="en-US" sz="2200" b="0" dirty="0" err="1">
                <a:latin typeface="Times New Roman" panose="02020603050405020304" pitchFamily="18" charset="0"/>
                <a:cs typeface="Times New Roman" panose="02020603050405020304" pitchFamily="18" charset="0"/>
              </a:rPr>
              <a:t>를</a:t>
            </a:r>
            <a:r>
              <a:rPr kumimoji="1" lang="ko-KR" altLang="en-US" sz="2200" b="0" dirty="0">
                <a:latin typeface="Times New Roman" panose="02020603050405020304" pitchFamily="18" charset="0"/>
                <a:cs typeface="Times New Roman" panose="02020603050405020304" pitchFamily="18" charset="0"/>
              </a:rPr>
              <a:t> 어떻게 줄일 수 있을까</a:t>
            </a:r>
            <a:r>
              <a:rPr kumimoji="1" lang="en-US" altLang="ko-KR" sz="2200" b="0" dirty="0">
                <a:latin typeface="Times New Roman" panose="02020603050405020304" pitchFamily="18" charset="0"/>
                <a:cs typeface="Times New Roman" panose="02020603050405020304" pitchFamily="18" charset="0"/>
              </a:rPr>
              <a:t>?</a:t>
            </a:r>
          </a:p>
          <a:p>
            <a:pPr marL="800100" lvl="1" indent="-342900">
              <a:lnSpc>
                <a:spcPct val="150000"/>
              </a:lnSpc>
              <a:buFont typeface="Arial" panose="020B0604020202020204" pitchFamily="34" charset="0"/>
              <a:buChar char="•"/>
            </a:pPr>
            <a:r>
              <a:rPr kumimoji="1" lang="ko-KR" altLang="en-US" sz="2200" b="1" dirty="0">
                <a:latin typeface="Times New Roman" panose="02020603050405020304" pitchFamily="18" charset="0"/>
                <a:cs typeface="Times New Roman" panose="02020603050405020304" pitchFamily="18" charset="0"/>
              </a:rPr>
              <a:t>방법 </a:t>
            </a:r>
            <a:r>
              <a:rPr kumimoji="1" lang="en-US" altLang="ko-KR" sz="2200" b="1" dirty="0">
                <a:latin typeface="Times New Roman" panose="02020603050405020304" pitchFamily="18" charset="0"/>
                <a:cs typeface="Times New Roman" panose="02020603050405020304" pitchFamily="18" charset="0"/>
              </a:rPr>
              <a:t>1: kernel-based linear attention</a:t>
            </a:r>
          </a:p>
          <a:p>
            <a:pPr marL="1257300" lvl="2" indent="-342900">
              <a:lnSpc>
                <a:spcPct val="150000"/>
              </a:lnSpc>
              <a:buFont typeface="Arial" panose="020B0604020202020204" pitchFamily="34" charset="0"/>
              <a:buChar char="•"/>
            </a:pPr>
            <a:r>
              <a:rPr kumimoji="1" lang="ko-KR" altLang="en-US" sz="2200" b="1" dirty="0">
                <a:latin typeface="Times New Roman" panose="02020603050405020304" pitchFamily="18" charset="0"/>
                <a:cs typeface="Times New Roman" panose="02020603050405020304" pitchFamily="18" charset="0"/>
              </a:rPr>
              <a:t>문제 </a:t>
            </a:r>
            <a:r>
              <a:rPr kumimoji="1" lang="en-US" altLang="ko-KR" sz="2200" b="1" dirty="0">
                <a:latin typeface="Times New Roman" panose="02020603050405020304" pitchFamily="18" charset="0"/>
                <a:cs typeface="Times New Roman" panose="02020603050405020304" pitchFamily="18" charset="0"/>
              </a:rPr>
              <a:t>1: Global dependency degradation (approximation</a:t>
            </a:r>
            <a:r>
              <a:rPr kumimoji="1" lang="ko-KR" altLang="en-US" sz="2200" b="1" dirty="0">
                <a:latin typeface="Times New Roman" panose="02020603050405020304" pitchFamily="18" charset="0"/>
                <a:cs typeface="Times New Roman" panose="02020603050405020304" pitchFamily="18" charset="0"/>
              </a:rPr>
              <a:t>이라는 한계</a:t>
            </a:r>
            <a:r>
              <a:rPr kumimoji="1" lang="en-US" altLang="ko-KR" sz="2200" b="1" dirty="0">
                <a:latin typeface="Times New Roman" panose="02020603050405020304" pitchFamily="18" charset="0"/>
                <a:cs typeface="Times New Roman" panose="02020603050405020304" pitchFamily="18" charset="0"/>
              </a:rPr>
              <a:t>?)</a:t>
            </a:r>
          </a:p>
          <a:p>
            <a:pPr marL="1257300" lvl="2" indent="-342900">
              <a:lnSpc>
                <a:spcPct val="150000"/>
              </a:lnSpc>
              <a:buFont typeface="Arial" panose="020B0604020202020204" pitchFamily="34" charset="0"/>
              <a:buChar char="•"/>
            </a:pPr>
            <a:endParaRPr kumimoji="1" lang="en-US" altLang="ko-KR" sz="2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408022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2E13C9-516E-68BD-C90E-739959140162}"/>
            </a:ext>
          </a:extLst>
        </p:cNvPr>
        <p:cNvGrpSpPr/>
        <p:nvPr/>
      </p:nvGrpSpPr>
      <p:grpSpPr>
        <a:xfrm>
          <a:off x="0" y="0"/>
          <a:ext cx="0" cy="0"/>
          <a:chOff x="0" y="0"/>
          <a:chExt cx="0" cy="0"/>
        </a:xfrm>
      </p:grpSpPr>
      <p:sp>
        <p:nvSpPr>
          <p:cNvPr id="27" name="제목 26">
            <a:extLst>
              <a:ext uri="{FF2B5EF4-FFF2-40B4-BE49-F238E27FC236}">
                <a16:creationId xmlns:a16="http://schemas.microsoft.com/office/drawing/2014/main" id="{E7796702-2D8A-09F6-426E-2D2068F252F7}"/>
              </a:ext>
            </a:extLst>
          </p:cNvPr>
          <p:cNvSpPr>
            <a:spLocks noGrp="1"/>
          </p:cNvSpPr>
          <p:nvPr>
            <p:ph type="title"/>
          </p:nvPr>
        </p:nvSpPr>
        <p:spPr/>
        <p:txBody>
          <a:bodyPr/>
          <a:lstStyle/>
          <a:p>
            <a:r>
              <a:rPr kumimoji="1" lang="en-US" altLang="ko-KR" sz="2800" b="1" dirty="0"/>
              <a:t>3. YOLOv12</a:t>
            </a:r>
            <a:endParaRPr lang="ko-KR" altLang="en-US" dirty="0"/>
          </a:p>
        </p:txBody>
      </p:sp>
      <p:sp>
        <p:nvSpPr>
          <p:cNvPr id="47" name="내용 개체 틀 2">
            <a:extLst>
              <a:ext uri="{FF2B5EF4-FFF2-40B4-BE49-F238E27FC236}">
                <a16:creationId xmlns:a16="http://schemas.microsoft.com/office/drawing/2014/main" id="{EEA7FE63-82D9-605F-1073-44DC807AFB9C}"/>
              </a:ext>
            </a:extLst>
          </p:cNvPr>
          <p:cNvSpPr txBox="1">
            <a:spLocks/>
          </p:cNvSpPr>
          <p:nvPr/>
        </p:nvSpPr>
        <p:spPr>
          <a:xfrm>
            <a:off x="117514" y="852966"/>
            <a:ext cx="11952383" cy="5438047"/>
          </a:xfrm>
          <a:prstGeom prst="rect">
            <a:avLst/>
          </a:prstGeom>
        </p:spPr>
        <p:txBody>
          <a:bodyPr vert="horz" lIns="91440" tIns="45720" rIns="91440" bIns="45720" rtlCol="0">
            <a:normAutofit/>
          </a:bodyPr>
          <a:lstStyle>
            <a:lvl1pPr marL="228600" indent="-228600" algn="l" defTabSz="914400" rtl="0" eaLnBrk="1" latinLnBrk="1"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15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endParaRPr lang="en" altLang="ko-KR" sz="2000" dirty="0"/>
          </a:p>
          <a:p>
            <a:pPr>
              <a:lnSpc>
                <a:spcPct val="150000"/>
              </a:lnSpc>
            </a:pPr>
            <a:endParaRPr kumimoji="1" lang="en" altLang="ko-KR" sz="2000" b="1" dirty="0"/>
          </a:p>
          <a:p>
            <a:pPr>
              <a:lnSpc>
                <a:spcPct val="150000"/>
              </a:lnSpc>
            </a:pPr>
            <a:endParaRPr kumimoji="1" lang="en" altLang="ko-KR" sz="2000" b="1" dirty="0"/>
          </a:p>
          <a:p>
            <a:pPr>
              <a:lnSpc>
                <a:spcPct val="150000"/>
              </a:lnSpc>
            </a:pPr>
            <a:endParaRPr kumimoji="1" lang="en" altLang="ko-KR" sz="2000" b="1" dirty="0"/>
          </a:p>
          <a:p>
            <a:pPr>
              <a:lnSpc>
                <a:spcPct val="150000"/>
              </a:lnSpc>
            </a:pPr>
            <a:endParaRPr kumimoji="1" lang="en" altLang="ko-KR" sz="2000" b="1" dirty="0"/>
          </a:p>
          <a:p>
            <a:pPr>
              <a:lnSpc>
                <a:spcPct val="150000"/>
              </a:lnSpc>
            </a:pPr>
            <a:endParaRPr kumimoji="1" lang="en" altLang="ko-KR" sz="2000" b="1" dirty="0"/>
          </a:p>
          <a:p>
            <a:pPr>
              <a:lnSpc>
                <a:spcPct val="150000"/>
              </a:lnSpc>
            </a:pPr>
            <a:endParaRPr kumimoji="1" lang="en" altLang="ko-KR" sz="2000" b="1" dirty="0"/>
          </a:p>
        </p:txBody>
      </p:sp>
      <p:sp>
        <p:nvSpPr>
          <p:cNvPr id="48" name="TextBox 47">
            <a:extLst>
              <a:ext uri="{FF2B5EF4-FFF2-40B4-BE49-F238E27FC236}">
                <a16:creationId xmlns:a16="http://schemas.microsoft.com/office/drawing/2014/main" id="{664E13B2-0654-BC8B-548B-10ABF0DEAC15}"/>
              </a:ext>
            </a:extLst>
          </p:cNvPr>
          <p:cNvSpPr txBox="1"/>
          <p:nvPr/>
        </p:nvSpPr>
        <p:spPr>
          <a:xfrm>
            <a:off x="184193" y="843588"/>
            <a:ext cx="11952383" cy="2570704"/>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kumimoji="1" lang="ko-KR" altLang="en-US" sz="2200" b="0" dirty="0">
                <a:latin typeface="Times New Roman" panose="02020603050405020304" pitchFamily="18" charset="0"/>
                <a:cs typeface="Times New Roman" panose="02020603050405020304" pitchFamily="18" charset="0"/>
              </a:rPr>
              <a:t>그러면 </a:t>
            </a:r>
            <a:r>
              <a:rPr kumimoji="1" lang="en-US" altLang="ko-KR" sz="2200" b="0" dirty="0">
                <a:latin typeface="Times New Roman" panose="02020603050405020304" pitchFamily="18" charset="0"/>
                <a:cs typeface="Times New Roman" panose="02020603050405020304" pitchFamily="18" charset="0"/>
              </a:rPr>
              <a:t>vanilla attention</a:t>
            </a:r>
            <a:r>
              <a:rPr kumimoji="1" lang="ko-KR" altLang="en-US" sz="2200" b="0" dirty="0">
                <a:latin typeface="Times New Roman" panose="02020603050405020304" pitchFamily="18" charset="0"/>
                <a:cs typeface="Times New Roman" panose="02020603050405020304" pitchFamily="18" charset="0"/>
              </a:rPr>
              <a:t>의 </a:t>
            </a:r>
            <a:r>
              <a:rPr kumimoji="1" lang="en-US" altLang="ko-KR" sz="2200" b="0" dirty="0">
                <a:latin typeface="Times New Roman" panose="02020603050405020304" pitchFamily="18" charset="0"/>
                <a:cs typeface="Times New Roman" panose="02020603050405020304" pitchFamily="18" charset="0"/>
              </a:rPr>
              <a:t>computational cost</a:t>
            </a:r>
            <a:r>
              <a:rPr kumimoji="1" lang="ko-KR" altLang="en-US" sz="2200" b="0" dirty="0" err="1">
                <a:latin typeface="Times New Roman" panose="02020603050405020304" pitchFamily="18" charset="0"/>
                <a:cs typeface="Times New Roman" panose="02020603050405020304" pitchFamily="18" charset="0"/>
              </a:rPr>
              <a:t>를</a:t>
            </a:r>
            <a:r>
              <a:rPr kumimoji="1" lang="ko-KR" altLang="en-US" sz="2200" b="0" dirty="0">
                <a:latin typeface="Times New Roman" panose="02020603050405020304" pitchFamily="18" charset="0"/>
                <a:cs typeface="Times New Roman" panose="02020603050405020304" pitchFamily="18" charset="0"/>
              </a:rPr>
              <a:t> 어떻게 줄일 수 있을까</a:t>
            </a:r>
            <a:r>
              <a:rPr kumimoji="1" lang="en-US" altLang="ko-KR" sz="2200" b="0" dirty="0">
                <a:latin typeface="Times New Roman" panose="02020603050405020304" pitchFamily="18" charset="0"/>
                <a:cs typeface="Times New Roman" panose="02020603050405020304" pitchFamily="18" charset="0"/>
              </a:rPr>
              <a:t>?</a:t>
            </a:r>
          </a:p>
          <a:p>
            <a:pPr marL="800100" lvl="1" indent="-342900">
              <a:lnSpc>
                <a:spcPct val="150000"/>
              </a:lnSpc>
              <a:buFont typeface="Arial" panose="020B0604020202020204" pitchFamily="34" charset="0"/>
              <a:buChar char="•"/>
            </a:pPr>
            <a:r>
              <a:rPr kumimoji="1" lang="ko-KR" altLang="en-US" sz="2200" b="1" dirty="0">
                <a:latin typeface="Times New Roman" panose="02020603050405020304" pitchFamily="18" charset="0"/>
                <a:cs typeface="Times New Roman" panose="02020603050405020304" pitchFamily="18" charset="0"/>
              </a:rPr>
              <a:t>방법 </a:t>
            </a:r>
            <a:r>
              <a:rPr kumimoji="1" lang="en-US" altLang="ko-KR" sz="2200" b="1" dirty="0">
                <a:latin typeface="Times New Roman" panose="02020603050405020304" pitchFamily="18" charset="0"/>
                <a:cs typeface="Times New Roman" panose="02020603050405020304" pitchFamily="18" charset="0"/>
              </a:rPr>
              <a:t>1: kernel-based linear attention</a:t>
            </a:r>
          </a:p>
          <a:p>
            <a:pPr marL="1257300" lvl="2" indent="-342900">
              <a:lnSpc>
                <a:spcPct val="150000"/>
              </a:lnSpc>
              <a:buFont typeface="Arial" panose="020B0604020202020204" pitchFamily="34" charset="0"/>
              <a:buChar char="•"/>
            </a:pPr>
            <a:r>
              <a:rPr kumimoji="1" lang="ko-KR" altLang="en-US" sz="2200" dirty="0">
                <a:latin typeface="Times New Roman" panose="02020603050405020304" pitchFamily="18" charset="0"/>
                <a:cs typeface="Times New Roman" panose="02020603050405020304" pitchFamily="18" charset="0"/>
              </a:rPr>
              <a:t>문제 </a:t>
            </a:r>
            <a:r>
              <a:rPr kumimoji="1" lang="en-US" altLang="ko-KR" sz="2200" dirty="0">
                <a:latin typeface="Times New Roman" panose="02020603050405020304" pitchFamily="18" charset="0"/>
                <a:cs typeface="Times New Roman" panose="02020603050405020304" pitchFamily="18" charset="0"/>
              </a:rPr>
              <a:t>1: Global dependency degradation (approximation…)</a:t>
            </a:r>
            <a:endParaRPr kumimoji="1" lang="en-US" altLang="ko-KR" sz="2200" b="1" dirty="0">
              <a:latin typeface="Times New Roman" panose="02020603050405020304" pitchFamily="18" charset="0"/>
              <a:cs typeface="Times New Roman" panose="02020603050405020304" pitchFamily="18" charset="0"/>
            </a:endParaRPr>
          </a:p>
          <a:p>
            <a:pPr marL="1257300" lvl="2" indent="-342900">
              <a:lnSpc>
                <a:spcPct val="150000"/>
              </a:lnSpc>
              <a:buFont typeface="Arial" panose="020B0604020202020204" pitchFamily="34" charset="0"/>
              <a:buChar char="•"/>
            </a:pPr>
            <a:r>
              <a:rPr kumimoji="1" lang="ko-KR" altLang="en-US" sz="2200" b="1" dirty="0">
                <a:latin typeface="Times New Roman" panose="02020603050405020304" pitchFamily="18" charset="0"/>
                <a:cs typeface="Times New Roman" panose="02020603050405020304" pitchFamily="18" charset="0"/>
              </a:rPr>
              <a:t>문제 </a:t>
            </a:r>
            <a:r>
              <a:rPr kumimoji="1" lang="en-US" altLang="ko-KR" sz="2200" b="1" dirty="0">
                <a:latin typeface="Times New Roman" panose="02020603050405020304" pitchFamily="18" charset="0"/>
                <a:cs typeface="Times New Roman" panose="02020603050405020304" pitchFamily="18" charset="0"/>
              </a:rPr>
              <a:t>2: instability (unbounded gradients?)</a:t>
            </a:r>
          </a:p>
          <a:p>
            <a:pPr marL="1257300" lvl="2" indent="-342900">
              <a:lnSpc>
                <a:spcPct val="150000"/>
              </a:lnSpc>
              <a:buFont typeface="Arial" panose="020B0604020202020204" pitchFamily="34" charset="0"/>
              <a:buChar char="•"/>
            </a:pPr>
            <a:endParaRPr kumimoji="1" lang="en-US" altLang="ko-KR" sz="2200" b="1" dirty="0">
              <a:latin typeface="Times New Roman" panose="02020603050405020304" pitchFamily="18" charset="0"/>
              <a:cs typeface="Times New Roman" panose="02020603050405020304" pitchFamily="18" charset="0"/>
            </a:endParaRPr>
          </a:p>
        </p:txBody>
      </p:sp>
      <p:pic>
        <p:nvPicPr>
          <p:cNvPr id="5" name="그림 4" descr="텍스트, 폰트, 화이트, 대수학이(가) 표시된 사진&#10;&#10;AI 생성 콘텐츠는 정확하지 않을 수 있습니다.">
            <a:extLst>
              <a:ext uri="{FF2B5EF4-FFF2-40B4-BE49-F238E27FC236}">
                <a16:creationId xmlns:a16="http://schemas.microsoft.com/office/drawing/2014/main" id="{F7D296A6-9301-75D3-3B89-21D288A0F676}"/>
              </a:ext>
            </a:extLst>
          </p:cNvPr>
          <p:cNvPicPr>
            <a:picLocks noChangeAspect="1"/>
          </p:cNvPicPr>
          <p:nvPr/>
        </p:nvPicPr>
        <p:blipFill>
          <a:blip r:embed="rId3"/>
          <a:stretch>
            <a:fillRect/>
          </a:stretch>
        </p:blipFill>
        <p:spPr>
          <a:xfrm>
            <a:off x="310317" y="4330750"/>
            <a:ext cx="5181259" cy="1327988"/>
          </a:xfrm>
          <a:prstGeom prst="rect">
            <a:avLst/>
          </a:prstGeom>
        </p:spPr>
      </p:pic>
      <p:sp>
        <p:nvSpPr>
          <p:cNvPr id="7" name="TextBox 6">
            <a:extLst>
              <a:ext uri="{FF2B5EF4-FFF2-40B4-BE49-F238E27FC236}">
                <a16:creationId xmlns:a16="http://schemas.microsoft.com/office/drawing/2014/main" id="{99334103-30AB-2459-D747-7CC79C6B160D}"/>
              </a:ext>
            </a:extLst>
          </p:cNvPr>
          <p:cNvSpPr txBox="1"/>
          <p:nvPr/>
        </p:nvSpPr>
        <p:spPr>
          <a:xfrm>
            <a:off x="0" y="5646168"/>
            <a:ext cx="6106510" cy="600164"/>
          </a:xfrm>
          <a:prstGeom prst="rect">
            <a:avLst/>
          </a:prstGeom>
          <a:noFill/>
        </p:spPr>
        <p:txBody>
          <a:bodyPr wrap="square">
            <a:spAutoFit/>
          </a:bodyPr>
          <a:lstStyle/>
          <a:p>
            <a:r>
              <a:rPr lang="en" altLang="ko-KR" sz="1100" dirty="0">
                <a:hlinkClick r:id="rId4"/>
              </a:rPr>
              <a:t>Zhen Qin, Xiaodong Han, Weixuan Sun, Dongxu Li, Lingpeng Kong, Nick Barnes, and Yiran Zhong. 2022. The Devil in Linear Transformer. In Proceedings of the 2022 Conference on Empirical Methods in Natural Language Processing, pages 7025–7041, Abu Dhabi, Unit</a:t>
            </a:r>
            <a:endParaRPr lang="en" altLang="ko-KR" sz="1100" dirty="0"/>
          </a:p>
        </p:txBody>
      </p:sp>
      <p:pic>
        <p:nvPicPr>
          <p:cNvPr id="12" name="그림 11" descr="텍스트, 폰트, 스크린샷, 친필이(가) 표시된 사진&#10;&#10;AI 생성 콘텐츠는 정확하지 않을 수 있습니다.">
            <a:extLst>
              <a:ext uri="{FF2B5EF4-FFF2-40B4-BE49-F238E27FC236}">
                <a16:creationId xmlns:a16="http://schemas.microsoft.com/office/drawing/2014/main" id="{B1EF0D6B-5A63-0B04-5EA4-7909B98D6C79}"/>
              </a:ext>
            </a:extLst>
          </p:cNvPr>
          <p:cNvPicPr>
            <a:picLocks noChangeAspect="1"/>
          </p:cNvPicPr>
          <p:nvPr/>
        </p:nvPicPr>
        <p:blipFill>
          <a:blip r:embed="rId5"/>
          <a:stretch>
            <a:fillRect/>
          </a:stretch>
        </p:blipFill>
        <p:spPr>
          <a:xfrm>
            <a:off x="7304095" y="-57035"/>
            <a:ext cx="4816049" cy="6858000"/>
          </a:xfrm>
          <a:prstGeom prst="rect">
            <a:avLst/>
          </a:prstGeom>
        </p:spPr>
      </p:pic>
    </p:spTree>
    <p:extLst>
      <p:ext uri="{BB962C8B-B14F-4D97-AF65-F5344CB8AC3E}">
        <p14:creationId xmlns:p14="http://schemas.microsoft.com/office/powerpoint/2010/main" val="13313992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1654CE-EA78-912C-D2C6-8C4CDD27CC64}"/>
            </a:ext>
          </a:extLst>
        </p:cNvPr>
        <p:cNvGrpSpPr/>
        <p:nvPr/>
      </p:nvGrpSpPr>
      <p:grpSpPr>
        <a:xfrm>
          <a:off x="0" y="0"/>
          <a:ext cx="0" cy="0"/>
          <a:chOff x="0" y="0"/>
          <a:chExt cx="0" cy="0"/>
        </a:xfrm>
      </p:grpSpPr>
      <p:sp>
        <p:nvSpPr>
          <p:cNvPr id="27" name="제목 26">
            <a:extLst>
              <a:ext uri="{FF2B5EF4-FFF2-40B4-BE49-F238E27FC236}">
                <a16:creationId xmlns:a16="http://schemas.microsoft.com/office/drawing/2014/main" id="{DA9554E7-5AA7-0BA5-C2EA-72780D72CBE6}"/>
              </a:ext>
            </a:extLst>
          </p:cNvPr>
          <p:cNvSpPr>
            <a:spLocks noGrp="1"/>
          </p:cNvSpPr>
          <p:nvPr>
            <p:ph type="title"/>
          </p:nvPr>
        </p:nvSpPr>
        <p:spPr/>
        <p:txBody>
          <a:bodyPr/>
          <a:lstStyle/>
          <a:p>
            <a:r>
              <a:rPr kumimoji="1" lang="en-US" altLang="ko-KR" sz="2800" b="1" dirty="0"/>
              <a:t>3. YOLOv12</a:t>
            </a:r>
            <a:endParaRPr lang="ko-KR" altLang="en-US" dirty="0"/>
          </a:p>
        </p:txBody>
      </p:sp>
      <p:sp>
        <p:nvSpPr>
          <p:cNvPr id="47" name="내용 개체 틀 2">
            <a:extLst>
              <a:ext uri="{FF2B5EF4-FFF2-40B4-BE49-F238E27FC236}">
                <a16:creationId xmlns:a16="http://schemas.microsoft.com/office/drawing/2014/main" id="{8F632D79-884E-7141-6407-FFB381C0C792}"/>
              </a:ext>
            </a:extLst>
          </p:cNvPr>
          <p:cNvSpPr txBox="1">
            <a:spLocks/>
          </p:cNvSpPr>
          <p:nvPr/>
        </p:nvSpPr>
        <p:spPr>
          <a:xfrm>
            <a:off x="117514" y="852966"/>
            <a:ext cx="11952383" cy="5438047"/>
          </a:xfrm>
          <a:prstGeom prst="rect">
            <a:avLst/>
          </a:prstGeom>
        </p:spPr>
        <p:txBody>
          <a:bodyPr vert="horz" lIns="91440" tIns="45720" rIns="91440" bIns="45720" rtlCol="0">
            <a:normAutofit/>
          </a:bodyPr>
          <a:lstStyle>
            <a:lvl1pPr marL="228600" indent="-228600" algn="l" defTabSz="914400" rtl="0" eaLnBrk="1" latinLnBrk="1"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15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endParaRPr lang="en" altLang="ko-KR" sz="2000" dirty="0"/>
          </a:p>
          <a:p>
            <a:pPr>
              <a:lnSpc>
                <a:spcPct val="150000"/>
              </a:lnSpc>
            </a:pPr>
            <a:endParaRPr kumimoji="1" lang="en" altLang="ko-KR" sz="2000" b="1" dirty="0"/>
          </a:p>
          <a:p>
            <a:pPr>
              <a:lnSpc>
                <a:spcPct val="150000"/>
              </a:lnSpc>
            </a:pPr>
            <a:endParaRPr kumimoji="1" lang="en" altLang="ko-KR" sz="2000" b="1" dirty="0"/>
          </a:p>
          <a:p>
            <a:pPr>
              <a:lnSpc>
                <a:spcPct val="150000"/>
              </a:lnSpc>
            </a:pPr>
            <a:endParaRPr kumimoji="1" lang="en" altLang="ko-KR" sz="2000" b="1" dirty="0"/>
          </a:p>
          <a:p>
            <a:pPr>
              <a:lnSpc>
                <a:spcPct val="150000"/>
              </a:lnSpc>
            </a:pPr>
            <a:endParaRPr kumimoji="1" lang="en" altLang="ko-KR" sz="2000" b="1" dirty="0"/>
          </a:p>
          <a:p>
            <a:pPr>
              <a:lnSpc>
                <a:spcPct val="150000"/>
              </a:lnSpc>
            </a:pPr>
            <a:endParaRPr kumimoji="1" lang="en" altLang="ko-KR" sz="2000" b="1" dirty="0"/>
          </a:p>
          <a:p>
            <a:pPr>
              <a:lnSpc>
                <a:spcPct val="150000"/>
              </a:lnSpc>
            </a:pPr>
            <a:endParaRPr kumimoji="1" lang="en" altLang="ko-KR" sz="2000" b="1" dirty="0"/>
          </a:p>
        </p:txBody>
      </p:sp>
      <p:sp>
        <p:nvSpPr>
          <p:cNvPr id="48" name="TextBox 47">
            <a:extLst>
              <a:ext uri="{FF2B5EF4-FFF2-40B4-BE49-F238E27FC236}">
                <a16:creationId xmlns:a16="http://schemas.microsoft.com/office/drawing/2014/main" id="{B3E148BD-1164-C372-EA5A-6D6907A82498}"/>
              </a:ext>
            </a:extLst>
          </p:cNvPr>
          <p:cNvSpPr txBox="1"/>
          <p:nvPr/>
        </p:nvSpPr>
        <p:spPr>
          <a:xfrm>
            <a:off x="184193" y="843588"/>
            <a:ext cx="11952383" cy="2570704"/>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kumimoji="1" lang="ko-KR" altLang="en-US" sz="2200" b="0" dirty="0">
                <a:latin typeface="Times New Roman" panose="02020603050405020304" pitchFamily="18" charset="0"/>
                <a:cs typeface="Times New Roman" panose="02020603050405020304" pitchFamily="18" charset="0"/>
              </a:rPr>
              <a:t>그러면 </a:t>
            </a:r>
            <a:r>
              <a:rPr kumimoji="1" lang="en-US" altLang="ko-KR" sz="2200" b="0" dirty="0">
                <a:latin typeface="Times New Roman" panose="02020603050405020304" pitchFamily="18" charset="0"/>
                <a:cs typeface="Times New Roman" panose="02020603050405020304" pitchFamily="18" charset="0"/>
              </a:rPr>
              <a:t>vanilla attention</a:t>
            </a:r>
            <a:r>
              <a:rPr kumimoji="1" lang="ko-KR" altLang="en-US" sz="2200" b="0" dirty="0">
                <a:latin typeface="Times New Roman" panose="02020603050405020304" pitchFamily="18" charset="0"/>
                <a:cs typeface="Times New Roman" panose="02020603050405020304" pitchFamily="18" charset="0"/>
              </a:rPr>
              <a:t>의 </a:t>
            </a:r>
            <a:r>
              <a:rPr kumimoji="1" lang="en-US" altLang="ko-KR" sz="2200" b="0" dirty="0">
                <a:latin typeface="Times New Roman" panose="02020603050405020304" pitchFamily="18" charset="0"/>
                <a:cs typeface="Times New Roman" panose="02020603050405020304" pitchFamily="18" charset="0"/>
              </a:rPr>
              <a:t>computational cost</a:t>
            </a:r>
            <a:r>
              <a:rPr kumimoji="1" lang="ko-KR" altLang="en-US" sz="2200" b="0" dirty="0" err="1">
                <a:latin typeface="Times New Roman" panose="02020603050405020304" pitchFamily="18" charset="0"/>
                <a:cs typeface="Times New Roman" panose="02020603050405020304" pitchFamily="18" charset="0"/>
              </a:rPr>
              <a:t>를</a:t>
            </a:r>
            <a:r>
              <a:rPr kumimoji="1" lang="ko-KR" altLang="en-US" sz="2200" b="0" dirty="0">
                <a:latin typeface="Times New Roman" panose="02020603050405020304" pitchFamily="18" charset="0"/>
                <a:cs typeface="Times New Roman" panose="02020603050405020304" pitchFamily="18" charset="0"/>
              </a:rPr>
              <a:t> 어떻게 줄일 수 있을까</a:t>
            </a:r>
            <a:r>
              <a:rPr kumimoji="1" lang="en-US" altLang="ko-KR" sz="2200" b="0" dirty="0">
                <a:latin typeface="Times New Roman" panose="02020603050405020304" pitchFamily="18" charset="0"/>
                <a:cs typeface="Times New Roman" panose="02020603050405020304" pitchFamily="18" charset="0"/>
              </a:rPr>
              <a:t>?</a:t>
            </a:r>
          </a:p>
          <a:p>
            <a:pPr marL="800100" lvl="1" indent="-342900">
              <a:lnSpc>
                <a:spcPct val="150000"/>
              </a:lnSpc>
              <a:buFont typeface="Arial" panose="020B0604020202020204" pitchFamily="34" charset="0"/>
              <a:buChar char="•"/>
            </a:pPr>
            <a:r>
              <a:rPr kumimoji="1" lang="ko-KR" altLang="en-US" sz="2200" b="1" dirty="0">
                <a:latin typeface="Times New Roman" panose="02020603050405020304" pitchFamily="18" charset="0"/>
                <a:cs typeface="Times New Roman" panose="02020603050405020304" pitchFamily="18" charset="0"/>
              </a:rPr>
              <a:t>방법 </a:t>
            </a:r>
            <a:r>
              <a:rPr kumimoji="1" lang="en-US" altLang="ko-KR" sz="2200" b="1" dirty="0">
                <a:latin typeface="Times New Roman" panose="02020603050405020304" pitchFamily="18" charset="0"/>
                <a:cs typeface="Times New Roman" panose="02020603050405020304" pitchFamily="18" charset="0"/>
              </a:rPr>
              <a:t>1: kernel-based linear attention</a:t>
            </a:r>
          </a:p>
          <a:p>
            <a:pPr marL="1257300" lvl="2" indent="-342900">
              <a:lnSpc>
                <a:spcPct val="150000"/>
              </a:lnSpc>
              <a:buFont typeface="Arial" panose="020B0604020202020204" pitchFamily="34" charset="0"/>
              <a:buChar char="•"/>
            </a:pPr>
            <a:r>
              <a:rPr kumimoji="1" lang="ko-KR" altLang="en-US" sz="2200" dirty="0">
                <a:latin typeface="Times New Roman" panose="02020603050405020304" pitchFamily="18" charset="0"/>
                <a:cs typeface="Times New Roman" panose="02020603050405020304" pitchFamily="18" charset="0"/>
              </a:rPr>
              <a:t>문제 </a:t>
            </a:r>
            <a:r>
              <a:rPr kumimoji="1" lang="en-US" altLang="ko-KR" sz="2200" dirty="0">
                <a:latin typeface="Times New Roman" panose="02020603050405020304" pitchFamily="18" charset="0"/>
                <a:cs typeface="Times New Roman" panose="02020603050405020304" pitchFamily="18" charset="0"/>
              </a:rPr>
              <a:t>1: Global dependency degradation (approximation?)</a:t>
            </a:r>
            <a:endParaRPr kumimoji="1" lang="en-US" altLang="ko-KR" sz="2200" b="1" dirty="0">
              <a:latin typeface="Times New Roman" panose="02020603050405020304" pitchFamily="18" charset="0"/>
              <a:cs typeface="Times New Roman" panose="02020603050405020304" pitchFamily="18" charset="0"/>
            </a:endParaRPr>
          </a:p>
          <a:p>
            <a:pPr marL="1257300" lvl="2" indent="-342900">
              <a:lnSpc>
                <a:spcPct val="150000"/>
              </a:lnSpc>
              <a:buFont typeface="Arial" panose="020B0604020202020204" pitchFamily="34" charset="0"/>
              <a:buChar char="•"/>
            </a:pPr>
            <a:r>
              <a:rPr kumimoji="1" lang="ko-KR" altLang="en-US" sz="2200" dirty="0">
                <a:latin typeface="Times New Roman" panose="02020603050405020304" pitchFamily="18" charset="0"/>
                <a:cs typeface="Times New Roman" panose="02020603050405020304" pitchFamily="18" charset="0"/>
              </a:rPr>
              <a:t>문제 </a:t>
            </a:r>
            <a:r>
              <a:rPr kumimoji="1" lang="en-US" altLang="ko-KR" sz="2200" dirty="0">
                <a:latin typeface="Times New Roman" panose="02020603050405020304" pitchFamily="18" charset="0"/>
                <a:cs typeface="Times New Roman" panose="02020603050405020304" pitchFamily="18" charset="0"/>
              </a:rPr>
              <a:t>2: instability (unbounded gradients?)</a:t>
            </a:r>
          </a:p>
          <a:p>
            <a:pPr marL="1257300" lvl="2" indent="-342900">
              <a:lnSpc>
                <a:spcPct val="150000"/>
              </a:lnSpc>
              <a:buFont typeface="Arial" panose="020B0604020202020204" pitchFamily="34" charset="0"/>
              <a:buChar char="•"/>
            </a:pPr>
            <a:r>
              <a:rPr kumimoji="1" lang="ko-KR" altLang="en-US" sz="2200" b="1" dirty="0">
                <a:latin typeface="Times New Roman" panose="02020603050405020304" pitchFamily="18" charset="0"/>
                <a:cs typeface="Times New Roman" panose="02020603050405020304" pitchFamily="18" charset="0"/>
              </a:rPr>
              <a:t>문제 </a:t>
            </a:r>
            <a:r>
              <a:rPr kumimoji="1" lang="en-US" altLang="ko-KR" sz="2200" b="1" dirty="0">
                <a:latin typeface="Times New Roman" panose="02020603050405020304" pitchFamily="18" charset="0"/>
                <a:cs typeface="Times New Roman" panose="02020603050405020304" pitchFamily="18" charset="0"/>
              </a:rPr>
              <a:t>3: distribution sensitivity </a:t>
            </a:r>
          </a:p>
        </p:txBody>
      </p:sp>
      <p:sp>
        <p:nvSpPr>
          <p:cNvPr id="7" name="TextBox 6">
            <a:extLst>
              <a:ext uri="{FF2B5EF4-FFF2-40B4-BE49-F238E27FC236}">
                <a16:creationId xmlns:a16="http://schemas.microsoft.com/office/drawing/2014/main" id="{47C10881-A1D4-84F3-4803-3442D93DE700}"/>
              </a:ext>
            </a:extLst>
          </p:cNvPr>
          <p:cNvSpPr txBox="1"/>
          <p:nvPr/>
        </p:nvSpPr>
        <p:spPr>
          <a:xfrm>
            <a:off x="112925" y="5904212"/>
            <a:ext cx="6106510" cy="600164"/>
          </a:xfrm>
          <a:prstGeom prst="rect">
            <a:avLst/>
          </a:prstGeom>
          <a:noFill/>
        </p:spPr>
        <p:txBody>
          <a:bodyPr wrap="square">
            <a:spAutoFit/>
          </a:bodyPr>
          <a:lstStyle/>
          <a:p>
            <a:r>
              <a:rPr lang="en" altLang="ko-KR" sz="1100" dirty="0">
                <a:hlinkClick r:id="rId3"/>
              </a:rPr>
              <a:t> Koohpayegani, Soroush Abbasi, and Hamed Pirsiavash. "Sima: Simple softmax-free attention for vision transformers." Proceedings of the IEEE/CVF Winter Conference on Applications of Computer Vision. 2024.</a:t>
            </a:r>
            <a:endParaRPr lang="ko-KR" altLang="en-US" sz="1100" dirty="0"/>
          </a:p>
        </p:txBody>
      </p:sp>
      <p:pic>
        <p:nvPicPr>
          <p:cNvPr id="6" name="그림 5" descr="텍스트, 폰트, 스크린샷, 화이트이(가) 표시된 사진&#10;&#10;AI 생성 콘텐츠는 정확하지 않을 수 있습니다.">
            <a:extLst>
              <a:ext uri="{FF2B5EF4-FFF2-40B4-BE49-F238E27FC236}">
                <a16:creationId xmlns:a16="http://schemas.microsoft.com/office/drawing/2014/main" id="{CABE2455-EA80-98CB-6594-C6CD48097C22}"/>
              </a:ext>
            </a:extLst>
          </p:cNvPr>
          <p:cNvPicPr>
            <a:picLocks noChangeAspect="1"/>
          </p:cNvPicPr>
          <p:nvPr/>
        </p:nvPicPr>
        <p:blipFill>
          <a:blip r:embed="rId4"/>
          <a:stretch>
            <a:fillRect/>
          </a:stretch>
        </p:blipFill>
        <p:spPr>
          <a:xfrm>
            <a:off x="50835" y="4599334"/>
            <a:ext cx="5613269" cy="1294983"/>
          </a:xfrm>
          <a:prstGeom prst="rect">
            <a:avLst/>
          </a:prstGeom>
        </p:spPr>
      </p:pic>
      <p:pic>
        <p:nvPicPr>
          <p:cNvPr id="4" name="그림 3" descr="텍스트, 스크린샷, 폰트, 번호이(가) 표시된 사진&#10;&#10;AI 생성 콘텐츠는 정확하지 않을 수 있습니다.">
            <a:extLst>
              <a:ext uri="{FF2B5EF4-FFF2-40B4-BE49-F238E27FC236}">
                <a16:creationId xmlns:a16="http://schemas.microsoft.com/office/drawing/2014/main" id="{44CD68BE-B333-D997-071A-95E079F93B47}"/>
              </a:ext>
            </a:extLst>
          </p:cNvPr>
          <p:cNvPicPr>
            <a:picLocks noChangeAspect="1"/>
          </p:cNvPicPr>
          <p:nvPr/>
        </p:nvPicPr>
        <p:blipFill>
          <a:blip r:embed="rId5"/>
          <a:srcRect r="2029" b="2794"/>
          <a:stretch>
            <a:fillRect/>
          </a:stretch>
        </p:blipFill>
        <p:spPr>
          <a:xfrm>
            <a:off x="6328797" y="2286406"/>
            <a:ext cx="5774439" cy="4571594"/>
          </a:xfrm>
          <a:prstGeom prst="rect">
            <a:avLst/>
          </a:prstGeom>
        </p:spPr>
      </p:pic>
    </p:spTree>
    <p:extLst>
      <p:ext uri="{BB962C8B-B14F-4D97-AF65-F5344CB8AC3E}">
        <p14:creationId xmlns:p14="http://schemas.microsoft.com/office/powerpoint/2010/main" val="38877034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CC8810-177F-B726-337B-926FFF094198}"/>
            </a:ext>
          </a:extLst>
        </p:cNvPr>
        <p:cNvGrpSpPr/>
        <p:nvPr/>
      </p:nvGrpSpPr>
      <p:grpSpPr>
        <a:xfrm>
          <a:off x="0" y="0"/>
          <a:ext cx="0" cy="0"/>
          <a:chOff x="0" y="0"/>
          <a:chExt cx="0" cy="0"/>
        </a:xfrm>
      </p:grpSpPr>
      <p:sp>
        <p:nvSpPr>
          <p:cNvPr id="27" name="제목 26">
            <a:extLst>
              <a:ext uri="{FF2B5EF4-FFF2-40B4-BE49-F238E27FC236}">
                <a16:creationId xmlns:a16="http://schemas.microsoft.com/office/drawing/2014/main" id="{367E9186-5D5F-5369-5BA9-F1476EC304E8}"/>
              </a:ext>
            </a:extLst>
          </p:cNvPr>
          <p:cNvSpPr>
            <a:spLocks noGrp="1"/>
          </p:cNvSpPr>
          <p:nvPr>
            <p:ph type="title"/>
          </p:nvPr>
        </p:nvSpPr>
        <p:spPr/>
        <p:txBody>
          <a:bodyPr/>
          <a:lstStyle/>
          <a:p>
            <a:r>
              <a:rPr kumimoji="1" lang="en-US" altLang="ko-KR" sz="2800" b="1" dirty="0"/>
              <a:t>3. YOLOv12</a:t>
            </a:r>
            <a:endParaRPr lang="ko-KR" altLang="en-US" dirty="0"/>
          </a:p>
        </p:txBody>
      </p:sp>
      <p:sp>
        <p:nvSpPr>
          <p:cNvPr id="47" name="내용 개체 틀 2">
            <a:extLst>
              <a:ext uri="{FF2B5EF4-FFF2-40B4-BE49-F238E27FC236}">
                <a16:creationId xmlns:a16="http://schemas.microsoft.com/office/drawing/2014/main" id="{89B5DA0B-7A11-6D5A-535F-2FD11969E6ED}"/>
              </a:ext>
            </a:extLst>
          </p:cNvPr>
          <p:cNvSpPr txBox="1">
            <a:spLocks/>
          </p:cNvSpPr>
          <p:nvPr/>
        </p:nvSpPr>
        <p:spPr>
          <a:xfrm>
            <a:off x="108800" y="859316"/>
            <a:ext cx="11952383" cy="5438047"/>
          </a:xfrm>
          <a:prstGeom prst="rect">
            <a:avLst/>
          </a:prstGeom>
        </p:spPr>
        <p:txBody>
          <a:bodyPr vert="horz" lIns="91440" tIns="45720" rIns="91440" bIns="45720" rtlCol="0">
            <a:normAutofit/>
          </a:bodyPr>
          <a:lstStyle>
            <a:lvl1pPr marL="228600" indent="-228600" algn="l" defTabSz="914400" rtl="0" eaLnBrk="1" latinLnBrk="1"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15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endParaRPr lang="en" altLang="ko-KR" sz="2000" dirty="0"/>
          </a:p>
          <a:p>
            <a:pPr>
              <a:lnSpc>
                <a:spcPct val="150000"/>
              </a:lnSpc>
            </a:pPr>
            <a:endParaRPr kumimoji="1" lang="en" altLang="ko-KR" sz="2000" b="1" dirty="0"/>
          </a:p>
          <a:p>
            <a:pPr>
              <a:lnSpc>
                <a:spcPct val="150000"/>
              </a:lnSpc>
            </a:pPr>
            <a:endParaRPr kumimoji="1" lang="en" altLang="ko-KR" sz="2000" b="1" dirty="0"/>
          </a:p>
          <a:p>
            <a:pPr>
              <a:lnSpc>
                <a:spcPct val="150000"/>
              </a:lnSpc>
            </a:pPr>
            <a:endParaRPr kumimoji="1" lang="en" altLang="ko-KR" sz="2000" b="1" dirty="0"/>
          </a:p>
          <a:p>
            <a:pPr>
              <a:lnSpc>
                <a:spcPct val="150000"/>
              </a:lnSpc>
            </a:pPr>
            <a:endParaRPr kumimoji="1" lang="en" altLang="ko-KR" sz="2000" b="1" dirty="0"/>
          </a:p>
          <a:p>
            <a:pPr>
              <a:lnSpc>
                <a:spcPct val="150000"/>
              </a:lnSpc>
            </a:pPr>
            <a:endParaRPr kumimoji="1" lang="en" altLang="ko-KR" sz="2000" b="1" dirty="0"/>
          </a:p>
          <a:p>
            <a:pPr>
              <a:lnSpc>
                <a:spcPct val="150000"/>
              </a:lnSpc>
            </a:pPr>
            <a:endParaRPr kumimoji="1" lang="en" altLang="ko-KR" sz="2000" b="1" dirty="0"/>
          </a:p>
        </p:txBody>
      </p:sp>
      <p:sp>
        <p:nvSpPr>
          <p:cNvPr id="48" name="TextBox 47">
            <a:extLst>
              <a:ext uri="{FF2B5EF4-FFF2-40B4-BE49-F238E27FC236}">
                <a16:creationId xmlns:a16="http://schemas.microsoft.com/office/drawing/2014/main" id="{C84CA7E2-3846-A2DF-3B27-DEFE80D57706}"/>
              </a:ext>
            </a:extLst>
          </p:cNvPr>
          <p:cNvSpPr txBox="1"/>
          <p:nvPr/>
        </p:nvSpPr>
        <p:spPr>
          <a:xfrm>
            <a:off x="184193" y="843588"/>
            <a:ext cx="11952383" cy="3586303"/>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kumimoji="1" lang="ko-KR" altLang="en-US" sz="2200" b="0" dirty="0">
                <a:latin typeface="Times New Roman" panose="02020603050405020304" pitchFamily="18" charset="0"/>
                <a:cs typeface="Times New Roman" panose="02020603050405020304" pitchFamily="18" charset="0"/>
              </a:rPr>
              <a:t>그러면 </a:t>
            </a:r>
            <a:r>
              <a:rPr kumimoji="1" lang="en-US" altLang="ko-KR" sz="2200" b="0" dirty="0">
                <a:latin typeface="Times New Roman" panose="02020603050405020304" pitchFamily="18" charset="0"/>
                <a:cs typeface="Times New Roman" panose="02020603050405020304" pitchFamily="18" charset="0"/>
              </a:rPr>
              <a:t>vanilla attention</a:t>
            </a:r>
            <a:r>
              <a:rPr kumimoji="1" lang="ko-KR" altLang="en-US" sz="2200" b="0" dirty="0">
                <a:latin typeface="Times New Roman" panose="02020603050405020304" pitchFamily="18" charset="0"/>
                <a:cs typeface="Times New Roman" panose="02020603050405020304" pitchFamily="18" charset="0"/>
              </a:rPr>
              <a:t>의 </a:t>
            </a:r>
            <a:r>
              <a:rPr kumimoji="1" lang="en-US" altLang="ko-KR" sz="2200" b="0" dirty="0">
                <a:latin typeface="Times New Roman" panose="02020603050405020304" pitchFamily="18" charset="0"/>
                <a:cs typeface="Times New Roman" panose="02020603050405020304" pitchFamily="18" charset="0"/>
              </a:rPr>
              <a:t>computational cost</a:t>
            </a:r>
            <a:r>
              <a:rPr kumimoji="1" lang="ko-KR" altLang="en-US" sz="2200" b="0" dirty="0" err="1">
                <a:latin typeface="Times New Roman" panose="02020603050405020304" pitchFamily="18" charset="0"/>
                <a:cs typeface="Times New Roman" panose="02020603050405020304" pitchFamily="18" charset="0"/>
              </a:rPr>
              <a:t>를</a:t>
            </a:r>
            <a:r>
              <a:rPr kumimoji="1" lang="ko-KR" altLang="en-US" sz="2200" b="0" dirty="0">
                <a:latin typeface="Times New Roman" panose="02020603050405020304" pitchFamily="18" charset="0"/>
                <a:cs typeface="Times New Roman" panose="02020603050405020304" pitchFamily="18" charset="0"/>
              </a:rPr>
              <a:t> 어떻게 줄일 수 있을까</a:t>
            </a:r>
            <a:r>
              <a:rPr kumimoji="1" lang="en-US" altLang="ko-KR" sz="2200" b="0" dirty="0">
                <a:latin typeface="Times New Roman" panose="02020603050405020304" pitchFamily="18" charset="0"/>
                <a:cs typeface="Times New Roman" panose="02020603050405020304" pitchFamily="18" charset="0"/>
              </a:rPr>
              <a:t>?</a:t>
            </a:r>
          </a:p>
          <a:p>
            <a:pPr marL="800100" lvl="1" indent="-342900">
              <a:lnSpc>
                <a:spcPct val="150000"/>
              </a:lnSpc>
              <a:buFont typeface="Arial" panose="020B0604020202020204" pitchFamily="34" charset="0"/>
              <a:buChar char="•"/>
            </a:pPr>
            <a:r>
              <a:rPr kumimoji="1" lang="ko-KR" altLang="en-US" sz="2200" b="1" dirty="0">
                <a:latin typeface="Times New Roman" panose="02020603050405020304" pitchFamily="18" charset="0"/>
                <a:cs typeface="Times New Roman" panose="02020603050405020304" pitchFamily="18" charset="0"/>
              </a:rPr>
              <a:t>방법 </a:t>
            </a:r>
            <a:r>
              <a:rPr kumimoji="1" lang="en-US" altLang="ko-KR" sz="2200" b="1" dirty="0">
                <a:latin typeface="Times New Roman" panose="02020603050405020304" pitchFamily="18" charset="0"/>
                <a:cs typeface="Times New Roman" panose="02020603050405020304" pitchFamily="18" charset="0"/>
              </a:rPr>
              <a:t>1: kernel-based linear attention</a:t>
            </a:r>
          </a:p>
          <a:p>
            <a:pPr marL="1257300" lvl="2" indent="-342900">
              <a:lnSpc>
                <a:spcPct val="150000"/>
              </a:lnSpc>
              <a:buFont typeface="Arial" panose="020B0604020202020204" pitchFamily="34" charset="0"/>
              <a:buChar char="•"/>
            </a:pPr>
            <a:r>
              <a:rPr kumimoji="1" lang="ko-KR" altLang="en-US" sz="2200" dirty="0">
                <a:latin typeface="Times New Roman" panose="02020603050405020304" pitchFamily="18" charset="0"/>
                <a:cs typeface="Times New Roman" panose="02020603050405020304" pitchFamily="18" charset="0"/>
              </a:rPr>
              <a:t>문제 </a:t>
            </a:r>
            <a:r>
              <a:rPr kumimoji="1" lang="en-US" altLang="ko-KR" sz="2200" dirty="0">
                <a:latin typeface="Times New Roman" panose="02020603050405020304" pitchFamily="18" charset="0"/>
                <a:cs typeface="Times New Roman" panose="02020603050405020304" pitchFamily="18" charset="0"/>
              </a:rPr>
              <a:t>1: Global dependency degradation (approximation…)</a:t>
            </a:r>
            <a:endParaRPr kumimoji="1" lang="en-US" altLang="ko-KR" sz="2200" b="1" dirty="0">
              <a:latin typeface="Times New Roman" panose="02020603050405020304" pitchFamily="18" charset="0"/>
              <a:cs typeface="Times New Roman" panose="02020603050405020304" pitchFamily="18" charset="0"/>
            </a:endParaRPr>
          </a:p>
          <a:p>
            <a:pPr marL="1257300" lvl="2" indent="-342900">
              <a:lnSpc>
                <a:spcPct val="150000"/>
              </a:lnSpc>
              <a:buFont typeface="Arial" panose="020B0604020202020204" pitchFamily="34" charset="0"/>
              <a:buChar char="•"/>
            </a:pPr>
            <a:r>
              <a:rPr kumimoji="1" lang="ko-KR" altLang="en-US" sz="2200" dirty="0">
                <a:latin typeface="Times New Roman" panose="02020603050405020304" pitchFamily="18" charset="0"/>
                <a:cs typeface="Times New Roman" panose="02020603050405020304" pitchFamily="18" charset="0"/>
              </a:rPr>
              <a:t>문제 </a:t>
            </a:r>
            <a:r>
              <a:rPr kumimoji="1" lang="en-US" altLang="ko-KR" sz="2200" dirty="0">
                <a:latin typeface="Times New Roman" panose="02020603050405020304" pitchFamily="18" charset="0"/>
                <a:cs typeface="Times New Roman" panose="02020603050405020304" pitchFamily="18" charset="0"/>
              </a:rPr>
              <a:t>2: instability (unbounded gradients)</a:t>
            </a:r>
          </a:p>
          <a:p>
            <a:pPr marL="1257300" lvl="2" indent="-342900">
              <a:lnSpc>
                <a:spcPct val="150000"/>
              </a:lnSpc>
              <a:buFont typeface="Arial" panose="020B0604020202020204" pitchFamily="34" charset="0"/>
              <a:buChar char="•"/>
            </a:pPr>
            <a:r>
              <a:rPr kumimoji="1" lang="ko-KR" altLang="en-US" sz="2200" dirty="0">
                <a:latin typeface="Times New Roman" panose="02020603050405020304" pitchFamily="18" charset="0"/>
                <a:cs typeface="Times New Roman" panose="02020603050405020304" pitchFamily="18" charset="0"/>
              </a:rPr>
              <a:t>문제 </a:t>
            </a:r>
            <a:r>
              <a:rPr kumimoji="1" lang="en-US" altLang="ko-KR" sz="2200" dirty="0">
                <a:latin typeface="Times New Roman" panose="02020603050405020304" pitchFamily="18" charset="0"/>
                <a:cs typeface="Times New Roman" panose="02020603050405020304" pitchFamily="18" charset="0"/>
              </a:rPr>
              <a:t>3: distribution sensitivity </a:t>
            </a:r>
          </a:p>
          <a:p>
            <a:pPr marL="1257300" lvl="2" indent="-342900">
              <a:lnSpc>
                <a:spcPct val="150000"/>
              </a:lnSpc>
              <a:buFont typeface="Arial" panose="020B0604020202020204" pitchFamily="34" charset="0"/>
              <a:buChar char="•"/>
            </a:pPr>
            <a:r>
              <a:rPr kumimoji="1" lang="ko-KR" altLang="en-US" sz="2200" b="1" dirty="0">
                <a:latin typeface="Times New Roman" panose="02020603050405020304" pitchFamily="18" charset="0"/>
                <a:cs typeface="Times New Roman" panose="02020603050405020304" pitchFamily="18" charset="0"/>
              </a:rPr>
              <a:t>문제 </a:t>
            </a:r>
            <a:r>
              <a:rPr kumimoji="1" lang="en-US" altLang="ko-KR" sz="2200" b="1" dirty="0">
                <a:latin typeface="Times New Roman" panose="02020603050405020304" pitchFamily="18" charset="0"/>
                <a:cs typeface="Times New Roman" panose="02020603050405020304" pitchFamily="18" charset="0"/>
              </a:rPr>
              <a:t>4: low-rank bottleneck</a:t>
            </a:r>
          </a:p>
          <a:p>
            <a:pPr marL="1257300" lvl="2" indent="-342900">
              <a:lnSpc>
                <a:spcPct val="150000"/>
              </a:lnSpc>
              <a:buFont typeface="Arial" panose="020B0604020202020204" pitchFamily="34" charset="0"/>
              <a:buChar char="•"/>
            </a:pPr>
            <a:endParaRPr kumimoji="1" lang="en-US" altLang="ko-KR" sz="2200" dirty="0">
              <a:latin typeface="Times New Roman" panose="02020603050405020304" pitchFamily="18" charset="0"/>
              <a:cs typeface="Times New Roman" panose="02020603050405020304" pitchFamily="18" charset="0"/>
            </a:endParaRPr>
          </a:p>
        </p:txBody>
      </p:sp>
      <p:pic>
        <p:nvPicPr>
          <p:cNvPr id="2" name="그림 1" descr="텍스트, 스크린샷, 도표, 직사각형이(가) 표시된 사진&#10;&#10;AI 생성 콘텐츠는 정확하지 않을 수 있습니다.">
            <a:extLst>
              <a:ext uri="{FF2B5EF4-FFF2-40B4-BE49-F238E27FC236}">
                <a16:creationId xmlns:a16="http://schemas.microsoft.com/office/drawing/2014/main" id="{8249BE64-F4DE-4DED-9602-9BF5EE2F0CA1}"/>
              </a:ext>
            </a:extLst>
          </p:cNvPr>
          <p:cNvPicPr>
            <a:picLocks noChangeAspect="1"/>
          </p:cNvPicPr>
          <p:nvPr/>
        </p:nvPicPr>
        <p:blipFill>
          <a:blip r:embed="rId3"/>
          <a:srcRect t="-1" r="21569" b="53439"/>
          <a:stretch>
            <a:fillRect/>
          </a:stretch>
        </p:blipFill>
        <p:spPr>
          <a:xfrm>
            <a:off x="184193" y="4067471"/>
            <a:ext cx="5519057" cy="1842970"/>
          </a:xfrm>
          <a:prstGeom prst="rect">
            <a:avLst/>
          </a:prstGeom>
        </p:spPr>
      </p:pic>
      <p:pic>
        <p:nvPicPr>
          <p:cNvPr id="4" name="그림 3" descr="텍스트, 스크린샷, 도표, 직사각형이(가) 표시된 사진&#10;&#10;AI 생성 콘텐츠는 정확하지 않을 수 있습니다.">
            <a:extLst>
              <a:ext uri="{FF2B5EF4-FFF2-40B4-BE49-F238E27FC236}">
                <a16:creationId xmlns:a16="http://schemas.microsoft.com/office/drawing/2014/main" id="{83CA1D9A-E5C9-CF19-AEF3-DFC73DA5169A}"/>
              </a:ext>
            </a:extLst>
          </p:cNvPr>
          <p:cNvPicPr>
            <a:picLocks noChangeAspect="1"/>
          </p:cNvPicPr>
          <p:nvPr/>
        </p:nvPicPr>
        <p:blipFill>
          <a:blip r:embed="rId3"/>
          <a:srcRect t="49424" r="21569" b="6131"/>
          <a:stretch>
            <a:fillRect/>
          </a:stretch>
        </p:blipFill>
        <p:spPr>
          <a:xfrm>
            <a:off x="5978486" y="4017406"/>
            <a:ext cx="6096000" cy="1943100"/>
          </a:xfrm>
          <a:prstGeom prst="rect">
            <a:avLst/>
          </a:prstGeom>
        </p:spPr>
      </p:pic>
      <p:sp>
        <p:nvSpPr>
          <p:cNvPr id="5" name="TextBox 4">
            <a:extLst>
              <a:ext uri="{FF2B5EF4-FFF2-40B4-BE49-F238E27FC236}">
                <a16:creationId xmlns:a16="http://schemas.microsoft.com/office/drawing/2014/main" id="{EAF264BC-5863-ADCF-5DC3-00B2AE1EF06B}"/>
              </a:ext>
            </a:extLst>
          </p:cNvPr>
          <p:cNvSpPr txBox="1"/>
          <p:nvPr/>
        </p:nvSpPr>
        <p:spPr>
          <a:xfrm>
            <a:off x="312903" y="5999023"/>
            <a:ext cx="1819729" cy="400110"/>
          </a:xfrm>
          <a:prstGeom prst="rect">
            <a:avLst/>
          </a:prstGeom>
          <a:noFill/>
        </p:spPr>
        <p:txBody>
          <a:bodyPr wrap="none" rtlCol="0">
            <a:spAutoFit/>
          </a:bodyPr>
          <a:lstStyle/>
          <a:p>
            <a:r>
              <a:rPr kumimoji="1" lang="en-US" altLang="ko-KR" sz="2000" dirty="0"/>
              <a:t>Max rank = N</a:t>
            </a:r>
            <a:endParaRPr kumimoji="1" lang="ko-KR" altLang="en-US" sz="2000" dirty="0"/>
          </a:p>
        </p:txBody>
      </p:sp>
      <p:sp>
        <p:nvSpPr>
          <p:cNvPr id="8" name="TextBox 7">
            <a:extLst>
              <a:ext uri="{FF2B5EF4-FFF2-40B4-BE49-F238E27FC236}">
                <a16:creationId xmlns:a16="http://schemas.microsoft.com/office/drawing/2014/main" id="{3E6B169A-E5C1-F5E6-771B-4735E168EDFE}"/>
              </a:ext>
            </a:extLst>
          </p:cNvPr>
          <p:cNvSpPr txBox="1"/>
          <p:nvPr/>
        </p:nvSpPr>
        <p:spPr>
          <a:xfrm>
            <a:off x="6160384" y="5998684"/>
            <a:ext cx="1778051" cy="400110"/>
          </a:xfrm>
          <a:prstGeom prst="rect">
            <a:avLst/>
          </a:prstGeom>
          <a:noFill/>
        </p:spPr>
        <p:txBody>
          <a:bodyPr wrap="none" rtlCol="0">
            <a:spAutoFit/>
          </a:bodyPr>
          <a:lstStyle/>
          <a:p>
            <a:r>
              <a:rPr kumimoji="1" lang="en-US" altLang="ko-KR" sz="2000" dirty="0"/>
              <a:t>Max rank = d</a:t>
            </a:r>
            <a:endParaRPr kumimoji="1" lang="ko-KR" altLang="en-US" sz="2000" dirty="0"/>
          </a:p>
        </p:txBody>
      </p:sp>
    </p:spTree>
    <p:extLst>
      <p:ext uri="{BB962C8B-B14F-4D97-AF65-F5344CB8AC3E}">
        <p14:creationId xmlns:p14="http://schemas.microsoft.com/office/powerpoint/2010/main" val="12380497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EC4EF7-BA09-74EB-D4E4-43E087BC075E}"/>
            </a:ext>
          </a:extLst>
        </p:cNvPr>
        <p:cNvGrpSpPr/>
        <p:nvPr/>
      </p:nvGrpSpPr>
      <p:grpSpPr>
        <a:xfrm>
          <a:off x="0" y="0"/>
          <a:ext cx="0" cy="0"/>
          <a:chOff x="0" y="0"/>
          <a:chExt cx="0" cy="0"/>
        </a:xfrm>
      </p:grpSpPr>
      <p:sp>
        <p:nvSpPr>
          <p:cNvPr id="27" name="제목 26">
            <a:extLst>
              <a:ext uri="{FF2B5EF4-FFF2-40B4-BE49-F238E27FC236}">
                <a16:creationId xmlns:a16="http://schemas.microsoft.com/office/drawing/2014/main" id="{C2B74FC8-78D7-774E-477B-14FA3FAB0C6A}"/>
              </a:ext>
            </a:extLst>
          </p:cNvPr>
          <p:cNvSpPr>
            <a:spLocks noGrp="1"/>
          </p:cNvSpPr>
          <p:nvPr>
            <p:ph type="title"/>
          </p:nvPr>
        </p:nvSpPr>
        <p:spPr/>
        <p:txBody>
          <a:bodyPr/>
          <a:lstStyle/>
          <a:p>
            <a:r>
              <a:rPr kumimoji="1" lang="en-US" altLang="ko-KR" sz="2800" b="1" dirty="0"/>
              <a:t>3. YOLOv12 - Area Attention</a:t>
            </a:r>
            <a:endParaRPr lang="ko-KR" altLang="en-US" dirty="0"/>
          </a:p>
        </p:txBody>
      </p:sp>
      <p:sp>
        <p:nvSpPr>
          <p:cNvPr id="47" name="내용 개체 틀 2">
            <a:extLst>
              <a:ext uri="{FF2B5EF4-FFF2-40B4-BE49-F238E27FC236}">
                <a16:creationId xmlns:a16="http://schemas.microsoft.com/office/drawing/2014/main" id="{3A862568-1205-F1D5-4EDC-1D0F5B78C2AB}"/>
              </a:ext>
            </a:extLst>
          </p:cNvPr>
          <p:cNvSpPr txBox="1">
            <a:spLocks/>
          </p:cNvSpPr>
          <p:nvPr/>
        </p:nvSpPr>
        <p:spPr>
          <a:xfrm>
            <a:off x="117514" y="852966"/>
            <a:ext cx="11952383" cy="5438047"/>
          </a:xfrm>
          <a:prstGeom prst="rect">
            <a:avLst/>
          </a:prstGeom>
        </p:spPr>
        <p:txBody>
          <a:bodyPr vert="horz" lIns="91440" tIns="45720" rIns="91440" bIns="45720" rtlCol="0">
            <a:normAutofit/>
          </a:bodyPr>
          <a:lstStyle>
            <a:lvl1pPr marL="228600" indent="-228600" algn="l" defTabSz="914400" rtl="0" eaLnBrk="1" latinLnBrk="1"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15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endParaRPr lang="en" altLang="ko-KR" sz="2000" dirty="0"/>
          </a:p>
          <a:p>
            <a:pPr>
              <a:lnSpc>
                <a:spcPct val="150000"/>
              </a:lnSpc>
            </a:pPr>
            <a:endParaRPr kumimoji="1" lang="en" altLang="ko-KR" sz="2000" b="1" dirty="0"/>
          </a:p>
          <a:p>
            <a:pPr>
              <a:lnSpc>
                <a:spcPct val="150000"/>
              </a:lnSpc>
            </a:pPr>
            <a:endParaRPr kumimoji="1" lang="en" altLang="ko-KR" sz="2000" b="1" dirty="0"/>
          </a:p>
          <a:p>
            <a:pPr>
              <a:lnSpc>
                <a:spcPct val="150000"/>
              </a:lnSpc>
            </a:pPr>
            <a:endParaRPr kumimoji="1" lang="en" altLang="ko-KR" sz="2000" b="1" dirty="0"/>
          </a:p>
          <a:p>
            <a:pPr>
              <a:lnSpc>
                <a:spcPct val="150000"/>
              </a:lnSpc>
            </a:pPr>
            <a:endParaRPr kumimoji="1" lang="en" altLang="ko-KR" sz="2000" b="1" dirty="0"/>
          </a:p>
          <a:p>
            <a:pPr>
              <a:lnSpc>
                <a:spcPct val="150000"/>
              </a:lnSpc>
            </a:pPr>
            <a:endParaRPr kumimoji="1" lang="en" altLang="ko-KR" sz="2000" b="1" dirty="0"/>
          </a:p>
          <a:p>
            <a:pPr>
              <a:lnSpc>
                <a:spcPct val="150000"/>
              </a:lnSpc>
            </a:pPr>
            <a:endParaRPr kumimoji="1" lang="en" altLang="ko-KR" sz="2000" b="1" dirty="0"/>
          </a:p>
        </p:txBody>
      </p:sp>
      <p:sp>
        <p:nvSpPr>
          <p:cNvPr id="48" name="TextBox 47">
            <a:extLst>
              <a:ext uri="{FF2B5EF4-FFF2-40B4-BE49-F238E27FC236}">
                <a16:creationId xmlns:a16="http://schemas.microsoft.com/office/drawing/2014/main" id="{1255CA13-F277-BF18-F656-30145F8B1969}"/>
              </a:ext>
            </a:extLst>
          </p:cNvPr>
          <p:cNvSpPr txBox="1"/>
          <p:nvPr/>
        </p:nvSpPr>
        <p:spPr>
          <a:xfrm>
            <a:off x="184193" y="843588"/>
            <a:ext cx="11952383" cy="1554977"/>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kumimoji="1" lang="ko-KR" altLang="en-US" sz="2200" b="0" dirty="0">
                <a:latin typeface="Times New Roman" panose="02020603050405020304" pitchFamily="18" charset="0"/>
                <a:cs typeface="Times New Roman" panose="02020603050405020304" pitchFamily="18" charset="0"/>
              </a:rPr>
              <a:t>그러면 </a:t>
            </a:r>
            <a:r>
              <a:rPr kumimoji="1" lang="en-US" altLang="ko-KR" sz="2200" b="0" dirty="0">
                <a:latin typeface="Times New Roman" panose="02020603050405020304" pitchFamily="18" charset="0"/>
                <a:cs typeface="Times New Roman" panose="02020603050405020304" pitchFamily="18" charset="0"/>
              </a:rPr>
              <a:t>vanilla attention</a:t>
            </a:r>
            <a:r>
              <a:rPr kumimoji="1" lang="ko-KR" altLang="en-US" sz="2200" b="0" dirty="0">
                <a:latin typeface="Times New Roman" panose="02020603050405020304" pitchFamily="18" charset="0"/>
                <a:cs typeface="Times New Roman" panose="02020603050405020304" pitchFamily="18" charset="0"/>
              </a:rPr>
              <a:t>의 </a:t>
            </a:r>
            <a:r>
              <a:rPr kumimoji="1" lang="en-US" altLang="ko-KR" sz="2200" b="0" dirty="0">
                <a:latin typeface="Times New Roman" panose="02020603050405020304" pitchFamily="18" charset="0"/>
                <a:cs typeface="Times New Roman" panose="02020603050405020304" pitchFamily="18" charset="0"/>
              </a:rPr>
              <a:t>computational cost</a:t>
            </a:r>
            <a:r>
              <a:rPr kumimoji="1" lang="ko-KR" altLang="en-US" sz="2200" b="0" dirty="0" err="1">
                <a:latin typeface="Times New Roman" panose="02020603050405020304" pitchFamily="18" charset="0"/>
                <a:cs typeface="Times New Roman" panose="02020603050405020304" pitchFamily="18" charset="0"/>
              </a:rPr>
              <a:t>를</a:t>
            </a:r>
            <a:r>
              <a:rPr kumimoji="1" lang="ko-KR" altLang="en-US" sz="2200" b="0" dirty="0">
                <a:latin typeface="Times New Roman" panose="02020603050405020304" pitchFamily="18" charset="0"/>
                <a:cs typeface="Times New Roman" panose="02020603050405020304" pitchFamily="18" charset="0"/>
              </a:rPr>
              <a:t> 어떻게 줄일 수 있을까</a:t>
            </a:r>
            <a:r>
              <a:rPr kumimoji="1" lang="en-US" altLang="ko-KR" sz="2200" b="0" dirty="0">
                <a:latin typeface="Times New Roman" panose="02020603050405020304" pitchFamily="18" charset="0"/>
                <a:cs typeface="Times New Roman" panose="02020603050405020304" pitchFamily="18" charset="0"/>
              </a:rPr>
              <a:t>?</a:t>
            </a:r>
          </a:p>
          <a:p>
            <a:pPr marL="800100" lvl="1" indent="-342900">
              <a:lnSpc>
                <a:spcPct val="150000"/>
              </a:lnSpc>
              <a:buFont typeface="Arial" panose="020B0604020202020204" pitchFamily="34" charset="0"/>
              <a:buChar char="•"/>
            </a:pPr>
            <a:r>
              <a:rPr kumimoji="1" lang="ko-KR" altLang="en-US" sz="2200" dirty="0">
                <a:latin typeface="Times New Roman" panose="02020603050405020304" pitchFamily="18" charset="0"/>
                <a:cs typeface="Times New Roman" panose="02020603050405020304" pitchFamily="18" charset="0"/>
              </a:rPr>
              <a:t>방법 </a:t>
            </a:r>
            <a:r>
              <a:rPr kumimoji="1" lang="en-US" altLang="ko-KR" sz="2200" dirty="0">
                <a:latin typeface="Times New Roman" panose="02020603050405020304" pitchFamily="18" charset="0"/>
                <a:cs typeface="Times New Roman" panose="02020603050405020304" pitchFamily="18" charset="0"/>
              </a:rPr>
              <a:t>1: kernel-based linear attention</a:t>
            </a:r>
          </a:p>
          <a:p>
            <a:pPr marL="800100" lvl="1" indent="-342900">
              <a:lnSpc>
                <a:spcPct val="150000"/>
              </a:lnSpc>
              <a:buFont typeface="Arial" panose="020B0604020202020204" pitchFamily="34" charset="0"/>
              <a:buChar char="•"/>
            </a:pPr>
            <a:r>
              <a:rPr kumimoji="1" lang="ko-KR" altLang="en-US" sz="2200" b="1" dirty="0">
                <a:latin typeface="Times New Roman" panose="02020603050405020304" pitchFamily="18" charset="0"/>
                <a:cs typeface="Times New Roman" panose="02020603050405020304" pitchFamily="18" charset="0"/>
              </a:rPr>
              <a:t>방법 </a:t>
            </a:r>
            <a:r>
              <a:rPr kumimoji="1" lang="en-US" altLang="ko-KR" sz="2200" b="1" dirty="0">
                <a:latin typeface="Times New Roman" panose="02020603050405020304" pitchFamily="18" charset="0"/>
                <a:cs typeface="Times New Roman" panose="02020603050405020304" pitchFamily="18" charset="0"/>
              </a:rPr>
              <a:t>2: local attention mechanism (transforms global attention into local)</a:t>
            </a:r>
          </a:p>
        </p:txBody>
      </p:sp>
      <p:pic>
        <p:nvPicPr>
          <p:cNvPr id="2" name="그림 1">
            <a:extLst>
              <a:ext uri="{FF2B5EF4-FFF2-40B4-BE49-F238E27FC236}">
                <a16:creationId xmlns:a16="http://schemas.microsoft.com/office/drawing/2014/main" id="{13B90AD2-EF98-9197-8928-F88E910FF56F}"/>
              </a:ext>
            </a:extLst>
          </p:cNvPr>
          <p:cNvPicPr>
            <a:picLocks noChangeAspect="1"/>
          </p:cNvPicPr>
          <p:nvPr/>
        </p:nvPicPr>
        <p:blipFill>
          <a:blip r:embed="rId3"/>
          <a:stretch>
            <a:fillRect/>
          </a:stretch>
        </p:blipFill>
        <p:spPr>
          <a:xfrm>
            <a:off x="600540" y="2870209"/>
            <a:ext cx="10986329" cy="3333389"/>
          </a:xfrm>
          <a:prstGeom prst="rect">
            <a:avLst/>
          </a:prstGeom>
        </p:spPr>
      </p:pic>
    </p:spTree>
    <p:extLst>
      <p:ext uri="{BB962C8B-B14F-4D97-AF65-F5344CB8AC3E}">
        <p14:creationId xmlns:p14="http://schemas.microsoft.com/office/powerpoint/2010/main" val="224887263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그림 1">
            <a:extLst>
              <a:ext uri="{FF2B5EF4-FFF2-40B4-BE49-F238E27FC236}">
                <a16:creationId xmlns:a16="http://schemas.microsoft.com/office/drawing/2014/main" id="{ACAD346B-4A3E-4D16-D344-C9F00014385A}"/>
              </a:ext>
            </a:extLst>
          </p:cNvPr>
          <p:cNvPicPr>
            <a:picLocks noChangeAspect="1"/>
          </p:cNvPicPr>
          <p:nvPr/>
        </p:nvPicPr>
        <p:blipFill>
          <a:blip r:embed="rId2"/>
          <a:srcRect l="60595" t="3254" r="21679" b="39162"/>
          <a:stretch>
            <a:fillRect/>
          </a:stretch>
        </p:blipFill>
        <p:spPr>
          <a:xfrm>
            <a:off x="540378" y="118508"/>
            <a:ext cx="2799727" cy="2759580"/>
          </a:xfrm>
          <a:prstGeom prst="rect">
            <a:avLst/>
          </a:prstGeom>
        </p:spPr>
      </p:pic>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D1BFF6E9-928D-3EDC-B6B1-102F4D6F9F4A}"/>
                  </a:ext>
                </a:extLst>
              </p:cNvPr>
              <p:cNvSpPr txBox="1"/>
              <p:nvPr/>
            </p:nvSpPr>
            <p:spPr>
              <a:xfrm>
                <a:off x="-71765" y="1294567"/>
                <a:ext cx="540276" cy="4770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kumimoji="1" lang="en-US" altLang="ko-KR" sz="2500" b="0" i="1" smtClean="0">
                          <a:latin typeface="Cambria Math" panose="02040503050406030204" pitchFamily="18" charset="0"/>
                        </a:rPr>
                        <m:t>𝐻</m:t>
                      </m:r>
                    </m:oMath>
                  </m:oMathPara>
                </a14:m>
                <a:endParaRPr kumimoji="1" lang="ko-KR" altLang="en-US" sz="2500" dirty="0"/>
              </a:p>
            </p:txBody>
          </p:sp>
        </mc:Choice>
        <mc:Fallback>
          <p:sp>
            <p:nvSpPr>
              <p:cNvPr id="3" name="TextBox 2">
                <a:extLst>
                  <a:ext uri="{FF2B5EF4-FFF2-40B4-BE49-F238E27FC236}">
                    <a16:creationId xmlns:a16="http://schemas.microsoft.com/office/drawing/2014/main" id="{D1BFF6E9-928D-3EDC-B6B1-102F4D6F9F4A}"/>
                  </a:ext>
                </a:extLst>
              </p:cNvPr>
              <p:cNvSpPr txBox="1">
                <a:spLocks noRot="1" noChangeAspect="1" noMove="1" noResize="1" noEditPoints="1" noAdjustHandles="1" noChangeArrowheads="1" noChangeShapeType="1" noTextEdit="1"/>
              </p:cNvSpPr>
              <p:nvPr/>
            </p:nvSpPr>
            <p:spPr>
              <a:xfrm>
                <a:off x="-71765" y="1294567"/>
                <a:ext cx="540276" cy="477054"/>
              </a:xfrm>
              <a:prstGeom prst="rect">
                <a:avLst/>
              </a:prstGeom>
              <a:blipFill>
                <a:blip r:embed="rId3"/>
                <a:stretch>
                  <a:fillRect/>
                </a:stretch>
              </a:blipFill>
            </p:spPr>
            <p:txBody>
              <a:bodyPr/>
              <a:lstStyle/>
              <a:p>
                <a:r>
                  <a:rPr lang="ko-KR" altLang="en-US">
                    <a:noFill/>
                  </a:rPr>
                  <a:t> </a:t>
                </a:r>
              </a:p>
            </p:txBody>
          </p:sp>
        </mc:Fallback>
      </mc:AlternateContent>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68EF6846-91CC-2DD1-88CA-51E50EC058EC}"/>
                  </a:ext>
                </a:extLst>
              </p:cNvPr>
              <p:cNvSpPr txBox="1"/>
              <p:nvPr/>
            </p:nvSpPr>
            <p:spPr>
              <a:xfrm>
                <a:off x="1692705" y="2958405"/>
                <a:ext cx="495071" cy="4770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kumimoji="1" lang="en-US" altLang="ko-KR" sz="2500" b="0" i="1" smtClean="0">
                          <a:latin typeface="Cambria Math" panose="02040503050406030204" pitchFamily="18" charset="0"/>
                        </a:rPr>
                        <m:t>𝑊</m:t>
                      </m:r>
                    </m:oMath>
                  </m:oMathPara>
                </a14:m>
                <a:endParaRPr kumimoji="1" lang="ko-KR" altLang="en-US" sz="2500" dirty="0"/>
              </a:p>
            </p:txBody>
          </p:sp>
        </mc:Choice>
        <mc:Fallback>
          <p:sp>
            <p:nvSpPr>
              <p:cNvPr id="4" name="TextBox 3">
                <a:extLst>
                  <a:ext uri="{FF2B5EF4-FFF2-40B4-BE49-F238E27FC236}">
                    <a16:creationId xmlns:a16="http://schemas.microsoft.com/office/drawing/2014/main" id="{68EF6846-91CC-2DD1-88CA-51E50EC058EC}"/>
                  </a:ext>
                </a:extLst>
              </p:cNvPr>
              <p:cNvSpPr txBox="1">
                <a:spLocks noRot="1" noChangeAspect="1" noMove="1" noResize="1" noEditPoints="1" noAdjustHandles="1" noChangeArrowheads="1" noChangeShapeType="1" noTextEdit="1"/>
              </p:cNvSpPr>
              <p:nvPr/>
            </p:nvSpPr>
            <p:spPr>
              <a:xfrm>
                <a:off x="1692705" y="2958405"/>
                <a:ext cx="495071" cy="477054"/>
              </a:xfrm>
              <a:prstGeom prst="rect">
                <a:avLst/>
              </a:prstGeom>
              <a:blipFill>
                <a:blip r:embed="rId4"/>
                <a:stretch>
                  <a:fillRect l="-5000"/>
                </a:stretch>
              </a:blipFill>
            </p:spPr>
            <p:txBody>
              <a:bodyPr/>
              <a:lstStyle/>
              <a:p>
                <a:r>
                  <a:rPr lang="ko-KR" altLang="en-US">
                    <a:noFill/>
                  </a:rPr>
                  <a:t> </a:t>
                </a:r>
              </a:p>
            </p:txBody>
          </p:sp>
        </mc:Fallback>
      </mc:AlternateContent>
      <p:sp>
        <p:nvSpPr>
          <p:cNvPr id="5" name="TextBox 4">
            <a:extLst>
              <a:ext uri="{FF2B5EF4-FFF2-40B4-BE49-F238E27FC236}">
                <a16:creationId xmlns:a16="http://schemas.microsoft.com/office/drawing/2014/main" id="{773B92A1-51F5-C2F1-D2F3-B8BA8275FF92}"/>
              </a:ext>
            </a:extLst>
          </p:cNvPr>
          <p:cNvSpPr txBox="1"/>
          <p:nvPr/>
        </p:nvSpPr>
        <p:spPr>
          <a:xfrm rot="16200000">
            <a:off x="1602015" y="-931149"/>
            <a:ext cx="721970" cy="2799727"/>
          </a:xfrm>
          <a:prstGeom prst="rect">
            <a:avLst/>
          </a:prstGeom>
          <a:noFill/>
          <a:ln w="25400">
            <a:solidFill>
              <a:srgbClr val="FF0000"/>
            </a:solidFill>
          </a:ln>
        </p:spPr>
        <p:txBody>
          <a:bodyPr wrap="square" rtlCol="0">
            <a:spAutoFit/>
          </a:bodyPr>
          <a:lstStyle/>
          <a:p>
            <a:endParaRPr kumimoji="1" lang="ko-KR" altLang="en-US" dirty="0"/>
          </a:p>
        </p:txBody>
      </p:sp>
      <p:sp>
        <p:nvSpPr>
          <p:cNvPr id="6" name="TextBox 5">
            <a:extLst>
              <a:ext uri="{FF2B5EF4-FFF2-40B4-BE49-F238E27FC236}">
                <a16:creationId xmlns:a16="http://schemas.microsoft.com/office/drawing/2014/main" id="{ECDD48AE-C019-7A5F-60B9-0B36C3D93F43}"/>
              </a:ext>
            </a:extLst>
          </p:cNvPr>
          <p:cNvSpPr txBox="1"/>
          <p:nvPr/>
        </p:nvSpPr>
        <p:spPr>
          <a:xfrm rot="16200000">
            <a:off x="1607098" y="-221718"/>
            <a:ext cx="721970" cy="2789559"/>
          </a:xfrm>
          <a:prstGeom prst="rect">
            <a:avLst/>
          </a:prstGeom>
          <a:noFill/>
          <a:ln w="38100">
            <a:solidFill>
              <a:srgbClr val="FF0000"/>
            </a:solidFill>
          </a:ln>
        </p:spPr>
        <p:txBody>
          <a:bodyPr wrap="square" rtlCol="0">
            <a:spAutoFit/>
          </a:bodyPr>
          <a:lstStyle/>
          <a:p>
            <a:endParaRPr kumimoji="1" lang="ko-KR" altLang="en-US" dirty="0"/>
          </a:p>
        </p:txBody>
      </p:sp>
      <p:sp>
        <p:nvSpPr>
          <p:cNvPr id="8" name="TextBox 7">
            <a:extLst>
              <a:ext uri="{FF2B5EF4-FFF2-40B4-BE49-F238E27FC236}">
                <a16:creationId xmlns:a16="http://schemas.microsoft.com/office/drawing/2014/main" id="{1422DC3D-137F-7B89-4990-6ECF4EED3381}"/>
              </a:ext>
            </a:extLst>
          </p:cNvPr>
          <p:cNvSpPr txBox="1"/>
          <p:nvPr/>
        </p:nvSpPr>
        <p:spPr>
          <a:xfrm rot="16200000">
            <a:off x="1602014" y="494216"/>
            <a:ext cx="721970" cy="2799727"/>
          </a:xfrm>
          <a:prstGeom prst="rect">
            <a:avLst/>
          </a:prstGeom>
          <a:noFill/>
          <a:ln w="25400">
            <a:solidFill>
              <a:srgbClr val="FF0000"/>
            </a:solidFill>
          </a:ln>
        </p:spPr>
        <p:txBody>
          <a:bodyPr wrap="square" rtlCol="0">
            <a:spAutoFit/>
          </a:bodyPr>
          <a:lstStyle/>
          <a:p>
            <a:endParaRPr kumimoji="1" lang="ko-KR" altLang="en-US" dirty="0"/>
          </a:p>
        </p:txBody>
      </p:sp>
      <p:sp>
        <p:nvSpPr>
          <p:cNvPr id="9" name="TextBox 8">
            <a:extLst>
              <a:ext uri="{FF2B5EF4-FFF2-40B4-BE49-F238E27FC236}">
                <a16:creationId xmlns:a16="http://schemas.microsoft.com/office/drawing/2014/main" id="{B85929DE-51C5-C571-20F0-49879BF6695F}"/>
              </a:ext>
            </a:extLst>
          </p:cNvPr>
          <p:cNvSpPr txBox="1"/>
          <p:nvPr/>
        </p:nvSpPr>
        <p:spPr>
          <a:xfrm rot="16200000">
            <a:off x="1646396" y="1166210"/>
            <a:ext cx="624030" cy="2799727"/>
          </a:xfrm>
          <a:prstGeom prst="rect">
            <a:avLst/>
          </a:prstGeom>
          <a:noFill/>
          <a:ln w="25400">
            <a:solidFill>
              <a:srgbClr val="FF0000"/>
            </a:solidFill>
          </a:ln>
        </p:spPr>
        <p:txBody>
          <a:bodyPr wrap="square" rtlCol="0">
            <a:spAutoFit/>
          </a:bodyPr>
          <a:lstStyle/>
          <a:p>
            <a:endParaRPr kumimoji="1" lang="ko-KR" altLang="en-US" dirty="0"/>
          </a:p>
        </p:txBody>
      </p:sp>
      <p:pic>
        <p:nvPicPr>
          <p:cNvPr id="14" name="그림 13">
            <a:extLst>
              <a:ext uri="{FF2B5EF4-FFF2-40B4-BE49-F238E27FC236}">
                <a16:creationId xmlns:a16="http://schemas.microsoft.com/office/drawing/2014/main" id="{9E55D90E-DFA4-21D5-6E2E-80C96A598A35}"/>
              </a:ext>
            </a:extLst>
          </p:cNvPr>
          <p:cNvPicPr>
            <a:picLocks noChangeAspect="1"/>
          </p:cNvPicPr>
          <p:nvPr/>
        </p:nvPicPr>
        <p:blipFill>
          <a:blip r:embed="rId2"/>
          <a:srcRect l="60640" t="18318" r="21470" b="67865"/>
          <a:stretch>
            <a:fillRect/>
          </a:stretch>
        </p:blipFill>
        <p:spPr>
          <a:xfrm>
            <a:off x="7753398" y="1662872"/>
            <a:ext cx="2766802" cy="648348"/>
          </a:xfrm>
          <a:prstGeom prst="rect">
            <a:avLst/>
          </a:prstGeom>
        </p:spPr>
      </p:pic>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E1C19F3B-7500-3020-3637-F47042FA879E}"/>
                  </a:ext>
                </a:extLst>
              </p:cNvPr>
              <p:cNvSpPr txBox="1"/>
              <p:nvPr/>
            </p:nvSpPr>
            <p:spPr>
              <a:xfrm>
                <a:off x="7003537" y="1596773"/>
                <a:ext cx="768031" cy="119481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kumimoji="1" lang="en-US" altLang="ko-KR" sz="2500" b="0" i="1" smtClean="0">
                              <a:latin typeface="Cambria Math" panose="02040503050406030204" pitchFamily="18" charset="0"/>
                            </a:rPr>
                          </m:ctrlPr>
                        </m:fPr>
                        <m:num>
                          <m:r>
                            <a:rPr kumimoji="1" lang="en-US" altLang="ko-KR" sz="2500" b="0" i="1" smtClean="0">
                              <a:latin typeface="Cambria Math" panose="02040503050406030204" pitchFamily="18" charset="0"/>
                            </a:rPr>
                            <m:t>𝐻</m:t>
                          </m:r>
                        </m:num>
                        <m:den>
                          <m:r>
                            <a:rPr kumimoji="1" lang="en-US" altLang="ko-KR" sz="2500" b="0" i="1" smtClean="0">
                              <a:latin typeface="Cambria Math" panose="02040503050406030204" pitchFamily="18" charset="0"/>
                            </a:rPr>
                            <m:t>4</m:t>
                          </m:r>
                        </m:den>
                      </m:f>
                    </m:oMath>
                  </m:oMathPara>
                </a14:m>
                <a:endParaRPr kumimoji="1" lang="en-US" altLang="ko-KR" sz="2500" b="0" dirty="0"/>
              </a:p>
              <a:p>
                <a:endParaRPr kumimoji="1" lang="ko-KR" altLang="en-US" sz="2500" dirty="0"/>
              </a:p>
            </p:txBody>
          </p:sp>
        </mc:Choice>
        <mc:Fallback xmlns="">
          <p:sp>
            <p:nvSpPr>
              <p:cNvPr id="15" name="TextBox 14">
                <a:extLst>
                  <a:ext uri="{FF2B5EF4-FFF2-40B4-BE49-F238E27FC236}">
                    <a16:creationId xmlns:a16="http://schemas.microsoft.com/office/drawing/2014/main" id="{E1C19F3B-7500-3020-3637-F47042FA879E}"/>
                  </a:ext>
                </a:extLst>
              </p:cNvPr>
              <p:cNvSpPr txBox="1">
                <a:spLocks noRot="1" noChangeAspect="1" noMove="1" noResize="1" noEditPoints="1" noAdjustHandles="1" noChangeArrowheads="1" noChangeShapeType="1" noTextEdit="1"/>
              </p:cNvSpPr>
              <p:nvPr/>
            </p:nvSpPr>
            <p:spPr>
              <a:xfrm>
                <a:off x="7003537" y="1596773"/>
                <a:ext cx="768031" cy="1194814"/>
              </a:xfrm>
              <a:prstGeom prst="rect">
                <a:avLst/>
              </a:prstGeom>
              <a:blipFill>
                <a:blip r:embed="rId5"/>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F795FBCA-B91D-E92A-6359-3F397D259B38}"/>
                  </a:ext>
                </a:extLst>
              </p:cNvPr>
              <p:cNvSpPr txBox="1"/>
              <p:nvPr/>
            </p:nvSpPr>
            <p:spPr>
              <a:xfrm>
                <a:off x="8912564" y="2309234"/>
                <a:ext cx="495071" cy="4770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kumimoji="1" lang="en-US" altLang="ko-KR" sz="2500" b="0" i="1" smtClean="0">
                          <a:latin typeface="Cambria Math" panose="02040503050406030204" pitchFamily="18" charset="0"/>
                        </a:rPr>
                        <m:t>𝑊</m:t>
                      </m:r>
                    </m:oMath>
                  </m:oMathPara>
                </a14:m>
                <a:endParaRPr kumimoji="1" lang="ko-KR" altLang="en-US" sz="2500" dirty="0"/>
              </a:p>
            </p:txBody>
          </p:sp>
        </mc:Choice>
        <mc:Fallback xmlns="">
          <p:sp>
            <p:nvSpPr>
              <p:cNvPr id="16" name="TextBox 15">
                <a:extLst>
                  <a:ext uri="{FF2B5EF4-FFF2-40B4-BE49-F238E27FC236}">
                    <a16:creationId xmlns:a16="http://schemas.microsoft.com/office/drawing/2014/main" id="{F795FBCA-B91D-E92A-6359-3F397D259B38}"/>
                  </a:ext>
                </a:extLst>
              </p:cNvPr>
              <p:cNvSpPr txBox="1">
                <a:spLocks noRot="1" noChangeAspect="1" noMove="1" noResize="1" noEditPoints="1" noAdjustHandles="1" noChangeArrowheads="1" noChangeShapeType="1" noTextEdit="1"/>
              </p:cNvSpPr>
              <p:nvPr/>
            </p:nvSpPr>
            <p:spPr>
              <a:xfrm>
                <a:off x="8912564" y="2309234"/>
                <a:ext cx="495071" cy="477054"/>
              </a:xfrm>
              <a:prstGeom prst="rect">
                <a:avLst/>
              </a:prstGeom>
              <a:blipFill>
                <a:blip r:embed="rId6"/>
                <a:stretch>
                  <a:fillRect l="-2500" r="-2500"/>
                </a:stretch>
              </a:blipFill>
            </p:spPr>
            <p:txBody>
              <a:bodyPr/>
              <a:lstStyle/>
              <a:p>
                <a:r>
                  <a:rPr lang="ko-KR" altLang="en-US">
                    <a:noFill/>
                  </a:rPr>
                  <a:t> </a:t>
                </a:r>
              </a:p>
            </p:txBody>
          </p:sp>
        </mc:Fallback>
      </mc:AlternateContent>
      <mc:AlternateContent xmlns:mc="http://schemas.openxmlformats.org/markup-compatibility/2006">
        <mc:Choice xmlns:a14="http://schemas.microsoft.com/office/drawing/2010/main" Requires="a14">
          <p:sp>
            <p:nvSpPr>
              <p:cNvPr id="17" name="TextBox 16">
                <a:extLst>
                  <a:ext uri="{FF2B5EF4-FFF2-40B4-BE49-F238E27FC236}">
                    <a16:creationId xmlns:a16="http://schemas.microsoft.com/office/drawing/2014/main" id="{5C340619-FFEB-BA11-3AC7-076AFEAECD2C}"/>
                  </a:ext>
                </a:extLst>
              </p:cNvPr>
              <p:cNvSpPr txBox="1"/>
              <p:nvPr/>
            </p:nvSpPr>
            <p:spPr>
              <a:xfrm>
                <a:off x="4688664" y="69186"/>
                <a:ext cx="7503336" cy="1155060"/>
              </a:xfrm>
              <a:prstGeom prst="rect">
                <a:avLst/>
              </a:prstGeom>
              <a:noFill/>
            </p:spPr>
            <p:txBody>
              <a:bodyPr wrap="none" rtlCol="0">
                <a:spAutoFit/>
              </a:bodyPr>
              <a:lstStyle/>
              <a:p>
                <a:pPr>
                  <a:lnSpc>
                    <a:spcPct val="150000"/>
                  </a:lnSpc>
                </a:pPr>
                <a:r>
                  <a:rPr kumimoji="1" lang="en-US" altLang="ko-KR" sz="2000" dirty="0"/>
                  <a:t>“The feature map with the resolution of </a:t>
                </a:r>
                <a14:m>
                  <m:oMath xmlns:m="http://schemas.openxmlformats.org/officeDocument/2006/math">
                    <m:r>
                      <a:rPr kumimoji="1" lang="en-US" altLang="ko-KR" sz="2000" b="0" i="1" smtClean="0">
                        <a:latin typeface="Cambria Math" panose="02040503050406030204" pitchFamily="18" charset="0"/>
                      </a:rPr>
                      <m:t>(</m:t>
                    </m:r>
                    <m:r>
                      <a:rPr kumimoji="1" lang="en-US" altLang="ko-KR" sz="2000" b="0" i="1" smtClean="0">
                        <a:latin typeface="Cambria Math" panose="02040503050406030204" pitchFamily="18" charset="0"/>
                      </a:rPr>
                      <m:t>𝐻</m:t>
                    </m:r>
                    <m:r>
                      <a:rPr kumimoji="1" lang="en-US" altLang="ko-KR" sz="2000" b="0" i="1" smtClean="0">
                        <a:latin typeface="Cambria Math" panose="02040503050406030204" pitchFamily="18" charset="0"/>
                      </a:rPr>
                      <m:t>,</m:t>
                    </m:r>
                    <m:r>
                      <a:rPr kumimoji="1" lang="en-US" altLang="ko-KR" sz="2000" b="0" i="1" smtClean="0">
                        <a:latin typeface="Cambria Math" panose="02040503050406030204" pitchFamily="18" charset="0"/>
                      </a:rPr>
                      <m:t>𝑊</m:t>
                    </m:r>
                    <m:r>
                      <a:rPr kumimoji="1" lang="en-US" altLang="ko-KR" sz="2000" b="0" i="1" smtClean="0">
                        <a:latin typeface="Cambria Math" panose="02040503050406030204" pitchFamily="18" charset="0"/>
                      </a:rPr>
                      <m:t>)</m:t>
                    </m:r>
                  </m:oMath>
                </a14:m>
                <a:r>
                  <a:rPr kumimoji="1" lang="en-US" altLang="ko-KR" sz="2000" dirty="0"/>
                  <a:t> is divided into </a:t>
                </a:r>
              </a:p>
              <a:p>
                <a:pPr>
                  <a:lnSpc>
                    <a:spcPct val="150000"/>
                  </a:lnSpc>
                </a:pPr>
                <a14:m>
                  <m:oMath xmlns:m="http://schemas.openxmlformats.org/officeDocument/2006/math">
                    <m:r>
                      <a:rPr kumimoji="1" lang="en-US" altLang="ko-KR" sz="2000" b="0" i="1" smtClean="0">
                        <a:latin typeface="Cambria Math" panose="02040503050406030204" pitchFamily="18" charset="0"/>
                      </a:rPr>
                      <m:t>𝑙</m:t>
                    </m:r>
                    <m:r>
                      <a:rPr kumimoji="1" lang="en-US" altLang="ko-KR" sz="2000" b="0" i="1" smtClean="0">
                        <a:latin typeface="Cambria Math" panose="02040503050406030204" pitchFamily="18" charset="0"/>
                      </a:rPr>
                      <m:t>=4</m:t>
                    </m:r>
                  </m:oMath>
                </a14:m>
                <a:r>
                  <a:rPr kumimoji="1" lang="en-US" altLang="ko-KR" sz="2000" dirty="0"/>
                  <a:t> (default value) segments of size </a:t>
                </a:r>
                <a14:m>
                  <m:oMath xmlns:m="http://schemas.openxmlformats.org/officeDocument/2006/math">
                    <m:r>
                      <a:rPr kumimoji="1" lang="en-US" altLang="ko-KR" sz="2000" i="1">
                        <a:latin typeface="Cambria Math" panose="02040503050406030204" pitchFamily="18" charset="0"/>
                      </a:rPr>
                      <m:t>(</m:t>
                    </m:r>
                    <m:f>
                      <m:fPr>
                        <m:ctrlPr>
                          <a:rPr kumimoji="1" lang="en-US" altLang="ko-KR" sz="2000" b="0" i="1" smtClean="0">
                            <a:latin typeface="Cambria Math" panose="02040503050406030204" pitchFamily="18" charset="0"/>
                          </a:rPr>
                        </m:ctrlPr>
                      </m:fPr>
                      <m:num>
                        <m:r>
                          <a:rPr kumimoji="1" lang="en-US" altLang="ko-KR" sz="2000" i="1">
                            <a:latin typeface="Cambria Math" panose="02040503050406030204" pitchFamily="18" charset="0"/>
                          </a:rPr>
                          <m:t>𝐻</m:t>
                        </m:r>
                      </m:num>
                      <m:den>
                        <m:r>
                          <a:rPr kumimoji="1" lang="en-US" altLang="ko-KR" sz="2000" b="0" i="1" smtClean="0">
                            <a:latin typeface="Cambria Math" panose="02040503050406030204" pitchFamily="18" charset="0"/>
                          </a:rPr>
                          <m:t>𝑙</m:t>
                        </m:r>
                      </m:den>
                    </m:f>
                    <m:r>
                      <a:rPr kumimoji="1" lang="en-US" altLang="ko-KR" sz="2000" i="1">
                        <a:latin typeface="Cambria Math" panose="02040503050406030204" pitchFamily="18" charset="0"/>
                      </a:rPr>
                      <m:t>,</m:t>
                    </m:r>
                    <m:r>
                      <a:rPr kumimoji="1" lang="en-US" altLang="ko-KR" sz="2000" i="1">
                        <a:latin typeface="Cambria Math" panose="02040503050406030204" pitchFamily="18" charset="0"/>
                      </a:rPr>
                      <m:t>𝑊</m:t>
                    </m:r>
                    <m:r>
                      <a:rPr kumimoji="1" lang="en-US" altLang="ko-KR" sz="2000" i="1">
                        <a:latin typeface="Cambria Math" panose="02040503050406030204" pitchFamily="18" charset="0"/>
                      </a:rPr>
                      <m:t>)</m:t>
                    </m:r>
                  </m:oMath>
                </a14:m>
                <a:r>
                  <a:rPr kumimoji="1" lang="en-US" altLang="ko-KR" sz="2000" dirty="0"/>
                  <a:t>.“</a:t>
                </a:r>
                <a:endParaRPr kumimoji="1" lang="ko-KR" altLang="en-US" sz="2000" dirty="0"/>
              </a:p>
            </p:txBody>
          </p:sp>
        </mc:Choice>
        <mc:Fallback>
          <p:sp>
            <p:nvSpPr>
              <p:cNvPr id="17" name="TextBox 16">
                <a:extLst>
                  <a:ext uri="{FF2B5EF4-FFF2-40B4-BE49-F238E27FC236}">
                    <a16:creationId xmlns:a16="http://schemas.microsoft.com/office/drawing/2014/main" id="{5C340619-FFEB-BA11-3AC7-076AFEAECD2C}"/>
                  </a:ext>
                </a:extLst>
              </p:cNvPr>
              <p:cNvSpPr txBox="1">
                <a:spLocks noRot="1" noChangeAspect="1" noMove="1" noResize="1" noEditPoints="1" noAdjustHandles="1" noChangeArrowheads="1" noChangeShapeType="1" noTextEdit="1"/>
              </p:cNvSpPr>
              <p:nvPr/>
            </p:nvSpPr>
            <p:spPr>
              <a:xfrm>
                <a:off x="4688664" y="69186"/>
                <a:ext cx="7503336" cy="1155060"/>
              </a:xfrm>
              <a:prstGeom prst="rect">
                <a:avLst/>
              </a:prstGeom>
              <a:blipFill>
                <a:blip r:embed="rId7"/>
                <a:stretch>
                  <a:fillRect l="-845" b="-2174"/>
                </a:stretch>
              </a:blipFill>
            </p:spPr>
            <p:txBody>
              <a:bodyPr/>
              <a:lstStyle/>
              <a:p>
                <a:r>
                  <a:rPr lang="ko-KR" altLang="en-US">
                    <a:noFill/>
                  </a:rPr>
                  <a:t> </a:t>
                </a:r>
              </a:p>
            </p:txBody>
          </p:sp>
        </mc:Fallback>
      </mc:AlternateContent>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3A3DBF74-AD0C-E8BC-3DA2-06B78A3B8234}"/>
                  </a:ext>
                </a:extLst>
              </p:cNvPr>
              <p:cNvSpPr txBox="1"/>
              <p:nvPr/>
            </p:nvSpPr>
            <p:spPr>
              <a:xfrm>
                <a:off x="3295854" y="213067"/>
                <a:ext cx="1220013" cy="4770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kumimoji="1" lang="en-US" altLang="ko-KR" sz="2500" b="0" i="1" smtClean="0">
                          <a:latin typeface="Cambria Math" panose="02040503050406030204" pitchFamily="18" charset="0"/>
                        </a:rPr>
                        <m:t>𝑎𝑟𝑒𝑎</m:t>
                      </m:r>
                      <m:r>
                        <a:rPr kumimoji="1" lang="en-US" altLang="ko-KR" sz="2500" b="0" i="1" smtClean="0">
                          <a:latin typeface="Cambria Math" panose="02040503050406030204" pitchFamily="18" charset="0"/>
                        </a:rPr>
                        <m:t> 1</m:t>
                      </m:r>
                    </m:oMath>
                  </m:oMathPara>
                </a14:m>
                <a:endParaRPr kumimoji="1" lang="ko-KR" altLang="en-US" sz="2500" dirty="0"/>
              </a:p>
            </p:txBody>
          </p:sp>
        </mc:Choice>
        <mc:Fallback>
          <p:sp>
            <p:nvSpPr>
              <p:cNvPr id="7" name="TextBox 6">
                <a:extLst>
                  <a:ext uri="{FF2B5EF4-FFF2-40B4-BE49-F238E27FC236}">
                    <a16:creationId xmlns:a16="http://schemas.microsoft.com/office/drawing/2014/main" id="{3A3DBF74-AD0C-E8BC-3DA2-06B78A3B8234}"/>
                  </a:ext>
                </a:extLst>
              </p:cNvPr>
              <p:cNvSpPr txBox="1">
                <a:spLocks noRot="1" noChangeAspect="1" noMove="1" noResize="1" noEditPoints="1" noAdjustHandles="1" noChangeArrowheads="1" noChangeShapeType="1" noTextEdit="1"/>
              </p:cNvSpPr>
              <p:nvPr/>
            </p:nvSpPr>
            <p:spPr>
              <a:xfrm>
                <a:off x="3295854" y="213067"/>
                <a:ext cx="1220013" cy="477054"/>
              </a:xfrm>
              <a:prstGeom prst="rect">
                <a:avLst/>
              </a:prstGeom>
              <a:blipFill>
                <a:blip r:embed="rId8"/>
                <a:stretch>
                  <a:fillRect b="-20513"/>
                </a:stretch>
              </a:blipFill>
            </p:spPr>
            <p:txBody>
              <a:bodyPr/>
              <a:lstStyle/>
              <a:p>
                <a:r>
                  <a:rPr lang="ko-KR" altLang="en-US">
                    <a:noFill/>
                  </a:rPr>
                  <a:t> </a:t>
                </a:r>
              </a:p>
            </p:txBody>
          </p:sp>
        </mc:Fallback>
      </mc:AlternateContent>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784B3513-7C04-A207-D9AF-4FF47B845C06}"/>
                  </a:ext>
                </a:extLst>
              </p:cNvPr>
              <p:cNvSpPr txBox="1"/>
              <p:nvPr/>
            </p:nvSpPr>
            <p:spPr>
              <a:xfrm>
                <a:off x="3295854" y="933078"/>
                <a:ext cx="1220014" cy="4770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kumimoji="1" lang="en-US" altLang="ko-KR" sz="2500" b="0" i="1" smtClean="0">
                          <a:latin typeface="Cambria Math" panose="02040503050406030204" pitchFamily="18" charset="0"/>
                        </a:rPr>
                        <m:t>𝑎𝑟𝑒𝑎</m:t>
                      </m:r>
                      <m:r>
                        <a:rPr kumimoji="1" lang="en-US" altLang="ko-KR" sz="2500" b="0" i="1" smtClean="0">
                          <a:latin typeface="Cambria Math" panose="02040503050406030204" pitchFamily="18" charset="0"/>
                        </a:rPr>
                        <m:t> 2</m:t>
                      </m:r>
                    </m:oMath>
                  </m:oMathPara>
                </a14:m>
                <a:endParaRPr kumimoji="1" lang="ko-KR" altLang="en-US" sz="2500" dirty="0"/>
              </a:p>
            </p:txBody>
          </p:sp>
        </mc:Choice>
        <mc:Fallback>
          <p:sp>
            <p:nvSpPr>
              <p:cNvPr id="10" name="TextBox 9">
                <a:extLst>
                  <a:ext uri="{FF2B5EF4-FFF2-40B4-BE49-F238E27FC236}">
                    <a16:creationId xmlns:a16="http://schemas.microsoft.com/office/drawing/2014/main" id="{784B3513-7C04-A207-D9AF-4FF47B845C06}"/>
                  </a:ext>
                </a:extLst>
              </p:cNvPr>
              <p:cNvSpPr txBox="1">
                <a:spLocks noRot="1" noChangeAspect="1" noMove="1" noResize="1" noEditPoints="1" noAdjustHandles="1" noChangeArrowheads="1" noChangeShapeType="1" noTextEdit="1"/>
              </p:cNvSpPr>
              <p:nvPr/>
            </p:nvSpPr>
            <p:spPr>
              <a:xfrm>
                <a:off x="3295854" y="933078"/>
                <a:ext cx="1220014" cy="477054"/>
              </a:xfrm>
              <a:prstGeom prst="rect">
                <a:avLst/>
              </a:prstGeom>
              <a:blipFill>
                <a:blip r:embed="rId9"/>
                <a:stretch>
                  <a:fillRect b="-23684"/>
                </a:stretch>
              </a:blipFill>
            </p:spPr>
            <p:txBody>
              <a:bodyPr/>
              <a:lstStyle/>
              <a:p>
                <a:r>
                  <a:rPr lang="ko-KR" altLang="en-US">
                    <a:noFill/>
                  </a:rPr>
                  <a:t> </a:t>
                </a:r>
              </a:p>
            </p:txBody>
          </p:sp>
        </mc:Fallback>
      </mc:AlternateContent>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61A3CB58-3041-E5D0-DAA5-99E09271E32D}"/>
                  </a:ext>
                </a:extLst>
              </p:cNvPr>
              <p:cNvSpPr txBox="1"/>
              <p:nvPr/>
            </p:nvSpPr>
            <p:spPr>
              <a:xfrm>
                <a:off x="3295853" y="1662872"/>
                <a:ext cx="1220014" cy="4770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kumimoji="1" lang="en-US" altLang="ko-KR" sz="2500" i="1" smtClean="0">
                          <a:latin typeface="Cambria Math" panose="02040503050406030204" pitchFamily="18" charset="0"/>
                        </a:rPr>
                        <m:t>𝑎𝑟𝑒𝑎</m:t>
                      </m:r>
                      <m:r>
                        <a:rPr kumimoji="1" lang="en-US" altLang="ko-KR" sz="2500" i="1" smtClean="0">
                          <a:latin typeface="Cambria Math" panose="02040503050406030204" pitchFamily="18" charset="0"/>
                        </a:rPr>
                        <m:t> 3</m:t>
                      </m:r>
                    </m:oMath>
                  </m:oMathPara>
                </a14:m>
                <a:endParaRPr kumimoji="1" lang="ko-KR" altLang="en-US" sz="2500" dirty="0"/>
              </a:p>
            </p:txBody>
          </p:sp>
        </mc:Choice>
        <mc:Fallback>
          <p:sp>
            <p:nvSpPr>
              <p:cNvPr id="11" name="TextBox 10">
                <a:extLst>
                  <a:ext uri="{FF2B5EF4-FFF2-40B4-BE49-F238E27FC236}">
                    <a16:creationId xmlns:a16="http://schemas.microsoft.com/office/drawing/2014/main" id="{61A3CB58-3041-E5D0-DAA5-99E09271E32D}"/>
                  </a:ext>
                </a:extLst>
              </p:cNvPr>
              <p:cNvSpPr txBox="1">
                <a:spLocks noRot="1" noChangeAspect="1" noMove="1" noResize="1" noEditPoints="1" noAdjustHandles="1" noChangeArrowheads="1" noChangeShapeType="1" noTextEdit="1"/>
              </p:cNvSpPr>
              <p:nvPr/>
            </p:nvSpPr>
            <p:spPr>
              <a:xfrm>
                <a:off x="3295853" y="1662872"/>
                <a:ext cx="1220014" cy="477054"/>
              </a:xfrm>
              <a:prstGeom prst="rect">
                <a:avLst/>
              </a:prstGeom>
              <a:blipFill>
                <a:blip r:embed="rId10"/>
                <a:stretch>
                  <a:fillRect b="-21053"/>
                </a:stretch>
              </a:blipFill>
            </p:spPr>
            <p:txBody>
              <a:bodyPr/>
              <a:lstStyle/>
              <a:p>
                <a:r>
                  <a:rPr lang="ko-KR" altLang="en-US">
                    <a:noFill/>
                  </a:rPr>
                  <a:t> </a:t>
                </a:r>
              </a:p>
            </p:txBody>
          </p:sp>
        </mc:Fallback>
      </mc:AlternateContent>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DF101787-F164-F3DC-F6FC-5BAFC220DAEA}"/>
                  </a:ext>
                </a:extLst>
              </p:cNvPr>
              <p:cNvSpPr txBox="1"/>
              <p:nvPr/>
            </p:nvSpPr>
            <p:spPr>
              <a:xfrm>
                <a:off x="3309339" y="2337476"/>
                <a:ext cx="1220014" cy="4770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kumimoji="1" lang="en-US" altLang="ko-KR" sz="2500" i="1" smtClean="0">
                          <a:latin typeface="Cambria Math" panose="02040503050406030204" pitchFamily="18" charset="0"/>
                        </a:rPr>
                        <m:t>𝑎𝑟𝑒𝑎</m:t>
                      </m:r>
                      <m:r>
                        <a:rPr kumimoji="1" lang="en-US" altLang="ko-KR" sz="2500" i="1" smtClean="0">
                          <a:latin typeface="Cambria Math" panose="02040503050406030204" pitchFamily="18" charset="0"/>
                        </a:rPr>
                        <m:t> 4</m:t>
                      </m:r>
                    </m:oMath>
                  </m:oMathPara>
                </a14:m>
                <a:endParaRPr kumimoji="1" lang="ko-KR" altLang="en-US" sz="2500" dirty="0"/>
              </a:p>
            </p:txBody>
          </p:sp>
        </mc:Choice>
        <mc:Fallback>
          <p:sp>
            <p:nvSpPr>
              <p:cNvPr id="12" name="TextBox 11">
                <a:extLst>
                  <a:ext uri="{FF2B5EF4-FFF2-40B4-BE49-F238E27FC236}">
                    <a16:creationId xmlns:a16="http://schemas.microsoft.com/office/drawing/2014/main" id="{DF101787-F164-F3DC-F6FC-5BAFC220DAEA}"/>
                  </a:ext>
                </a:extLst>
              </p:cNvPr>
              <p:cNvSpPr txBox="1">
                <a:spLocks noRot="1" noChangeAspect="1" noMove="1" noResize="1" noEditPoints="1" noAdjustHandles="1" noChangeArrowheads="1" noChangeShapeType="1" noTextEdit="1"/>
              </p:cNvSpPr>
              <p:nvPr/>
            </p:nvSpPr>
            <p:spPr>
              <a:xfrm>
                <a:off x="3309339" y="2337476"/>
                <a:ext cx="1220014" cy="477054"/>
              </a:xfrm>
              <a:prstGeom prst="rect">
                <a:avLst/>
              </a:prstGeom>
              <a:blipFill>
                <a:blip r:embed="rId11"/>
                <a:stretch>
                  <a:fillRect b="-20513"/>
                </a:stretch>
              </a:blipFill>
            </p:spPr>
            <p:txBody>
              <a:bodyPr/>
              <a:lstStyle/>
              <a:p>
                <a:r>
                  <a:rPr lang="ko-KR" altLang="en-US">
                    <a:noFill/>
                  </a:rPr>
                  <a:t> </a:t>
                </a:r>
              </a:p>
            </p:txBody>
          </p:sp>
        </mc:Fallback>
      </mc:AlternateContent>
    </p:spTree>
    <p:extLst>
      <p:ext uri="{BB962C8B-B14F-4D97-AF65-F5344CB8AC3E}">
        <p14:creationId xmlns:p14="http://schemas.microsoft.com/office/powerpoint/2010/main" val="33222618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465855-F066-76E1-4557-1192022965A9}"/>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4" name="직사각형 13">
                <a:extLst>
                  <a:ext uri="{FF2B5EF4-FFF2-40B4-BE49-F238E27FC236}">
                    <a16:creationId xmlns:a16="http://schemas.microsoft.com/office/drawing/2014/main" id="{5AAD3CD4-F9E3-0001-F752-EDD9685A2936}"/>
                  </a:ext>
                </a:extLst>
              </p:cNvPr>
              <p:cNvSpPr/>
              <p:nvPr/>
            </p:nvSpPr>
            <p:spPr>
              <a:xfrm>
                <a:off x="319979" y="4448016"/>
                <a:ext cx="749674" cy="1474286"/>
              </a:xfrm>
              <a:prstGeom prst="rect">
                <a:avLst/>
              </a:prstGeom>
              <a:solidFill>
                <a:schemeClr val="accent1">
                  <a:alpha val="50000"/>
                </a:schemeClr>
              </a:solidFill>
              <a:ln w="19050"/>
            </p:spPr>
            <p:style>
              <a:lnRef idx="2">
                <a:schemeClr val="accent1">
                  <a:shade val="15000"/>
                </a:schemeClr>
              </a:lnRef>
              <a:fillRef idx="1">
                <a:schemeClr val="accent1"/>
              </a:fillRef>
              <a:effectRef idx="0">
                <a:schemeClr val="accent1"/>
              </a:effectRef>
              <a:fontRef idx="minor">
                <a:schemeClr val="lt1"/>
              </a:fontRef>
            </p:style>
            <p:txBody>
              <a:bodyPr lIns="46800" tIns="46800" rIns="46800" rtlCol="0" anchor="ctr"/>
              <a:lstStyle/>
              <a:p>
                <a:pPr algn="ctr"/>
                <a14:m>
                  <m:oMathPara xmlns:m="http://schemas.openxmlformats.org/officeDocument/2006/math">
                    <m:oMathParaPr>
                      <m:jc m:val="center"/>
                    </m:oMathParaPr>
                    <m:oMath xmlns:m="http://schemas.openxmlformats.org/officeDocument/2006/math">
                      <m:r>
                        <a:rPr kumimoji="1" lang="en-US" altLang="ko-KR" sz="2000" b="0" i="1" dirty="0" smtClean="0">
                          <a:solidFill>
                            <a:schemeClr val="tx1"/>
                          </a:solidFill>
                          <a:latin typeface="Cambria Math" panose="02040503050406030204" pitchFamily="18" charset="0"/>
                        </a:rPr>
                        <m:t>𝑁</m:t>
                      </m:r>
                      <m:r>
                        <a:rPr kumimoji="1" lang="en-US" altLang="ko-KR" sz="2000" b="0" i="1" dirty="0" smtClean="0">
                          <a:solidFill>
                            <a:schemeClr val="tx1"/>
                          </a:solidFill>
                          <a:latin typeface="Cambria Math" panose="02040503050406030204" pitchFamily="18" charset="0"/>
                        </a:rPr>
                        <m:t> × </m:t>
                      </m:r>
                      <m:r>
                        <a:rPr kumimoji="1" lang="en-US" altLang="ko-KR" sz="2000" b="0" i="1" dirty="0" smtClean="0">
                          <a:solidFill>
                            <a:schemeClr val="tx1"/>
                          </a:solidFill>
                          <a:latin typeface="Cambria Math" panose="02040503050406030204" pitchFamily="18" charset="0"/>
                        </a:rPr>
                        <m:t>𝐶</m:t>
                      </m:r>
                    </m:oMath>
                  </m:oMathPara>
                </a14:m>
                <a:endParaRPr kumimoji="1" lang="ko-KR" altLang="en-US" sz="2000" dirty="0">
                  <a:solidFill>
                    <a:schemeClr val="tx1"/>
                  </a:solidFill>
                </a:endParaRPr>
              </a:p>
            </p:txBody>
          </p:sp>
        </mc:Choice>
        <mc:Fallback xmlns="">
          <p:sp>
            <p:nvSpPr>
              <p:cNvPr id="14" name="직사각형 13">
                <a:extLst>
                  <a:ext uri="{FF2B5EF4-FFF2-40B4-BE49-F238E27FC236}">
                    <a16:creationId xmlns:a16="http://schemas.microsoft.com/office/drawing/2014/main" id="{5AAD3CD4-F9E3-0001-F752-EDD9685A2936}"/>
                  </a:ext>
                </a:extLst>
              </p:cNvPr>
              <p:cNvSpPr>
                <a:spLocks noRot="1" noChangeAspect="1" noMove="1" noResize="1" noEditPoints="1" noAdjustHandles="1" noChangeArrowheads="1" noChangeShapeType="1" noTextEdit="1"/>
              </p:cNvSpPr>
              <p:nvPr/>
            </p:nvSpPr>
            <p:spPr>
              <a:xfrm>
                <a:off x="319979" y="4448016"/>
                <a:ext cx="749674" cy="1474286"/>
              </a:xfrm>
              <a:prstGeom prst="rect">
                <a:avLst/>
              </a:prstGeom>
              <a:blipFill>
                <a:blip r:embed="rId9"/>
                <a:stretch>
                  <a:fillRect l="-8197"/>
                </a:stretch>
              </a:blipFill>
              <a:ln w="19050"/>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5" name="직사각형 14">
                <a:extLst>
                  <a:ext uri="{FF2B5EF4-FFF2-40B4-BE49-F238E27FC236}">
                    <a16:creationId xmlns:a16="http://schemas.microsoft.com/office/drawing/2014/main" id="{E87F6652-53B5-5A2F-DF83-5713949DA9A9}"/>
                  </a:ext>
                </a:extLst>
              </p:cNvPr>
              <p:cNvSpPr/>
              <p:nvPr/>
            </p:nvSpPr>
            <p:spPr>
              <a:xfrm rot="16200000">
                <a:off x="1890596" y="4534289"/>
                <a:ext cx="688501" cy="1381798"/>
              </a:xfrm>
              <a:prstGeom prst="rect">
                <a:avLst/>
              </a:prstGeom>
              <a:solidFill>
                <a:schemeClr val="accent6">
                  <a:alpha val="50000"/>
                </a:schemeClr>
              </a:solidFill>
              <a:ln w="19050"/>
            </p:spPr>
            <p:style>
              <a:lnRef idx="2">
                <a:schemeClr val="accent1">
                  <a:shade val="15000"/>
                </a:schemeClr>
              </a:lnRef>
              <a:fillRef idx="1">
                <a:schemeClr val="accent1"/>
              </a:fillRef>
              <a:effectRef idx="0">
                <a:schemeClr val="accent1"/>
              </a:effectRef>
              <a:fontRef idx="minor">
                <a:schemeClr val="lt1"/>
              </a:fontRef>
            </p:style>
            <p:txBody>
              <a:bodyPr vert="eaVert" lIns="46800" tIns="46800" rIns="46800" rtlCol="0" anchor="ctr"/>
              <a:lstStyle/>
              <a:p>
                <a:pPr algn="ctr"/>
                <a14:m>
                  <m:oMathPara xmlns:m="http://schemas.openxmlformats.org/officeDocument/2006/math">
                    <m:oMathParaPr>
                      <m:jc m:val="center"/>
                    </m:oMathParaPr>
                    <m:oMath xmlns:m="http://schemas.openxmlformats.org/officeDocument/2006/math">
                      <m:r>
                        <a:rPr kumimoji="1" lang="en-US" altLang="ko-KR" sz="2000" b="0" i="1" dirty="0" smtClean="0">
                          <a:solidFill>
                            <a:schemeClr val="tx1"/>
                          </a:solidFill>
                          <a:latin typeface="Cambria Math" panose="02040503050406030204" pitchFamily="18" charset="0"/>
                        </a:rPr>
                        <m:t>𝐶</m:t>
                      </m:r>
                      <m:r>
                        <a:rPr kumimoji="1" lang="en-US" altLang="ko-KR" sz="2000" i="1" dirty="0">
                          <a:solidFill>
                            <a:schemeClr val="tx1"/>
                          </a:solidFill>
                          <a:latin typeface="Cambria Math" panose="02040503050406030204" pitchFamily="18" charset="0"/>
                        </a:rPr>
                        <m:t> × </m:t>
                      </m:r>
                      <m:r>
                        <a:rPr kumimoji="1" lang="en-US" altLang="ko-KR" sz="2000" b="0" i="1" dirty="0" smtClean="0">
                          <a:solidFill>
                            <a:schemeClr val="tx1"/>
                          </a:solidFill>
                          <a:latin typeface="Cambria Math" panose="02040503050406030204" pitchFamily="18" charset="0"/>
                        </a:rPr>
                        <m:t>𝑁</m:t>
                      </m:r>
                    </m:oMath>
                  </m:oMathPara>
                </a14:m>
                <a:endParaRPr kumimoji="1" lang="ko-KR" altLang="en-US" sz="2000" dirty="0">
                  <a:solidFill>
                    <a:schemeClr val="tx1"/>
                  </a:solidFill>
                </a:endParaRPr>
              </a:p>
            </p:txBody>
          </p:sp>
        </mc:Choice>
        <mc:Fallback xmlns="">
          <p:sp>
            <p:nvSpPr>
              <p:cNvPr id="15" name="직사각형 14">
                <a:extLst>
                  <a:ext uri="{FF2B5EF4-FFF2-40B4-BE49-F238E27FC236}">
                    <a16:creationId xmlns:a16="http://schemas.microsoft.com/office/drawing/2014/main" id="{E87F6652-53B5-5A2F-DF83-5713949DA9A9}"/>
                  </a:ext>
                </a:extLst>
              </p:cNvPr>
              <p:cNvSpPr>
                <a:spLocks noRot="1" noChangeAspect="1" noMove="1" noResize="1" noEditPoints="1" noAdjustHandles="1" noChangeArrowheads="1" noChangeShapeType="1" noTextEdit="1"/>
              </p:cNvSpPr>
              <p:nvPr/>
            </p:nvSpPr>
            <p:spPr>
              <a:xfrm rot="16200000">
                <a:off x="1890596" y="4534289"/>
                <a:ext cx="688501" cy="1381798"/>
              </a:xfrm>
              <a:prstGeom prst="rect">
                <a:avLst/>
              </a:prstGeom>
              <a:blipFill>
                <a:blip r:embed="rId10"/>
                <a:stretch>
                  <a:fillRect/>
                </a:stretch>
              </a:blipFill>
              <a:ln w="19050"/>
            </p:spPr>
            <p:txBody>
              <a:bodyPr/>
              <a:lstStyle/>
              <a:p>
                <a:r>
                  <a:rPr lang="ko-KR" altLang="en-US">
                    <a:noFill/>
                  </a:rPr>
                  <a:t> </a:t>
                </a:r>
              </a:p>
            </p:txBody>
          </p:sp>
        </mc:Fallback>
      </mc:AlternateContent>
      <p:sp>
        <p:nvSpPr>
          <p:cNvPr id="16" name="곱하기 15">
            <a:extLst>
              <a:ext uri="{FF2B5EF4-FFF2-40B4-BE49-F238E27FC236}">
                <a16:creationId xmlns:a16="http://schemas.microsoft.com/office/drawing/2014/main" id="{BB01F3D9-9F81-26C0-7DA3-69561B722F02}"/>
              </a:ext>
            </a:extLst>
          </p:cNvPr>
          <p:cNvSpPr/>
          <p:nvPr/>
        </p:nvSpPr>
        <p:spPr>
          <a:xfrm>
            <a:off x="1080109" y="4902856"/>
            <a:ext cx="440010" cy="483739"/>
          </a:xfrm>
          <a:prstGeom prst="mathMultiply">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b="0" i="1" dirty="0">
              <a:latin typeface="Cambria Math" panose="02040503050406030204" pitchFamily="18" charset="0"/>
            </a:endParaRPr>
          </a:p>
        </p:txBody>
      </p:sp>
      <p:sp>
        <p:nvSpPr>
          <p:cNvPr id="17" name="직사각형 16">
            <a:extLst>
              <a:ext uri="{FF2B5EF4-FFF2-40B4-BE49-F238E27FC236}">
                <a16:creationId xmlns:a16="http://schemas.microsoft.com/office/drawing/2014/main" id="{0A496A3D-B1A8-E536-7BA8-D03012D07320}"/>
              </a:ext>
            </a:extLst>
          </p:cNvPr>
          <p:cNvSpPr/>
          <p:nvPr/>
        </p:nvSpPr>
        <p:spPr>
          <a:xfrm>
            <a:off x="182463" y="4382145"/>
            <a:ext cx="2843240" cy="1778456"/>
          </a:xfrm>
          <a:prstGeom prst="rect">
            <a:avLst/>
          </a:prstGeom>
          <a:noFill/>
          <a:ln w="19050" cap="rnd">
            <a:prstDash val="dash"/>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b="0" i="1" dirty="0">
              <a:latin typeface="Cambria Math" panose="02040503050406030204" pitchFamily="18" charset="0"/>
            </a:endParaRPr>
          </a:p>
        </p:txBody>
      </p:sp>
      <mc:AlternateContent xmlns:mc="http://schemas.openxmlformats.org/markup-compatibility/2006" xmlns:a14="http://schemas.microsoft.com/office/drawing/2010/main">
        <mc:Choice Requires="a14">
          <p:sp>
            <p:nvSpPr>
              <p:cNvPr id="18" name="직사각형 17">
                <a:extLst>
                  <a:ext uri="{FF2B5EF4-FFF2-40B4-BE49-F238E27FC236}">
                    <a16:creationId xmlns:a16="http://schemas.microsoft.com/office/drawing/2014/main" id="{77CDE7CA-3DA0-089B-75DD-74CF1F626648}"/>
                  </a:ext>
                </a:extLst>
              </p:cNvPr>
              <p:cNvSpPr/>
              <p:nvPr/>
            </p:nvSpPr>
            <p:spPr>
              <a:xfrm>
                <a:off x="1326238" y="5957475"/>
                <a:ext cx="1096670" cy="4007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14:m>
                  <m:oMathPara xmlns:m="http://schemas.openxmlformats.org/officeDocument/2006/math">
                    <m:oMathParaPr>
                      <m:jc m:val="centerGroup"/>
                    </m:oMathParaPr>
                    <m:oMath xmlns:m="http://schemas.openxmlformats.org/officeDocument/2006/math">
                      <m:r>
                        <a:rPr kumimoji="1" lang="en-US" altLang="ko-KR" b="0" i="1" dirty="0" smtClean="0">
                          <a:solidFill>
                            <a:schemeClr val="tx1"/>
                          </a:solidFill>
                          <a:latin typeface="Cambria Math" panose="02040503050406030204" pitchFamily="18" charset="0"/>
                        </a:rPr>
                        <m:t>𝑆𝑜𝑓𝑡𝑚𝑎𝑥</m:t>
                      </m:r>
                    </m:oMath>
                  </m:oMathPara>
                </a14:m>
                <a:endParaRPr kumimoji="1" lang="ko-KR" altLang="en-US" b="0" i="1" dirty="0">
                  <a:solidFill>
                    <a:schemeClr val="tx1"/>
                  </a:solidFill>
                  <a:latin typeface="Cambria Math" panose="02040503050406030204" pitchFamily="18" charset="0"/>
                </a:endParaRPr>
              </a:p>
            </p:txBody>
          </p:sp>
        </mc:Choice>
        <mc:Fallback xmlns="">
          <p:sp>
            <p:nvSpPr>
              <p:cNvPr id="18" name="직사각형 17">
                <a:extLst>
                  <a:ext uri="{FF2B5EF4-FFF2-40B4-BE49-F238E27FC236}">
                    <a16:creationId xmlns:a16="http://schemas.microsoft.com/office/drawing/2014/main" id="{77CDE7CA-3DA0-089B-75DD-74CF1F626648}"/>
                  </a:ext>
                </a:extLst>
              </p:cNvPr>
              <p:cNvSpPr>
                <a:spLocks noRot="1" noChangeAspect="1" noMove="1" noResize="1" noEditPoints="1" noAdjustHandles="1" noChangeArrowheads="1" noChangeShapeType="1" noTextEdit="1"/>
              </p:cNvSpPr>
              <p:nvPr/>
            </p:nvSpPr>
            <p:spPr>
              <a:xfrm>
                <a:off x="1326238" y="5957475"/>
                <a:ext cx="1096670" cy="400725"/>
              </a:xfrm>
              <a:prstGeom prst="rect">
                <a:avLst/>
              </a:prstGeom>
              <a:blipFill>
                <a:blip r:embed="rId11"/>
                <a:stretch>
                  <a:fillRect l="-3448" b="-12121"/>
                </a:stretch>
              </a:blipFill>
              <a:ln>
                <a:noFill/>
              </a:ln>
            </p:spPr>
            <p:txBody>
              <a:bodyPr/>
              <a:lstStyle/>
              <a:p>
                <a:r>
                  <a:rPr lang="ko-KR" altLang="en-US">
                    <a:noFill/>
                  </a:rPr>
                  <a:t> </a:t>
                </a:r>
              </a:p>
            </p:txBody>
          </p:sp>
        </mc:Fallback>
      </mc:AlternateContent>
      <p:sp>
        <p:nvSpPr>
          <p:cNvPr id="19" name="곱하기 18">
            <a:extLst>
              <a:ext uri="{FF2B5EF4-FFF2-40B4-BE49-F238E27FC236}">
                <a16:creationId xmlns:a16="http://schemas.microsoft.com/office/drawing/2014/main" id="{EF287A92-34A9-0784-49FA-05AA4ABA6384}"/>
              </a:ext>
            </a:extLst>
          </p:cNvPr>
          <p:cNvSpPr/>
          <p:nvPr/>
        </p:nvSpPr>
        <p:spPr>
          <a:xfrm>
            <a:off x="3071236" y="4902855"/>
            <a:ext cx="440010" cy="483739"/>
          </a:xfrm>
          <a:prstGeom prst="mathMultiply">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b="0" i="1" dirty="0">
              <a:latin typeface="Cambria Math" panose="02040503050406030204" pitchFamily="18" charset="0"/>
            </a:endParaRPr>
          </a:p>
        </p:txBody>
      </p:sp>
      <mc:AlternateContent xmlns:mc="http://schemas.openxmlformats.org/markup-compatibility/2006" xmlns:a14="http://schemas.microsoft.com/office/drawing/2010/main">
        <mc:Choice Requires="a14">
          <p:sp>
            <p:nvSpPr>
              <p:cNvPr id="20" name="직사각형 19">
                <a:extLst>
                  <a:ext uri="{FF2B5EF4-FFF2-40B4-BE49-F238E27FC236}">
                    <a16:creationId xmlns:a16="http://schemas.microsoft.com/office/drawing/2014/main" id="{5007E636-D59B-C719-67E1-7AE26F6D8BE5}"/>
                  </a:ext>
                </a:extLst>
              </p:cNvPr>
              <p:cNvSpPr/>
              <p:nvPr/>
            </p:nvSpPr>
            <p:spPr>
              <a:xfrm>
                <a:off x="3531633" y="4534230"/>
                <a:ext cx="753119" cy="1474286"/>
              </a:xfrm>
              <a:prstGeom prst="rect">
                <a:avLst/>
              </a:prstGeom>
              <a:solidFill>
                <a:schemeClr val="accent4">
                  <a:alpha val="50000"/>
                </a:schemeClr>
              </a:solidFill>
              <a:ln w="19050"/>
            </p:spPr>
            <p:style>
              <a:lnRef idx="2">
                <a:schemeClr val="accent1">
                  <a:shade val="15000"/>
                </a:schemeClr>
              </a:lnRef>
              <a:fillRef idx="1">
                <a:schemeClr val="accent1"/>
              </a:fillRef>
              <a:effectRef idx="0">
                <a:schemeClr val="accent1"/>
              </a:effectRef>
              <a:fontRef idx="minor">
                <a:schemeClr val="lt1"/>
              </a:fontRef>
            </p:style>
            <p:txBody>
              <a:bodyPr lIns="46800" tIns="46800" rIns="46800" rtlCol="0" anchor="ctr"/>
              <a:lstStyle/>
              <a:p>
                <a:pPr algn="ctr"/>
                <a14:m>
                  <m:oMathPara xmlns:m="http://schemas.openxmlformats.org/officeDocument/2006/math">
                    <m:oMathParaPr>
                      <m:jc m:val="center"/>
                    </m:oMathParaPr>
                    <m:oMath xmlns:m="http://schemas.openxmlformats.org/officeDocument/2006/math">
                      <m:r>
                        <a:rPr kumimoji="1" lang="en-US" altLang="ko-KR" sz="2000" b="0" i="1" dirty="0" smtClean="0">
                          <a:solidFill>
                            <a:schemeClr val="tx1"/>
                          </a:solidFill>
                          <a:latin typeface="Cambria Math" panose="02040503050406030204" pitchFamily="18" charset="0"/>
                        </a:rPr>
                        <m:t>𝑁</m:t>
                      </m:r>
                      <m:r>
                        <a:rPr kumimoji="1" lang="en-US" altLang="ko-KR" sz="2000" b="0" i="1" dirty="0" smtClean="0">
                          <a:solidFill>
                            <a:schemeClr val="tx1"/>
                          </a:solidFill>
                          <a:latin typeface="Cambria Math" panose="02040503050406030204" pitchFamily="18" charset="0"/>
                        </a:rPr>
                        <m:t> × </m:t>
                      </m:r>
                      <m:r>
                        <a:rPr kumimoji="1" lang="en-US" altLang="ko-KR" sz="2000" b="0" i="1" dirty="0" smtClean="0">
                          <a:solidFill>
                            <a:schemeClr val="tx1"/>
                          </a:solidFill>
                          <a:latin typeface="Cambria Math" panose="02040503050406030204" pitchFamily="18" charset="0"/>
                        </a:rPr>
                        <m:t>𝐶</m:t>
                      </m:r>
                    </m:oMath>
                  </m:oMathPara>
                </a14:m>
                <a:endParaRPr kumimoji="1" lang="ko-KR" altLang="en-US" sz="2000" dirty="0">
                  <a:solidFill>
                    <a:schemeClr val="tx1"/>
                  </a:solidFill>
                </a:endParaRPr>
              </a:p>
            </p:txBody>
          </p:sp>
        </mc:Choice>
        <mc:Fallback xmlns="">
          <p:sp>
            <p:nvSpPr>
              <p:cNvPr id="20" name="직사각형 19">
                <a:extLst>
                  <a:ext uri="{FF2B5EF4-FFF2-40B4-BE49-F238E27FC236}">
                    <a16:creationId xmlns:a16="http://schemas.microsoft.com/office/drawing/2014/main" id="{5007E636-D59B-C719-67E1-7AE26F6D8BE5}"/>
                  </a:ext>
                </a:extLst>
              </p:cNvPr>
              <p:cNvSpPr>
                <a:spLocks noRot="1" noChangeAspect="1" noMove="1" noResize="1" noEditPoints="1" noAdjustHandles="1" noChangeArrowheads="1" noChangeShapeType="1" noTextEdit="1"/>
              </p:cNvSpPr>
              <p:nvPr/>
            </p:nvSpPr>
            <p:spPr>
              <a:xfrm>
                <a:off x="3531633" y="4534230"/>
                <a:ext cx="753119" cy="1474286"/>
              </a:xfrm>
              <a:prstGeom prst="rect">
                <a:avLst/>
              </a:prstGeom>
              <a:blipFill>
                <a:blip r:embed="rId12"/>
                <a:stretch>
                  <a:fillRect l="-8065"/>
                </a:stretch>
              </a:blipFill>
              <a:ln w="19050"/>
            </p:spPr>
            <p:txBody>
              <a:bodyPr/>
              <a:lstStyle/>
              <a:p>
                <a:r>
                  <a:rPr lang="ko-KR" altLang="en-US">
                    <a:noFill/>
                  </a:rPr>
                  <a:t> </a:t>
                </a:r>
              </a:p>
            </p:txBody>
          </p:sp>
        </mc:Fallback>
      </mc:AlternateContent>
      <p:sp>
        <p:nvSpPr>
          <p:cNvPr id="21" name="직사각형 20">
            <a:extLst>
              <a:ext uri="{FF2B5EF4-FFF2-40B4-BE49-F238E27FC236}">
                <a16:creationId xmlns:a16="http://schemas.microsoft.com/office/drawing/2014/main" id="{F6D24ACB-B4D2-CC78-6C9D-75B110F7F635}"/>
              </a:ext>
            </a:extLst>
          </p:cNvPr>
          <p:cNvSpPr/>
          <p:nvPr/>
        </p:nvSpPr>
        <p:spPr>
          <a:xfrm>
            <a:off x="42041" y="3677798"/>
            <a:ext cx="4353357" cy="2680401"/>
          </a:xfrm>
          <a:prstGeom prst="rect">
            <a:avLst/>
          </a:prstGeom>
          <a:noFill/>
          <a:ln w="19050" cap="rnd">
            <a:prstDash val="dash"/>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b="0" i="1" dirty="0">
              <a:latin typeface="Cambria Math" panose="02040503050406030204" pitchFamily="18" charset="0"/>
            </a:endParaRPr>
          </a:p>
        </p:txBody>
      </p:sp>
      <mc:AlternateContent xmlns:mc="http://schemas.openxmlformats.org/markup-compatibility/2006" xmlns:a14="http://schemas.microsoft.com/office/drawing/2010/main">
        <mc:Choice Requires="a14">
          <p:sp>
            <p:nvSpPr>
              <p:cNvPr id="22" name="직사각형 21">
                <a:extLst>
                  <a:ext uri="{FF2B5EF4-FFF2-40B4-BE49-F238E27FC236}">
                    <a16:creationId xmlns:a16="http://schemas.microsoft.com/office/drawing/2014/main" id="{72FD9D0D-C34B-0782-A3CB-00A02F9AB289}"/>
                  </a:ext>
                </a:extLst>
              </p:cNvPr>
              <p:cNvSpPr/>
              <p:nvPr/>
            </p:nvSpPr>
            <p:spPr>
              <a:xfrm>
                <a:off x="133446" y="6396398"/>
                <a:ext cx="1096670" cy="4007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14:m>
                  <m:oMathPara xmlns:m="http://schemas.openxmlformats.org/officeDocument/2006/math">
                    <m:oMathParaPr>
                      <m:jc m:val="centerGroup"/>
                    </m:oMathParaPr>
                    <m:oMath xmlns:m="http://schemas.openxmlformats.org/officeDocument/2006/math">
                      <m:r>
                        <a:rPr kumimoji="1" lang="en-US" altLang="ko-KR" sz="2500" b="0" i="1" smtClean="0">
                          <a:solidFill>
                            <a:schemeClr val="tx1"/>
                          </a:solidFill>
                          <a:latin typeface="Cambria Math" panose="02040503050406030204" pitchFamily="18" charset="0"/>
                        </a:rPr>
                        <m:t>𝑄</m:t>
                      </m:r>
                    </m:oMath>
                  </m:oMathPara>
                </a14:m>
                <a:endParaRPr kumimoji="1" lang="ko-KR" altLang="en-US" sz="2500" i="1" dirty="0">
                  <a:solidFill>
                    <a:schemeClr val="tx1"/>
                  </a:solidFill>
                  <a:latin typeface="Cambria Math" panose="02040503050406030204" pitchFamily="18" charset="0"/>
                </a:endParaRPr>
              </a:p>
            </p:txBody>
          </p:sp>
        </mc:Choice>
        <mc:Fallback xmlns="">
          <p:sp>
            <p:nvSpPr>
              <p:cNvPr id="22" name="직사각형 21">
                <a:extLst>
                  <a:ext uri="{FF2B5EF4-FFF2-40B4-BE49-F238E27FC236}">
                    <a16:creationId xmlns:a16="http://schemas.microsoft.com/office/drawing/2014/main" id="{72FD9D0D-C34B-0782-A3CB-00A02F9AB289}"/>
                  </a:ext>
                </a:extLst>
              </p:cNvPr>
              <p:cNvSpPr>
                <a:spLocks noRot="1" noChangeAspect="1" noMove="1" noResize="1" noEditPoints="1" noAdjustHandles="1" noChangeArrowheads="1" noChangeShapeType="1" noTextEdit="1"/>
              </p:cNvSpPr>
              <p:nvPr/>
            </p:nvSpPr>
            <p:spPr>
              <a:xfrm>
                <a:off x="133446" y="6396398"/>
                <a:ext cx="1096670" cy="400725"/>
              </a:xfrm>
              <a:prstGeom prst="rect">
                <a:avLst/>
              </a:prstGeom>
              <a:blipFill>
                <a:blip r:embed="rId13"/>
                <a:stretch>
                  <a:fillRect b="-24242"/>
                </a:stretch>
              </a:blipFill>
              <a:ln>
                <a:no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23" name="직사각형 22">
                <a:extLst>
                  <a:ext uri="{FF2B5EF4-FFF2-40B4-BE49-F238E27FC236}">
                    <a16:creationId xmlns:a16="http://schemas.microsoft.com/office/drawing/2014/main" id="{9E42FF86-E7B4-E7D4-1713-228BE721BFD9}"/>
                  </a:ext>
                </a:extLst>
              </p:cNvPr>
              <p:cNvSpPr/>
              <p:nvPr/>
            </p:nvSpPr>
            <p:spPr>
              <a:xfrm>
                <a:off x="1686511" y="6406474"/>
                <a:ext cx="1096670" cy="4007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14:m>
                  <m:oMathPara xmlns:m="http://schemas.openxmlformats.org/officeDocument/2006/math">
                    <m:oMathParaPr>
                      <m:jc m:val="centerGroup"/>
                    </m:oMathParaPr>
                    <m:oMath xmlns:m="http://schemas.openxmlformats.org/officeDocument/2006/math">
                      <m:sSup>
                        <m:sSupPr>
                          <m:ctrlPr>
                            <a:rPr kumimoji="1" lang="en-US" altLang="ko-KR" sz="2500" b="0" i="1" smtClean="0">
                              <a:solidFill>
                                <a:schemeClr val="tx1"/>
                              </a:solidFill>
                              <a:latin typeface="Cambria Math" panose="02040503050406030204" pitchFamily="18" charset="0"/>
                            </a:rPr>
                          </m:ctrlPr>
                        </m:sSupPr>
                        <m:e>
                          <m:r>
                            <a:rPr kumimoji="1" lang="en-US" altLang="ko-KR" sz="2500" b="0" i="1" smtClean="0">
                              <a:solidFill>
                                <a:schemeClr val="tx1"/>
                              </a:solidFill>
                              <a:latin typeface="Cambria Math" panose="02040503050406030204" pitchFamily="18" charset="0"/>
                            </a:rPr>
                            <m:t>𝐾</m:t>
                          </m:r>
                        </m:e>
                        <m:sup>
                          <m:r>
                            <a:rPr kumimoji="1" lang="en-US" altLang="ko-KR" sz="2500" b="0" i="1" smtClean="0">
                              <a:solidFill>
                                <a:schemeClr val="tx1"/>
                              </a:solidFill>
                              <a:latin typeface="Cambria Math" panose="02040503050406030204" pitchFamily="18" charset="0"/>
                            </a:rPr>
                            <m:t>𝑇</m:t>
                          </m:r>
                        </m:sup>
                      </m:sSup>
                    </m:oMath>
                  </m:oMathPara>
                </a14:m>
                <a:endParaRPr kumimoji="1" lang="ko-KR" altLang="en-US" sz="2500" i="1" dirty="0">
                  <a:solidFill>
                    <a:schemeClr val="tx1"/>
                  </a:solidFill>
                  <a:latin typeface="Cambria Math" panose="02040503050406030204" pitchFamily="18" charset="0"/>
                </a:endParaRPr>
              </a:p>
            </p:txBody>
          </p:sp>
        </mc:Choice>
        <mc:Fallback xmlns="">
          <p:sp>
            <p:nvSpPr>
              <p:cNvPr id="23" name="직사각형 22">
                <a:extLst>
                  <a:ext uri="{FF2B5EF4-FFF2-40B4-BE49-F238E27FC236}">
                    <a16:creationId xmlns:a16="http://schemas.microsoft.com/office/drawing/2014/main" id="{9E42FF86-E7B4-E7D4-1713-228BE721BFD9}"/>
                  </a:ext>
                </a:extLst>
              </p:cNvPr>
              <p:cNvSpPr>
                <a:spLocks noRot="1" noChangeAspect="1" noMove="1" noResize="1" noEditPoints="1" noAdjustHandles="1" noChangeArrowheads="1" noChangeShapeType="1" noTextEdit="1"/>
              </p:cNvSpPr>
              <p:nvPr/>
            </p:nvSpPr>
            <p:spPr>
              <a:xfrm>
                <a:off x="1686511" y="6406474"/>
                <a:ext cx="1096670" cy="400725"/>
              </a:xfrm>
              <a:prstGeom prst="rect">
                <a:avLst/>
              </a:prstGeom>
              <a:blipFill>
                <a:blip r:embed="rId14"/>
                <a:stretch>
                  <a:fillRect b="-6061"/>
                </a:stretch>
              </a:blipFill>
              <a:ln>
                <a:no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24" name="직사각형 23">
                <a:extLst>
                  <a:ext uri="{FF2B5EF4-FFF2-40B4-BE49-F238E27FC236}">
                    <a16:creationId xmlns:a16="http://schemas.microsoft.com/office/drawing/2014/main" id="{509FDCDF-6710-0660-3805-DAD252E56548}"/>
                  </a:ext>
                </a:extLst>
              </p:cNvPr>
              <p:cNvSpPr/>
              <p:nvPr/>
            </p:nvSpPr>
            <p:spPr>
              <a:xfrm>
                <a:off x="3359857" y="6441928"/>
                <a:ext cx="1096670" cy="4007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14:m>
                  <m:oMathPara xmlns:m="http://schemas.openxmlformats.org/officeDocument/2006/math">
                    <m:oMathParaPr>
                      <m:jc m:val="centerGroup"/>
                    </m:oMathParaPr>
                    <m:oMath xmlns:m="http://schemas.openxmlformats.org/officeDocument/2006/math">
                      <m:r>
                        <a:rPr kumimoji="1" lang="en-US" altLang="ko-KR" sz="2500" b="0" i="1" smtClean="0">
                          <a:solidFill>
                            <a:schemeClr val="tx1"/>
                          </a:solidFill>
                          <a:latin typeface="Cambria Math" panose="02040503050406030204" pitchFamily="18" charset="0"/>
                        </a:rPr>
                        <m:t>𝑉</m:t>
                      </m:r>
                    </m:oMath>
                  </m:oMathPara>
                </a14:m>
                <a:endParaRPr kumimoji="1" lang="ko-KR" altLang="en-US" sz="2500" i="1" dirty="0">
                  <a:solidFill>
                    <a:schemeClr val="tx1"/>
                  </a:solidFill>
                  <a:latin typeface="Cambria Math" panose="02040503050406030204" pitchFamily="18" charset="0"/>
                </a:endParaRPr>
              </a:p>
            </p:txBody>
          </p:sp>
        </mc:Choice>
        <mc:Fallback xmlns="">
          <p:sp>
            <p:nvSpPr>
              <p:cNvPr id="24" name="직사각형 23">
                <a:extLst>
                  <a:ext uri="{FF2B5EF4-FFF2-40B4-BE49-F238E27FC236}">
                    <a16:creationId xmlns:a16="http://schemas.microsoft.com/office/drawing/2014/main" id="{509FDCDF-6710-0660-3805-DAD252E56548}"/>
                  </a:ext>
                </a:extLst>
              </p:cNvPr>
              <p:cNvSpPr>
                <a:spLocks noRot="1" noChangeAspect="1" noMove="1" noResize="1" noEditPoints="1" noAdjustHandles="1" noChangeArrowheads="1" noChangeShapeType="1" noTextEdit="1"/>
              </p:cNvSpPr>
              <p:nvPr/>
            </p:nvSpPr>
            <p:spPr>
              <a:xfrm>
                <a:off x="3359857" y="6441928"/>
                <a:ext cx="1096670" cy="400725"/>
              </a:xfrm>
              <a:prstGeom prst="rect">
                <a:avLst/>
              </a:prstGeom>
              <a:blipFill>
                <a:blip r:embed="rId15"/>
                <a:stretch>
                  <a:fillRect b="-3125"/>
                </a:stretch>
              </a:blipFill>
              <a:ln>
                <a:no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25" name="직사각형 24">
                <a:extLst>
                  <a:ext uri="{FF2B5EF4-FFF2-40B4-BE49-F238E27FC236}">
                    <a16:creationId xmlns:a16="http://schemas.microsoft.com/office/drawing/2014/main" id="{64753022-52B9-ACCA-57E2-7188241BD8AC}"/>
                  </a:ext>
                </a:extLst>
              </p:cNvPr>
              <p:cNvSpPr/>
              <p:nvPr/>
            </p:nvSpPr>
            <p:spPr>
              <a:xfrm>
                <a:off x="1629850" y="4077350"/>
                <a:ext cx="871612" cy="50819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14:m>
                  <m:oMathPara xmlns:m="http://schemas.openxmlformats.org/officeDocument/2006/math">
                    <m:oMathParaPr>
                      <m:jc m:val="centerGroup"/>
                    </m:oMathParaPr>
                    <m:oMath xmlns:m="http://schemas.openxmlformats.org/officeDocument/2006/math">
                      <m:r>
                        <a:rPr kumimoji="1" lang="en-US" altLang="ko-KR" sz="2000" b="0" i="1" smtClean="0">
                          <a:solidFill>
                            <a:schemeClr val="tx1"/>
                          </a:solidFill>
                          <a:latin typeface="Cambria Math" panose="02040503050406030204" pitchFamily="18" charset="0"/>
                        </a:rPr>
                        <m:t>𝑂</m:t>
                      </m:r>
                      <m:d>
                        <m:dPr>
                          <m:ctrlPr>
                            <a:rPr kumimoji="1" lang="en-US" altLang="ko-KR" sz="2000" b="0" i="1" smtClean="0">
                              <a:solidFill>
                                <a:schemeClr val="tx1"/>
                              </a:solidFill>
                              <a:latin typeface="Cambria Math" panose="02040503050406030204" pitchFamily="18" charset="0"/>
                            </a:rPr>
                          </m:ctrlPr>
                        </m:dPr>
                        <m:e>
                          <m:sSup>
                            <m:sSupPr>
                              <m:ctrlPr>
                                <a:rPr kumimoji="1" lang="en-US" altLang="ko-KR" sz="2000" b="0" i="1" smtClean="0">
                                  <a:solidFill>
                                    <a:schemeClr val="tx1"/>
                                  </a:solidFill>
                                  <a:latin typeface="Cambria Math" panose="02040503050406030204" pitchFamily="18" charset="0"/>
                                </a:rPr>
                              </m:ctrlPr>
                            </m:sSupPr>
                            <m:e>
                              <m:r>
                                <a:rPr kumimoji="1" lang="en-US" altLang="ko-KR" sz="2000" b="0" i="1" smtClean="0">
                                  <a:solidFill>
                                    <a:schemeClr val="tx1"/>
                                  </a:solidFill>
                                  <a:latin typeface="Cambria Math" panose="02040503050406030204" pitchFamily="18" charset="0"/>
                                </a:rPr>
                                <m:t>𝑁</m:t>
                              </m:r>
                            </m:e>
                            <m:sup>
                              <m:r>
                                <a:rPr kumimoji="1" lang="en-US" altLang="ko-KR" sz="2000" b="0" i="1" smtClean="0">
                                  <a:solidFill>
                                    <a:schemeClr val="tx1"/>
                                  </a:solidFill>
                                  <a:latin typeface="Cambria Math" panose="02040503050406030204" pitchFamily="18" charset="0"/>
                                </a:rPr>
                                <m:t>2</m:t>
                              </m:r>
                            </m:sup>
                          </m:sSup>
                          <m:r>
                            <a:rPr kumimoji="1" lang="en-US" altLang="ko-KR" sz="2000" b="0" i="1" smtClean="0">
                              <a:solidFill>
                                <a:schemeClr val="tx1"/>
                              </a:solidFill>
                              <a:latin typeface="Cambria Math" panose="02040503050406030204" pitchFamily="18" charset="0"/>
                            </a:rPr>
                            <m:t>𝐶</m:t>
                          </m:r>
                        </m:e>
                      </m:d>
                    </m:oMath>
                  </m:oMathPara>
                </a14:m>
                <a:endParaRPr kumimoji="1" lang="ko-KR" altLang="en-US" sz="2000" i="1" dirty="0">
                  <a:solidFill>
                    <a:schemeClr val="tx1"/>
                  </a:solidFill>
                  <a:latin typeface="Cambria Math" panose="02040503050406030204" pitchFamily="18" charset="0"/>
                </a:endParaRPr>
              </a:p>
            </p:txBody>
          </p:sp>
        </mc:Choice>
        <mc:Fallback xmlns="">
          <p:sp>
            <p:nvSpPr>
              <p:cNvPr id="25" name="직사각형 24">
                <a:extLst>
                  <a:ext uri="{FF2B5EF4-FFF2-40B4-BE49-F238E27FC236}">
                    <a16:creationId xmlns:a16="http://schemas.microsoft.com/office/drawing/2014/main" id="{64753022-52B9-ACCA-57E2-7188241BD8AC}"/>
                  </a:ext>
                </a:extLst>
              </p:cNvPr>
              <p:cNvSpPr>
                <a:spLocks noRot="1" noChangeAspect="1" noMove="1" noResize="1" noEditPoints="1" noAdjustHandles="1" noChangeArrowheads="1" noChangeShapeType="1" noTextEdit="1"/>
              </p:cNvSpPr>
              <p:nvPr/>
            </p:nvSpPr>
            <p:spPr>
              <a:xfrm>
                <a:off x="1629850" y="4077350"/>
                <a:ext cx="871612" cy="508191"/>
              </a:xfrm>
              <a:prstGeom prst="rect">
                <a:avLst/>
              </a:prstGeom>
              <a:blipFill>
                <a:blip r:embed="rId16"/>
                <a:stretch>
                  <a:fillRect l="-13043"/>
                </a:stretch>
              </a:blipFill>
              <a:ln>
                <a:no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26" name="직사각형 25">
                <a:extLst>
                  <a:ext uri="{FF2B5EF4-FFF2-40B4-BE49-F238E27FC236}">
                    <a16:creationId xmlns:a16="http://schemas.microsoft.com/office/drawing/2014/main" id="{A1D77B28-8489-5150-3BA7-7619DFBC445D}"/>
                  </a:ext>
                </a:extLst>
              </p:cNvPr>
              <p:cNvSpPr/>
              <p:nvPr/>
            </p:nvSpPr>
            <p:spPr>
              <a:xfrm>
                <a:off x="3221917" y="3434049"/>
                <a:ext cx="871611" cy="50819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14:m>
                  <m:oMathPara xmlns:m="http://schemas.openxmlformats.org/officeDocument/2006/math">
                    <m:oMathParaPr>
                      <m:jc m:val="centerGroup"/>
                    </m:oMathParaPr>
                    <m:oMath xmlns:m="http://schemas.openxmlformats.org/officeDocument/2006/math">
                      <m:r>
                        <a:rPr kumimoji="1" lang="en-US" altLang="ko-KR" sz="2000" b="0" i="1" smtClean="0">
                          <a:solidFill>
                            <a:schemeClr val="tx1"/>
                          </a:solidFill>
                          <a:latin typeface="Cambria Math" panose="02040503050406030204" pitchFamily="18" charset="0"/>
                        </a:rPr>
                        <m:t>𝑂</m:t>
                      </m:r>
                      <m:d>
                        <m:dPr>
                          <m:ctrlPr>
                            <a:rPr kumimoji="1" lang="en-US" altLang="ko-KR" sz="2000" b="0" i="1" smtClean="0">
                              <a:solidFill>
                                <a:schemeClr val="tx1"/>
                              </a:solidFill>
                              <a:latin typeface="Cambria Math" panose="02040503050406030204" pitchFamily="18" charset="0"/>
                            </a:rPr>
                          </m:ctrlPr>
                        </m:dPr>
                        <m:e>
                          <m:sSup>
                            <m:sSupPr>
                              <m:ctrlPr>
                                <a:rPr kumimoji="1" lang="en-US" altLang="ko-KR" sz="2000" b="0" i="1" smtClean="0">
                                  <a:solidFill>
                                    <a:schemeClr val="tx1"/>
                                  </a:solidFill>
                                  <a:latin typeface="Cambria Math" panose="02040503050406030204" pitchFamily="18" charset="0"/>
                                </a:rPr>
                              </m:ctrlPr>
                            </m:sSupPr>
                            <m:e>
                              <m:r>
                                <a:rPr kumimoji="1" lang="en-US" altLang="ko-KR" sz="2000" b="0" i="1" smtClean="0">
                                  <a:solidFill>
                                    <a:schemeClr val="tx1"/>
                                  </a:solidFill>
                                  <a:latin typeface="Cambria Math" panose="02040503050406030204" pitchFamily="18" charset="0"/>
                                </a:rPr>
                                <m:t>𝑁</m:t>
                              </m:r>
                            </m:e>
                            <m:sup>
                              <m:r>
                                <a:rPr kumimoji="1" lang="en-US" altLang="ko-KR" sz="2000" b="0" i="1" smtClean="0">
                                  <a:solidFill>
                                    <a:schemeClr val="tx1"/>
                                  </a:solidFill>
                                  <a:latin typeface="Cambria Math" panose="02040503050406030204" pitchFamily="18" charset="0"/>
                                </a:rPr>
                                <m:t>2</m:t>
                              </m:r>
                            </m:sup>
                          </m:sSup>
                          <m:r>
                            <a:rPr kumimoji="1" lang="en-US" altLang="ko-KR" sz="2000" b="0" i="1" smtClean="0">
                              <a:solidFill>
                                <a:schemeClr val="tx1"/>
                              </a:solidFill>
                              <a:latin typeface="Cambria Math" panose="02040503050406030204" pitchFamily="18" charset="0"/>
                            </a:rPr>
                            <m:t>𝐶</m:t>
                          </m:r>
                        </m:e>
                      </m:d>
                    </m:oMath>
                  </m:oMathPara>
                </a14:m>
                <a:endParaRPr kumimoji="1" lang="ko-KR" altLang="en-US" sz="2000" i="1" dirty="0">
                  <a:solidFill>
                    <a:schemeClr val="tx1"/>
                  </a:solidFill>
                  <a:latin typeface="Cambria Math" panose="02040503050406030204" pitchFamily="18" charset="0"/>
                </a:endParaRPr>
              </a:p>
            </p:txBody>
          </p:sp>
        </mc:Choice>
        <mc:Fallback xmlns="">
          <p:sp>
            <p:nvSpPr>
              <p:cNvPr id="26" name="직사각형 25">
                <a:extLst>
                  <a:ext uri="{FF2B5EF4-FFF2-40B4-BE49-F238E27FC236}">
                    <a16:creationId xmlns:a16="http://schemas.microsoft.com/office/drawing/2014/main" id="{A1D77B28-8489-5150-3BA7-7619DFBC445D}"/>
                  </a:ext>
                </a:extLst>
              </p:cNvPr>
              <p:cNvSpPr>
                <a:spLocks noRot="1" noChangeAspect="1" noMove="1" noResize="1" noEditPoints="1" noAdjustHandles="1" noChangeArrowheads="1" noChangeShapeType="1" noTextEdit="1"/>
              </p:cNvSpPr>
              <p:nvPr/>
            </p:nvSpPr>
            <p:spPr>
              <a:xfrm>
                <a:off x="3221917" y="3434049"/>
                <a:ext cx="871611" cy="508191"/>
              </a:xfrm>
              <a:prstGeom prst="rect">
                <a:avLst/>
              </a:prstGeom>
              <a:blipFill>
                <a:blip r:embed="rId17"/>
                <a:stretch>
                  <a:fillRect l="-12857"/>
                </a:stretch>
              </a:blipFill>
              <a:ln>
                <a:noFill/>
              </a:ln>
            </p:spPr>
            <p:txBody>
              <a:bodyPr/>
              <a:lstStyle/>
              <a:p>
                <a:r>
                  <a:rPr lang="ko-KR" altLang="en-US">
                    <a:noFill/>
                  </a:rPr>
                  <a:t> </a:t>
                </a:r>
              </a:p>
            </p:txBody>
          </p:sp>
        </mc:Fallback>
      </mc:AlternateContent>
      <mc:AlternateContent xmlns:mc="http://schemas.openxmlformats.org/markup-compatibility/2006">
        <mc:Choice xmlns:a14="http://schemas.microsoft.com/office/drawing/2010/main" Requires="a14">
          <p:sp>
            <p:nvSpPr>
              <p:cNvPr id="27" name="직사각형 26">
                <a:extLst>
                  <a:ext uri="{FF2B5EF4-FFF2-40B4-BE49-F238E27FC236}">
                    <a16:creationId xmlns:a16="http://schemas.microsoft.com/office/drawing/2014/main" id="{3FA107AD-8413-1C85-2CD7-49DCFEE3B8D6}"/>
                  </a:ext>
                </a:extLst>
              </p:cNvPr>
              <p:cNvSpPr/>
              <p:nvPr/>
            </p:nvSpPr>
            <p:spPr>
              <a:xfrm>
                <a:off x="4415785" y="4694137"/>
                <a:ext cx="1593206" cy="90117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lnSpc>
                    <a:spcPct val="150000"/>
                  </a:lnSpc>
                </a:pPr>
                <a14:m>
                  <m:oMathPara xmlns:m="http://schemas.openxmlformats.org/officeDocument/2006/math">
                    <m:oMathParaPr>
                      <m:jc m:val="centerGroup"/>
                    </m:oMathParaPr>
                    <m:oMath xmlns:m="http://schemas.openxmlformats.org/officeDocument/2006/math">
                      <m:r>
                        <a:rPr kumimoji="1" lang="en-US" altLang="ko-KR" sz="2000" b="0" i="1" smtClean="0">
                          <a:solidFill>
                            <a:schemeClr val="tx1"/>
                          </a:solidFill>
                          <a:latin typeface="Cambria Math" panose="02040503050406030204" pitchFamily="18" charset="0"/>
                        </a:rPr>
                        <m:t>𝑂</m:t>
                      </m:r>
                      <m:d>
                        <m:dPr>
                          <m:ctrlPr>
                            <a:rPr kumimoji="1" lang="en-US" altLang="ko-KR" sz="2000" b="0" i="1" smtClean="0">
                              <a:solidFill>
                                <a:schemeClr val="tx1"/>
                              </a:solidFill>
                              <a:latin typeface="Cambria Math" panose="02040503050406030204" pitchFamily="18" charset="0"/>
                            </a:rPr>
                          </m:ctrlPr>
                        </m:dPr>
                        <m:e>
                          <m:sSup>
                            <m:sSupPr>
                              <m:ctrlPr>
                                <a:rPr kumimoji="1" lang="en-US" altLang="ko-KR" sz="2000" b="0" i="1" smtClean="0">
                                  <a:solidFill>
                                    <a:schemeClr val="tx1"/>
                                  </a:solidFill>
                                  <a:latin typeface="Cambria Math" panose="02040503050406030204" pitchFamily="18" charset="0"/>
                                </a:rPr>
                              </m:ctrlPr>
                            </m:sSupPr>
                            <m:e>
                              <m:r>
                                <a:rPr kumimoji="1" lang="en-US" altLang="ko-KR" sz="2000" b="0" i="1" smtClean="0">
                                  <a:solidFill>
                                    <a:schemeClr val="tx1"/>
                                  </a:solidFill>
                                  <a:latin typeface="Cambria Math" panose="02040503050406030204" pitchFamily="18" charset="0"/>
                                </a:rPr>
                                <m:t>2</m:t>
                              </m:r>
                              <m:r>
                                <a:rPr kumimoji="1" lang="en-US" altLang="ko-KR" sz="2000" b="0" i="1" smtClean="0">
                                  <a:solidFill>
                                    <a:schemeClr val="tx1"/>
                                  </a:solidFill>
                                  <a:latin typeface="Cambria Math" panose="02040503050406030204" pitchFamily="18" charset="0"/>
                                </a:rPr>
                                <m:t>𝑁</m:t>
                              </m:r>
                            </m:e>
                            <m:sup>
                              <m:r>
                                <a:rPr kumimoji="1" lang="en-US" altLang="ko-KR" sz="2000" b="0" i="1" smtClean="0">
                                  <a:solidFill>
                                    <a:schemeClr val="tx1"/>
                                  </a:solidFill>
                                  <a:latin typeface="Cambria Math" panose="02040503050406030204" pitchFamily="18" charset="0"/>
                                </a:rPr>
                                <m:t>2</m:t>
                              </m:r>
                            </m:sup>
                          </m:sSup>
                          <m:r>
                            <a:rPr kumimoji="1" lang="en-US" altLang="ko-KR" sz="2000" b="0" i="1" smtClean="0">
                              <a:solidFill>
                                <a:schemeClr val="tx1"/>
                              </a:solidFill>
                              <a:latin typeface="Cambria Math" panose="02040503050406030204" pitchFamily="18" charset="0"/>
                            </a:rPr>
                            <m:t>𝐶</m:t>
                          </m:r>
                        </m:e>
                      </m:d>
                      <m:r>
                        <a:rPr kumimoji="1" lang="en-US" altLang="ko-KR" sz="2000" b="0" i="1" smtClean="0">
                          <a:solidFill>
                            <a:srgbClr val="FF0000"/>
                          </a:solidFill>
                          <a:latin typeface="Cambria Math" panose="02040503050406030204" pitchFamily="18" charset="0"/>
                        </a:rPr>
                        <m:t>=</m:t>
                      </m:r>
                      <m:r>
                        <a:rPr kumimoji="1" lang="en-US" altLang="ko-KR" sz="2000" b="0" i="1" smtClean="0">
                          <a:solidFill>
                            <a:srgbClr val="FF0000"/>
                          </a:solidFill>
                          <a:latin typeface="Cambria Math" panose="02040503050406030204" pitchFamily="18" charset="0"/>
                        </a:rPr>
                        <m:t>𝑂</m:t>
                      </m:r>
                      <m:r>
                        <a:rPr kumimoji="1" lang="en-US" altLang="ko-KR" sz="2000" b="0" i="1" smtClean="0">
                          <a:solidFill>
                            <a:srgbClr val="FF0000"/>
                          </a:solidFill>
                          <a:latin typeface="Cambria Math" panose="02040503050406030204" pitchFamily="18" charset="0"/>
                        </a:rPr>
                        <m:t>(2</m:t>
                      </m:r>
                      <m:sSup>
                        <m:sSupPr>
                          <m:ctrlPr>
                            <a:rPr kumimoji="1" lang="en-US" altLang="ko-KR" sz="2000" b="0" i="1" smtClean="0">
                              <a:solidFill>
                                <a:srgbClr val="FF0000"/>
                              </a:solidFill>
                              <a:latin typeface="Cambria Math" panose="02040503050406030204" pitchFamily="18" charset="0"/>
                            </a:rPr>
                          </m:ctrlPr>
                        </m:sSupPr>
                        <m:e>
                          <m:r>
                            <a:rPr kumimoji="1" lang="en-US" altLang="ko-KR" sz="2000" b="0" i="1" smtClean="0">
                              <a:solidFill>
                                <a:srgbClr val="FF0000"/>
                              </a:solidFill>
                              <a:latin typeface="Cambria Math" panose="02040503050406030204" pitchFamily="18" charset="0"/>
                            </a:rPr>
                            <m:t>𝑁</m:t>
                          </m:r>
                        </m:e>
                        <m:sup>
                          <m:r>
                            <a:rPr kumimoji="1" lang="en-US" altLang="ko-KR" sz="2000" b="0" i="1" smtClean="0">
                              <a:solidFill>
                                <a:srgbClr val="FF0000"/>
                              </a:solidFill>
                              <a:latin typeface="Cambria Math" panose="02040503050406030204" pitchFamily="18" charset="0"/>
                            </a:rPr>
                            <m:t>2</m:t>
                          </m:r>
                        </m:sup>
                      </m:sSup>
                      <m:r>
                        <a:rPr kumimoji="1" lang="en-US" altLang="ko-KR" sz="2000" b="0" i="1" smtClean="0">
                          <a:solidFill>
                            <a:srgbClr val="FF0000"/>
                          </a:solidFill>
                          <a:latin typeface="Cambria Math" panose="02040503050406030204" pitchFamily="18" charset="0"/>
                        </a:rPr>
                        <m:t>h𝑑</m:t>
                      </m:r>
                      <m:r>
                        <a:rPr kumimoji="1" lang="en-US" altLang="ko-KR" sz="2000" b="0" i="1" smtClean="0">
                          <a:solidFill>
                            <a:srgbClr val="FF0000"/>
                          </a:solidFill>
                          <a:latin typeface="Cambria Math" panose="02040503050406030204" pitchFamily="18" charset="0"/>
                        </a:rPr>
                        <m:t>)</m:t>
                      </m:r>
                    </m:oMath>
                  </m:oMathPara>
                </a14:m>
                <a:endParaRPr kumimoji="1" lang="en-US" altLang="ko-KR" sz="2000" b="0" i="1" dirty="0">
                  <a:solidFill>
                    <a:schemeClr val="tx1"/>
                  </a:solidFill>
                  <a:latin typeface="Cambria Math" panose="02040503050406030204" pitchFamily="18" charset="0"/>
                </a:endParaRPr>
              </a:p>
            </p:txBody>
          </p:sp>
        </mc:Choice>
        <mc:Fallback>
          <p:sp>
            <p:nvSpPr>
              <p:cNvPr id="27" name="직사각형 26">
                <a:extLst>
                  <a:ext uri="{FF2B5EF4-FFF2-40B4-BE49-F238E27FC236}">
                    <a16:creationId xmlns:a16="http://schemas.microsoft.com/office/drawing/2014/main" id="{3FA107AD-8413-1C85-2CD7-49DCFEE3B8D6}"/>
                  </a:ext>
                </a:extLst>
              </p:cNvPr>
              <p:cNvSpPr>
                <a:spLocks noRot="1" noChangeAspect="1" noMove="1" noResize="1" noEditPoints="1" noAdjustHandles="1" noChangeArrowheads="1" noChangeShapeType="1" noTextEdit="1"/>
              </p:cNvSpPr>
              <p:nvPr/>
            </p:nvSpPr>
            <p:spPr>
              <a:xfrm>
                <a:off x="4415785" y="4694137"/>
                <a:ext cx="1593206" cy="901174"/>
              </a:xfrm>
              <a:prstGeom prst="rect">
                <a:avLst/>
              </a:prstGeom>
              <a:blipFill>
                <a:blip r:embed="rId18"/>
                <a:stretch>
                  <a:fillRect l="-787" b="-6944"/>
                </a:stretch>
              </a:blipFill>
              <a:ln>
                <a:noFill/>
              </a:ln>
            </p:spPr>
            <p:txBody>
              <a:bodyPr/>
              <a:lstStyle/>
              <a:p>
                <a:r>
                  <a:rPr lang="ko-KR" altLang="en-US">
                    <a:noFill/>
                  </a:rPr>
                  <a:t> </a:t>
                </a:r>
              </a:p>
            </p:txBody>
          </p:sp>
        </mc:Fallback>
      </mc:AlternateContent>
      <mc:AlternateContent xmlns:mc="http://schemas.openxmlformats.org/markup-compatibility/2006">
        <mc:Choice xmlns:a14="http://schemas.microsoft.com/office/drawing/2010/main" Requires="a14">
          <p:sp>
            <p:nvSpPr>
              <p:cNvPr id="42" name="직사각형 41">
                <a:extLst>
                  <a:ext uri="{FF2B5EF4-FFF2-40B4-BE49-F238E27FC236}">
                    <a16:creationId xmlns:a16="http://schemas.microsoft.com/office/drawing/2014/main" id="{63920998-DEBF-10CD-D5FC-37F5DE0D3BB0}"/>
                  </a:ext>
                </a:extLst>
              </p:cNvPr>
              <p:cNvSpPr/>
              <p:nvPr/>
            </p:nvSpPr>
            <p:spPr>
              <a:xfrm>
                <a:off x="6494351" y="4921683"/>
                <a:ext cx="795208" cy="607009"/>
              </a:xfrm>
              <a:prstGeom prst="rect">
                <a:avLst/>
              </a:prstGeom>
              <a:solidFill>
                <a:schemeClr val="accent1">
                  <a:alpha val="50000"/>
                </a:schemeClr>
              </a:solidFill>
              <a:ln w="19050"/>
            </p:spPr>
            <p:style>
              <a:lnRef idx="2">
                <a:schemeClr val="accent1">
                  <a:shade val="15000"/>
                </a:schemeClr>
              </a:lnRef>
              <a:fillRef idx="1">
                <a:schemeClr val="accent1"/>
              </a:fillRef>
              <a:effectRef idx="0">
                <a:schemeClr val="accent1"/>
              </a:effectRef>
              <a:fontRef idx="minor">
                <a:schemeClr val="lt1"/>
              </a:fontRef>
            </p:style>
            <p:txBody>
              <a:bodyPr lIns="46800" tIns="46800" rIns="46800" rtlCol="0" anchor="ctr"/>
              <a:lstStyle/>
              <a:p>
                <a:pPr algn="ctr"/>
                <a14:m>
                  <m:oMathPara xmlns:m="http://schemas.openxmlformats.org/officeDocument/2006/math">
                    <m:oMathParaPr>
                      <m:jc m:val="center"/>
                    </m:oMathParaPr>
                    <m:oMath xmlns:m="http://schemas.openxmlformats.org/officeDocument/2006/math">
                      <m:f>
                        <m:fPr>
                          <m:ctrlPr>
                            <a:rPr kumimoji="1" lang="en-US" altLang="ko-KR" sz="2000" b="0" i="1" dirty="0" smtClean="0">
                              <a:solidFill>
                                <a:schemeClr val="tx1"/>
                              </a:solidFill>
                              <a:latin typeface="Cambria Math" panose="02040503050406030204" pitchFamily="18" charset="0"/>
                            </a:rPr>
                          </m:ctrlPr>
                        </m:fPr>
                        <m:num>
                          <m:r>
                            <a:rPr kumimoji="1" lang="en-US" altLang="ko-KR" sz="2000" b="0" i="1" dirty="0" smtClean="0">
                              <a:solidFill>
                                <a:schemeClr val="tx1"/>
                              </a:solidFill>
                              <a:latin typeface="Cambria Math" panose="02040503050406030204" pitchFamily="18" charset="0"/>
                            </a:rPr>
                            <m:t>𝑁</m:t>
                          </m:r>
                        </m:num>
                        <m:den>
                          <m:r>
                            <a:rPr kumimoji="1" lang="en-US" altLang="ko-KR" sz="2000" b="0" i="1" dirty="0" smtClean="0">
                              <a:solidFill>
                                <a:schemeClr val="tx1"/>
                              </a:solidFill>
                              <a:latin typeface="Cambria Math" panose="02040503050406030204" pitchFamily="18" charset="0"/>
                            </a:rPr>
                            <m:t>4</m:t>
                          </m:r>
                        </m:den>
                      </m:f>
                      <m:r>
                        <a:rPr kumimoji="1" lang="en-US" altLang="ko-KR" sz="2000" b="0" i="1" dirty="0" smtClean="0">
                          <a:solidFill>
                            <a:schemeClr val="tx1"/>
                          </a:solidFill>
                          <a:latin typeface="Cambria Math" panose="02040503050406030204" pitchFamily="18" charset="0"/>
                        </a:rPr>
                        <m:t> × </m:t>
                      </m:r>
                      <m:r>
                        <a:rPr kumimoji="1" lang="en-US" altLang="ko-KR" sz="2000" b="0" i="1" dirty="0" smtClean="0">
                          <a:solidFill>
                            <a:schemeClr val="tx1"/>
                          </a:solidFill>
                          <a:latin typeface="Cambria Math" panose="02040503050406030204" pitchFamily="18" charset="0"/>
                        </a:rPr>
                        <m:t>𝐶</m:t>
                      </m:r>
                    </m:oMath>
                  </m:oMathPara>
                </a14:m>
                <a:endParaRPr kumimoji="1" lang="ko-KR" altLang="en-US" sz="2000" dirty="0">
                  <a:solidFill>
                    <a:schemeClr val="tx1"/>
                  </a:solidFill>
                </a:endParaRPr>
              </a:p>
            </p:txBody>
          </p:sp>
        </mc:Choice>
        <mc:Fallback>
          <p:sp>
            <p:nvSpPr>
              <p:cNvPr id="42" name="직사각형 41">
                <a:extLst>
                  <a:ext uri="{FF2B5EF4-FFF2-40B4-BE49-F238E27FC236}">
                    <a16:creationId xmlns:a16="http://schemas.microsoft.com/office/drawing/2014/main" id="{63920998-DEBF-10CD-D5FC-37F5DE0D3BB0}"/>
                  </a:ext>
                </a:extLst>
              </p:cNvPr>
              <p:cNvSpPr>
                <a:spLocks noRot="1" noChangeAspect="1" noMove="1" noResize="1" noEditPoints="1" noAdjustHandles="1" noChangeArrowheads="1" noChangeShapeType="1" noTextEdit="1"/>
              </p:cNvSpPr>
              <p:nvPr/>
            </p:nvSpPr>
            <p:spPr>
              <a:xfrm>
                <a:off x="6494351" y="4921683"/>
                <a:ext cx="795208" cy="607009"/>
              </a:xfrm>
              <a:prstGeom prst="rect">
                <a:avLst/>
              </a:prstGeom>
              <a:blipFill>
                <a:blip r:embed="rId19"/>
                <a:stretch>
                  <a:fillRect l="-7576" b="-7843"/>
                </a:stretch>
              </a:blipFill>
              <a:ln w="19050"/>
            </p:spPr>
            <p:txBody>
              <a:bodyPr/>
              <a:lstStyle/>
              <a:p>
                <a:r>
                  <a:rPr lang="ko-KR" altLang="en-US">
                    <a:noFill/>
                  </a:rPr>
                  <a:t> </a:t>
                </a:r>
              </a:p>
            </p:txBody>
          </p:sp>
        </mc:Fallback>
      </mc:AlternateContent>
      <mc:AlternateContent xmlns:mc="http://schemas.openxmlformats.org/markup-compatibility/2006">
        <mc:Choice xmlns:a14="http://schemas.microsoft.com/office/drawing/2010/main" Requires="a14">
          <p:sp>
            <p:nvSpPr>
              <p:cNvPr id="43" name="직사각형 42">
                <a:extLst>
                  <a:ext uri="{FF2B5EF4-FFF2-40B4-BE49-F238E27FC236}">
                    <a16:creationId xmlns:a16="http://schemas.microsoft.com/office/drawing/2014/main" id="{1DFBC087-61A1-81CD-2226-E1B1D7A3A6F6}"/>
                  </a:ext>
                </a:extLst>
              </p:cNvPr>
              <p:cNvSpPr/>
              <p:nvPr/>
            </p:nvSpPr>
            <p:spPr>
              <a:xfrm rot="16200000">
                <a:off x="7902320" y="4862715"/>
                <a:ext cx="749827" cy="736395"/>
              </a:xfrm>
              <a:prstGeom prst="rect">
                <a:avLst/>
              </a:prstGeom>
              <a:solidFill>
                <a:schemeClr val="accent6">
                  <a:alpha val="50000"/>
                </a:schemeClr>
              </a:solidFill>
              <a:ln w="19050"/>
            </p:spPr>
            <p:style>
              <a:lnRef idx="2">
                <a:schemeClr val="accent1">
                  <a:shade val="15000"/>
                </a:schemeClr>
              </a:lnRef>
              <a:fillRef idx="1">
                <a:schemeClr val="accent1"/>
              </a:fillRef>
              <a:effectRef idx="0">
                <a:schemeClr val="accent1"/>
              </a:effectRef>
              <a:fontRef idx="minor">
                <a:schemeClr val="lt1"/>
              </a:fontRef>
            </p:style>
            <p:txBody>
              <a:bodyPr vert="eaVert" lIns="46800" tIns="46800" rIns="46800" rtlCol="0" anchor="ctr"/>
              <a:lstStyle/>
              <a:p>
                <a:pPr algn="ctr"/>
                <a14:m>
                  <m:oMathPara xmlns:m="http://schemas.openxmlformats.org/officeDocument/2006/math">
                    <m:oMathParaPr>
                      <m:jc m:val="center"/>
                    </m:oMathParaPr>
                    <m:oMath xmlns:m="http://schemas.openxmlformats.org/officeDocument/2006/math">
                      <m:r>
                        <a:rPr kumimoji="1" lang="en-US" altLang="ko-KR" sz="2000" b="0" i="1" dirty="0" smtClean="0">
                          <a:solidFill>
                            <a:schemeClr val="tx1"/>
                          </a:solidFill>
                          <a:latin typeface="Cambria Math" panose="02040503050406030204" pitchFamily="18" charset="0"/>
                        </a:rPr>
                        <m:t>𝐶</m:t>
                      </m:r>
                      <m:r>
                        <a:rPr kumimoji="1" lang="en-US" altLang="ko-KR" sz="2000" i="1" dirty="0">
                          <a:solidFill>
                            <a:schemeClr val="tx1"/>
                          </a:solidFill>
                          <a:latin typeface="Cambria Math" panose="02040503050406030204" pitchFamily="18" charset="0"/>
                        </a:rPr>
                        <m:t> ×</m:t>
                      </m:r>
                      <m:f>
                        <m:fPr>
                          <m:ctrlPr>
                            <a:rPr kumimoji="1" lang="en-US" altLang="ko-KR" sz="2000" b="0" i="1" dirty="0" smtClean="0">
                              <a:solidFill>
                                <a:schemeClr val="tx1"/>
                              </a:solidFill>
                              <a:latin typeface="Cambria Math" panose="02040503050406030204" pitchFamily="18" charset="0"/>
                            </a:rPr>
                          </m:ctrlPr>
                        </m:fPr>
                        <m:num>
                          <m:r>
                            <a:rPr kumimoji="1" lang="en-US" altLang="ko-KR" sz="2000" b="0" i="1" dirty="0" smtClean="0">
                              <a:solidFill>
                                <a:schemeClr val="tx1"/>
                              </a:solidFill>
                              <a:latin typeface="Cambria Math" panose="02040503050406030204" pitchFamily="18" charset="0"/>
                            </a:rPr>
                            <m:t>𝑁</m:t>
                          </m:r>
                        </m:num>
                        <m:den>
                          <m:r>
                            <a:rPr kumimoji="1" lang="en-US" altLang="ko-KR" sz="2000" b="0" i="1" dirty="0" smtClean="0">
                              <a:solidFill>
                                <a:schemeClr val="tx1"/>
                              </a:solidFill>
                              <a:latin typeface="Cambria Math" panose="02040503050406030204" pitchFamily="18" charset="0"/>
                            </a:rPr>
                            <m:t>4</m:t>
                          </m:r>
                        </m:den>
                      </m:f>
                    </m:oMath>
                  </m:oMathPara>
                </a14:m>
                <a:endParaRPr kumimoji="1" lang="ko-KR" altLang="en-US" sz="2000" dirty="0">
                  <a:solidFill>
                    <a:schemeClr val="tx1"/>
                  </a:solidFill>
                </a:endParaRPr>
              </a:p>
            </p:txBody>
          </p:sp>
        </mc:Choice>
        <mc:Fallback>
          <p:sp>
            <p:nvSpPr>
              <p:cNvPr id="43" name="직사각형 42">
                <a:extLst>
                  <a:ext uri="{FF2B5EF4-FFF2-40B4-BE49-F238E27FC236}">
                    <a16:creationId xmlns:a16="http://schemas.microsoft.com/office/drawing/2014/main" id="{1DFBC087-61A1-81CD-2226-E1B1D7A3A6F6}"/>
                  </a:ext>
                </a:extLst>
              </p:cNvPr>
              <p:cNvSpPr>
                <a:spLocks noRot="1" noChangeAspect="1" noMove="1" noResize="1" noEditPoints="1" noAdjustHandles="1" noChangeArrowheads="1" noChangeShapeType="1" noTextEdit="1"/>
              </p:cNvSpPr>
              <p:nvPr/>
            </p:nvSpPr>
            <p:spPr>
              <a:xfrm rot="16200000">
                <a:off x="7902320" y="4862715"/>
                <a:ext cx="749827" cy="736395"/>
              </a:xfrm>
              <a:prstGeom prst="rect">
                <a:avLst/>
              </a:prstGeom>
              <a:blipFill>
                <a:blip r:embed="rId20"/>
                <a:stretch>
                  <a:fillRect l="-10000"/>
                </a:stretch>
              </a:blipFill>
              <a:ln w="19050"/>
            </p:spPr>
            <p:txBody>
              <a:bodyPr/>
              <a:lstStyle/>
              <a:p>
                <a:r>
                  <a:rPr lang="ko-KR" altLang="en-US">
                    <a:noFill/>
                  </a:rPr>
                  <a:t> </a:t>
                </a:r>
              </a:p>
            </p:txBody>
          </p:sp>
        </mc:Fallback>
      </mc:AlternateContent>
      <p:sp>
        <p:nvSpPr>
          <p:cNvPr id="44" name="곱하기 43">
            <a:extLst>
              <a:ext uri="{FF2B5EF4-FFF2-40B4-BE49-F238E27FC236}">
                <a16:creationId xmlns:a16="http://schemas.microsoft.com/office/drawing/2014/main" id="{E22F6237-9B80-14C9-406A-DE02E8650D70}"/>
              </a:ext>
            </a:extLst>
          </p:cNvPr>
          <p:cNvSpPr/>
          <p:nvPr/>
        </p:nvSpPr>
        <p:spPr>
          <a:xfrm>
            <a:off x="7331558" y="4994049"/>
            <a:ext cx="440010" cy="483739"/>
          </a:xfrm>
          <a:prstGeom prst="mathMultiply">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b="0" i="1" dirty="0">
              <a:latin typeface="Cambria Math" panose="02040503050406030204" pitchFamily="18" charset="0"/>
            </a:endParaRPr>
          </a:p>
        </p:txBody>
      </p:sp>
      <p:sp>
        <p:nvSpPr>
          <p:cNvPr id="45" name="직사각형 44">
            <a:extLst>
              <a:ext uri="{FF2B5EF4-FFF2-40B4-BE49-F238E27FC236}">
                <a16:creationId xmlns:a16="http://schemas.microsoft.com/office/drawing/2014/main" id="{D4006A06-A57D-3337-7193-D834A7CD0154}"/>
              </a:ext>
            </a:extLst>
          </p:cNvPr>
          <p:cNvSpPr/>
          <p:nvPr/>
        </p:nvSpPr>
        <p:spPr>
          <a:xfrm>
            <a:off x="6391913" y="4346691"/>
            <a:ext cx="2436777" cy="1778456"/>
          </a:xfrm>
          <a:prstGeom prst="rect">
            <a:avLst/>
          </a:prstGeom>
          <a:noFill/>
          <a:ln w="19050" cap="rnd">
            <a:prstDash val="dash"/>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b="0" i="1" dirty="0">
              <a:latin typeface="Cambria Math" panose="02040503050406030204" pitchFamily="18" charset="0"/>
            </a:endParaRPr>
          </a:p>
        </p:txBody>
      </p:sp>
      <mc:AlternateContent xmlns:mc="http://schemas.openxmlformats.org/markup-compatibility/2006" xmlns:a14="http://schemas.microsoft.com/office/drawing/2010/main">
        <mc:Choice Requires="a14">
          <p:sp>
            <p:nvSpPr>
              <p:cNvPr id="46" name="직사각형 45">
                <a:extLst>
                  <a:ext uri="{FF2B5EF4-FFF2-40B4-BE49-F238E27FC236}">
                    <a16:creationId xmlns:a16="http://schemas.microsoft.com/office/drawing/2014/main" id="{5CFADA98-331D-E5BC-CED1-3D571A3CB849}"/>
                  </a:ext>
                </a:extLst>
              </p:cNvPr>
              <p:cNvSpPr/>
              <p:nvPr/>
            </p:nvSpPr>
            <p:spPr>
              <a:xfrm>
                <a:off x="7535688" y="5922021"/>
                <a:ext cx="1096670" cy="4007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14:m>
                  <m:oMathPara xmlns:m="http://schemas.openxmlformats.org/officeDocument/2006/math">
                    <m:oMathParaPr>
                      <m:jc m:val="centerGroup"/>
                    </m:oMathParaPr>
                    <m:oMath xmlns:m="http://schemas.openxmlformats.org/officeDocument/2006/math">
                      <m:r>
                        <a:rPr kumimoji="1" lang="en-US" altLang="ko-KR" b="0" i="1" dirty="0" smtClean="0">
                          <a:solidFill>
                            <a:schemeClr val="tx1"/>
                          </a:solidFill>
                          <a:latin typeface="Cambria Math" panose="02040503050406030204" pitchFamily="18" charset="0"/>
                        </a:rPr>
                        <m:t>𝑆𝑜𝑓𝑡𝑚𝑎𝑥</m:t>
                      </m:r>
                    </m:oMath>
                  </m:oMathPara>
                </a14:m>
                <a:endParaRPr kumimoji="1" lang="ko-KR" altLang="en-US" b="0" i="1" dirty="0">
                  <a:solidFill>
                    <a:schemeClr val="tx1"/>
                  </a:solidFill>
                  <a:latin typeface="Cambria Math" panose="02040503050406030204" pitchFamily="18" charset="0"/>
                </a:endParaRPr>
              </a:p>
            </p:txBody>
          </p:sp>
        </mc:Choice>
        <mc:Fallback xmlns="">
          <p:sp>
            <p:nvSpPr>
              <p:cNvPr id="46" name="직사각형 45">
                <a:extLst>
                  <a:ext uri="{FF2B5EF4-FFF2-40B4-BE49-F238E27FC236}">
                    <a16:creationId xmlns:a16="http://schemas.microsoft.com/office/drawing/2014/main" id="{5CFADA98-331D-E5BC-CED1-3D571A3CB849}"/>
                  </a:ext>
                </a:extLst>
              </p:cNvPr>
              <p:cNvSpPr>
                <a:spLocks noRot="1" noChangeAspect="1" noMove="1" noResize="1" noEditPoints="1" noAdjustHandles="1" noChangeArrowheads="1" noChangeShapeType="1" noTextEdit="1"/>
              </p:cNvSpPr>
              <p:nvPr/>
            </p:nvSpPr>
            <p:spPr>
              <a:xfrm>
                <a:off x="7535688" y="5922021"/>
                <a:ext cx="1096670" cy="400725"/>
              </a:xfrm>
              <a:prstGeom prst="rect">
                <a:avLst/>
              </a:prstGeom>
              <a:blipFill>
                <a:blip r:embed="rId21"/>
                <a:stretch>
                  <a:fillRect l="-4598" b="-12500"/>
                </a:stretch>
              </a:blipFill>
              <a:ln>
                <a:noFill/>
              </a:ln>
            </p:spPr>
            <p:txBody>
              <a:bodyPr/>
              <a:lstStyle/>
              <a:p>
                <a:r>
                  <a:rPr lang="ko-KR" altLang="en-US">
                    <a:noFill/>
                  </a:rPr>
                  <a:t> </a:t>
                </a:r>
              </a:p>
            </p:txBody>
          </p:sp>
        </mc:Fallback>
      </mc:AlternateContent>
      <p:sp>
        <p:nvSpPr>
          <p:cNvPr id="47" name="곱하기 46">
            <a:extLst>
              <a:ext uri="{FF2B5EF4-FFF2-40B4-BE49-F238E27FC236}">
                <a16:creationId xmlns:a16="http://schemas.microsoft.com/office/drawing/2014/main" id="{C358F24A-2EE3-3956-B7AB-DCEAB5A98F24}"/>
              </a:ext>
            </a:extLst>
          </p:cNvPr>
          <p:cNvSpPr/>
          <p:nvPr/>
        </p:nvSpPr>
        <p:spPr>
          <a:xfrm>
            <a:off x="8840603" y="4994049"/>
            <a:ext cx="440010" cy="483739"/>
          </a:xfrm>
          <a:prstGeom prst="mathMultiply">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b="0" i="1" dirty="0">
              <a:latin typeface="Cambria Math" panose="02040503050406030204" pitchFamily="18" charset="0"/>
            </a:endParaRPr>
          </a:p>
        </p:txBody>
      </p:sp>
      <mc:AlternateContent xmlns:mc="http://schemas.openxmlformats.org/markup-compatibility/2006">
        <mc:Choice xmlns:a14="http://schemas.microsoft.com/office/drawing/2010/main" Requires="a14">
          <p:sp>
            <p:nvSpPr>
              <p:cNvPr id="48" name="직사각형 47">
                <a:extLst>
                  <a:ext uri="{FF2B5EF4-FFF2-40B4-BE49-F238E27FC236}">
                    <a16:creationId xmlns:a16="http://schemas.microsoft.com/office/drawing/2014/main" id="{58734C4D-356B-6FF1-B0D1-971206E39B9C}"/>
                  </a:ext>
                </a:extLst>
              </p:cNvPr>
              <p:cNvSpPr/>
              <p:nvPr/>
            </p:nvSpPr>
            <p:spPr>
              <a:xfrm>
                <a:off x="9365149" y="4921683"/>
                <a:ext cx="797405" cy="607009"/>
              </a:xfrm>
              <a:prstGeom prst="rect">
                <a:avLst/>
              </a:prstGeom>
              <a:solidFill>
                <a:schemeClr val="accent4">
                  <a:alpha val="50000"/>
                </a:schemeClr>
              </a:solidFill>
              <a:ln w="19050"/>
            </p:spPr>
            <p:style>
              <a:lnRef idx="2">
                <a:schemeClr val="accent1">
                  <a:shade val="15000"/>
                </a:schemeClr>
              </a:lnRef>
              <a:fillRef idx="1">
                <a:schemeClr val="accent1"/>
              </a:fillRef>
              <a:effectRef idx="0">
                <a:schemeClr val="accent1"/>
              </a:effectRef>
              <a:fontRef idx="minor">
                <a:schemeClr val="lt1"/>
              </a:fontRef>
            </p:style>
            <p:txBody>
              <a:bodyPr lIns="46800" tIns="46800" rIns="46800" rtlCol="0" anchor="ctr"/>
              <a:lstStyle/>
              <a:p>
                <a:pPr algn="ctr"/>
                <a14:m>
                  <m:oMathPara xmlns:m="http://schemas.openxmlformats.org/officeDocument/2006/math">
                    <m:oMathParaPr>
                      <m:jc m:val="center"/>
                    </m:oMathParaPr>
                    <m:oMath xmlns:m="http://schemas.openxmlformats.org/officeDocument/2006/math">
                      <m:f>
                        <m:fPr>
                          <m:ctrlPr>
                            <a:rPr kumimoji="1" lang="en-US" altLang="ko-KR" sz="2000" b="0" i="1" dirty="0" smtClean="0">
                              <a:solidFill>
                                <a:schemeClr val="tx1"/>
                              </a:solidFill>
                              <a:latin typeface="Cambria Math" panose="02040503050406030204" pitchFamily="18" charset="0"/>
                            </a:rPr>
                          </m:ctrlPr>
                        </m:fPr>
                        <m:num>
                          <m:r>
                            <a:rPr kumimoji="1" lang="en-US" altLang="ko-KR" sz="2000" b="0" i="1" dirty="0" smtClean="0">
                              <a:solidFill>
                                <a:schemeClr val="tx1"/>
                              </a:solidFill>
                              <a:latin typeface="Cambria Math" panose="02040503050406030204" pitchFamily="18" charset="0"/>
                            </a:rPr>
                            <m:t>𝑁</m:t>
                          </m:r>
                        </m:num>
                        <m:den>
                          <m:r>
                            <a:rPr kumimoji="1" lang="en-US" altLang="ko-KR" sz="2000" b="0" i="1" dirty="0" smtClean="0">
                              <a:solidFill>
                                <a:schemeClr val="tx1"/>
                              </a:solidFill>
                              <a:latin typeface="Cambria Math" panose="02040503050406030204" pitchFamily="18" charset="0"/>
                            </a:rPr>
                            <m:t>4</m:t>
                          </m:r>
                        </m:den>
                      </m:f>
                      <m:r>
                        <a:rPr kumimoji="1" lang="en-US" altLang="ko-KR" sz="2000" b="0" i="1" dirty="0" smtClean="0">
                          <a:solidFill>
                            <a:schemeClr val="tx1"/>
                          </a:solidFill>
                          <a:latin typeface="Cambria Math" panose="02040503050406030204" pitchFamily="18" charset="0"/>
                        </a:rPr>
                        <m:t> × </m:t>
                      </m:r>
                      <m:r>
                        <a:rPr kumimoji="1" lang="en-US" altLang="ko-KR" sz="2000" b="0" i="1" dirty="0" smtClean="0">
                          <a:solidFill>
                            <a:schemeClr val="tx1"/>
                          </a:solidFill>
                          <a:latin typeface="Cambria Math" panose="02040503050406030204" pitchFamily="18" charset="0"/>
                        </a:rPr>
                        <m:t>𝐶</m:t>
                      </m:r>
                    </m:oMath>
                  </m:oMathPara>
                </a14:m>
                <a:endParaRPr kumimoji="1" lang="ko-KR" altLang="en-US" sz="2000" dirty="0">
                  <a:solidFill>
                    <a:schemeClr val="tx1"/>
                  </a:solidFill>
                </a:endParaRPr>
              </a:p>
            </p:txBody>
          </p:sp>
        </mc:Choice>
        <mc:Fallback>
          <p:sp>
            <p:nvSpPr>
              <p:cNvPr id="48" name="직사각형 47">
                <a:extLst>
                  <a:ext uri="{FF2B5EF4-FFF2-40B4-BE49-F238E27FC236}">
                    <a16:creationId xmlns:a16="http://schemas.microsoft.com/office/drawing/2014/main" id="{58734C4D-356B-6FF1-B0D1-971206E39B9C}"/>
                  </a:ext>
                </a:extLst>
              </p:cNvPr>
              <p:cNvSpPr>
                <a:spLocks noRot="1" noChangeAspect="1" noMove="1" noResize="1" noEditPoints="1" noAdjustHandles="1" noChangeArrowheads="1" noChangeShapeType="1" noTextEdit="1"/>
              </p:cNvSpPr>
              <p:nvPr/>
            </p:nvSpPr>
            <p:spPr>
              <a:xfrm>
                <a:off x="9365149" y="4921683"/>
                <a:ext cx="797405" cy="607009"/>
              </a:xfrm>
              <a:prstGeom prst="rect">
                <a:avLst/>
              </a:prstGeom>
              <a:blipFill>
                <a:blip r:embed="rId22"/>
                <a:stretch>
                  <a:fillRect l="-7576" b="-7843"/>
                </a:stretch>
              </a:blipFill>
              <a:ln w="19050"/>
            </p:spPr>
            <p:txBody>
              <a:bodyPr/>
              <a:lstStyle/>
              <a:p>
                <a:r>
                  <a:rPr lang="ko-KR" altLang="en-US">
                    <a:noFill/>
                  </a:rPr>
                  <a:t> </a:t>
                </a:r>
              </a:p>
            </p:txBody>
          </p:sp>
        </mc:Fallback>
      </mc:AlternateContent>
      <p:sp>
        <p:nvSpPr>
          <p:cNvPr id="49" name="직사각형 48">
            <a:extLst>
              <a:ext uri="{FF2B5EF4-FFF2-40B4-BE49-F238E27FC236}">
                <a16:creationId xmlns:a16="http://schemas.microsoft.com/office/drawing/2014/main" id="{5861E594-C63B-E911-B7E8-20EF8F8967A4}"/>
              </a:ext>
            </a:extLst>
          </p:cNvPr>
          <p:cNvSpPr/>
          <p:nvPr/>
        </p:nvSpPr>
        <p:spPr>
          <a:xfrm>
            <a:off x="6251491" y="3642344"/>
            <a:ext cx="4051487" cy="2680401"/>
          </a:xfrm>
          <a:prstGeom prst="rect">
            <a:avLst/>
          </a:prstGeom>
          <a:noFill/>
          <a:ln w="19050" cap="rnd">
            <a:prstDash val="dash"/>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b="0" i="1" dirty="0">
              <a:latin typeface="Cambria Math" panose="02040503050406030204" pitchFamily="18" charset="0"/>
            </a:endParaRPr>
          </a:p>
        </p:txBody>
      </p:sp>
      <mc:AlternateContent xmlns:mc="http://schemas.openxmlformats.org/markup-compatibility/2006" xmlns:a14="http://schemas.microsoft.com/office/drawing/2010/main">
        <mc:Choice Requires="a14">
          <p:sp>
            <p:nvSpPr>
              <p:cNvPr id="50" name="직사각형 49">
                <a:extLst>
                  <a:ext uri="{FF2B5EF4-FFF2-40B4-BE49-F238E27FC236}">
                    <a16:creationId xmlns:a16="http://schemas.microsoft.com/office/drawing/2014/main" id="{CD2E9E86-7D62-3A78-6716-3475A1FC0C59}"/>
                  </a:ext>
                </a:extLst>
              </p:cNvPr>
              <p:cNvSpPr/>
              <p:nvPr/>
            </p:nvSpPr>
            <p:spPr>
              <a:xfrm>
                <a:off x="6342896" y="6360944"/>
                <a:ext cx="1096670" cy="4007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14:m>
                  <m:oMathPara xmlns:m="http://schemas.openxmlformats.org/officeDocument/2006/math">
                    <m:oMathParaPr>
                      <m:jc m:val="centerGroup"/>
                    </m:oMathParaPr>
                    <m:oMath xmlns:m="http://schemas.openxmlformats.org/officeDocument/2006/math">
                      <m:r>
                        <a:rPr kumimoji="1" lang="en-US" altLang="ko-KR" sz="2500" b="0" i="1" smtClean="0">
                          <a:solidFill>
                            <a:schemeClr val="tx1"/>
                          </a:solidFill>
                          <a:latin typeface="Cambria Math" panose="02040503050406030204" pitchFamily="18" charset="0"/>
                        </a:rPr>
                        <m:t>𝑄</m:t>
                      </m:r>
                    </m:oMath>
                  </m:oMathPara>
                </a14:m>
                <a:endParaRPr kumimoji="1" lang="ko-KR" altLang="en-US" sz="2500" i="1" dirty="0">
                  <a:solidFill>
                    <a:schemeClr val="tx1"/>
                  </a:solidFill>
                  <a:latin typeface="Cambria Math" panose="02040503050406030204" pitchFamily="18" charset="0"/>
                </a:endParaRPr>
              </a:p>
            </p:txBody>
          </p:sp>
        </mc:Choice>
        <mc:Fallback xmlns="">
          <p:sp>
            <p:nvSpPr>
              <p:cNvPr id="50" name="직사각형 49">
                <a:extLst>
                  <a:ext uri="{FF2B5EF4-FFF2-40B4-BE49-F238E27FC236}">
                    <a16:creationId xmlns:a16="http://schemas.microsoft.com/office/drawing/2014/main" id="{CD2E9E86-7D62-3A78-6716-3475A1FC0C59}"/>
                  </a:ext>
                </a:extLst>
              </p:cNvPr>
              <p:cNvSpPr>
                <a:spLocks noRot="1" noChangeAspect="1" noMove="1" noResize="1" noEditPoints="1" noAdjustHandles="1" noChangeArrowheads="1" noChangeShapeType="1" noTextEdit="1"/>
              </p:cNvSpPr>
              <p:nvPr/>
            </p:nvSpPr>
            <p:spPr>
              <a:xfrm>
                <a:off x="6342896" y="6360944"/>
                <a:ext cx="1096670" cy="400725"/>
              </a:xfrm>
              <a:prstGeom prst="rect">
                <a:avLst/>
              </a:prstGeom>
              <a:blipFill>
                <a:blip r:embed="rId23"/>
                <a:stretch>
                  <a:fillRect b="-24242"/>
                </a:stretch>
              </a:blipFill>
              <a:ln>
                <a:no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51" name="직사각형 50">
                <a:extLst>
                  <a:ext uri="{FF2B5EF4-FFF2-40B4-BE49-F238E27FC236}">
                    <a16:creationId xmlns:a16="http://schemas.microsoft.com/office/drawing/2014/main" id="{DF8B3227-1D95-8BC1-DA56-930AEBA86408}"/>
                  </a:ext>
                </a:extLst>
              </p:cNvPr>
              <p:cNvSpPr/>
              <p:nvPr/>
            </p:nvSpPr>
            <p:spPr>
              <a:xfrm>
                <a:off x="7895961" y="6371020"/>
                <a:ext cx="1096670" cy="4007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14:m>
                  <m:oMathPara xmlns:m="http://schemas.openxmlformats.org/officeDocument/2006/math">
                    <m:oMathParaPr>
                      <m:jc m:val="centerGroup"/>
                    </m:oMathParaPr>
                    <m:oMath xmlns:m="http://schemas.openxmlformats.org/officeDocument/2006/math">
                      <m:sSup>
                        <m:sSupPr>
                          <m:ctrlPr>
                            <a:rPr kumimoji="1" lang="en-US" altLang="ko-KR" sz="2500" b="0" i="1" smtClean="0">
                              <a:solidFill>
                                <a:schemeClr val="tx1"/>
                              </a:solidFill>
                              <a:latin typeface="Cambria Math" panose="02040503050406030204" pitchFamily="18" charset="0"/>
                            </a:rPr>
                          </m:ctrlPr>
                        </m:sSupPr>
                        <m:e>
                          <m:r>
                            <a:rPr kumimoji="1" lang="en-US" altLang="ko-KR" sz="2500" b="0" i="1" smtClean="0">
                              <a:solidFill>
                                <a:schemeClr val="tx1"/>
                              </a:solidFill>
                              <a:latin typeface="Cambria Math" panose="02040503050406030204" pitchFamily="18" charset="0"/>
                            </a:rPr>
                            <m:t>𝐾</m:t>
                          </m:r>
                        </m:e>
                        <m:sup>
                          <m:r>
                            <a:rPr kumimoji="1" lang="en-US" altLang="ko-KR" sz="2500" b="0" i="1" smtClean="0">
                              <a:solidFill>
                                <a:schemeClr val="tx1"/>
                              </a:solidFill>
                              <a:latin typeface="Cambria Math" panose="02040503050406030204" pitchFamily="18" charset="0"/>
                            </a:rPr>
                            <m:t>𝑇</m:t>
                          </m:r>
                        </m:sup>
                      </m:sSup>
                    </m:oMath>
                  </m:oMathPara>
                </a14:m>
                <a:endParaRPr kumimoji="1" lang="ko-KR" altLang="en-US" sz="2500" i="1" dirty="0">
                  <a:solidFill>
                    <a:schemeClr val="tx1"/>
                  </a:solidFill>
                  <a:latin typeface="Cambria Math" panose="02040503050406030204" pitchFamily="18" charset="0"/>
                </a:endParaRPr>
              </a:p>
            </p:txBody>
          </p:sp>
        </mc:Choice>
        <mc:Fallback xmlns="">
          <p:sp>
            <p:nvSpPr>
              <p:cNvPr id="51" name="직사각형 50">
                <a:extLst>
                  <a:ext uri="{FF2B5EF4-FFF2-40B4-BE49-F238E27FC236}">
                    <a16:creationId xmlns:a16="http://schemas.microsoft.com/office/drawing/2014/main" id="{DF8B3227-1D95-8BC1-DA56-930AEBA86408}"/>
                  </a:ext>
                </a:extLst>
              </p:cNvPr>
              <p:cNvSpPr>
                <a:spLocks noRot="1" noChangeAspect="1" noMove="1" noResize="1" noEditPoints="1" noAdjustHandles="1" noChangeArrowheads="1" noChangeShapeType="1" noTextEdit="1"/>
              </p:cNvSpPr>
              <p:nvPr/>
            </p:nvSpPr>
            <p:spPr>
              <a:xfrm>
                <a:off x="7895961" y="6371020"/>
                <a:ext cx="1096670" cy="400725"/>
              </a:xfrm>
              <a:prstGeom prst="rect">
                <a:avLst/>
              </a:prstGeom>
              <a:blipFill>
                <a:blip r:embed="rId24"/>
                <a:stretch>
                  <a:fillRect b="-6061"/>
                </a:stretch>
              </a:blipFill>
              <a:ln>
                <a:no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52" name="직사각형 51">
                <a:extLst>
                  <a:ext uri="{FF2B5EF4-FFF2-40B4-BE49-F238E27FC236}">
                    <a16:creationId xmlns:a16="http://schemas.microsoft.com/office/drawing/2014/main" id="{4E0AB4B7-9656-2284-4DA9-36E1C1ECD430}"/>
                  </a:ext>
                </a:extLst>
              </p:cNvPr>
              <p:cNvSpPr/>
              <p:nvPr/>
            </p:nvSpPr>
            <p:spPr>
              <a:xfrm>
                <a:off x="9569307" y="6406474"/>
                <a:ext cx="1096670" cy="4007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14:m>
                  <m:oMathPara xmlns:m="http://schemas.openxmlformats.org/officeDocument/2006/math">
                    <m:oMathParaPr>
                      <m:jc m:val="centerGroup"/>
                    </m:oMathParaPr>
                    <m:oMath xmlns:m="http://schemas.openxmlformats.org/officeDocument/2006/math">
                      <m:r>
                        <a:rPr kumimoji="1" lang="en-US" altLang="ko-KR" sz="2500" b="0" i="1" smtClean="0">
                          <a:solidFill>
                            <a:schemeClr val="tx1"/>
                          </a:solidFill>
                          <a:latin typeface="Cambria Math" panose="02040503050406030204" pitchFamily="18" charset="0"/>
                        </a:rPr>
                        <m:t>𝑉</m:t>
                      </m:r>
                    </m:oMath>
                  </m:oMathPara>
                </a14:m>
                <a:endParaRPr kumimoji="1" lang="ko-KR" altLang="en-US" sz="2500" i="1" dirty="0">
                  <a:solidFill>
                    <a:schemeClr val="tx1"/>
                  </a:solidFill>
                  <a:latin typeface="Cambria Math" panose="02040503050406030204" pitchFamily="18" charset="0"/>
                </a:endParaRPr>
              </a:p>
            </p:txBody>
          </p:sp>
        </mc:Choice>
        <mc:Fallback xmlns="">
          <p:sp>
            <p:nvSpPr>
              <p:cNvPr id="52" name="직사각형 51">
                <a:extLst>
                  <a:ext uri="{FF2B5EF4-FFF2-40B4-BE49-F238E27FC236}">
                    <a16:creationId xmlns:a16="http://schemas.microsoft.com/office/drawing/2014/main" id="{4E0AB4B7-9656-2284-4DA9-36E1C1ECD430}"/>
                  </a:ext>
                </a:extLst>
              </p:cNvPr>
              <p:cNvSpPr>
                <a:spLocks noRot="1" noChangeAspect="1" noMove="1" noResize="1" noEditPoints="1" noAdjustHandles="1" noChangeArrowheads="1" noChangeShapeType="1" noTextEdit="1"/>
              </p:cNvSpPr>
              <p:nvPr/>
            </p:nvSpPr>
            <p:spPr>
              <a:xfrm>
                <a:off x="9569307" y="6406474"/>
                <a:ext cx="1096670" cy="400725"/>
              </a:xfrm>
              <a:prstGeom prst="rect">
                <a:avLst/>
              </a:prstGeom>
              <a:blipFill>
                <a:blip r:embed="rId25"/>
                <a:stretch>
                  <a:fillRect b="-3030"/>
                </a:stretch>
              </a:blipFill>
              <a:ln>
                <a:no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53" name="직사각형 52">
                <a:extLst>
                  <a:ext uri="{FF2B5EF4-FFF2-40B4-BE49-F238E27FC236}">
                    <a16:creationId xmlns:a16="http://schemas.microsoft.com/office/drawing/2014/main" id="{05A6B5EE-8BD5-520E-081E-E2DD2B4FC8A3}"/>
                  </a:ext>
                </a:extLst>
              </p:cNvPr>
              <p:cNvSpPr/>
              <p:nvPr/>
            </p:nvSpPr>
            <p:spPr>
              <a:xfrm>
                <a:off x="7289559" y="4041896"/>
                <a:ext cx="1421353" cy="50819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14:m>
                  <m:oMathPara xmlns:m="http://schemas.openxmlformats.org/officeDocument/2006/math">
                    <m:oMathParaPr>
                      <m:jc m:val="centerGroup"/>
                    </m:oMathParaPr>
                    <m:oMath xmlns:m="http://schemas.openxmlformats.org/officeDocument/2006/math">
                      <m:r>
                        <a:rPr kumimoji="1" lang="en-US" altLang="ko-KR" sz="2000" b="0" i="1" smtClean="0">
                          <a:solidFill>
                            <a:schemeClr val="tx1"/>
                          </a:solidFill>
                          <a:latin typeface="Cambria Math" panose="02040503050406030204" pitchFamily="18" charset="0"/>
                        </a:rPr>
                        <m:t>𝑂</m:t>
                      </m:r>
                      <m:d>
                        <m:dPr>
                          <m:ctrlPr>
                            <a:rPr kumimoji="1" lang="en-US" altLang="ko-KR" sz="2000" b="0" i="1" smtClean="0">
                              <a:solidFill>
                                <a:schemeClr val="tx1"/>
                              </a:solidFill>
                              <a:latin typeface="Cambria Math" panose="02040503050406030204" pitchFamily="18" charset="0"/>
                            </a:rPr>
                          </m:ctrlPr>
                        </m:dPr>
                        <m:e>
                          <m:sSup>
                            <m:sSupPr>
                              <m:ctrlPr>
                                <a:rPr kumimoji="1" lang="en-US" altLang="ko-KR" sz="2000" b="0" i="1" smtClean="0">
                                  <a:solidFill>
                                    <a:schemeClr val="tx1"/>
                                  </a:solidFill>
                                  <a:latin typeface="Cambria Math" panose="02040503050406030204" pitchFamily="18" charset="0"/>
                                </a:rPr>
                              </m:ctrlPr>
                            </m:sSupPr>
                            <m:e>
                              <m:r>
                                <a:rPr kumimoji="1" lang="en-US" altLang="ko-KR" sz="2000" b="0" i="1" smtClean="0">
                                  <a:solidFill>
                                    <a:schemeClr val="tx1"/>
                                  </a:solidFill>
                                  <a:latin typeface="Cambria Math" panose="02040503050406030204" pitchFamily="18" charset="0"/>
                                </a:rPr>
                                <m:t>(</m:t>
                              </m:r>
                              <m:f>
                                <m:fPr>
                                  <m:ctrlPr>
                                    <a:rPr kumimoji="1" lang="en-US" altLang="ko-KR" sz="2000" i="1" smtClean="0">
                                      <a:solidFill>
                                        <a:srgbClr val="FF0000"/>
                                      </a:solidFill>
                                      <a:latin typeface="Cambria Math" panose="02040503050406030204" pitchFamily="18" charset="0"/>
                                    </a:rPr>
                                  </m:ctrlPr>
                                </m:fPr>
                                <m:num>
                                  <m:r>
                                    <a:rPr kumimoji="1" lang="en-US" altLang="ko-KR" sz="2000" i="1">
                                      <a:solidFill>
                                        <a:srgbClr val="FF0000"/>
                                      </a:solidFill>
                                      <a:latin typeface="Cambria Math" panose="02040503050406030204" pitchFamily="18" charset="0"/>
                                    </a:rPr>
                                    <m:t>𝑁</m:t>
                                  </m:r>
                                </m:num>
                                <m:den>
                                  <m:r>
                                    <a:rPr kumimoji="1" lang="en-US" altLang="ko-KR" sz="2000" i="1">
                                      <a:solidFill>
                                        <a:srgbClr val="FF0000"/>
                                      </a:solidFill>
                                      <a:latin typeface="Cambria Math" panose="02040503050406030204" pitchFamily="18" charset="0"/>
                                    </a:rPr>
                                    <m:t>4</m:t>
                                  </m:r>
                                </m:den>
                              </m:f>
                              <m:r>
                                <a:rPr kumimoji="1" lang="en-US" altLang="ko-KR" sz="2000" b="0" i="1" smtClean="0">
                                  <a:solidFill>
                                    <a:schemeClr val="tx1"/>
                                  </a:solidFill>
                                  <a:latin typeface="Cambria Math" panose="02040503050406030204" pitchFamily="18" charset="0"/>
                                </a:rPr>
                                <m:t>)</m:t>
                              </m:r>
                            </m:e>
                            <m:sup>
                              <m:r>
                                <a:rPr kumimoji="1" lang="en-US" altLang="ko-KR" sz="2000" b="0" i="1" smtClean="0">
                                  <a:solidFill>
                                    <a:schemeClr val="tx1"/>
                                  </a:solidFill>
                                  <a:latin typeface="Cambria Math" panose="02040503050406030204" pitchFamily="18" charset="0"/>
                                </a:rPr>
                                <m:t>2</m:t>
                              </m:r>
                            </m:sup>
                          </m:sSup>
                          <m:r>
                            <a:rPr kumimoji="1" lang="en-US" altLang="ko-KR" sz="2000" b="0" i="1" smtClean="0">
                              <a:solidFill>
                                <a:schemeClr val="tx1"/>
                              </a:solidFill>
                              <a:latin typeface="Cambria Math" panose="02040503050406030204" pitchFamily="18" charset="0"/>
                            </a:rPr>
                            <m:t>𝐶</m:t>
                          </m:r>
                        </m:e>
                      </m:d>
                    </m:oMath>
                  </m:oMathPara>
                </a14:m>
                <a:endParaRPr kumimoji="1" lang="ko-KR" altLang="en-US" sz="2000" i="1" dirty="0">
                  <a:solidFill>
                    <a:schemeClr val="tx1"/>
                  </a:solidFill>
                  <a:latin typeface="Cambria Math" panose="02040503050406030204" pitchFamily="18" charset="0"/>
                </a:endParaRPr>
              </a:p>
            </p:txBody>
          </p:sp>
        </mc:Choice>
        <mc:Fallback xmlns="">
          <p:sp>
            <p:nvSpPr>
              <p:cNvPr id="53" name="직사각형 52">
                <a:extLst>
                  <a:ext uri="{FF2B5EF4-FFF2-40B4-BE49-F238E27FC236}">
                    <a16:creationId xmlns:a16="http://schemas.microsoft.com/office/drawing/2014/main" id="{05A6B5EE-8BD5-520E-081E-E2DD2B4FC8A3}"/>
                  </a:ext>
                </a:extLst>
              </p:cNvPr>
              <p:cNvSpPr>
                <a:spLocks noRot="1" noChangeAspect="1" noMove="1" noResize="1" noEditPoints="1" noAdjustHandles="1" noChangeArrowheads="1" noChangeShapeType="1" noTextEdit="1"/>
              </p:cNvSpPr>
              <p:nvPr/>
            </p:nvSpPr>
            <p:spPr>
              <a:xfrm>
                <a:off x="7289559" y="4041896"/>
                <a:ext cx="1421353" cy="508191"/>
              </a:xfrm>
              <a:prstGeom prst="rect">
                <a:avLst/>
              </a:prstGeom>
              <a:blipFill>
                <a:blip r:embed="rId26"/>
                <a:stretch>
                  <a:fillRect t="-12195" b="-17073"/>
                </a:stretch>
              </a:blipFill>
              <a:ln>
                <a:no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54" name="직사각형 53">
                <a:extLst>
                  <a:ext uri="{FF2B5EF4-FFF2-40B4-BE49-F238E27FC236}">
                    <a16:creationId xmlns:a16="http://schemas.microsoft.com/office/drawing/2014/main" id="{4BA498EA-E578-B8E0-E6B0-8A0894DD27DE}"/>
                  </a:ext>
                </a:extLst>
              </p:cNvPr>
              <p:cNvSpPr/>
              <p:nvPr/>
            </p:nvSpPr>
            <p:spPr>
              <a:xfrm>
                <a:off x="8992631" y="3398595"/>
                <a:ext cx="1310347" cy="50819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14:m>
                  <m:oMathPara xmlns:m="http://schemas.openxmlformats.org/officeDocument/2006/math">
                    <m:oMathParaPr>
                      <m:jc m:val="centerGroup"/>
                    </m:oMathParaPr>
                    <m:oMath xmlns:m="http://schemas.openxmlformats.org/officeDocument/2006/math">
                      <m:r>
                        <a:rPr kumimoji="1" lang="en-US" altLang="ko-KR" sz="2000" b="0" i="1" smtClean="0">
                          <a:solidFill>
                            <a:schemeClr val="tx1"/>
                          </a:solidFill>
                          <a:latin typeface="Cambria Math" panose="02040503050406030204" pitchFamily="18" charset="0"/>
                        </a:rPr>
                        <m:t>𝑂</m:t>
                      </m:r>
                      <m:d>
                        <m:dPr>
                          <m:ctrlPr>
                            <a:rPr kumimoji="1" lang="en-US" altLang="ko-KR" sz="2000" i="1">
                              <a:solidFill>
                                <a:schemeClr val="tx1"/>
                              </a:solidFill>
                              <a:latin typeface="Cambria Math" panose="02040503050406030204" pitchFamily="18" charset="0"/>
                            </a:rPr>
                          </m:ctrlPr>
                        </m:dPr>
                        <m:e>
                          <m:sSup>
                            <m:sSupPr>
                              <m:ctrlPr>
                                <a:rPr kumimoji="1" lang="en-US" altLang="ko-KR" sz="2000" i="1">
                                  <a:solidFill>
                                    <a:schemeClr val="tx1"/>
                                  </a:solidFill>
                                  <a:latin typeface="Cambria Math" panose="02040503050406030204" pitchFamily="18" charset="0"/>
                                </a:rPr>
                              </m:ctrlPr>
                            </m:sSupPr>
                            <m:e>
                              <m:r>
                                <a:rPr kumimoji="1" lang="en-US" altLang="ko-KR" sz="2000" i="1">
                                  <a:solidFill>
                                    <a:schemeClr val="tx1"/>
                                  </a:solidFill>
                                  <a:latin typeface="Cambria Math" panose="02040503050406030204" pitchFamily="18" charset="0"/>
                                </a:rPr>
                                <m:t>(</m:t>
                              </m:r>
                              <m:f>
                                <m:fPr>
                                  <m:ctrlPr>
                                    <a:rPr kumimoji="1" lang="en-US" altLang="ko-KR" sz="2000" i="1" smtClean="0">
                                      <a:solidFill>
                                        <a:srgbClr val="FF0000"/>
                                      </a:solidFill>
                                      <a:latin typeface="Cambria Math" panose="02040503050406030204" pitchFamily="18" charset="0"/>
                                    </a:rPr>
                                  </m:ctrlPr>
                                </m:fPr>
                                <m:num>
                                  <m:r>
                                    <a:rPr kumimoji="1" lang="en-US" altLang="ko-KR" sz="2000" i="1">
                                      <a:solidFill>
                                        <a:srgbClr val="FF0000"/>
                                      </a:solidFill>
                                      <a:latin typeface="Cambria Math" panose="02040503050406030204" pitchFamily="18" charset="0"/>
                                    </a:rPr>
                                    <m:t>𝑁</m:t>
                                  </m:r>
                                </m:num>
                                <m:den>
                                  <m:r>
                                    <a:rPr kumimoji="1" lang="en-US" altLang="ko-KR" sz="2000" i="1">
                                      <a:solidFill>
                                        <a:srgbClr val="FF0000"/>
                                      </a:solidFill>
                                      <a:latin typeface="Cambria Math" panose="02040503050406030204" pitchFamily="18" charset="0"/>
                                    </a:rPr>
                                    <m:t>4</m:t>
                                  </m:r>
                                </m:den>
                              </m:f>
                              <m:r>
                                <a:rPr kumimoji="1" lang="en-US" altLang="ko-KR" sz="2000" i="1">
                                  <a:solidFill>
                                    <a:schemeClr val="tx1"/>
                                  </a:solidFill>
                                  <a:latin typeface="Cambria Math" panose="02040503050406030204" pitchFamily="18" charset="0"/>
                                </a:rPr>
                                <m:t>)</m:t>
                              </m:r>
                            </m:e>
                            <m:sup>
                              <m:r>
                                <a:rPr kumimoji="1" lang="en-US" altLang="ko-KR" sz="2000" i="1">
                                  <a:solidFill>
                                    <a:schemeClr val="tx1"/>
                                  </a:solidFill>
                                  <a:latin typeface="Cambria Math" panose="02040503050406030204" pitchFamily="18" charset="0"/>
                                </a:rPr>
                                <m:t>2</m:t>
                              </m:r>
                            </m:sup>
                          </m:sSup>
                          <m:r>
                            <a:rPr kumimoji="1" lang="en-US" altLang="ko-KR" sz="2000" i="1">
                              <a:solidFill>
                                <a:schemeClr val="tx1"/>
                              </a:solidFill>
                              <a:latin typeface="Cambria Math" panose="02040503050406030204" pitchFamily="18" charset="0"/>
                            </a:rPr>
                            <m:t>𝐶</m:t>
                          </m:r>
                        </m:e>
                      </m:d>
                    </m:oMath>
                  </m:oMathPara>
                </a14:m>
                <a:endParaRPr kumimoji="1" lang="ko-KR" altLang="en-US" sz="2000" i="1" dirty="0">
                  <a:solidFill>
                    <a:schemeClr val="tx1"/>
                  </a:solidFill>
                  <a:latin typeface="Cambria Math" panose="02040503050406030204" pitchFamily="18" charset="0"/>
                </a:endParaRPr>
              </a:p>
            </p:txBody>
          </p:sp>
        </mc:Choice>
        <mc:Fallback xmlns="">
          <p:sp>
            <p:nvSpPr>
              <p:cNvPr id="54" name="직사각형 53">
                <a:extLst>
                  <a:ext uri="{FF2B5EF4-FFF2-40B4-BE49-F238E27FC236}">
                    <a16:creationId xmlns:a16="http://schemas.microsoft.com/office/drawing/2014/main" id="{4BA498EA-E578-B8E0-E6B0-8A0894DD27DE}"/>
                  </a:ext>
                </a:extLst>
              </p:cNvPr>
              <p:cNvSpPr>
                <a:spLocks noRot="1" noChangeAspect="1" noMove="1" noResize="1" noEditPoints="1" noAdjustHandles="1" noChangeArrowheads="1" noChangeShapeType="1" noTextEdit="1"/>
              </p:cNvSpPr>
              <p:nvPr/>
            </p:nvSpPr>
            <p:spPr>
              <a:xfrm>
                <a:off x="8992631" y="3398595"/>
                <a:ext cx="1310347" cy="508191"/>
              </a:xfrm>
              <a:prstGeom prst="rect">
                <a:avLst/>
              </a:prstGeom>
              <a:blipFill>
                <a:blip r:embed="rId27"/>
                <a:stretch>
                  <a:fillRect l="-4808" t="-9756" b="-19512"/>
                </a:stretch>
              </a:blipFill>
              <a:ln>
                <a:noFill/>
              </a:ln>
            </p:spPr>
            <p:txBody>
              <a:bodyPr/>
              <a:lstStyle/>
              <a:p>
                <a:r>
                  <a:rPr lang="ko-KR" altLang="en-US">
                    <a:noFill/>
                  </a:rPr>
                  <a:t> </a:t>
                </a:r>
              </a:p>
            </p:txBody>
          </p:sp>
        </mc:Fallback>
      </mc:AlternateContent>
      <mc:AlternateContent xmlns:mc="http://schemas.openxmlformats.org/markup-compatibility/2006">
        <mc:Choice xmlns:a14="http://schemas.microsoft.com/office/drawing/2010/main" Requires="a14">
          <p:sp>
            <p:nvSpPr>
              <p:cNvPr id="55" name="직사각형 54">
                <a:extLst>
                  <a:ext uri="{FF2B5EF4-FFF2-40B4-BE49-F238E27FC236}">
                    <a16:creationId xmlns:a16="http://schemas.microsoft.com/office/drawing/2014/main" id="{87013CEB-D52F-9319-ACFE-5C151D92EFD5}"/>
                  </a:ext>
                </a:extLst>
              </p:cNvPr>
              <p:cNvSpPr/>
              <p:nvPr/>
            </p:nvSpPr>
            <p:spPr>
              <a:xfrm>
                <a:off x="10314891" y="4185967"/>
                <a:ext cx="1934627" cy="166406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14:m>
                  <m:oMathPara xmlns:m="http://schemas.openxmlformats.org/officeDocument/2006/math">
                    <m:oMathParaPr>
                      <m:jc m:val="centerGroup"/>
                    </m:oMathParaPr>
                    <m:oMath xmlns:m="http://schemas.openxmlformats.org/officeDocument/2006/math">
                      <m:r>
                        <a:rPr kumimoji="1" lang="en-US" altLang="ko-KR" sz="2000" b="0" i="1" smtClean="0">
                          <a:solidFill>
                            <a:schemeClr val="tx1"/>
                          </a:solidFill>
                          <a:latin typeface="Cambria Math" panose="02040503050406030204" pitchFamily="18" charset="0"/>
                        </a:rPr>
                        <m:t>𝑂</m:t>
                      </m:r>
                      <m:d>
                        <m:dPr>
                          <m:ctrlPr>
                            <a:rPr kumimoji="1" lang="en-US" altLang="ko-KR" sz="2000" b="0" i="1" smtClean="0">
                              <a:solidFill>
                                <a:schemeClr val="tx1"/>
                              </a:solidFill>
                              <a:latin typeface="Cambria Math" panose="02040503050406030204" pitchFamily="18" charset="0"/>
                            </a:rPr>
                          </m:ctrlPr>
                        </m:dPr>
                        <m:e>
                          <m:r>
                            <a:rPr kumimoji="1" lang="en-US" altLang="ko-KR" sz="2000" b="0" i="1" smtClean="0">
                              <a:solidFill>
                                <a:schemeClr val="tx1"/>
                              </a:solidFill>
                              <a:latin typeface="Cambria Math" panose="02040503050406030204" pitchFamily="18" charset="0"/>
                            </a:rPr>
                            <m:t>2</m:t>
                          </m:r>
                          <m:f>
                            <m:fPr>
                              <m:ctrlPr>
                                <a:rPr kumimoji="1" lang="en-US" altLang="ko-KR" sz="2000" b="0" i="1" smtClean="0">
                                  <a:solidFill>
                                    <a:schemeClr val="tx1"/>
                                  </a:solidFill>
                                  <a:latin typeface="Cambria Math" panose="02040503050406030204" pitchFamily="18" charset="0"/>
                                </a:rPr>
                              </m:ctrlPr>
                            </m:fPr>
                            <m:num>
                              <m:sSup>
                                <m:sSupPr>
                                  <m:ctrlPr>
                                    <a:rPr kumimoji="1" lang="en-US" altLang="ko-KR" sz="2000" b="0" i="1" smtClean="0">
                                      <a:solidFill>
                                        <a:schemeClr val="tx1"/>
                                      </a:solidFill>
                                      <a:latin typeface="Cambria Math" panose="02040503050406030204" pitchFamily="18" charset="0"/>
                                    </a:rPr>
                                  </m:ctrlPr>
                                </m:sSupPr>
                                <m:e>
                                  <m:r>
                                    <a:rPr kumimoji="1" lang="en-US" altLang="ko-KR" sz="2000" b="0" i="1" smtClean="0">
                                      <a:solidFill>
                                        <a:schemeClr val="tx1"/>
                                      </a:solidFill>
                                      <a:latin typeface="Cambria Math" panose="02040503050406030204" pitchFamily="18" charset="0"/>
                                    </a:rPr>
                                    <m:t>𝑁</m:t>
                                  </m:r>
                                </m:e>
                                <m:sup>
                                  <m:r>
                                    <a:rPr kumimoji="1" lang="en-US" altLang="ko-KR" sz="2000" b="0" i="1" smtClean="0">
                                      <a:solidFill>
                                        <a:schemeClr val="tx1"/>
                                      </a:solidFill>
                                      <a:latin typeface="Cambria Math" panose="02040503050406030204" pitchFamily="18" charset="0"/>
                                    </a:rPr>
                                    <m:t>2</m:t>
                                  </m:r>
                                </m:sup>
                              </m:sSup>
                            </m:num>
                            <m:den>
                              <m:r>
                                <a:rPr kumimoji="1" lang="en-US" altLang="ko-KR" sz="2000" b="0" i="1" smtClean="0">
                                  <a:solidFill>
                                    <a:schemeClr val="tx1"/>
                                  </a:solidFill>
                                  <a:latin typeface="Cambria Math" panose="02040503050406030204" pitchFamily="18" charset="0"/>
                                </a:rPr>
                                <m:t>16</m:t>
                              </m:r>
                            </m:den>
                          </m:f>
                          <m:r>
                            <a:rPr kumimoji="1" lang="en-US" altLang="ko-KR" sz="2000" b="0" i="1" smtClean="0">
                              <a:solidFill>
                                <a:schemeClr val="tx1"/>
                              </a:solidFill>
                              <a:latin typeface="Cambria Math" panose="02040503050406030204" pitchFamily="18" charset="0"/>
                            </a:rPr>
                            <m:t>𝐶</m:t>
                          </m:r>
                          <m:r>
                            <a:rPr kumimoji="1" lang="en-US" altLang="ko-KR" sz="2000" b="0" i="1" smtClean="0">
                              <a:solidFill>
                                <a:srgbClr val="FF0000"/>
                              </a:solidFill>
                              <a:latin typeface="Cambria Math" panose="02040503050406030204" pitchFamily="18" charset="0"/>
                            </a:rPr>
                            <m:t>×4</m:t>
                          </m:r>
                        </m:e>
                      </m:d>
                      <m:r>
                        <a:rPr kumimoji="1" lang="en-US" altLang="ko-KR" sz="2000" b="0" i="1" smtClean="0">
                          <a:solidFill>
                            <a:srgbClr val="FF0000"/>
                          </a:solidFill>
                          <a:latin typeface="Cambria Math" panose="02040503050406030204" pitchFamily="18" charset="0"/>
                        </a:rPr>
                        <m:t>=</m:t>
                      </m:r>
                      <m:r>
                        <a:rPr kumimoji="1" lang="en-US" altLang="ko-KR" sz="2000" b="0" i="1" smtClean="0">
                          <a:solidFill>
                            <a:srgbClr val="FF0000"/>
                          </a:solidFill>
                          <a:latin typeface="Cambria Math" panose="02040503050406030204" pitchFamily="18" charset="0"/>
                        </a:rPr>
                        <m:t>𝑂</m:t>
                      </m:r>
                      <m:r>
                        <a:rPr kumimoji="1" lang="en-US" altLang="ko-KR" sz="2000" b="0" i="1" smtClean="0">
                          <a:solidFill>
                            <a:srgbClr val="FF0000"/>
                          </a:solidFill>
                          <a:latin typeface="Cambria Math" panose="02040503050406030204" pitchFamily="18" charset="0"/>
                        </a:rPr>
                        <m:t>(</m:t>
                      </m:r>
                      <m:f>
                        <m:fPr>
                          <m:ctrlPr>
                            <a:rPr kumimoji="1" lang="en-US" altLang="ko-KR" sz="2000" b="0" i="1" smtClean="0">
                              <a:solidFill>
                                <a:srgbClr val="FF0000"/>
                              </a:solidFill>
                              <a:latin typeface="Cambria Math" panose="02040503050406030204" pitchFamily="18" charset="0"/>
                            </a:rPr>
                          </m:ctrlPr>
                        </m:fPr>
                        <m:num>
                          <m:r>
                            <a:rPr kumimoji="1" lang="en-US" altLang="ko-KR" sz="2000" b="0" i="1" smtClean="0">
                              <a:solidFill>
                                <a:srgbClr val="FF0000"/>
                              </a:solidFill>
                              <a:latin typeface="Cambria Math" panose="02040503050406030204" pitchFamily="18" charset="0"/>
                            </a:rPr>
                            <m:t>1</m:t>
                          </m:r>
                        </m:num>
                        <m:den>
                          <m:r>
                            <a:rPr kumimoji="1" lang="en-US" altLang="ko-KR" sz="2000" b="0" i="1" smtClean="0">
                              <a:solidFill>
                                <a:srgbClr val="FF0000"/>
                              </a:solidFill>
                              <a:latin typeface="Cambria Math" panose="02040503050406030204" pitchFamily="18" charset="0"/>
                            </a:rPr>
                            <m:t>2</m:t>
                          </m:r>
                        </m:den>
                      </m:f>
                      <m:sSup>
                        <m:sSupPr>
                          <m:ctrlPr>
                            <a:rPr kumimoji="1" lang="en-US" altLang="ko-KR" sz="2000" b="0" i="1" smtClean="0">
                              <a:solidFill>
                                <a:srgbClr val="FF0000"/>
                              </a:solidFill>
                              <a:latin typeface="Cambria Math" panose="02040503050406030204" pitchFamily="18" charset="0"/>
                            </a:rPr>
                          </m:ctrlPr>
                        </m:sSupPr>
                        <m:e>
                          <m:r>
                            <a:rPr kumimoji="1" lang="en-US" altLang="ko-KR" sz="2000" b="0" i="1" smtClean="0">
                              <a:solidFill>
                                <a:srgbClr val="FF0000"/>
                              </a:solidFill>
                              <a:latin typeface="Cambria Math" panose="02040503050406030204" pitchFamily="18" charset="0"/>
                            </a:rPr>
                            <m:t>𝑁</m:t>
                          </m:r>
                        </m:e>
                        <m:sup>
                          <m:r>
                            <a:rPr kumimoji="1" lang="en-US" altLang="ko-KR" sz="2000" b="0" i="1" smtClean="0">
                              <a:solidFill>
                                <a:srgbClr val="FF0000"/>
                              </a:solidFill>
                              <a:latin typeface="Cambria Math" panose="02040503050406030204" pitchFamily="18" charset="0"/>
                            </a:rPr>
                            <m:t>2</m:t>
                          </m:r>
                        </m:sup>
                      </m:sSup>
                      <m:r>
                        <a:rPr kumimoji="1" lang="en-US" altLang="ko-KR" sz="2000" b="0" i="1" smtClean="0">
                          <a:solidFill>
                            <a:srgbClr val="FF0000"/>
                          </a:solidFill>
                          <a:latin typeface="Cambria Math" panose="02040503050406030204" pitchFamily="18" charset="0"/>
                        </a:rPr>
                        <m:t>h𝑑</m:t>
                      </m:r>
                      <m:r>
                        <a:rPr kumimoji="1" lang="en-US" altLang="ko-KR" sz="2000" b="0" i="1" smtClean="0">
                          <a:solidFill>
                            <a:srgbClr val="FF0000"/>
                          </a:solidFill>
                          <a:latin typeface="Cambria Math" panose="02040503050406030204" pitchFamily="18" charset="0"/>
                        </a:rPr>
                        <m:t>)</m:t>
                      </m:r>
                    </m:oMath>
                  </m:oMathPara>
                </a14:m>
                <a:endParaRPr kumimoji="1" lang="en-US" altLang="ko-KR" sz="2000" b="0" i="1" dirty="0">
                  <a:solidFill>
                    <a:schemeClr val="tx1"/>
                  </a:solidFill>
                  <a:latin typeface="Cambria Math" panose="02040503050406030204" pitchFamily="18" charset="0"/>
                </a:endParaRPr>
              </a:p>
            </p:txBody>
          </p:sp>
        </mc:Choice>
        <mc:Fallback>
          <p:sp>
            <p:nvSpPr>
              <p:cNvPr id="55" name="직사각형 54">
                <a:extLst>
                  <a:ext uri="{FF2B5EF4-FFF2-40B4-BE49-F238E27FC236}">
                    <a16:creationId xmlns:a16="http://schemas.microsoft.com/office/drawing/2014/main" id="{87013CEB-D52F-9319-ACFE-5C151D92EFD5}"/>
                  </a:ext>
                </a:extLst>
              </p:cNvPr>
              <p:cNvSpPr>
                <a:spLocks noRot="1" noChangeAspect="1" noMove="1" noResize="1" noEditPoints="1" noAdjustHandles="1" noChangeArrowheads="1" noChangeShapeType="1" noTextEdit="1"/>
              </p:cNvSpPr>
              <p:nvPr/>
            </p:nvSpPr>
            <p:spPr>
              <a:xfrm>
                <a:off x="10314891" y="4185967"/>
                <a:ext cx="1934627" cy="1664062"/>
              </a:xfrm>
              <a:prstGeom prst="rect">
                <a:avLst/>
              </a:prstGeom>
              <a:blipFill>
                <a:blip r:embed="rId28"/>
                <a:stretch>
                  <a:fillRect/>
                </a:stretch>
              </a:blipFill>
              <a:ln>
                <a:no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138603C2-AB11-FAB3-CBA0-EF83F607B066}"/>
                  </a:ext>
                </a:extLst>
              </p:cNvPr>
              <p:cNvSpPr txBox="1"/>
              <p:nvPr/>
            </p:nvSpPr>
            <p:spPr>
              <a:xfrm>
                <a:off x="7535688" y="2885008"/>
                <a:ext cx="4341060" cy="369332"/>
              </a:xfrm>
              <a:prstGeom prst="rect">
                <a:avLst/>
              </a:prstGeom>
              <a:noFill/>
            </p:spPr>
            <p:txBody>
              <a:bodyPr wrap="none" rtlCol="0">
                <a:spAutoFit/>
              </a:bodyPr>
              <a:lstStyle/>
              <a:p>
                <a:r>
                  <a:rPr kumimoji="1" lang="en-US" altLang="ko-KR" dirty="0"/>
                  <a:t>batch dimension</a:t>
                </a:r>
                <a:r>
                  <a:rPr kumimoji="1" lang="ko-KR" altLang="en-US" dirty="0" err="1"/>
                  <a:t>으로</a:t>
                </a:r>
                <a:r>
                  <a:rPr kumimoji="1" lang="ko-KR" altLang="en-US" dirty="0"/>
                  <a:t> </a:t>
                </a:r>
                <a14:m>
                  <m:oMath xmlns:m="http://schemas.openxmlformats.org/officeDocument/2006/math">
                    <m:r>
                      <a:rPr kumimoji="1" lang="en-US" altLang="ko-KR" i="1" smtClean="0">
                        <a:solidFill>
                          <a:srgbClr val="FF0000"/>
                        </a:solidFill>
                        <a:latin typeface="Cambria Math" panose="02040503050406030204" pitchFamily="18" charset="0"/>
                      </a:rPr>
                      <m:t>×4</m:t>
                    </m:r>
                  </m:oMath>
                </a14:m>
                <a:r>
                  <a:rPr kumimoji="1" lang="en-US" altLang="ko-KR" dirty="0">
                    <a:solidFill>
                      <a:srgbClr val="FF0000"/>
                    </a:solidFill>
                  </a:rPr>
                  <a:t> (reshape </a:t>
                </a:r>
                <a:r>
                  <a:rPr kumimoji="1" lang="ko-KR" altLang="en-US" dirty="0">
                    <a:solidFill>
                      <a:srgbClr val="FF0000"/>
                    </a:solidFill>
                  </a:rPr>
                  <a:t>연산</a:t>
                </a:r>
                <a:r>
                  <a:rPr kumimoji="1" lang="en-US" altLang="ko-KR" dirty="0">
                    <a:solidFill>
                      <a:srgbClr val="FF0000"/>
                    </a:solidFill>
                  </a:rPr>
                  <a:t>)</a:t>
                </a:r>
                <a:endParaRPr kumimoji="1" lang="ko-KR" altLang="en-US" dirty="0">
                  <a:solidFill>
                    <a:srgbClr val="FF0000"/>
                  </a:solidFill>
                </a:endParaRPr>
              </a:p>
            </p:txBody>
          </p:sp>
        </mc:Choice>
        <mc:Fallback xmlns="">
          <p:sp>
            <p:nvSpPr>
              <p:cNvPr id="56" name="TextBox 55">
                <a:extLst>
                  <a:ext uri="{FF2B5EF4-FFF2-40B4-BE49-F238E27FC236}">
                    <a16:creationId xmlns:a16="http://schemas.microsoft.com/office/drawing/2014/main" id="{138603C2-AB11-FAB3-CBA0-EF83F607B066}"/>
                  </a:ext>
                </a:extLst>
              </p:cNvPr>
              <p:cNvSpPr txBox="1">
                <a:spLocks noRot="1" noChangeAspect="1" noMove="1" noResize="1" noEditPoints="1" noAdjustHandles="1" noChangeArrowheads="1" noChangeShapeType="1" noTextEdit="1"/>
              </p:cNvSpPr>
              <p:nvPr/>
            </p:nvSpPr>
            <p:spPr>
              <a:xfrm>
                <a:off x="7535688" y="2885008"/>
                <a:ext cx="4341060" cy="369332"/>
              </a:xfrm>
              <a:prstGeom prst="rect">
                <a:avLst/>
              </a:prstGeom>
              <a:blipFill>
                <a:blip r:embed="rId29"/>
                <a:stretch>
                  <a:fillRect l="-1166" t="-6667" r="-292" b="-23333"/>
                </a:stretch>
              </a:blipFill>
            </p:spPr>
            <p:txBody>
              <a:bodyPr/>
              <a:lstStyle/>
              <a:p>
                <a:r>
                  <a:rPr lang="ko-KR" altLang="en-US">
                    <a:noFill/>
                  </a:rPr>
                  <a:t> </a:t>
                </a:r>
              </a:p>
            </p:txBody>
          </p:sp>
        </mc:Fallback>
      </mc:AlternateContent>
      <p:cxnSp>
        <p:nvCxnSpPr>
          <p:cNvPr id="57" name="직선 연결선[R] 56">
            <a:extLst>
              <a:ext uri="{FF2B5EF4-FFF2-40B4-BE49-F238E27FC236}">
                <a16:creationId xmlns:a16="http://schemas.microsoft.com/office/drawing/2014/main" id="{28737E97-33B2-BA73-5BF6-5724B5605F5C}"/>
              </a:ext>
            </a:extLst>
          </p:cNvPr>
          <p:cNvCxnSpPr>
            <a:cxnSpLocks/>
          </p:cNvCxnSpPr>
          <p:nvPr/>
        </p:nvCxnSpPr>
        <p:spPr>
          <a:xfrm>
            <a:off x="6008991" y="1533094"/>
            <a:ext cx="7822" cy="4908834"/>
          </a:xfrm>
          <a:prstGeom prst="line">
            <a:avLst/>
          </a:prstGeom>
          <a:ln w="25400"/>
        </p:spPr>
        <p:style>
          <a:lnRef idx="1">
            <a:schemeClr val="accent1"/>
          </a:lnRef>
          <a:fillRef idx="0">
            <a:schemeClr val="accent1"/>
          </a:fillRef>
          <a:effectRef idx="0">
            <a:schemeClr val="accent1"/>
          </a:effectRef>
          <a:fontRef idx="minor">
            <a:schemeClr val="tx1"/>
          </a:fontRef>
        </p:style>
      </p:cxnSp>
      <p:pic>
        <p:nvPicPr>
          <p:cNvPr id="13" name="그림 12">
            <a:extLst>
              <a:ext uri="{FF2B5EF4-FFF2-40B4-BE49-F238E27FC236}">
                <a16:creationId xmlns:a16="http://schemas.microsoft.com/office/drawing/2014/main" id="{90E5F36E-E1AB-96AB-29CE-909AF45FA2AD}"/>
              </a:ext>
            </a:extLst>
          </p:cNvPr>
          <p:cNvPicPr>
            <a:picLocks noChangeAspect="1"/>
          </p:cNvPicPr>
          <p:nvPr/>
        </p:nvPicPr>
        <p:blipFill>
          <a:blip r:embed="rId30"/>
          <a:srcRect l="60595" t="3254" r="21679" b="39162"/>
          <a:stretch>
            <a:fillRect/>
          </a:stretch>
        </p:blipFill>
        <p:spPr>
          <a:xfrm>
            <a:off x="540378" y="118508"/>
            <a:ext cx="2799727" cy="2759580"/>
          </a:xfrm>
          <a:prstGeom prst="rect">
            <a:avLst/>
          </a:prstGeom>
        </p:spPr>
      </p:pic>
      <mc:AlternateContent xmlns:mc="http://schemas.openxmlformats.org/markup-compatibility/2006">
        <mc:Choice xmlns:a14="http://schemas.microsoft.com/office/drawing/2010/main" Requires="a14">
          <p:sp>
            <p:nvSpPr>
              <p:cNvPr id="28" name="TextBox 27">
                <a:extLst>
                  <a:ext uri="{FF2B5EF4-FFF2-40B4-BE49-F238E27FC236}">
                    <a16:creationId xmlns:a16="http://schemas.microsoft.com/office/drawing/2014/main" id="{A437F553-B43F-F797-0AEB-F30249A8189F}"/>
                  </a:ext>
                </a:extLst>
              </p:cNvPr>
              <p:cNvSpPr txBox="1"/>
              <p:nvPr/>
            </p:nvSpPr>
            <p:spPr>
              <a:xfrm>
                <a:off x="-71765" y="1294567"/>
                <a:ext cx="540276" cy="4770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kumimoji="1" lang="en-US" altLang="ko-KR" sz="2500" b="0" i="1" smtClean="0">
                          <a:latin typeface="Cambria Math" panose="02040503050406030204" pitchFamily="18" charset="0"/>
                        </a:rPr>
                        <m:t>𝐻</m:t>
                      </m:r>
                    </m:oMath>
                  </m:oMathPara>
                </a14:m>
                <a:endParaRPr kumimoji="1" lang="ko-KR" altLang="en-US" sz="2500" dirty="0"/>
              </a:p>
            </p:txBody>
          </p:sp>
        </mc:Choice>
        <mc:Fallback>
          <p:sp>
            <p:nvSpPr>
              <p:cNvPr id="28" name="TextBox 27">
                <a:extLst>
                  <a:ext uri="{FF2B5EF4-FFF2-40B4-BE49-F238E27FC236}">
                    <a16:creationId xmlns:a16="http://schemas.microsoft.com/office/drawing/2014/main" id="{A437F553-B43F-F797-0AEB-F30249A8189F}"/>
                  </a:ext>
                </a:extLst>
              </p:cNvPr>
              <p:cNvSpPr txBox="1">
                <a:spLocks noRot="1" noChangeAspect="1" noMove="1" noResize="1" noEditPoints="1" noAdjustHandles="1" noChangeArrowheads="1" noChangeShapeType="1" noTextEdit="1"/>
              </p:cNvSpPr>
              <p:nvPr/>
            </p:nvSpPr>
            <p:spPr>
              <a:xfrm>
                <a:off x="-71765" y="1294567"/>
                <a:ext cx="540276" cy="477054"/>
              </a:xfrm>
              <a:prstGeom prst="rect">
                <a:avLst/>
              </a:prstGeom>
              <a:blipFill>
                <a:blip r:embed="rId9"/>
                <a:stretch>
                  <a:fillRect/>
                </a:stretch>
              </a:blipFill>
            </p:spPr>
            <p:txBody>
              <a:bodyPr/>
              <a:lstStyle/>
              <a:p>
                <a:r>
                  <a:rPr lang="ko-KR" altLang="en-US">
                    <a:noFill/>
                  </a:rPr>
                  <a:t> </a:t>
                </a:r>
              </a:p>
            </p:txBody>
          </p:sp>
        </mc:Fallback>
      </mc:AlternateContent>
      <mc:AlternateContent xmlns:mc="http://schemas.openxmlformats.org/markup-compatibility/2006">
        <mc:Choice xmlns:a14="http://schemas.microsoft.com/office/drawing/2010/main" Requires="a14">
          <p:sp>
            <p:nvSpPr>
              <p:cNvPr id="29" name="TextBox 28">
                <a:extLst>
                  <a:ext uri="{FF2B5EF4-FFF2-40B4-BE49-F238E27FC236}">
                    <a16:creationId xmlns:a16="http://schemas.microsoft.com/office/drawing/2014/main" id="{A4741441-E829-3E5A-BD25-E0CFC61399E6}"/>
                  </a:ext>
                </a:extLst>
              </p:cNvPr>
              <p:cNvSpPr txBox="1"/>
              <p:nvPr/>
            </p:nvSpPr>
            <p:spPr>
              <a:xfrm>
                <a:off x="1692705" y="2958405"/>
                <a:ext cx="495071" cy="4770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kumimoji="1" lang="en-US" altLang="ko-KR" sz="2500" b="0" i="1" smtClean="0">
                          <a:latin typeface="Cambria Math" panose="02040503050406030204" pitchFamily="18" charset="0"/>
                        </a:rPr>
                        <m:t>𝑊</m:t>
                      </m:r>
                    </m:oMath>
                  </m:oMathPara>
                </a14:m>
                <a:endParaRPr kumimoji="1" lang="ko-KR" altLang="en-US" sz="2500" dirty="0"/>
              </a:p>
            </p:txBody>
          </p:sp>
        </mc:Choice>
        <mc:Fallback>
          <p:sp>
            <p:nvSpPr>
              <p:cNvPr id="29" name="TextBox 28">
                <a:extLst>
                  <a:ext uri="{FF2B5EF4-FFF2-40B4-BE49-F238E27FC236}">
                    <a16:creationId xmlns:a16="http://schemas.microsoft.com/office/drawing/2014/main" id="{A4741441-E829-3E5A-BD25-E0CFC61399E6}"/>
                  </a:ext>
                </a:extLst>
              </p:cNvPr>
              <p:cNvSpPr txBox="1">
                <a:spLocks noRot="1" noChangeAspect="1" noMove="1" noResize="1" noEditPoints="1" noAdjustHandles="1" noChangeArrowheads="1" noChangeShapeType="1" noTextEdit="1"/>
              </p:cNvSpPr>
              <p:nvPr/>
            </p:nvSpPr>
            <p:spPr>
              <a:xfrm>
                <a:off x="1692705" y="2958405"/>
                <a:ext cx="495071" cy="477054"/>
              </a:xfrm>
              <a:prstGeom prst="rect">
                <a:avLst/>
              </a:prstGeom>
              <a:blipFill>
                <a:blip r:embed="rId10"/>
                <a:stretch>
                  <a:fillRect l="-5000"/>
                </a:stretch>
              </a:blipFill>
            </p:spPr>
            <p:txBody>
              <a:bodyPr/>
              <a:lstStyle/>
              <a:p>
                <a:r>
                  <a:rPr lang="ko-KR" altLang="en-US">
                    <a:noFill/>
                  </a:rPr>
                  <a:t> </a:t>
                </a:r>
              </a:p>
            </p:txBody>
          </p:sp>
        </mc:Fallback>
      </mc:AlternateContent>
      <p:sp>
        <p:nvSpPr>
          <p:cNvPr id="30" name="TextBox 29">
            <a:extLst>
              <a:ext uri="{FF2B5EF4-FFF2-40B4-BE49-F238E27FC236}">
                <a16:creationId xmlns:a16="http://schemas.microsoft.com/office/drawing/2014/main" id="{0C39FC51-5FD9-BAE6-7CD7-CB99DA11BCBB}"/>
              </a:ext>
            </a:extLst>
          </p:cNvPr>
          <p:cNvSpPr txBox="1"/>
          <p:nvPr/>
        </p:nvSpPr>
        <p:spPr>
          <a:xfrm rot="16200000">
            <a:off x="1602015" y="-931149"/>
            <a:ext cx="721970" cy="2799727"/>
          </a:xfrm>
          <a:prstGeom prst="rect">
            <a:avLst/>
          </a:prstGeom>
          <a:noFill/>
          <a:ln w="25400">
            <a:solidFill>
              <a:srgbClr val="FF0000"/>
            </a:solidFill>
          </a:ln>
        </p:spPr>
        <p:txBody>
          <a:bodyPr wrap="square" rtlCol="0">
            <a:spAutoFit/>
          </a:bodyPr>
          <a:lstStyle/>
          <a:p>
            <a:endParaRPr kumimoji="1" lang="ko-KR" altLang="en-US" dirty="0"/>
          </a:p>
        </p:txBody>
      </p:sp>
      <p:sp>
        <p:nvSpPr>
          <p:cNvPr id="31" name="TextBox 30">
            <a:extLst>
              <a:ext uri="{FF2B5EF4-FFF2-40B4-BE49-F238E27FC236}">
                <a16:creationId xmlns:a16="http://schemas.microsoft.com/office/drawing/2014/main" id="{78B36773-9BC1-5B64-1F76-5C6591FBD25E}"/>
              </a:ext>
            </a:extLst>
          </p:cNvPr>
          <p:cNvSpPr txBox="1"/>
          <p:nvPr/>
        </p:nvSpPr>
        <p:spPr>
          <a:xfrm rot="16200000">
            <a:off x="1607098" y="-221718"/>
            <a:ext cx="721970" cy="2789559"/>
          </a:xfrm>
          <a:prstGeom prst="rect">
            <a:avLst/>
          </a:prstGeom>
          <a:noFill/>
          <a:ln w="38100">
            <a:solidFill>
              <a:srgbClr val="FF0000"/>
            </a:solidFill>
          </a:ln>
        </p:spPr>
        <p:txBody>
          <a:bodyPr wrap="square" rtlCol="0">
            <a:spAutoFit/>
          </a:bodyPr>
          <a:lstStyle/>
          <a:p>
            <a:endParaRPr kumimoji="1" lang="ko-KR" altLang="en-US" dirty="0"/>
          </a:p>
        </p:txBody>
      </p:sp>
      <p:sp>
        <p:nvSpPr>
          <p:cNvPr id="32" name="TextBox 31">
            <a:extLst>
              <a:ext uri="{FF2B5EF4-FFF2-40B4-BE49-F238E27FC236}">
                <a16:creationId xmlns:a16="http://schemas.microsoft.com/office/drawing/2014/main" id="{C8D17BED-07B0-E623-D619-C88E8C639F64}"/>
              </a:ext>
            </a:extLst>
          </p:cNvPr>
          <p:cNvSpPr txBox="1"/>
          <p:nvPr/>
        </p:nvSpPr>
        <p:spPr>
          <a:xfrm rot="16200000">
            <a:off x="1602014" y="494216"/>
            <a:ext cx="721970" cy="2799727"/>
          </a:xfrm>
          <a:prstGeom prst="rect">
            <a:avLst/>
          </a:prstGeom>
          <a:noFill/>
          <a:ln w="25400">
            <a:solidFill>
              <a:srgbClr val="FF0000"/>
            </a:solidFill>
          </a:ln>
        </p:spPr>
        <p:txBody>
          <a:bodyPr wrap="square" rtlCol="0">
            <a:spAutoFit/>
          </a:bodyPr>
          <a:lstStyle/>
          <a:p>
            <a:endParaRPr kumimoji="1" lang="ko-KR" altLang="en-US" dirty="0"/>
          </a:p>
        </p:txBody>
      </p:sp>
      <p:sp>
        <p:nvSpPr>
          <p:cNvPr id="33" name="TextBox 32">
            <a:extLst>
              <a:ext uri="{FF2B5EF4-FFF2-40B4-BE49-F238E27FC236}">
                <a16:creationId xmlns:a16="http://schemas.microsoft.com/office/drawing/2014/main" id="{0C29F03F-3A81-AA6D-28A8-A8628B36276A}"/>
              </a:ext>
            </a:extLst>
          </p:cNvPr>
          <p:cNvSpPr txBox="1"/>
          <p:nvPr/>
        </p:nvSpPr>
        <p:spPr>
          <a:xfrm rot="16200000">
            <a:off x="1646396" y="1166210"/>
            <a:ext cx="624030" cy="2799727"/>
          </a:xfrm>
          <a:prstGeom prst="rect">
            <a:avLst/>
          </a:prstGeom>
          <a:noFill/>
          <a:ln w="25400">
            <a:solidFill>
              <a:srgbClr val="FF0000"/>
            </a:solidFill>
          </a:ln>
        </p:spPr>
        <p:txBody>
          <a:bodyPr wrap="square" rtlCol="0">
            <a:spAutoFit/>
          </a:bodyPr>
          <a:lstStyle/>
          <a:p>
            <a:endParaRPr kumimoji="1" lang="ko-KR" altLang="en-US" dirty="0"/>
          </a:p>
        </p:txBody>
      </p:sp>
      <p:pic>
        <p:nvPicPr>
          <p:cNvPr id="34" name="그림 33">
            <a:extLst>
              <a:ext uri="{FF2B5EF4-FFF2-40B4-BE49-F238E27FC236}">
                <a16:creationId xmlns:a16="http://schemas.microsoft.com/office/drawing/2014/main" id="{6B33F5F6-7F15-B708-BD54-42D981CF38BD}"/>
              </a:ext>
            </a:extLst>
          </p:cNvPr>
          <p:cNvPicPr>
            <a:picLocks noChangeAspect="1"/>
          </p:cNvPicPr>
          <p:nvPr/>
        </p:nvPicPr>
        <p:blipFill>
          <a:blip r:embed="rId30"/>
          <a:srcRect l="60640" t="18318" r="21470" b="67865"/>
          <a:stretch>
            <a:fillRect/>
          </a:stretch>
        </p:blipFill>
        <p:spPr>
          <a:xfrm>
            <a:off x="7753398" y="1662872"/>
            <a:ext cx="2766802" cy="648348"/>
          </a:xfrm>
          <a:prstGeom prst="rect">
            <a:avLst/>
          </a:prstGeom>
        </p:spPr>
      </p:pic>
      <mc:AlternateContent xmlns:mc="http://schemas.openxmlformats.org/markup-compatibility/2006">
        <mc:Choice xmlns:a14="http://schemas.microsoft.com/office/drawing/2010/main" Requires="a14">
          <p:sp>
            <p:nvSpPr>
              <p:cNvPr id="35" name="TextBox 34">
                <a:extLst>
                  <a:ext uri="{FF2B5EF4-FFF2-40B4-BE49-F238E27FC236}">
                    <a16:creationId xmlns:a16="http://schemas.microsoft.com/office/drawing/2014/main" id="{72140556-D370-BB0A-2235-2988EB77CE3E}"/>
                  </a:ext>
                </a:extLst>
              </p:cNvPr>
              <p:cNvSpPr txBox="1"/>
              <p:nvPr/>
            </p:nvSpPr>
            <p:spPr>
              <a:xfrm>
                <a:off x="7003537" y="1596773"/>
                <a:ext cx="768031" cy="119481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kumimoji="1" lang="en-US" altLang="ko-KR" sz="2500" b="0" i="1" smtClean="0">
                              <a:latin typeface="Cambria Math" panose="02040503050406030204" pitchFamily="18" charset="0"/>
                            </a:rPr>
                          </m:ctrlPr>
                        </m:fPr>
                        <m:num>
                          <m:r>
                            <a:rPr kumimoji="1" lang="en-US" altLang="ko-KR" sz="2500" b="0" i="1" smtClean="0">
                              <a:latin typeface="Cambria Math" panose="02040503050406030204" pitchFamily="18" charset="0"/>
                            </a:rPr>
                            <m:t>𝐻</m:t>
                          </m:r>
                        </m:num>
                        <m:den>
                          <m:r>
                            <a:rPr kumimoji="1" lang="en-US" altLang="ko-KR" sz="2500" b="0" i="1" smtClean="0">
                              <a:latin typeface="Cambria Math" panose="02040503050406030204" pitchFamily="18" charset="0"/>
                            </a:rPr>
                            <m:t>4</m:t>
                          </m:r>
                        </m:den>
                      </m:f>
                    </m:oMath>
                  </m:oMathPara>
                </a14:m>
                <a:endParaRPr kumimoji="1" lang="en-US" altLang="ko-KR" sz="2500" b="0" dirty="0"/>
              </a:p>
              <a:p>
                <a:endParaRPr kumimoji="1" lang="ko-KR" altLang="en-US" sz="2500" dirty="0"/>
              </a:p>
            </p:txBody>
          </p:sp>
        </mc:Choice>
        <mc:Fallback>
          <p:sp>
            <p:nvSpPr>
              <p:cNvPr id="35" name="TextBox 34">
                <a:extLst>
                  <a:ext uri="{FF2B5EF4-FFF2-40B4-BE49-F238E27FC236}">
                    <a16:creationId xmlns:a16="http://schemas.microsoft.com/office/drawing/2014/main" id="{72140556-D370-BB0A-2235-2988EB77CE3E}"/>
                  </a:ext>
                </a:extLst>
              </p:cNvPr>
              <p:cNvSpPr txBox="1">
                <a:spLocks noRot="1" noChangeAspect="1" noMove="1" noResize="1" noEditPoints="1" noAdjustHandles="1" noChangeArrowheads="1" noChangeShapeType="1" noTextEdit="1"/>
              </p:cNvSpPr>
              <p:nvPr/>
            </p:nvSpPr>
            <p:spPr>
              <a:xfrm>
                <a:off x="7003537" y="1596773"/>
                <a:ext cx="768031" cy="1194814"/>
              </a:xfrm>
              <a:prstGeom prst="rect">
                <a:avLst/>
              </a:prstGeom>
              <a:blipFill>
                <a:blip r:embed="rId31"/>
                <a:stretch>
                  <a:fillRect/>
                </a:stretch>
              </a:blipFill>
            </p:spPr>
            <p:txBody>
              <a:bodyPr/>
              <a:lstStyle/>
              <a:p>
                <a:r>
                  <a:rPr lang="ko-KR" altLang="en-US">
                    <a:noFill/>
                  </a:rPr>
                  <a:t> </a:t>
                </a:r>
              </a:p>
            </p:txBody>
          </p:sp>
        </mc:Fallback>
      </mc:AlternateContent>
      <mc:AlternateContent xmlns:mc="http://schemas.openxmlformats.org/markup-compatibility/2006">
        <mc:Choice xmlns:a14="http://schemas.microsoft.com/office/drawing/2010/main" Requires="a14">
          <p:sp>
            <p:nvSpPr>
              <p:cNvPr id="36" name="TextBox 35">
                <a:extLst>
                  <a:ext uri="{FF2B5EF4-FFF2-40B4-BE49-F238E27FC236}">
                    <a16:creationId xmlns:a16="http://schemas.microsoft.com/office/drawing/2014/main" id="{D9AE8DE8-0D95-10B7-7B3D-348B3BCCD83B}"/>
                  </a:ext>
                </a:extLst>
              </p:cNvPr>
              <p:cNvSpPr txBox="1"/>
              <p:nvPr/>
            </p:nvSpPr>
            <p:spPr>
              <a:xfrm>
                <a:off x="8912564" y="2309234"/>
                <a:ext cx="495071" cy="4770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kumimoji="1" lang="en-US" altLang="ko-KR" sz="2500" b="0" i="1" smtClean="0">
                          <a:latin typeface="Cambria Math" panose="02040503050406030204" pitchFamily="18" charset="0"/>
                        </a:rPr>
                        <m:t>𝑊</m:t>
                      </m:r>
                    </m:oMath>
                  </m:oMathPara>
                </a14:m>
                <a:endParaRPr kumimoji="1" lang="ko-KR" altLang="en-US" sz="2500" dirty="0"/>
              </a:p>
            </p:txBody>
          </p:sp>
        </mc:Choice>
        <mc:Fallback>
          <p:sp>
            <p:nvSpPr>
              <p:cNvPr id="36" name="TextBox 35">
                <a:extLst>
                  <a:ext uri="{FF2B5EF4-FFF2-40B4-BE49-F238E27FC236}">
                    <a16:creationId xmlns:a16="http://schemas.microsoft.com/office/drawing/2014/main" id="{D9AE8DE8-0D95-10B7-7B3D-348B3BCCD83B}"/>
                  </a:ext>
                </a:extLst>
              </p:cNvPr>
              <p:cNvSpPr txBox="1">
                <a:spLocks noRot="1" noChangeAspect="1" noMove="1" noResize="1" noEditPoints="1" noAdjustHandles="1" noChangeArrowheads="1" noChangeShapeType="1" noTextEdit="1"/>
              </p:cNvSpPr>
              <p:nvPr/>
            </p:nvSpPr>
            <p:spPr>
              <a:xfrm>
                <a:off x="8912564" y="2309234"/>
                <a:ext cx="495071" cy="477054"/>
              </a:xfrm>
              <a:prstGeom prst="rect">
                <a:avLst/>
              </a:prstGeom>
              <a:blipFill>
                <a:blip r:embed="rId32"/>
                <a:stretch>
                  <a:fillRect l="-2500" r="-2500"/>
                </a:stretch>
              </a:blipFill>
            </p:spPr>
            <p:txBody>
              <a:bodyPr/>
              <a:lstStyle/>
              <a:p>
                <a:r>
                  <a:rPr lang="ko-KR" altLang="en-US">
                    <a:noFill/>
                  </a:rPr>
                  <a:t> </a:t>
                </a:r>
              </a:p>
            </p:txBody>
          </p:sp>
        </mc:Fallback>
      </mc:AlternateContent>
      <mc:AlternateContent xmlns:mc="http://schemas.openxmlformats.org/markup-compatibility/2006">
        <mc:Choice xmlns:a14="http://schemas.microsoft.com/office/drawing/2010/main" Requires="a14">
          <p:sp>
            <p:nvSpPr>
              <p:cNvPr id="37" name="TextBox 36">
                <a:extLst>
                  <a:ext uri="{FF2B5EF4-FFF2-40B4-BE49-F238E27FC236}">
                    <a16:creationId xmlns:a16="http://schemas.microsoft.com/office/drawing/2014/main" id="{483CC8E1-EB8D-707A-22EF-C58193FD936D}"/>
                  </a:ext>
                </a:extLst>
              </p:cNvPr>
              <p:cNvSpPr txBox="1"/>
              <p:nvPr/>
            </p:nvSpPr>
            <p:spPr>
              <a:xfrm>
                <a:off x="4688664" y="69186"/>
                <a:ext cx="7503336" cy="1155060"/>
              </a:xfrm>
              <a:prstGeom prst="rect">
                <a:avLst/>
              </a:prstGeom>
              <a:noFill/>
            </p:spPr>
            <p:txBody>
              <a:bodyPr wrap="none" rtlCol="0">
                <a:spAutoFit/>
              </a:bodyPr>
              <a:lstStyle/>
              <a:p>
                <a:pPr>
                  <a:lnSpc>
                    <a:spcPct val="150000"/>
                  </a:lnSpc>
                </a:pPr>
                <a:r>
                  <a:rPr kumimoji="1" lang="en-US" altLang="ko-KR" sz="2000" dirty="0"/>
                  <a:t>“The feature map with the resolution of </a:t>
                </a:r>
                <a14:m>
                  <m:oMath xmlns:m="http://schemas.openxmlformats.org/officeDocument/2006/math">
                    <m:r>
                      <a:rPr kumimoji="1" lang="en-US" altLang="ko-KR" sz="2000" b="0" i="1" smtClean="0">
                        <a:latin typeface="Cambria Math" panose="02040503050406030204" pitchFamily="18" charset="0"/>
                      </a:rPr>
                      <m:t>(</m:t>
                    </m:r>
                    <m:r>
                      <a:rPr kumimoji="1" lang="en-US" altLang="ko-KR" sz="2000" b="0" i="1" smtClean="0">
                        <a:latin typeface="Cambria Math" panose="02040503050406030204" pitchFamily="18" charset="0"/>
                      </a:rPr>
                      <m:t>𝐻</m:t>
                    </m:r>
                    <m:r>
                      <a:rPr kumimoji="1" lang="en-US" altLang="ko-KR" sz="2000" b="0" i="1" smtClean="0">
                        <a:latin typeface="Cambria Math" panose="02040503050406030204" pitchFamily="18" charset="0"/>
                      </a:rPr>
                      <m:t>,</m:t>
                    </m:r>
                    <m:r>
                      <a:rPr kumimoji="1" lang="en-US" altLang="ko-KR" sz="2000" b="0" i="1" smtClean="0">
                        <a:latin typeface="Cambria Math" panose="02040503050406030204" pitchFamily="18" charset="0"/>
                      </a:rPr>
                      <m:t>𝑊</m:t>
                    </m:r>
                    <m:r>
                      <a:rPr kumimoji="1" lang="en-US" altLang="ko-KR" sz="2000" b="0" i="1" smtClean="0">
                        <a:latin typeface="Cambria Math" panose="02040503050406030204" pitchFamily="18" charset="0"/>
                      </a:rPr>
                      <m:t>)</m:t>
                    </m:r>
                  </m:oMath>
                </a14:m>
                <a:r>
                  <a:rPr kumimoji="1" lang="en-US" altLang="ko-KR" sz="2000" dirty="0"/>
                  <a:t> is divided into </a:t>
                </a:r>
              </a:p>
              <a:p>
                <a:pPr>
                  <a:lnSpc>
                    <a:spcPct val="150000"/>
                  </a:lnSpc>
                </a:pPr>
                <a14:m>
                  <m:oMath xmlns:m="http://schemas.openxmlformats.org/officeDocument/2006/math">
                    <m:r>
                      <a:rPr kumimoji="1" lang="en-US" altLang="ko-KR" sz="2000" b="0" i="1" smtClean="0">
                        <a:latin typeface="Cambria Math" panose="02040503050406030204" pitchFamily="18" charset="0"/>
                      </a:rPr>
                      <m:t>𝑙</m:t>
                    </m:r>
                    <m:r>
                      <a:rPr kumimoji="1" lang="en-US" altLang="ko-KR" sz="2000" b="0" i="1" smtClean="0">
                        <a:latin typeface="Cambria Math" panose="02040503050406030204" pitchFamily="18" charset="0"/>
                      </a:rPr>
                      <m:t>=4</m:t>
                    </m:r>
                  </m:oMath>
                </a14:m>
                <a:r>
                  <a:rPr kumimoji="1" lang="en-US" altLang="ko-KR" sz="2000" dirty="0"/>
                  <a:t> (default value) segments of size </a:t>
                </a:r>
                <a14:m>
                  <m:oMath xmlns:m="http://schemas.openxmlformats.org/officeDocument/2006/math">
                    <m:r>
                      <a:rPr kumimoji="1" lang="en-US" altLang="ko-KR" sz="2000" i="1">
                        <a:latin typeface="Cambria Math" panose="02040503050406030204" pitchFamily="18" charset="0"/>
                      </a:rPr>
                      <m:t>(</m:t>
                    </m:r>
                    <m:f>
                      <m:fPr>
                        <m:ctrlPr>
                          <a:rPr kumimoji="1" lang="en-US" altLang="ko-KR" sz="2000" b="0" i="1" smtClean="0">
                            <a:latin typeface="Cambria Math" panose="02040503050406030204" pitchFamily="18" charset="0"/>
                          </a:rPr>
                        </m:ctrlPr>
                      </m:fPr>
                      <m:num>
                        <m:r>
                          <a:rPr kumimoji="1" lang="en-US" altLang="ko-KR" sz="2000" i="1">
                            <a:latin typeface="Cambria Math" panose="02040503050406030204" pitchFamily="18" charset="0"/>
                          </a:rPr>
                          <m:t>𝐻</m:t>
                        </m:r>
                      </m:num>
                      <m:den>
                        <m:r>
                          <a:rPr kumimoji="1" lang="en-US" altLang="ko-KR" sz="2000" b="0" i="1" smtClean="0">
                            <a:latin typeface="Cambria Math" panose="02040503050406030204" pitchFamily="18" charset="0"/>
                          </a:rPr>
                          <m:t>𝑙</m:t>
                        </m:r>
                      </m:den>
                    </m:f>
                    <m:r>
                      <a:rPr kumimoji="1" lang="en-US" altLang="ko-KR" sz="2000" i="1">
                        <a:latin typeface="Cambria Math" panose="02040503050406030204" pitchFamily="18" charset="0"/>
                      </a:rPr>
                      <m:t>,</m:t>
                    </m:r>
                    <m:r>
                      <a:rPr kumimoji="1" lang="en-US" altLang="ko-KR" sz="2000" i="1">
                        <a:latin typeface="Cambria Math" panose="02040503050406030204" pitchFamily="18" charset="0"/>
                      </a:rPr>
                      <m:t>𝑊</m:t>
                    </m:r>
                    <m:r>
                      <a:rPr kumimoji="1" lang="en-US" altLang="ko-KR" sz="2000" i="1">
                        <a:latin typeface="Cambria Math" panose="02040503050406030204" pitchFamily="18" charset="0"/>
                      </a:rPr>
                      <m:t>)</m:t>
                    </m:r>
                  </m:oMath>
                </a14:m>
                <a:r>
                  <a:rPr kumimoji="1" lang="en-US" altLang="ko-KR" sz="2000" dirty="0"/>
                  <a:t>.“</a:t>
                </a:r>
                <a:endParaRPr kumimoji="1" lang="ko-KR" altLang="en-US" sz="2000" dirty="0"/>
              </a:p>
            </p:txBody>
          </p:sp>
        </mc:Choice>
        <mc:Fallback>
          <p:sp>
            <p:nvSpPr>
              <p:cNvPr id="37" name="TextBox 36">
                <a:extLst>
                  <a:ext uri="{FF2B5EF4-FFF2-40B4-BE49-F238E27FC236}">
                    <a16:creationId xmlns:a16="http://schemas.microsoft.com/office/drawing/2014/main" id="{483CC8E1-EB8D-707A-22EF-C58193FD936D}"/>
                  </a:ext>
                </a:extLst>
              </p:cNvPr>
              <p:cNvSpPr txBox="1">
                <a:spLocks noRot="1" noChangeAspect="1" noMove="1" noResize="1" noEditPoints="1" noAdjustHandles="1" noChangeArrowheads="1" noChangeShapeType="1" noTextEdit="1"/>
              </p:cNvSpPr>
              <p:nvPr/>
            </p:nvSpPr>
            <p:spPr>
              <a:xfrm>
                <a:off x="4688664" y="69186"/>
                <a:ext cx="7503336" cy="1155060"/>
              </a:xfrm>
              <a:prstGeom prst="rect">
                <a:avLst/>
              </a:prstGeom>
              <a:blipFill>
                <a:blip r:embed="rId11"/>
                <a:stretch>
                  <a:fillRect l="-845" b="-2174"/>
                </a:stretch>
              </a:blipFill>
            </p:spPr>
            <p:txBody>
              <a:bodyPr/>
              <a:lstStyle/>
              <a:p>
                <a:r>
                  <a:rPr lang="ko-KR" altLang="en-US">
                    <a:noFill/>
                  </a:rPr>
                  <a:t> </a:t>
                </a:r>
              </a:p>
            </p:txBody>
          </p:sp>
        </mc:Fallback>
      </mc:AlternateContent>
      <mc:AlternateContent xmlns:mc="http://schemas.openxmlformats.org/markup-compatibility/2006">
        <mc:Choice xmlns:a14="http://schemas.microsoft.com/office/drawing/2010/main" Requires="a14">
          <p:sp>
            <p:nvSpPr>
              <p:cNvPr id="38" name="TextBox 37">
                <a:extLst>
                  <a:ext uri="{FF2B5EF4-FFF2-40B4-BE49-F238E27FC236}">
                    <a16:creationId xmlns:a16="http://schemas.microsoft.com/office/drawing/2014/main" id="{C272EC19-6E29-A2F9-EEC0-4F0D5B3D84AA}"/>
                  </a:ext>
                </a:extLst>
              </p:cNvPr>
              <p:cNvSpPr txBox="1"/>
              <p:nvPr/>
            </p:nvSpPr>
            <p:spPr>
              <a:xfrm>
                <a:off x="3295854" y="213067"/>
                <a:ext cx="1220013" cy="4770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kumimoji="1" lang="en-US" altLang="ko-KR" sz="2500" b="0" i="1" smtClean="0">
                          <a:latin typeface="Cambria Math" panose="02040503050406030204" pitchFamily="18" charset="0"/>
                        </a:rPr>
                        <m:t>𝑎𝑟𝑒𝑎</m:t>
                      </m:r>
                      <m:r>
                        <a:rPr kumimoji="1" lang="en-US" altLang="ko-KR" sz="2500" b="0" i="1" smtClean="0">
                          <a:latin typeface="Cambria Math" panose="02040503050406030204" pitchFamily="18" charset="0"/>
                        </a:rPr>
                        <m:t> 1</m:t>
                      </m:r>
                    </m:oMath>
                  </m:oMathPara>
                </a14:m>
                <a:endParaRPr kumimoji="1" lang="ko-KR" altLang="en-US" sz="2500" dirty="0"/>
              </a:p>
            </p:txBody>
          </p:sp>
        </mc:Choice>
        <mc:Fallback>
          <p:sp>
            <p:nvSpPr>
              <p:cNvPr id="38" name="TextBox 37">
                <a:extLst>
                  <a:ext uri="{FF2B5EF4-FFF2-40B4-BE49-F238E27FC236}">
                    <a16:creationId xmlns:a16="http://schemas.microsoft.com/office/drawing/2014/main" id="{C272EC19-6E29-A2F9-EEC0-4F0D5B3D84AA}"/>
                  </a:ext>
                </a:extLst>
              </p:cNvPr>
              <p:cNvSpPr txBox="1">
                <a:spLocks noRot="1" noChangeAspect="1" noMove="1" noResize="1" noEditPoints="1" noAdjustHandles="1" noChangeArrowheads="1" noChangeShapeType="1" noTextEdit="1"/>
              </p:cNvSpPr>
              <p:nvPr/>
            </p:nvSpPr>
            <p:spPr>
              <a:xfrm>
                <a:off x="3295854" y="213067"/>
                <a:ext cx="1220013" cy="477054"/>
              </a:xfrm>
              <a:prstGeom prst="rect">
                <a:avLst/>
              </a:prstGeom>
              <a:blipFill>
                <a:blip r:embed="rId12"/>
                <a:stretch>
                  <a:fillRect b="-20513"/>
                </a:stretch>
              </a:blipFill>
            </p:spPr>
            <p:txBody>
              <a:bodyPr/>
              <a:lstStyle/>
              <a:p>
                <a:r>
                  <a:rPr lang="ko-KR" altLang="en-US">
                    <a:noFill/>
                  </a:rPr>
                  <a:t> </a:t>
                </a:r>
              </a:p>
            </p:txBody>
          </p:sp>
        </mc:Fallback>
      </mc:AlternateContent>
      <mc:AlternateContent xmlns:mc="http://schemas.openxmlformats.org/markup-compatibility/2006">
        <mc:Choice xmlns:a14="http://schemas.microsoft.com/office/drawing/2010/main" Requires="a14">
          <p:sp>
            <p:nvSpPr>
              <p:cNvPr id="39" name="TextBox 38">
                <a:extLst>
                  <a:ext uri="{FF2B5EF4-FFF2-40B4-BE49-F238E27FC236}">
                    <a16:creationId xmlns:a16="http://schemas.microsoft.com/office/drawing/2014/main" id="{E904A62A-BA2E-46D2-BA8A-8B411064CB7D}"/>
                  </a:ext>
                </a:extLst>
              </p:cNvPr>
              <p:cNvSpPr txBox="1"/>
              <p:nvPr/>
            </p:nvSpPr>
            <p:spPr>
              <a:xfrm>
                <a:off x="3295854" y="933078"/>
                <a:ext cx="1220014" cy="4770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kumimoji="1" lang="en-US" altLang="ko-KR" sz="2500" b="0" i="1" smtClean="0">
                          <a:latin typeface="Cambria Math" panose="02040503050406030204" pitchFamily="18" charset="0"/>
                        </a:rPr>
                        <m:t>𝑎𝑟𝑒𝑎</m:t>
                      </m:r>
                      <m:r>
                        <a:rPr kumimoji="1" lang="en-US" altLang="ko-KR" sz="2500" b="0" i="1" smtClean="0">
                          <a:latin typeface="Cambria Math" panose="02040503050406030204" pitchFamily="18" charset="0"/>
                        </a:rPr>
                        <m:t> 2</m:t>
                      </m:r>
                    </m:oMath>
                  </m:oMathPara>
                </a14:m>
                <a:endParaRPr kumimoji="1" lang="ko-KR" altLang="en-US" sz="2500" dirty="0"/>
              </a:p>
            </p:txBody>
          </p:sp>
        </mc:Choice>
        <mc:Fallback>
          <p:sp>
            <p:nvSpPr>
              <p:cNvPr id="39" name="TextBox 38">
                <a:extLst>
                  <a:ext uri="{FF2B5EF4-FFF2-40B4-BE49-F238E27FC236}">
                    <a16:creationId xmlns:a16="http://schemas.microsoft.com/office/drawing/2014/main" id="{E904A62A-BA2E-46D2-BA8A-8B411064CB7D}"/>
                  </a:ext>
                </a:extLst>
              </p:cNvPr>
              <p:cNvSpPr txBox="1">
                <a:spLocks noRot="1" noChangeAspect="1" noMove="1" noResize="1" noEditPoints="1" noAdjustHandles="1" noChangeArrowheads="1" noChangeShapeType="1" noTextEdit="1"/>
              </p:cNvSpPr>
              <p:nvPr/>
            </p:nvSpPr>
            <p:spPr>
              <a:xfrm>
                <a:off x="3295854" y="933078"/>
                <a:ext cx="1220014" cy="477054"/>
              </a:xfrm>
              <a:prstGeom prst="rect">
                <a:avLst/>
              </a:prstGeom>
              <a:blipFill>
                <a:blip r:embed="rId13"/>
                <a:stretch>
                  <a:fillRect b="-23684"/>
                </a:stretch>
              </a:blipFill>
            </p:spPr>
            <p:txBody>
              <a:bodyPr/>
              <a:lstStyle/>
              <a:p>
                <a:r>
                  <a:rPr lang="ko-KR" altLang="en-US">
                    <a:noFill/>
                  </a:rPr>
                  <a:t> </a:t>
                </a:r>
              </a:p>
            </p:txBody>
          </p:sp>
        </mc:Fallback>
      </mc:AlternateContent>
      <mc:AlternateContent xmlns:mc="http://schemas.openxmlformats.org/markup-compatibility/2006">
        <mc:Choice xmlns:a14="http://schemas.microsoft.com/office/drawing/2010/main" Requires="a14">
          <p:sp>
            <p:nvSpPr>
              <p:cNvPr id="40" name="TextBox 39">
                <a:extLst>
                  <a:ext uri="{FF2B5EF4-FFF2-40B4-BE49-F238E27FC236}">
                    <a16:creationId xmlns:a16="http://schemas.microsoft.com/office/drawing/2014/main" id="{2F65A51D-440F-60E4-7293-4D026D199CF5}"/>
                  </a:ext>
                </a:extLst>
              </p:cNvPr>
              <p:cNvSpPr txBox="1"/>
              <p:nvPr/>
            </p:nvSpPr>
            <p:spPr>
              <a:xfrm>
                <a:off x="3295853" y="1662872"/>
                <a:ext cx="1220014" cy="4770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kumimoji="1" lang="en-US" altLang="ko-KR" sz="2500" i="1" smtClean="0">
                          <a:latin typeface="Cambria Math" panose="02040503050406030204" pitchFamily="18" charset="0"/>
                        </a:rPr>
                        <m:t>𝑎𝑟𝑒𝑎</m:t>
                      </m:r>
                      <m:r>
                        <a:rPr kumimoji="1" lang="en-US" altLang="ko-KR" sz="2500" i="1" smtClean="0">
                          <a:latin typeface="Cambria Math" panose="02040503050406030204" pitchFamily="18" charset="0"/>
                        </a:rPr>
                        <m:t> 3</m:t>
                      </m:r>
                    </m:oMath>
                  </m:oMathPara>
                </a14:m>
                <a:endParaRPr kumimoji="1" lang="ko-KR" altLang="en-US" sz="2500" dirty="0"/>
              </a:p>
            </p:txBody>
          </p:sp>
        </mc:Choice>
        <mc:Fallback>
          <p:sp>
            <p:nvSpPr>
              <p:cNvPr id="40" name="TextBox 39">
                <a:extLst>
                  <a:ext uri="{FF2B5EF4-FFF2-40B4-BE49-F238E27FC236}">
                    <a16:creationId xmlns:a16="http://schemas.microsoft.com/office/drawing/2014/main" id="{2F65A51D-440F-60E4-7293-4D026D199CF5}"/>
                  </a:ext>
                </a:extLst>
              </p:cNvPr>
              <p:cNvSpPr txBox="1">
                <a:spLocks noRot="1" noChangeAspect="1" noMove="1" noResize="1" noEditPoints="1" noAdjustHandles="1" noChangeArrowheads="1" noChangeShapeType="1" noTextEdit="1"/>
              </p:cNvSpPr>
              <p:nvPr/>
            </p:nvSpPr>
            <p:spPr>
              <a:xfrm>
                <a:off x="3295853" y="1662872"/>
                <a:ext cx="1220014" cy="477054"/>
              </a:xfrm>
              <a:prstGeom prst="rect">
                <a:avLst/>
              </a:prstGeom>
              <a:blipFill>
                <a:blip r:embed="rId14"/>
                <a:stretch>
                  <a:fillRect b="-21053"/>
                </a:stretch>
              </a:blipFill>
            </p:spPr>
            <p:txBody>
              <a:bodyPr/>
              <a:lstStyle/>
              <a:p>
                <a:r>
                  <a:rPr lang="ko-KR" altLang="en-US">
                    <a:noFill/>
                  </a:rPr>
                  <a:t> </a:t>
                </a:r>
              </a:p>
            </p:txBody>
          </p:sp>
        </mc:Fallback>
      </mc:AlternateContent>
      <mc:AlternateContent xmlns:mc="http://schemas.openxmlformats.org/markup-compatibility/2006">
        <mc:Choice xmlns:a14="http://schemas.microsoft.com/office/drawing/2010/main" Requires="a14">
          <p:sp>
            <p:nvSpPr>
              <p:cNvPr id="41" name="TextBox 40">
                <a:extLst>
                  <a:ext uri="{FF2B5EF4-FFF2-40B4-BE49-F238E27FC236}">
                    <a16:creationId xmlns:a16="http://schemas.microsoft.com/office/drawing/2014/main" id="{265CFF60-7A07-2138-4475-6C27EA83D583}"/>
                  </a:ext>
                </a:extLst>
              </p:cNvPr>
              <p:cNvSpPr txBox="1"/>
              <p:nvPr/>
            </p:nvSpPr>
            <p:spPr>
              <a:xfrm>
                <a:off x="3309339" y="2337476"/>
                <a:ext cx="1220014" cy="4770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kumimoji="1" lang="en-US" altLang="ko-KR" sz="2500" i="1" smtClean="0">
                          <a:latin typeface="Cambria Math" panose="02040503050406030204" pitchFamily="18" charset="0"/>
                        </a:rPr>
                        <m:t>𝑎𝑟𝑒𝑎</m:t>
                      </m:r>
                      <m:r>
                        <a:rPr kumimoji="1" lang="en-US" altLang="ko-KR" sz="2500" i="1" smtClean="0">
                          <a:latin typeface="Cambria Math" panose="02040503050406030204" pitchFamily="18" charset="0"/>
                        </a:rPr>
                        <m:t> 4</m:t>
                      </m:r>
                    </m:oMath>
                  </m:oMathPara>
                </a14:m>
                <a:endParaRPr kumimoji="1" lang="ko-KR" altLang="en-US" sz="2500" dirty="0"/>
              </a:p>
            </p:txBody>
          </p:sp>
        </mc:Choice>
        <mc:Fallback>
          <p:sp>
            <p:nvSpPr>
              <p:cNvPr id="41" name="TextBox 40">
                <a:extLst>
                  <a:ext uri="{FF2B5EF4-FFF2-40B4-BE49-F238E27FC236}">
                    <a16:creationId xmlns:a16="http://schemas.microsoft.com/office/drawing/2014/main" id="{265CFF60-7A07-2138-4475-6C27EA83D583}"/>
                  </a:ext>
                </a:extLst>
              </p:cNvPr>
              <p:cNvSpPr txBox="1">
                <a:spLocks noRot="1" noChangeAspect="1" noMove="1" noResize="1" noEditPoints="1" noAdjustHandles="1" noChangeArrowheads="1" noChangeShapeType="1" noTextEdit="1"/>
              </p:cNvSpPr>
              <p:nvPr/>
            </p:nvSpPr>
            <p:spPr>
              <a:xfrm>
                <a:off x="3309339" y="2337476"/>
                <a:ext cx="1220014" cy="477054"/>
              </a:xfrm>
              <a:prstGeom prst="rect">
                <a:avLst/>
              </a:prstGeom>
              <a:blipFill>
                <a:blip r:embed="rId15"/>
                <a:stretch>
                  <a:fillRect b="-20513"/>
                </a:stretch>
              </a:blipFill>
            </p:spPr>
            <p:txBody>
              <a:bodyPr/>
              <a:lstStyle/>
              <a:p>
                <a:r>
                  <a:rPr lang="ko-KR" altLang="en-US">
                    <a:noFill/>
                  </a:rPr>
                  <a:t> </a:t>
                </a:r>
              </a:p>
            </p:txBody>
          </p:sp>
        </mc:Fallback>
      </mc:AlternateContent>
    </p:spTree>
    <p:extLst>
      <p:ext uri="{BB962C8B-B14F-4D97-AF65-F5344CB8AC3E}">
        <p14:creationId xmlns:p14="http://schemas.microsoft.com/office/powerpoint/2010/main" val="8334958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6B2828-83BA-2718-F390-ACC02F49AC71}"/>
            </a:ext>
          </a:extLst>
        </p:cNvPr>
        <p:cNvGrpSpPr/>
        <p:nvPr/>
      </p:nvGrpSpPr>
      <p:grpSpPr>
        <a:xfrm>
          <a:off x="0" y="0"/>
          <a:ext cx="0" cy="0"/>
          <a:chOff x="0" y="0"/>
          <a:chExt cx="0" cy="0"/>
        </a:xfrm>
      </p:grpSpPr>
      <p:sp>
        <p:nvSpPr>
          <p:cNvPr id="27" name="제목 26">
            <a:extLst>
              <a:ext uri="{FF2B5EF4-FFF2-40B4-BE49-F238E27FC236}">
                <a16:creationId xmlns:a16="http://schemas.microsoft.com/office/drawing/2014/main" id="{9BBF10E4-DE44-4429-ADDF-85F9D00195C9}"/>
              </a:ext>
            </a:extLst>
          </p:cNvPr>
          <p:cNvSpPr>
            <a:spLocks noGrp="1"/>
          </p:cNvSpPr>
          <p:nvPr>
            <p:ph type="title"/>
          </p:nvPr>
        </p:nvSpPr>
        <p:spPr/>
        <p:txBody>
          <a:bodyPr/>
          <a:lstStyle/>
          <a:p>
            <a:r>
              <a:rPr kumimoji="1" lang="en-US" altLang="ko-KR" sz="2800" b="1" dirty="0"/>
              <a:t>3. Approach: Area Attention</a:t>
            </a:r>
            <a:endParaRPr lang="ko-KR" altLang="en-US" dirty="0"/>
          </a:p>
        </p:txBody>
      </p:sp>
      <p:pic>
        <p:nvPicPr>
          <p:cNvPr id="26" name="그림 25">
            <a:extLst>
              <a:ext uri="{FF2B5EF4-FFF2-40B4-BE49-F238E27FC236}">
                <a16:creationId xmlns:a16="http://schemas.microsoft.com/office/drawing/2014/main" id="{0F4FA2F2-0FB2-010D-7104-ABBBBF47EF4F}"/>
              </a:ext>
            </a:extLst>
          </p:cNvPr>
          <p:cNvPicPr>
            <a:picLocks noChangeAspect="1"/>
          </p:cNvPicPr>
          <p:nvPr/>
        </p:nvPicPr>
        <p:blipFill>
          <a:blip r:embed="rId3"/>
          <a:stretch>
            <a:fillRect/>
          </a:stretch>
        </p:blipFill>
        <p:spPr>
          <a:xfrm>
            <a:off x="122103" y="1169494"/>
            <a:ext cx="7531100" cy="4813300"/>
          </a:xfrm>
          <a:prstGeom prst="rect">
            <a:avLst/>
          </a:prstGeom>
        </p:spPr>
      </p:pic>
      <p:sp>
        <p:nvSpPr>
          <p:cNvPr id="28" name="TextBox 27">
            <a:extLst>
              <a:ext uri="{FF2B5EF4-FFF2-40B4-BE49-F238E27FC236}">
                <a16:creationId xmlns:a16="http://schemas.microsoft.com/office/drawing/2014/main" id="{80812079-BAEB-30E3-193F-B84398897DFB}"/>
              </a:ext>
            </a:extLst>
          </p:cNvPr>
          <p:cNvSpPr txBox="1"/>
          <p:nvPr/>
        </p:nvSpPr>
        <p:spPr>
          <a:xfrm>
            <a:off x="6211614" y="1169494"/>
            <a:ext cx="5618846" cy="261610"/>
          </a:xfrm>
          <a:prstGeom prst="rect">
            <a:avLst/>
          </a:prstGeom>
          <a:noFill/>
        </p:spPr>
        <p:txBody>
          <a:bodyPr wrap="none" rtlCol="0">
            <a:spAutoFit/>
          </a:bodyPr>
          <a:lstStyle/>
          <a:p>
            <a:r>
              <a:rPr kumimoji="1" lang="en" altLang="ko-KR" sz="1100" dirty="0">
                <a:hlinkClick r:id="rId4"/>
              </a:rPr>
              <a:t>https://</a:t>
            </a:r>
            <a:r>
              <a:rPr kumimoji="1" lang="en" altLang="ko-KR" sz="1100" dirty="0" err="1">
                <a:hlinkClick r:id="rId4"/>
              </a:rPr>
              <a:t>github.com</a:t>
            </a:r>
            <a:r>
              <a:rPr kumimoji="1" lang="en" altLang="ko-KR" sz="1100" dirty="0">
                <a:hlinkClick r:id="rId4"/>
              </a:rPr>
              <a:t>/</a:t>
            </a:r>
            <a:r>
              <a:rPr kumimoji="1" lang="en" altLang="ko-KR" sz="1100" dirty="0" err="1">
                <a:hlinkClick r:id="rId4"/>
              </a:rPr>
              <a:t>sunsmarterjie</a:t>
            </a:r>
            <a:r>
              <a:rPr kumimoji="1" lang="en" altLang="ko-KR" sz="1100" dirty="0">
                <a:hlinkClick r:id="rId4"/>
              </a:rPr>
              <a:t>/yolov12/blob/main/</a:t>
            </a:r>
            <a:r>
              <a:rPr kumimoji="1" lang="en" altLang="ko-KR" sz="1100" dirty="0" err="1">
                <a:hlinkClick r:id="rId4"/>
              </a:rPr>
              <a:t>ultralytics</a:t>
            </a:r>
            <a:r>
              <a:rPr kumimoji="1" lang="en" altLang="ko-KR" sz="1100" dirty="0">
                <a:hlinkClick r:id="rId4"/>
              </a:rPr>
              <a:t>/</a:t>
            </a:r>
            <a:r>
              <a:rPr kumimoji="1" lang="en" altLang="ko-KR" sz="1100" dirty="0" err="1">
                <a:hlinkClick r:id="rId4"/>
              </a:rPr>
              <a:t>nn</a:t>
            </a:r>
            <a:r>
              <a:rPr kumimoji="1" lang="en" altLang="ko-KR" sz="1100" dirty="0">
                <a:hlinkClick r:id="rId4"/>
              </a:rPr>
              <a:t>/modules/</a:t>
            </a:r>
            <a:r>
              <a:rPr kumimoji="1" lang="en" altLang="ko-KR" sz="1100" dirty="0" err="1">
                <a:hlinkClick r:id="rId4"/>
              </a:rPr>
              <a:t>block.py</a:t>
            </a:r>
            <a:endParaRPr kumimoji="1" lang="ko-KR" altLang="en-US" sz="1100" dirty="0"/>
          </a:p>
        </p:txBody>
      </p:sp>
      <p:sp>
        <p:nvSpPr>
          <p:cNvPr id="29" name="TextBox 28">
            <a:extLst>
              <a:ext uri="{FF2B5EF4-FFF2-40B4-BE49-F238E27FC236}">
                <a16:creationId xmlns:a16="http://schemas.microsoft.com/office/drawing/2014/main" id="{86927E6F-041F-7B50-3DFC-E96DBB78662B}"/>
              </a:ext>
            </a:extLst>
          </p:cNvPr>
          <p:cNvSpPr txBox="1"/>
          <p:nvPr/>
        </p:nvSpPr>
        <p:spPr>
          <a:xfrm>
            <a:off x="4854873" y="4214432"/>
            <a:ext cx="5596660" cy="477054"/>
          </a:xfrm>
          <a:prstGeom prst="rect">
            <a:avLst/>
          </a:prstGeom>
          <a:noFill/>
        </p:spPr>
        <p:txBody>
          <a:bodyPr wrap="none" rtlCol="0">
            <a:spAutoFit/>
          </a:bodyPr>
          <a:lstStyle/>
          <a:p>
            <a:r>
              <a:rPr kumimoji="1" lang="en-US" altLang="ko-KR" sz="2500" dirty="0"/>
              <a:t>(B, N, C) </a:t>
            </a:r>
            <a:r>
              <a:rPr kumimoji="1" lang="en-US" altLang="ko-KR" sz="2500" dirty="0">
                <a:sym typeface="Wingdings" pitchFamily="2" charset="2"/>
              </a:rPr>
              <a:t> reshape  (B</a:t>
            </a:r>
            <a:r>
              <a:rPr kumimoji="1" lang="en-US" altLang="ko-KR" sz="2500" dirty="0">
                <a:solidFill>
                  <a:srgbClr val="FF0000"/>
                </a:solidFill>
                <a:sym typeface="Wingdings" pitchFamily="2" charset="2"/>
              </a:rPr>
              <a:t>*4</a:t>
            </a:r>
            <a:r>
              <a:rPr kumimoji="1" lang="en-US" altLang="ko-KR" sz="2500" dirty="0">
                <a:sym typeface="Wingdings" pitchFamily="2" charset="2"/>
              </a:rPr>
              <a:t>, N</a:t>
            </a:r>
            <a:r>
              <a:rPr kumimoji="1" lang="en-US" altLang="ko-KR" sz="2500" dirty="0">
                <a:solidFill>
                  <a:srgbClr val="FF0000"/>
                </a:solidFill>
                <a:sym typeface="Wingdings" pitchFamily="2" charset="2"/>
              </a:rPr>
              <a:t>//4</a:t>
            </a:r>
            <a:r>
              <a:rPr kumimoji="1" lang="en-US" altLang="ko-KR" sz="2500" dirty="0">
                <a:sym typeface="Wingdings" pitchFamily="2" charset="2"/>
              </a:rPr>
              <a:t>, C)</a:t>
            </a:r>
            <a:endParaRPr kumimoji="1" lang="ko-KR" altLang="en-US" sz="2500" dirty="0"/>
          </a:p>
        </p:txBody>
      </p:sp>
    </p:spTree>
    <p:extLst>
      <p:ext uri="{BB962C8B-B14F-4D97-AF65-F5344CB8AC3E}">
        <p14:creationId xmlns:p14="http://schemas.microsoft.com/office/powerpoint/2010/main" val="21686260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4BD9D7-8E67-FDF2-8797-5876AA447F14}"/>
            </a:ext>
          </a:extLst>
        </p:cNvPr>
        <p:cNvGrpSpPr/>
        <p:nvPr/>
      </p:nvGrpSpPr>
      <p:grpSpPr>
        <a:xfrm>
          <a:off x="0" y="0"/>
          <a:ext cx="0" cy="0"/>
          <a:chOff x="0" y="0"/>
          <a:chExt cx="0" cy="0"/>
        </a:xfrm>
      </p:grpSpPr>
      <p:sp>
        <p:nvSpPr>
          <p:cNvPr id="27" name="제목 26">
            <a:extLst>
              <a:ext uri="{FF2B5EF4-FFF2-40B4-BE49-F238E27FC236}">
                <a16:creationId xmlns:a16="http://schemas.microsoft.com/office/drawing/2014/main" id="{AF7D712D-8C9E-9997-AE13-C32914EDFA89}"/>
              </a:ext>
            </a:extLst>
          </p:cNvPr>
          <p:cNvSpPr>
            <a:spLocks noGrp="1"/>
          </p:cNvSpPr>
          <p:nvPr>
            <p:ph type="title"/>
          </p:nvPr>
        </p:nvSpPr>
        <p:spPr/>
        <p:txBody>
          <a:bodyPr>
            <a:noAutofit/>
          </a:bodyPr>
          <a:lstStyle/>
          <a:p>
            <a:r>
              <a:rPr kumimoji="1" lang="en-US" altLang="ko-KR" sz="2800" b="1" dirty="0"/>
              <a:t>3. Approach: R-ELAN</a:t>
            </a:r>
            <a:endParaRPr lang="ko-KR" altLang="en-US" sz="2800" dirty="0"/>
          </a:p>
        </p:txBody>
      </p:sp>
      <p:pic>
        <p:nvPicPr>
          <p:cNvPr id="21506" name="Picture 2">
            <a:extLst>
              <a:ext uri="{FF2B5EF4-FFF2-40B4-BE49-F238E27FC236}">
                <a16:creationId xmlns:a16="http://schemas.microsoft.com/office/drawing/2014/main" id="{12284E16-2E2E-8A90-73FA-FD8F453355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219" y="1090543"/>
            <a:ext cx="11643562" cy="4108600"/>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EAF818E4-20C0-6D67-415A-856C0EFD5456}"/>
                  </a:ext>
                </a:extLst>
              </p:cNvPr>
              <p:cNvSpPr txBox="1"/>
              <p:nvPr/>
            </p:nvSpPr>
            <p:spPr>
              <a:xfrm>
                <a:off x="8103476" y="982907"/>
                <a:ext cx="1770036" cy="44627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kumimoji="1" lang="en-US" altLang="ko-KR" sz="2300" b="1" i="1" smtClean="0">
                          <a:latin typeface="Cambria Math" panose="02040503050406030204" pitchFamily="18" charset="0"/>
                        </a:rPr>
                        <m:t>𝟏</m:t>
                      </m:r>
                      <m:r>
                        <a:rPr kumimoji="1" lang="en-US" altLang="ko-KR" sz="2300" b="1" i="1">
                          <a:latin typeface="Cambria Math" panose="02040503050406030204" pitchFamily="18" charset="0"/>
                        </a:rPr>
                        <m:t> </m:t>
                      </m:r>
                      <m:r>
                        <a:rPr kumimoji="1" lang="en-US" altLang="ko-KR" sz="2300" b="1" i="1" smtClean="0">
                          <a:latin typeface="Cambria Math" panose="02040503050406030204" pitchFamily="18" charset="0"/>
                        </a:rPr>
                        <m:t>× </m:t>
                      </m:r>
                      <m:r>
                        <a:rPr kumimoji="1" lang="en-US" altLang="ko-KR" sz="2300" b="1" i="1" smtClean="0">
                          <a:latin typeface="Cambria Math" panose="02040503050406030204" pitchFamily="18" charset="0"/>
                        </a:rPr>
                        <m:t>𝟏</m:t>
                      </m:r>
                      <m:r>
                        <a:rPr kumimoji="1" lang="en-US" altLang="ko-KR" sz="2300" b="1" i="1" smtClean="0">
                          <a:latin typeface="Cambria Math" panose="02040503050406030204" pitchFamily="18" charset="0"/>
                        </a:rPr>
                        <m:t> </m:t>
                      </m:r>
                      <m:r>
                        <a:rPr kumimoji="1" lang="en-US" altLang="ko-KR" sz="2300" b="1" i="1" smtClean="0">
                          <a:latin typeface="Cambria Math" panose="02040503050406030204" pitchFamily="18" charset="0"/>
                        </a:rPr>
                        <m:t>𝑪𝒐𝒏𝒗</m:t>
                      </m:r>
                    </m:oMath>
                  </m:oMathPara>
                </a14:m>
                <a:endParaRPr kumimoji="1" lang="ko-KR" altLang="en-US" sz="2300" b="1" dirty="0"/>
              </a:p>
            </p:txBody>
          </p:sp>
        </mc:Choice>
        <mc:Fallback xmlns="">
          <p:sp>
            <p:nvSpPr>
              <p:cNvPr id="2" name="TextBox 1">
                <a:extLst>
                  <a:ext uri="{FF2B5EF4-FFF2-40B4-BE49-F238E27FC236}">
                    <a16:creationId xmlns:a16="http://schemas.microsoft.com/office/drawing/2014/main" id="{EAF818E4-20C0-6D67-415A-856C0EFD5456}"/>
                  </a:ext>
                </a:extLst>
              </p:cNvPr>
              <p:cNvSpPr txBox="1">
                <a:spLocks noRot="1" noChangeAspect="1" noMove="1" noResize="1" noEditPoints="1" noAdjustHandles="1" noChangeArrowheads="1" noChangeShapeType="1" noTextEdit="1"/>
              </p:cNvSpPr>
              <p:nvPr/>
            </p:nvSpPr>
            <p:spPr>
              <a:xfrm>
                <a:off x="8103476" y="982907"/>
                <a:ext cx="1770036" cy="446276"/>
              </a:xfrm>
              <a:prstGeom prst="rect">
                <a:avLst/>
              </a:prstGeom>
              <a:blipFill>
                <a:blip r:embed="rId4"/>
                <a:stretch>
                  <a:fillRect b="-22222"/>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9B963E0C-EED4-4B48-CE2F-717BA8F04560}"/>
                  </a:ext>
                </a:extLst>
              </p:cNvPr>
              <p:cNvSpPr txBox="1"/>
              <p:nvPr/>
            </p:nvSpPr>
            <p:spPr>
              <a:xfrm>
                <a:off x="9275380" y="3657790"/>
                <a:ext cx="927946" cy="44627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kumimoji="1" lang="en-US" altLang="ko-KR" sz="2300" b="1" i="1" smtClean="0">
                          <a:latin typeface="Cambria Math" panose="02040503050406030204" pitchFamily="18" charset="0"/>
                        </a:rPr>
                        <m:t>𝟎</m:t>
                      </m:r>
                      <m:r>
                        <a:rPr kumimoji="1" lang="en-US" altLang="ko-KR" sz="2300" b="1" i="1" smtClean="0">
                          <a:latin typeface="Cambria Math" panose="02040503050406030204" pitchFamily="18" charset="0"/>
                        </a:rPr>
                        <m:t>.</m:t>
                      </m:r>
                      <m:r>
                        <a:rPr kumimoji="1" lang="en-US" altLang="ko-KR" sz="2300" b="1" i="1" smtClean="0">
                          <a:latin typeface="Cambria Math" panose="02040503050406030204" pitchFamily="18" charset="0"/>
                        </a:rPr>
                        <m:t>𝟎𝟏</m:t>
                      </m:r>
                    </m:oMath>
                  </m:oMathPara>
                </a14:m>
                <a:endParaRPr kumimoji="1" lang="ko-KR" altLang="en-US" sz="2300" b="1" dirty="0"/>
              </a:p>
            </p:txBody>
          </p:sp>
        </mc:Choice>
        <mc:Fallback xmlns="">
          <p:sp>
            <p:nvSpPr>
              <p:cNvPr id="3" name="TextBox 2">
                <a:extLst>
                  <a:ext uri="{FF2B5EF4-FFF2-40B4-BE49-F238E27FC236}">
                    <a16:creationId xmlns:a16="http://schemas.microsoft.com/office/drawing/2014/main" id="{9B963E0C-EED4-4B48-CE2F-717BA8F04560}"/>
                  </a:ext>
                </a:extLst>
              </p:cNvPr>
              <p:cNvSpPr txBox="1">
                <a:spLocks noRot="1" noChangeAspect="1" noMove="1" noResize="1" noEditPoints="1" noAdjustHandles="1" noChangeArrowheads="1" noChangeShapeType="1" noTextEdit="1"/>
              </p:cNvSpPr>
              <p:nvPr/>
            </p:nvSpPr>
            <p:spPr>
              <a:xfrm>
                <a:off x="9275380" y="3657790"/>
                <a:ext cx="927946" cy="446276"/>
              </a:xfrm>
              <a:prstGeom prst="rect">
                <a:avLst/>
              </a:prstGeom>
              <a:blipFill>
                <a:blip r:embed="rId5"/>
                <a:stretch>
                  <a:fillRect/>
                </a:stretch>
              </a:blipFill>
            </p:spPr>
            <p:txBody>
              <a:bodyPr/>
              <a:lstStyle/>
              <a:p>
                <a:r>
                  <a:rPr lang="ko-KR" altLang="en-US">
                    <a:noFill/>
                  </a:rPr>
                  <a:t> </a:t>
                </a:r>
              </a:p>
            </p:txBody>
          </p:sp>
        </mc:Fallback>
      </mc:AlternateContent>
      <p:sp>
        <p:nvSpPr>
          <p:cNvPr id="4" name="TextBox 3">
            <a:extLst>
              <a:ext uri="{FF2B5EF4-FFF2-40B4-BE49-F238E27FC236}">
                <a16:creationId xmlns:a16="http://schemas.microsoft.com/office/drawing/2014/main" id="{F5B8C304-9E52-63EC-E88B-BD7EA93F656B}"/>
              </a:ext>
            </a:extLst>
          </p:cNvPr>
          <p:cNvSpPr txBox="1"/>
          <p:nvPr/>
        </p:nvSpPr>
        <p:spPr>
          <a:xfrm>
            <a:off x="122103" y="5430370"/>
            <a:ext cx="7636321" cy="956159"/>
          </a:xfrm>
          <a:prstGeom prst="rect">
            <a:avLst/>
          </a:prstGeom>
          <a:noFill/>
        </p:spPr>
        <p:txBody>
          <a:bodyPr wrap="none" rtlCol="0">
            <a:spAutoFit/>
          </a:bodyPr>
          <a:lstStyle/>
          <a:p>
            <a:pPr>
              <a:lnSpc>
                <a:spcPct val="150000"/>
              </a:lnSpc>
            </a:pPr>
            <a:r>
              <a:rPr kumimoji="1" lang="en-US" altLang="ko-KR" sz="2000" dirty="0"/>
              <a:t>”We argue that such a design(ELAN) causes </a:t>
            </a:r>
            <a:r>
              <a:rPr kumimoji="1" lang="en-US" altLang="ko-KR" sz="2000" b="1" dirty="0"/>
              <a:t>gradient blocking</a:t>
            </a:r>
            <a:r>
              <a:rPr kumimoji="1" lang="en-US" altLang="ko-KR" sz="2000" dirty="0"/>
              <a:t> </a:t>
            </a:r>
          </a:p>
          <a:p>
            <a:pPr>
              <a:lnSpc>
                <a:spcPct val="150000"/>
              </a:lnSpc>
            </a:pPr>
            <a:r>
              <a:rPr kumimoji="1" lang="en-US" altLang="ko-KR" sz="2000" dirty="0"/>
              <a:t>and lacks </a:t>
            </a:r>
            <a:r>
              <a:rPr kumimoji="1" lang="en-US" altLang="ko-KR" sz="2000" b="1" dirty="0"/>
              <a:t>residual connections from input to output</a:t>
            </a:r>
            <a:r>
              <a:rPr kumimoji="1" lang="en-US" altLang="ko-KR" sz="2000" dirty="0"/>
              <a:t>” (?)</a:t>
            </a:r>
            <a:endParaRPr kumimoji="1" lang="ko-KR" altLang="en-US" sz="2000" dirty="0"/>
          </a:p>
        </p:txBody>
      </p:sp>
    </p:spTree>
    <p:extLst>
      <p:ext uri="{BB962C8B-B14F-4D97-AF65-F5344CB8AC3E}">
        <p14:creationId xmlns:p14="http://schemas.microsoft.com/office/powerpoint/2010/main" val="163120765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510BD6-660C-0401-2E6C-EE86B5338134}"/>
            </a:ext>
          </a:extLst>
        </p:cNvPr>
        <p:cNvGrpSpPr/>
        <p:nvPr/>
      </p:nvGrpSpPr>
      <p:grpSpPr>
        <a:xfrm>
          <a:off x="0" y="0"/>
          <a:ext cx="0" cy="0"/>
          <a:chOff x="0" y="0"/>
          <a:chExt cx="0" cy="0"/>
        </a:xfrm>
      </p:grpSpPr>
      <p:sp>
        <p:nvSpPr>
          <p:cNvPr id="27" name="제목 26">
            <a:extLst>
              <a:ext uri="{FF2B5EF4-FFF2-40B4-BE49-F238E27FC236}">
                <a16:creationId xmlns:a16="http://schemas.microsoft.com/office/drawing/2014/main" id="{B1E34051-20B0-03F1-9494-97A3BF2A2AF1}"/>
              </a:ext>
            </a:extLst>
          </p:cNvPr>
          <p:cNvSpPr>
            <a:spLocks noGrp="1"/>
          </p:cNvSpPr>
          <p:nvPr>
            <p:ph type="title"/>
          </p:nvPr>
        </p:nvSpPr>
        <p:spPr/>
        <p:txBody>
          <a:bodyPr>
            <a:noAutofit/>
          </a:bodyPr>
          <a:lstStyle/>
          <a:p>
            <a:r>
              <a:rPr kumimoji="1" lang="en-US" altLang="ko-KR" sz="2800" b="1" dirty="0"/>
              <a:t>3. Approach: R-ELAN</a:t>
            </a:r>
            <a:endParaRPr lang="ko-KR" altLang="en-US" sz="2800" dirty="0"/>
          </a:p>
        </p:txBody>
      </p:sp>
      <p:pic>
        <p:nvPicPr>
          <p:cNvPr id="6" name="그림 5">
            <a:extLst>
              <a:ext uri="{FF2B5EF4-FFF2-40B4-BE49-F238E27FC236}">
                <a16:creationId xmlns:a16="http://schemas.microsoft.com/office/drawing/2014/main" id="{ED153E26-3F3E-B9D7-466B-62753CB36B4D}"/>
              </a:ext>
            </a:extLst>
          </p:cNvPr>
          <p:cNvPicPr>
            <a:picLocks noChangeAspect="1"/>
          </p:cNvPicPr>
          <p:nvPr/>
        </p:nvPicPr>
        <p:blipFill>
          <a:blip r:embed="rId3"/>
          <a:stretch>
            <a:fillRect/>
          </a:stretch>
        </p:blipFill>
        <p:spPr>
          <a:xfrm>
            <a:off x="122103" y="934730"/>
            <a:ext cx="4404943" cy="5564594"/>
          </a:xfrm>
          <a:prstGeom prst="rect">
            <a:avLst/>
          </a:prstGeom>
        </p:spPr>
      </p:pic>
      <p:sp>
        <p:nvSpPr>
          <p:cNvPr id="7" name="TextBox 6">
            <a:extLst>
              <a:ext uri="{FF2B5EF4-FFF2-40B4-BE49-F238E27FC236}">
                <a16:creationId xmlns:a16="http://schemas.microsoft.com/office/drawing/2014/main" id="{4F622E96-DD3A-6A84-DBC7-C121CBCA22BA}"/>
              </a:ext>
            </a:extLst>
          </p:cNvPr>
          <p:cNvSpPr txBox="1"/>
          <p:nvPr/>
        </p:nvSpPr>
        <p:spPr>
          <a:xfrm>
            <a:off x="4703976" y="1412389"/>
            <a:ext cx="4883084" cy="4609275"/>
          </a:xfrm>
          <a:prstGeom prst="rect">
            <a:avLst/>
          </a:prstGeom>
          <a:noFill/>
        </p:spPr>
        <p:txBody>
          <a:bodyPr wrap="square" rtlCol="0">
            <a:spAutoFit/>
          </a:bodyPr>
          <a:lstStyle/>
          <a:p>
            <a:pPr>
              <a:lnSpc>
                <a:spcPct val="150000"/>
              </a:lnSpc>
            </a:pPr>
            <a:r>
              <a:rPr kumimoji="1" lang="ko-KR" altLang="en-US" dirty="0"/>
              <a:t>* </a:t>
            </a:r>
            <a:r>
              <a:rPr kumimoji="1" lang="en-US" altLang="ko-KR" dirty="0"/>
              <a:t>A2C2f(x) == R-ELAN(x)</a:t>
            </a:r>
          </a:p>
          <a:p>
            <a:pPr>
              <a:lnSpc>
                <a:spcPct val="150000"/>
              </a:lnSpc>
            </a:pPr>
            <a:r>
              <a:rPr kumimoji="1" lang="en-US" altLang="ko-KR" dirty="0"/>
              <a:t>    * cv1 == transition layer (1 x 1)</a:t>
            </a:r>
          </a:p>
          <a:p>
            <a:pPr>
              <a:lnSpc>
                <a:spcPct val="150000"/>
              </a:lnSpc>
            </a:pPr>
            <a:r>
              <a:rPr kumimoji="1" lang="en-US" altLang="ko-KR" dirty="0"/>
              <a:t>    * (</a:t>
            </a:r>
            <a:r>
              <a:rPr kumimoji="1" lang="en-US" altLang="ko-KR" dirty="0" err="1"/>
              <a:t>ABlock</a:t>
            </a:r>
            <a:r>
              <a:rPr kumimoji="1" lang="en-US" altLang="ko-KR" dirty="0"/>
              <a:t> x 2) x 1(default)</a:t>
            </a:r>
          </a:p>
          <a:p>
            <a:pPr>
              <a:lnSpc>
                <a:spcPct val="150000"/>
              </a:lnSpc>
            </a:pPr>
            <a:r>
              <a:rPr kumimoji="1" lang="en-US" altLang="ko-KR" dirty="0"/>
              <a:t>        * AAttn(area=4) x 1</a:t>
            </a:r>
          </a:p>
          <a:p>
            <a:pPr>
              <a:lnSpc>
                <a:spcPct val="150000"/>
              </a:lnSpc>
            </a:pPr>
            <a:r>
              <a:rPr kumimoji="1" lang="en-US" altLang="ko-KR" dirty="0"/>
              <a:t>        * MLP(ratio=1.2) x 1</a:t>
            </a:r>
          </a:p>
          <a:p>
            <a:pPr>
              <a:lnSpc>
                <a:spcPct val="150000"/>
              </a:lnSpc>
            </a:pPr>
            <a:r>
              <a:rPr kumimoji="1" lang="en-US" altLang="ko-KR" dirty="0"/>
              <a:t>    </a:t>
            </a:r>
            <a:r>
              <a:rPr kumimoji="1" lang="en-US" altLang="ko-KR" dirty="0">
                <a:sym typeface="Wingdings" pitchFamily="2" charset="2"/>
              </a:rPr>
              <a:t> </a:t>
            </a:r>
            <a:r>
              <a:rPr kumimoji="1" lang="ko-KR" altLang="en-US" dirty="0">
                <a:sym typeface="Wingdings" pitchFamily="2" charset="2"/>
              </a:rPr>
              <a:t>모든 결과 </a:t>
            </a:r>
            <a:r>
              <a:rPr kumimoji="1" lang="en-US" altLang="ko-KR" dirty="0">
                <a:sym typeface="Wingdings" pitchFamily="2" charset="2"/>
              </a:rPr>
              <a:t>concatenation</a:t>
            </a:r>
            <a:endParaRPr kumimoji="1" lang="en-US" altLang="ko-KR" dirty="0"/>
          </a:p>
          <a:p>
            <a:pPr>
              <a:lnSpc>
                <a:spcPct val="150000"/>
              </a:lnSpc>
            </a:pPr>
            <a:r>
              <a:rPr kumimoji="1" lang="en-US" altLang="ko-KR" dirty="0"/>
              <a:t>    * cv2 == aligning for dimensions</a:t>
            </a:r>
          </a:p>
          <a:p>
            <a:pPr>
              <a:lnSpc>
                <a:spcPct val="150000"/>
              </a:lnSpc>
            </a:pPr>
            <a:endParaRPr kumimoji="1" lang="en-US" altLang="ko-KR" dirty="0"/>
          </a:p>
          <a:p>
            <a:pPr>
              <a:lnSpc>
                <a:spcPct val="150000"/>
              </a:lnSpc>
            </a:pPr>
            <a:endParaRPr kumimoji="1" lang="en-US" altLang="ko-KR" dirty="0"/>
          </a:p>
          <a:p>
            <a:pPr>
              <a:lnSpc>
                <a:spcPct val="150000"/>
              </a:lnSpc>
            </a:pPr>
            <a:endParaRPr kumimoji="1" lang="en-US" altLang="ko-KR" dirty="0"/>
          </a:p>
          <a:p>
            <a:pPr>
              <a:lnSpc>
                <a:spcPct val="150000"/>
              </a:lnSpc>
            </a:pPr>
            <a:r>
              <a:rPr kumimoji="1" lang="en-US" altLang="ko-KR" dirty="0"/>
              <a:t>x + gamma * A2C2f(x)</a:t>
            </a:r>
          </a:p>
        </p:txBody>
      </p:sp>
      <p:sp>
        <p:nvSpPr>
          <p:cNvPr id="10" name="TextBox 9">
            <a:extLst>
              <a:ext uri="{FF2B5EF4-FFF2-40B4-BE49-F238E27FC236}">
                <a16:creationId xmlns:a16="http://schemas.microsoft.com/office/drawing/2014/main" id="{E2940167-D076-AE8F-5EBF-3E939308D422}"/>
              </a:ext>
            </a:extLst>
          </p:cNvPr>
          <p:cNvSpPr txBox="1"/>
          <p:nvPr/>
        </p:nvSpPr>
        <p:spPr>
          <a:xfrm>
            <a:off x="4565894" y="946799"/>
            <a:ext cx="7626105" cy="261610"/>
          </a:xfrm>
          <a:prstGeom prst="rect">
            <a:avLst/>
          </a:prstGeom>
          <a:noFill/>
        </p:spPr>
        <p:txBody>
          <a:bodyPr wrap="square">
            <a:spAutoFit/>
          </a:bodyPr>
          <a:lstStyle/>
          <a:p>
            <a:r>
              <a:rPr lang="ko-KR" altLang="en-US" sz="1100" dirty="0" err="1">
                <a:hlinkClick r:id="rId4"/>
              </a:rPr>
              <a:t>https</a:t>
            </a:r>
            <a:r>
              <a:rPr lang="ko-KR" altLang="en-US" sz="1100" dirty="0">
                <a:hlinkClick r:id="rId4"/>
              </a:rPr>
              <a:t>://</a:t>
            </a:r>
            <a:r>
              <a:rPr lang="ko-KR" altLang="en-US" sz="1100" dirty="0" err="1">
                <a:hlinkClick r:id="rId4"/>
              </a:rPr>
              <a:t>github.com</a:t>
            </a:r>
            <a:r>
              <a:rPr lang="ko-KR" altLang="en-US" sz="1100" dirty="0">
                <a:hlinkClick r:id="rId4"/>
              </a:rPr>
              <a:t>/</a:t>
            </a:r>
            <a:r>
              <a:rPr lang="ko-KR" altLang="en-US" sz="1100" dirty="0" err="1">
                <a:hlinkClick r:id="rId4"/>
              </a:rPr>
              <a:t>sunsmarterjie</a:t>
            </a:r>
            <a:r>
              <a:rPr lang="ko-KR" altLang="en-US" sz="1100" dirty="0">
                <a:hlinkClick r:id="rId4"/>
              </a:rPr>
              <a:t>/yolov12/</a:t>
            </a:r>
            <a:r>
              <a:rPr lang="ko-KR" altLang="en-US" sz="1100" dirty="0" err="1">
                <a:hlinkClick r:id="rId4"/>
              </a:rPr>
              <a:t>blob</a:t>
            </a:r>
            <a:r>
              <a:rPr lang="ko-KR" altLang="en-US" sz="1100" dirty="0">
                <a:hlinkClick r:id="rId4"/>
              </a:rPr>
              <a:t>/</a:t>
            </a:r>
            <a:r>
              <a:rPr lang="ko-KR" altLang="en-US" sz="1100" dirty="0" err="1">
                <a:hlinkClick r:id="rId4"/>
              </a:rPr>
              <a:t>main</a:t>
            </a:r>
            <a:r>
              <a:rPr lang="ko-KR" altLang="en-US" sz="1100" dirty="0">
                <a:hlinkClick r:id="rId4"/>
              </a:rPr>
              <a:t>/</a:t>
            </a:r>
            <a:r>
              <a:rPr lang="ko-KR" altLang="en-US" sz="1100" dirty="0" err="1">
                <a:hlinkClick r:id="rId4"/>
              </a:rPr>
              <a:t>ultralytics</a:t>
            </a:r>
            <a:r>
              <a:rPr lang="ko-KR" altLang="en-US" sz="1100" dirty="0">
                <a:hlinkClick r:id="rId4"/>
              </a:rPr>
              <a:t>/</a:t>
            </a:r>
            <a:r>
              <a:rPr lang="ko-KR" altLang="en-US" sz="1100" dirty="0" err="1">
                <a:hlinkClick r:id="rId4"/>
              </a:rPr>
              <a:t>nn</a:t>
            </a:r>
            <a:r>
              <a:rPr lang="ko-KR" altLang="en-US" sz="1100" dirty="0">
                <a:hlinkClick r:id="rId4"/>
              </a:rPr>
              <a:t>/</a:t>
            </a:r>
            <a:r>
              <a:rPr lang="ko-KR" altLang="en-US" sz="1100" dirty="0" err="1">
                <a:hlinkClick r:id="rId4"/>
              </a:rPr>
              <a:t>modules</a:t>
            </a:r>
            <a:r>
              <a:rPr lang="ko-KR" altLang="en-US" sz="1100" dirty="0">
                <a:hlinkClick r:id="rId4"/>
              </a:rPr>
              <a:t>/</a:t>
            </a:r>
            <a:r>
              <a:rPr lang="ko-KR" altLang="en-US" sz="1100" dirty="0" err="1">
                <a:hlinkClick r:id="rId4"/>
              </a:rPr>
              <a:t>block.py</a:t>
            </a:r>
            <a:endParaRPr lang="ko-KR" altLang="en-US" sz="1100" dirty="0"/>
          </a:p>
        </p:txBody>
      </p:sp>
    </p:spTree>
    <p:extLst>
      <p:ext uri="{BB962C8B-B14F-4D97-AF65-F5344CB8AC3E}">
        <p14:creationId xmlns:p14="http://schemas.microsoft.com/office/powerpoint/2010/main" val="289761113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F10CCE-1234-4294-67A4-48A4A3247B51}"/>
            </a:ext>
          </a:extLst>
        </p:cNvPr>
        <p:cNvGrpSpPr/>
        <p:nvPr/>
      </p:nvGrpSpPr>
      <p:grpSpPr>
        <a:xfrm>
          <a:off x="0" y="0"/>
          <a:ext cx="0" cy="0"/>
          <a:chOff x="0" y="0"/>
          <a:chExt cx="0" cy="0"/>
        </a:xfrm>
      </p:grpSpPr>
      <p:sp>
        <p:nvSpPr>
          <p:cNvPr id="27" name="제목 26">
            <a:extLst>
              <a:ext uri="{FF2B5EF4-FFF2-40B4-BE49-F238E27FC236}">
                <a16:creationId xmlns:a16="http://schemas.microsoft.com/office/drawing/2014/main" id="{467890AE-8CA1-0D75-DA13-C9D55FD801D2}"/>
              </a:ext>
            </a:extLst>
          </p:cNvPr>
          <p:cNvSpPr>
            <a:spLocks noGrp="1"/>
          </p:cNvSpPr>
          <p:nvPr>
            <p:ph type="title"/>
          </p:nvPr>
        </p:nvSpPr>
        <p:spPr>
          <a:xfrm>
            <a:off x="122103" y="57035"/>
            <a:ext cx="11952383" cy="802281"/>
          </a:xfrm>
        </p:spPr>
        <p:txBody>
          <a:bodyPr anchor="ctr">
            <a:normAutofit/>
          </a:bodyPr>
          <a:lstStyle/>
          <a:p>
            <a:r>
              <a:rPr kumimoji="1" lang="en-US" altLang="ko-KR" b="1"/>
              <a:t>3. Experiments</a:t>
            </a:r>
            <a:endParaRPr lang="ko-KR" altLang="en-US"/>
          </a:p>
        </p:txBody>
      </p:sp>
      <p:pic>
        <p:nvPicPr>
          <p:cNvPr id="9" name="그림 8" descr="텍스트, 스크린샷, 번호, 평행이(가) 표시된 사진&#10;&#10;AI 생성 콘텐츠는 정확하지 않을 수 있습니다.">
            <a:extLst>
              <a:ext uri="{FF2B5EF4-FFF2-40B4-BE49-F238E27FC236}">
                <a16:creationId xmlns:a16="http://schemas.microsoft.com/office/drawing/2014/main" id="{D312DFAC-46DC-D7F2-CFC7-8AC89CE76443}"/>
              </a:ext>
            </a:extLst>
          </p:cNvPr>
          <p:cNvPicPr>
            <a:picLocks noChangeAspect="1"/>
          </p:cNvPicPr>
          <p:nvPr/>
        </p:nvPicPr>
        <p:blipFill>
          <a:blip r:embed="rId3"/>
          <a:stretch>
            <a:fillRect/>
          </a:stretch>
        </p:blipFill>
        <p:spPr>
          <a:xfrm>
            <a:off x="3146082" y="0"/>
            <a:ext cx="5952651" cy="6861847"/>
          </a:xfrm>
          <a:prstGeom prst="rect">
            <a:avLst/>
          </a:prstGeom>
          <a:noFill/>
        </p:spPr>
      </p:pic>
    </p:spTree>
    <p:extLst>
      <p:ext uri="{BB962C8B-B14F-4D97-AF65-F5344CB8AC3E}">
        <p14:creationId xmlns:p14="http://schemas.microsoft.com/office/powerpoint/2010/main" val="324536927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496EC0-668F-4895-00AC-25BF8B52A1D9}"/>
            </a:ext>
          </a:extLst>
        </p:cNvPr>
        <p:cNvGrpSpPr/>
        <p:nvPr/>
      </p:nvGrpSpPr>
      <p:grpSpPr>
        <a:xfrm>
          <a:off x="0" y="0"/>
          <a:ext cx="0" cy="0"/>
          <a:chOff x="0" y="0"/>
          <a:chExt cx="0" cy="0"/>
        </a:xfrm>
      </p:grpSpPr>
      <p:sp>
        <p:nvSpPr>
          <p:cNvPr id="27" name="제목 26">
            <a:extLst>
              <a:ext uri="{FF2B5EF4-FFF2-40B4-BE49-F238E27FC236}">
                <a16:creationId xmlns:a16="http://schemas.microsoft.com/office/drawing/2014/main" id="{D6E3D52A-2428-DF97-7E29-F04CEA4A2DB8}"/>
              </a:ext>
            </a:extLst>
          </p:cNvPr>
          <p:cNvSpPr>
            <a:spLocks noGrp="1"/>
          </p:cNvSpPr>
          <p:nvPr>
            <p:ph type="title"/>
          </p:nvPr>
        </p:nvSpPr>
        <p:spPr/>
        <p:txBody>
          <a:bodyPr>
            <a:noAutofit/>
          </a:bodyPr>
          <a:lstStyle/>
          <a:p>
            <a:r>
              <a:rPr kumimoji="1" lang="en-US" altLang="ko-KR" sz="2800" b="1" dirty="0"/>
              <a:t>3. Experiments</a:t>
            </a:r>
            <a:endParaRPr lang="ko-KR" altLang="en-US" sz="2800" dirty="0"/>
          </a:p>
        </p:txBody>
      </p:sp>
      <p:pic>
        <p:nvPicPr>
          <p:cNvPr id="4" name="그림 3" descr="텍스트, 스크린샷, 번호, 폰트이(가) 표시된 사진&#10;&#10;AI 생성 콘텐츠는 정확하지 않을 수 있습니다.">
            <a:extLst>
              <a:ext uri="{FF2B5EF4-FFF2-40B4-BE49-F238E27FC236}">
                <a16:creationId xmlns:a16="http://schemas.microsoft.com/office/drawing/2014/main" id="{68F68659-C58C-749F-2E3F-4C7389E57C01}"/>
              </a:ext>
            </a:extLst>
          </p:cNvPr>
          <p:cNvPicPr>
            <a:picLocks noChangeAspect="1"/>
          </p:cNvPicPr>
          <p:nvPr/>
        </p:nvPicPr>
        <p:blipFill>
          <a:blip r:embed="rId3"/>
          <a:stretch>
            <a:fillRect/>
          </a:stretch>
        </p:blipFill>
        <p:spPr>
          <a:xfrm>
            <a:off x="122103" y="1267036"/>
            <a:ext cx="10426045" cy="4955200"/>
          </a:xfrm>
          <a:prstGeom prst="rect">
            <a:avLst/>
          </a:prstGeom>
        </p:spPr>
      </p:pic>
      <p:sp>
        <p:nvSpPr>
          <p:cNvPr id="6" name="TextBox 5">
            <a:extLst>
              <a:ext uri="{FF2B5EF4-FFF2-40B4-BE49-F238E27FC236}">
                <a16:creationId xmlns:a16="http://schemas.microsoft.com/office/drawing/2014/main" id="{3B1B7E3E-F2B0-3381-3624-A0BEB61008B6}"/>
              </a:ext>
            </a:extLst>
          </p:cNvPr>
          <p:cNvSpPr txBox="1"/>
          <p:nvPr/>
        </p:nvSpPr>
        <p:spPr>
          <a:xfrm rot="16200000">
            <a:off x="2697137" y="3804161"/>
            <a:ext cx="4050316" cy="785833"/>
          </a:xfrm>
          <a:prstGeom prst="rect">
            <a:avLst/>
          </a:prstGeom>
          <a:noFill/>
          <a:ln w="25400">
            <a:solidFill>
              <a:srgbClr val="FF0000"/>
            </a:solidFill>
          </a:ln>
        </p:spPr>
        <p:txBody>
          <a:bodyPr wrap="square" rtlCol="0">
            <a:spAutoFit/>
          </a:bodyPr>
          <a:lstStyle/>
          <a:p>
            <a:endParaRPr kumimoji="1" lang="ko-KR" altLang="en-US" dirty="0"/>
          </a:p>
        </p:txBody>
      </p:sp>
      <p:pic>
        <p:nvPicPr>
          <p:cNvPr id="8" name="그림 7" descr="텍스트, 스크린샷, 폰트이(가) 표시된 사진&#10;&#10;AI 생성 콘텐츠는 정확하지 않을 수 있습니다.">
            <a:extLst>
              <a:ext uri="{FF2B5EF4-FFF2-40B4-BE49-F238E27FC236}">
                <a16:creationId xmlns:a16="http://schemas.microsoft.com/office/drawing/2014/main" id="{1DF74996-438D-4C30-9F7E-C282A896D48F}"/>
              </a:ext>
            </a:extLst>
          </p:cNvPr>
          <p:cNvPicPr>
            <a:picLocks noChangeAspect="1"/>
          </p:cNvPicPr>
          <p:nvPr/>
        </p:nvPicPr>
        <p:blipFill>
          <a:blip r:embed="rId4"/>
          <a:stretch>
            <a:fillRect/>
          </a:stretch>
        </p:blipFill>
        <p:spPr>
          <a:xfrm>
            <a:off x="4553430" y="57035"/>
            <a:ext cx="7516467" cy="1855209"/>
          </a:xfrm>
          <a:prstGeom prst="rect">
            <a:avLst/>
          </a:prstGeom>
        </p:spPr>
      </p:pic>
      <p:cxnSp>
        <p:nvCxnSpPr>
          <p:cNvPr id="12" name="구부러진 연결선[U] 11">
            <a:extLst>
              <a:ext uri="{FF2B5EF4-FFF2-40B4-BE49-F238E27FC236}">
                <a16:creationId xmlns:a16="http://schemas.microsoft.com/office/drawing/2014/main" id="{9780AA8C-C275-F84C-ED71-AEF3AF2E0F28}"/>
              </a:ext>
            </a:extLst>
          </p:cNvPr>
          <p:cNvCxnSpPr>
            <a:cxnSpLocks/>
            <a:endCxn id="8" idx="1"/>
          </p:cNvCxnSpPr>
          <p:nvPr/>
        </p:nvCxnSpPr>
        <p:spPr>
          <a:xfrm rot="16200000" flipV="1">
            <a:off x="4068209" y="1469862"/>
            <a:ext cx="1170085" cy="199641"/>
          </a:xfrm>
          <a:prstGeom prst="curvedConnector4">
            <a:avLst>
              <a:gd name="adj1" fmla="val 9588"/>
              <a:gd name="adj2" fmla="val 414040"/>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구부러진 연결선[U] 15">
            <a:extLst>
              <a:ext uri="{FF2B5EF4-FFF2-40B4-BE49-F238E27FC236}">
                <a16:creationId xmlns:a16="http://schemas.microsoft.com/office/drawing/2014/main" id="{684F0644-DF22-C1C3-732F-B070F97E86F6}"/>
              </a:ext>
            </a:extLst>
          </p:cNvPr>
          <p:cNvCxnSpPr>
            <a:cxnSpLocks/>
            <a:stCxn id="26" idx="0"/>
            <a:endCxn id="28" idx="0"/>
          </p:cNvCxnSpPr>
          <p:nvPr/>
        </p:nvCxnSpPr>
        <p:spPr>
          <a:xfrm rot="5400000" flipH="1" flipV="1">
            <a:off x="4881348" y="1377380"/>
            <a:ext cx="12700" cy="1749019"/>
          </a:xfrm>
          <a:prstGeom prst="curvedConnector3">
            <a:avLst>
              <a:gd name="adj1" fmla="val 1800000"/>
            </a:avLst>
          </a:prstGeom>
          <a:ln w="254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26" name="직사각형 25">
            <a:extLst>
              <a:ext uri="{FF2B5EF4-FFF2-40B4-BE49-F238E27FC236}">
                <a16:creationId xmlns:a16="http://schemas.microsoft.com/office/drawing/2014/main" id="{4B7C93C2-BB41-E2F2-6F8F-FFD873A7312E}"/>
              </a:ext>
            </a:extLst>
          </p:cNvPr>
          <p:cNvSpPr/>
          <p:nvPr/>
        </p:nvSpPr>
        <p:spPr>
          <a:xfrm>
            <a:off x="3761484" y="2251889"/>
            <a:ext cx="490709" cy="319295"/>
          </a:xfrm>
          <a:prstGeom prst="rect">
            <a:avLst/>
          </a:prstGeom>
          <a:noFill/>
          <a:ln w="254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dirty="0"/>
          </a:p>
        </p:txBody>
      </p:sp>
      <p:sp>
        <p:nvSpPr>
          <p:cNvPr id="28" name="직사각형 27">
            <a:extLst>
              <a:ext uri="{FF2B5EF4-FFF2-40B4-BE49-F238E27FC236}">
                <a16:creationId xmlns:a16="http://schemas.microsoft.com/office/drawing/2014/main" id="{2429EB58-5039-F245-04B9-861642AEAF9A}"/>
              </a:ext>
            </a:extLst>
          </p:cNvPr>
          <p:cNvSpPr/>
          <p:nvPr/>
        </p:nvSpPr>
        <p:spPr>
          <a:xfrm>
            <a:off x="5192397" y="2251889"/>
            <a:ext cx="1126922" cy="319294"/>
          </a:xfrm>
          <a:prstGeom prst="rect">
            <a:avLst/>
          </a:prstGeom>
          <a:noFill/>
          <a:ln w="254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dirty="0"/>
          </a:p>
        </p:txBody>
      </p:sp>
    </p:spTree>
    <p:extLst>
      <p:ext uri="{BB962C8B-B14F-4D97-AF65-F5344CB8AC3E}">
        <p14:creationId xmlns:p14="http://schemas.microsoft.com/office/powerpoint/2010/main" val="91403994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D621F4-E80F-735B-4C0E-7BD13215B731}"/>
            </a:ext>
          </a:extLst>
        </p:cNvPr>
        <p:cNvGrpSpPr/>
        <p:nvPr/>
      </p:nvGrpSpPr>
      <p:grpSpPr>
        <a:xfrm>
          <a:off x="0" y="0"/>
          <a:ext cx="0" cy="0"/>
          <a:chOff x="0" y="0"/>
          <a:chExt cx="0" cy="0"/>
        </a:xfrm>
      </p:grpSpPr>
      <p:sp>
        <p:nvSpPr>
          <p:cNvPr id="27" name="제목 26">
            <a:extLst>
              <a:ext uri="{FF2B5EF4-FFF2-40B4-BE49-F238E27FC236}">
                <a16:creationId xmlns:a16="http://schemas.microsoft.com/office/drawing/2014/main" id="{14C39ED6-039A-F949-C83B-96FD1B0329E3}"/>
              </a:ext>
            </a:extLst>
          </p:cNvPr>
          <p:cNvSpPr>
            <a:spLocks noGrp="1"/>
          </p:cNvSpPr>
          <p:nvPr>
            <p:ph type="title"/>
          </p:nvPr>
        </p:nvSpPr>
        <p:spPr/>
        <p:txBody>
          <a:bodyPr>
            <a:noAutofit/>
          </a:bodyPr>
          <a:lstStyle/>
          <a:p>
            <a:r>
              <a:rPr kumimoji="1" lang="en-US" altLang="ko-KR" sz="2800" b="1" dirty="0"/>
              <a:t>3. Experiments</a:t>
            </a:r>
            <a:endParaRPr lang="ko-KR" altLang="en-US" sz="2800" dirty="0"/>
          </a:p>
        </p:txBody>
      </p:sp>
      <p:pic>
        <p:nvPicPr>
          <p:cNvPr id="3" name="그림 2" descr="텍스트, 스크린샷, 폰트, 영수증이(가) 표시된 사진&#10;&#10;AI 생성 콘텐츠는 정확하지 않을 수 있습니다.">
            <a:extLst>
              <a:ext uri="{FF2B5EF4-FFF2-40B4-BE49-F238E27FC236}">
                <a16:creationId xmlns:a16="http://schemas.microsoft.com/office/drawing/2014/main" id="{64BA535D-69B1-C897-8F5C-1789922484BD}"/>
              </a:ext>
            </a:extLst>
          </p:cNvPr>
          <p:cNvPicPr>
            <a:picLocks noChangeAspect="1"/>
          </p:cNvPicPr>
          <p:nvPr/>
        </p:nvPicPr>
        <p:blipFill>
          <a:blip r:embed="rId3"/>
          <a:stretch>
            <a:fillRect/>
          </a:stretch>
        </p:blipFill>
        <p:spPr>
          <a:xfrm>
            <a:off x="-6470" y="1403353"/>
            <a:ext cx="9482863" cy="3580514"/>
          </a:xfrm>
          <a:prstGeom prst="rect">
            <a:avLst/>
          </a:prstGeom>
        </p:spPr>
      </p:pic>
      <p:sp>
        <p:nvSpPr>
          <p:cNvPr id="5" name="TextBox 4">
            <a:extLst>
              <a:ext uri="{FF2B5EF4-FFF2-40B4-BE49-F238E27FC236}">
                <a16:creationId xmlns:a16="http://schemas.microsoft.com/office/drawing/2014/main" id="{BBC39613-D28F-181F-08BD-AA0C4338720F}"/>
              </a:ext>
            </a:extLst>
          </p:cNvPr>
          <p:cNvSpPr txBox="1"/>
          <p:nvPr/>
        </p:nvSpPr>
        <p:spPr>
          <a:xfrm rot="16200000">
            <a:off x="5641146" y="1881372"/>
            <a:ext cx="236300" cy="2175415"/>
          </a:xfrm>
          <a:prstGeom prst="rect">
            <a:avLst/>
          </a:prstGeom>
          <a:noFill/>
          <a:ln w="25400">
            <a:solidFill>
              <a:srgbClr val="FF0000"/>
            </a:solidFill>
          </a:ln>
        </p:spPr>
        <p:txBody>
          <a:bodyPr wrap="square" rtlCol="0">
            <a:spAutoFit/>
          </a:bodyPr>
          <a:lstStyle/>
          <a:p>
            <a:endParaRPr kumimoji="1" lang="ko-KR" altLang="en-US" dirty="0"/>
          </a:p>
        </p:txBody>
      </p:sp>
      <p:sp>
        <p:nvSpPr>
          <p:cNvPr id="7" name="TextBox 6">
            <a:extLst>
              <a:ext uri="{FF2B5EF4-FFF2-40B4-BE49-F238E27FC236}">
                <a16:creationId xmlns:a16="http://schemas.microsoft.com/office/drawing/2014/main" id="{835AF72F-2E14-4006-424B-5F89BBF9F3F8}"/>
              </a:ext>
            </a:extLst>
          </p:cNvPr>
          <p:cNvSpPr txBox="1"/>
          <p:nvPr/>
        </p:nvSpPr>
        <p:spPr>
          <a:xfrm>
            <a:off x="3721270" y="954292"/>
            <a:ext cx="4076052" cy="369332"/>
          </a:xfrm>
          <a:prstGeom prst="rect">
            <a:avLst/>
          </a:prstGeom>
          <a:noFill/>
        </p:spPr>
        <p:txBody>
          <a:bodyPr wrap="none" rtlCol="0">
            <a:spAutoFit/>
          </a:bodyPr>
          <a:lstStyle/>
          <a:p>
            <a:r>
              <a:rPr kumimoji="1" lang="en-US" altLang="ko-KR" dirty="0"/>
              <a:t>Table 1.</a:t>
            </a:r>
            <a:r>
              <a:rPr kumimoji="1" lang="ko-KR" altLang="en-US" dirty="0"/>
              <a:t>에서 공정한 비교가 아닌</a:t>
            </a:r>
            <a:r>
              <a:rPr kumimoji="1" lang="en-US" altLang="ko-KR" dirty="0"/>
              <a:t> </a:t>
            </a:r>
            <a:r>
              <a:rPr kumimoji="1" lang="ko-KR" altLang="en-US" dirty="0"/>
              <a:t>듯함</a:t>
            </a:r>
          </a:p>
        </p:txBody>
      </p:sp>
      <p:sp>
        <p:nvSpPr>
          <p:cNvPr id="10" name="TextBox 9">
            <a:extLst>
              <a:ext uri="{FF2B5EF4-FFF2-40B4-BE49-F238E27FC236}">
                <a16:creationId xmlns:a16="http://schemas.microsoft.com/office/drawing/2014/main" id="{7C87CFE2-0095-803B-5024-02976A49F7E7}"/>
              </a:ext>
            </a:extLst>
          </p:cNvPr>
          <p:cNvSpPr txBox="1"/>
          <p:nvPr/>
        </p:nvSpPr>
        <p:spPr>
          <a:xfrm rot="16200000">
            <a:off x="7871316" y="3088503"/>
            <a:ext cx="627112" cy="2303674"/>
          </a:xfrm>
          <a:prstGeom prst="rect">
            <a:avLst/>
          </a:prstGeom>
          <a:noFill/>
          <a:ln w="25400">
            <a:solidFill>
              <a:srgbClr val="FF0000"/>
            </a:solidFill>
          </a:ln>
        </p:spPr>
        <p:txBody>
          <a:bodyPr wrap="square" rtlCol="0">
            <a:spAutoFit/>
          </a:bodyPr>
          <a:lstStyle/>
          <a:p>
            <a:endParaRPr kumimoji="1" lang="ko-KR" altLang="en-US" dirty="0"/>
          </a:p>
        </p:txBody>
      </p:sp>
      <p:sp>
        <p:nvSpPr>
          <p:cNvPr id="13" name="TextBox 12">
            <a:extLst>
              <a:ext uri="{FF2B5EF4-FFF2-40B4-BE49-F238E27FC236}">
                <a16:creationId xmlns:a16="http://schemas.microsoft.com/office/drawing/2014/main" id="{EE786590-72E4-325C-3321-23155009603D}"/>
              </a:ext>
            </a:extLst>
          </p:cNvPr>
          <p:cNvSpPr txBox="1"/>
          <p:nvPr/>
        </p:nvSpPr>
        <p:spPr>
          <a:xfrm>
            <a:off x="6857013" y="4713908"/>
            <a:ext cx="5382820" cy="369332"/>
          </a:xfrm>
          <a:prstGeom prst="rect">
            <a:avLst/>
          </a:prstGeom>
          <a:noFill/>
        </p:spPr>
        <p:txBody>
          <a:bodyPr wrap="none" rtlCol="0">
            <a:spAutoFit/>
          </a:bodyPr>
          <a:lstStyle/>
          <a:p>
            <a:r>
              <a:rPr kumimoji="1" lang="en-US" altLang="ko-KR" dirty="0" err="1"/>
              <a:t>FlashAttention</a:t>
            </a:r>
            <a:r>
              <a:rPr kumimoji="1" lang="en-US" altLang="ko-KR" dirty="0"/>
              <a:t> </a:t>
            </a:r>
            <a:r>
              <a:rPr kumimoji="1" lang="ko-KR" altLang="en-US" dirty="0"/>
              <a:t>덕을 많이 본 듯</a:t>
            </a:r>
            <a:r>
              <a:rPr kumimoji="1" lang="en-US" altLang="ko-KR" dirty="0"/>
              <a:t>.. + edge deploy(?)</a:t>
            </a:r>
          </a:p>
        </p:txBody>
      </p:sp>
      <p:pic>
        <p:nvPicPr>
          <p:cNvPr id="15" name="그림 14" descr="텍스트, 폰트, 스크린샷이(가) 표시된 사진&#10;&#10;AI 생성 콘텐츠는 정확하지 않을 수 있습니다.">
            <a:extLst>
              <a:ext uri="{FF2B5EF4-FFF2-40B4-BE49-F238E27FC236}">
                <a16:creationId xmlns:a16="http://schemas.microsoft.com/office/drawing/2014/main" id="{8309ED5F-7183-F880-311E-AD950479083C}"/>
              </a:ext>
            </a:extLst>
          </p:cNvPr>
          <p:cNvPicPr>
            <a:picLocks noChangeAspect="1"/>
          </p:cNvPicPr>
          <p:nvPr/>
        </p:nvPicPr>
        <p:blipFill>
          <a:blip r:embed="rId4"/>
          <a:srcRect l="1529" t="5772" r="2839" b="9720"/>
          <a:stretch>
            <a:fillRect/>
          </a:stretch>
        </p:blipFill>
        <p:spPr>
          <a:xfrm>
            <a:off x="7277075" y="5282944"/>
            <a:ext cx="4914925" cy="1575056"/>
          </a:xfrm>
          <a:prstGeom prst="rect">
            <a:avLst/>
          </a:prstGeom>
        </p:spPr>
      </p:pic>
    </p:spTree>
    <p:extLst>
      <p:ext uri="{BB962C8B-B14F-4D97-AF65-F5344CB8AC3E}">
        <p14:creationId xmlns:p14="http://schemas.microsoft.com/office/powerpoint/2010/main" val="63708455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658E84-B52D-C415-F686-B5E592434745}"/>
            </a:ext>
          </a:extLst>
        </p:cNvPr>
        <p:cNvGrpSpPr/>
        <p:nvPr/>
      </p:nvGrpSpPr>
      <p:grpSpPr>
        <a:xfrm>
          <a:off x="0" y="0"/>
          <a:ext cx="0" cy="0"/>
          <a:chOff x="0" y="0"/>
          <a:chExt cx="0" cy="0"/>
        </a:xfrm>
      </p:grpSpPr>
      <p:sp>
        <p:nvSpPr>
          <p:cNvPr id="27" name="제목 26">
            <a:extLst>
              <a:ext uri="{FF2B5EF4-FFF2-40B4-BE49-F238E27FC236}">
                <a16:creationId xmlns:a16="http://schemas.microsoft.com/office/drawing/2014/main" id="{22FF7D95-7FEE-07C0-78D0-10F9AF6FD3B9}"/>
              </a:ext>
            </a:extLst>
          </p:cNvPr>
          <p:cNvSpPr>
            <a:spLocks noGrp="1"/>
          </p:cNvSpPr>
          <p:nvPr>
            <p:ph type="title"/>
          </p:nvPr>
        </p:nvSpPr>
        <p:spPr/>
        <p:txBody>
          <a:bodyPr>
            <a:noAutofit/>
          </a:bodyPr>
          <a:lstStyle/>
          <a:p>
            <a:r>
              <a:rPr kumimoji="1" lang="en-US" altLang="ko-KR" sz="2800" b="1" dirty="0"/>
              <a:t>Critique</a:t>
            </a:r>
            <a:endParaRPr lang="ko-KR" altLang="en-US" sz="2800" dirty="0"/>
          </a:p>
        </p:txBody>
      </p:sp>
      <p:sp>
        <p:nvSpPr>
          <p:cNvPr id="2" name="TextBox 1">
            <a:extLst>
              <a:ext uri="{FF2B5EF4-FFF2-40B4-BE49-F238E27FC236}">
                <a16:creationId xmlns:a16="http://schemas.microsoft.com/office/drawing/2014/main" id="{DA1BEB38-435F-1FE1-6C0B-4AD5DB6A0145}"/>
              </a:ext>
            </a:extLst>
          </p:cNvPr>
          <p:cNvSpPr txBox="1"/>
          <p:nvPr/>
        </p:nvSpPr>
        <p:spPr>
          <a:xfrm>
            <a:off x="184193" y="843588"/>
            <a:ext cx="11952383" cy="5616794"/>
          </a:xfrm>
          <a:prstGeom prst="rect">
            <a:avLst/>
          </a:prstGeom>
          <a:noFill/>
        </p:spPr>
        <p:txBody>
          <a:bodyPr wrap="square" rtlCol="0">
            <a:spAutoFit/>
          </a:bodyPr>
          <a:lstStyle/>
          <a:p>
            <a:pPr>
              <a:lnSpc>
                <a:spcPct val="150000"/>
              </a:lnSpc>
            </a:pPr>
            <a:r>
              <a:rPr kumimoji="1" lang="en-US" altLang="ko-KR" sz="2200" b="1" dirty="0">
                <a:latin typeface="Times New Roman" panose="02020603050405020304" pitchFamily="18" charset="0"/>
                <a:cs typeface="Times New Roman" panose="02020603050405020304" pitchFamily="18" charset="0"/>
              </a:rPr>
              <a:t>(Area Attention</a:t>
            </a:r>
            <a:r>
              <a:rPr kumimoji="1" lang="ko-KR" altLang="en-US" sz="2200" b="1" dirty="0">
                <a:latin typeface="Times New Roman" panose="02020603050405020304" pitchFamily="18" charset="0"/>
                <a:cs typeface="Times New Roman" panose="02020603050405020304" pitchFamily="18" charset="0"/>
              </a:rPr>
              <a:t>을 설명하기 위해 앞에서 다른 </a:t>
            </a:r>
            <a:r>
              <a:rPr kumimoji="1" lang="en-US" altLang="ko-KR" sz="2200" b="1" dirty="0">
                <a:latin typeface="Times New Roman" panose="02020603050405020304" pitchFamily="18" charset="0"/>
                <a:cs typeface="Times New Roman" panose="02020603050405020304" pitchFamily="18" charset="0"/>
              </a:rPr>
              <a:t>attention </a:t>
            </a:r>
            <a:r>
              <a:rPr kumimoji="1" lang="ko-KR" altLang="en-US" sz="2200" b="1" dirty="0">
                <a:latin typeface="Times New Roman" panose="02020603050405020304" pitchFamily="18" charset="0"/>
                <a:cs typeface="Times New Roman" panose="02020603050405020304" pitchFamily="18" charset="0"/>
              </a:rPr>
              <a:t>방법들의 문제점들을 잘 설명</a:t>
            </a:r>
            <a:r>
              <a:rPr kumimoji="1" lang="en-US" altLang="ko-KR" sz="2200" b="1" dirty="0">
                <a:latin typeface="Times New Roman" panose="02020603050405020304" pitchFamily="18" charset="0"/>
                <a:cs typeface="Times New Roman" panose="02020603050405020304" pitchFamily="18" charset="0"/>
              </a:rPr>
              <a:t>)</a:t>
            </a:r>
          </a:p>
          <a:p>
            <a:pPr marL="342900" indent="-342900">
              <a:lnSpc>
                <a:spcPct val="150000"/>
              </a:lnSpc>
              <a:buFont typeface="Arial" panose="020B0604020202020204" pitchFamily="34" charset="0"/>
              <a:buChar char="•"/>
            </a:pPr>
            <a:r>
              <a:rPr kumimoji="1" lang="ko-KR" altLang="en-US" sz="2200" dirty="0">
                <a:latin typeface="Times New Roman" panose="02020603050405020304" pitchFamily="18" charset="0"/>
                <a:cs typeface="Times New Roman" panose="02020603050405020304" pitchFamily="18" charset="0"/>
              </a:rPr>
              <a:t>결국</a:t>
            </a:r>
            <a:r>
              <a:rPr kumimoji="1" lang="en-US" altLang="ko-KR" sz="2200" dirty="0">
                <a:latin typeface="Times New Roman" panose="02020603050405020304" pitchFamily="18" charset="0"/>
                <a:cs typeface="Times New Roman" panose="02020603050405020304" pitchFamily="18" charset="0"/>
              </a:rPr>
              <a:t>, </a:t>
            </a:r>
            <a:r>
              <a:rPr kumimoji="1" lang="ko-KR" altLang="en-US" sz="2200" dirty="0">
                <a:latin typeface="Times New Roman" panose="02020603050405020304" pitchFamily="18" charset="0"/>
                <a:cs typeface="Times New Roman" panose="02020603050405020304" pitchFamily="18" charset="0"/>
              </a:rPr>
              <a:t>간단한 </a:t>
            </a:r>
            <a:r>
              <a:rPr kumimoji="1" lang="en-US" altLang="ko-KR" sz="2200" dirty="0">
                <a:latin typeface="Times New Roman" panose="02020603050405020304" pitchFamily="18" charset="0"/>
                <a:cs typeface="Times New Roman" panose="02020603050405020304" pitchFamily="18" charset="0"/>
              </a:rPr>
              <a:t>reshape </a:t>
            </a:r>
            <a:r>
              <a:rPr kumimoji="1" lang="ko-KR" altLang="en-US" sz="2200" dirty="0">
                <a:latin typeface="Times New Roman" panose="02020603050405020304" pitchFamily="18" charset="0"/>
                <a:cs typeface="Times New Roman" panose="02020603050405020304" pitchFamily="18" charset="0"/>
              </a:rPr>
              <a:t>연산으로 </a:t>
            </a:r>
            <a:r>
              <a:rPr kumimoji="1" lang="en-US" altLang="ko-KR" sz="2200" dirty="0">
                <a:latin typeface="Times New Roman" panose="02020603050405020304" pitchFamily="18" charset="0"/>
                <a:cs typeface="Times New Roman" panose="02020603050405020304" pitchFamily="18" charset="0"/>
              </a:rPr>
              <a:t>Area Attention module</a:t>
            </a:r>
            <a:r>
              <a:rPr kumimoji="1" lang="ko-KR" altLang="en-US" sz="2200" dirty="0">
                <a:latin typeface="Times New Roman" panose="02020603050405020304" pitchFamily="18" charset="0"/>
                <a:cs typeface="Times New Roman" panose="02020603050405020304" pitchFamily="18" charset="0"/>
              </a:rPr>
              <a:t>을 제안했는데</a:t>
            </a:r>
            <a:br>
              <a:rPr kumimoji="1" lang="en-US" altLang="ko-KR" sz="2200" dirty="0">
                <a:latin typeface="Times New Roman" panose="02020603050405020304" pitchFamily="18" charset="0"/>
                <a:cs typeface="Times New Roman" panose="02020603050405020304" pitchFamily="18" charset="0"/>
              </a:rPr>
            </a:br>
            <a:r>
              <a:rPr kumimoji="1" lang="ko-KR" altLang="en-US" sz="2200" dirty="0">
                <a:latin typeface="Times New Roman" panose="02020603050405020304" pitchFamily="18" charset="0"/>
                <a:cs typeface="Times New Roman" panose="02020603050405020304" pitchFamily="18" charset="0"/>
              </a:rPr>
              <a:t>앞에서 </a:t>
            </a:r>
            <a:r>
              <a:rPr kumimoji="1" lang="en-US" altLang="ko-KR" sz="2200" dirty="0">
                <a:latin typeface="Times New Roman" panose="02020603050405020304" pitchFamily="18" charset="0"/>
                <a:cs typeface="Times New Roman" panose="02020603050405020304" pitchFamily="18" charset="0"/>
              </a:rPr>
              <a:t>efficient attention</a:t>
            </a:r>
            <a:r>
              <a:rPr kumimoji="1" lang="ko-KR" altLang="en-US" sz="2200" dirty="0">
                <a:latin typeface="Times New Roman" panose="02020603050405020304" pitchFamily="18" charset="0"/>
                <a:cs typeface="Times New Roman" panose="02020603050405020304" pitchFamily="18" charset="0"/>
              </a:rPr>
              <a:t> </a:t>
            </a:r>
            <a:r>
              <a:rPr kumimoji="1" lang="en-US" altLang="ko-KR" sz="2200" dirty="0">
                <a:latin typeface="Times New Roman" panose="02020603050405020304" pitchFamily="18" charset="0"/>
                <a:cs typeface="Times New Roman" panose="02020603050405020304" pitchFamily="18" charset="0"/>
              </a:rPr>
              <a:t>mechanism</a:t>
            </a:r>
            <a:r>
              <a:rPr kumimoji="1" lang="ko-KR" altLang="en-US" sz="2200" dirty="0" err="1">
                <a:latin typeface="Times New Roman" panose="02020603050405020304" pitchFamily="18" charset="0"/>
                <a:cs typeface="Times New Roman" panose="02020603050405020304" pitchFamily="18" charset="0"/>
              </a:rPr>
              <a:t>에</a:t>
            </a:r>
            <a:r>
              <a:rPr kumimoji="1" lang="ko-KR" altLang="en-US" sz="2200" dirty="0">
                <a:latin typeface="Times New Roman" panose="02020603050405020304" pitchFamily="18" charset="0"/>
                <a:cs typeface="Times New Roman" panose="02020603050405020304" pitchFamily="18" charset="0"/>
              </a:rPr>
              <a:t> 대한 관련 연구를 잘 설명해서</a:t>
            </a:r>
            <a:br>
              <a:rPr kumimoji="1" lang="en-US" altLang="ko-KR" sz="2200" dirty="0">
                <a:latin typeface="Times New Roman" panose="02020603050405020304" pitchFamily="18" charset="0"/>
                <a:cs typeface="Times New Roman" panose="02020603050405020304" pitchFamily="18" charset="0"/>
              </a:rPr>
            </a:br>
            <a:r>
              <a:rPr kumimoji="1" lang="en-US" altLang="ko-KR" sz="2200" dirty="0">
                <a:latin typeface="Times New Roman" panose="02020603050405020304" pitchFamily="18" charset="0"/>
                <a:cs typeface="Times New Roman" panose="02020603050405020304" pitchFamily="18" charset="0"/>
              </a:rPr>
              <a:t>Area Attention</a:t>
            </a:r>
            <a:r>
              <a:rPr kumimoji="1" lang="ko-KR" altLang="en-US" sz="2200" dirty="0" err="1">
                <a:latin typeface="Times New Roman" panose="02020603050405020304" pitchFamily="18" charset="0"/>
                <a:cs typeface="Times New Roman" panose="02020603050405020304" pitchFamily="18" charset="0"/>
              </a:rPr>
              <a:t>에</a:t>
            </a:r>
            <a:r>
              <a:rPr kumimoji="1" lang="ko-KR" altLang="en-US" sz="2200" dirty="0">
                <a:latin typeface="Times New Roman" panose="02020603050405020304" pitchFamily="18" charset="0"/>
                <a:cs typeface="Times New Roman" panose="02020603050405020304" pitchFamily="18" charset="0"/>
              </a:rPr>
              <a:t> 정당성을 잘 부여한 듯함</a:t>
            </a:r>
            <a:r>
              <a:rPr kumimoji="1" lang="en-US" altLang="ko-KR" sz="2200" dirty="0">
                <a:latin typeface="Times New Roman" panose="02020603050405020304" pitchFamily="18" charset="0"/>
                <a:cs typeface="Times New Roman" panose="02020603050405020304" pitchFamily="18" charset="0"/>
              </a:rPr>
              <a:t>. </a:t>
            </a:r>
            <a:r>
              <a:rPr kumimoji="1" lang="en-US" altLang="ko-KR" sz="2200" dirty="0">
                <a:solidFill>
                  <a:srgbClr val="FF0000"/>
                </a:solidFill>
                <a:latin typeface="Times New Roman" panose="02020603050405020304" pitchFamily="18" charset="0"/>
                <a:cs typeface="Times New Roman" panose="02020603050405020304" pitchFamily="18" charset="0"/>
              </a:rPr>
              <a:t>(</a:t>
            </a:r>
            <a:r>
              <a:rPr kumimoji="1" lang="ko-KR" altLang="en-US" sz="2200" dirty="0">
                <a:solidFill>
                  <a:srgbClr val="FF0000"/>
                </a:solidFill>
                <a:latin typeface="Times New Roman" panose="02020603050405020304" pitchFamily="18" charset="0"/>
                <a:cs typeface="Times New Roman" panose="02020603050405020304" pitchFamily="18" charset="0"/>
              </a:rPr>
              <a:t>배울 점</a:t>
            </a:r>
            <a:r>
              <a:rPr kumimoji="1" lang="en-US" altLang="ko-KR" sz="2200" dirty="0">
                <a:solidFill>
                  <a:srgbClr val="FF0000"/>
                </a:solidFill>
                <a:latin typeface="Times New Roman" panose="02020603050405020304" pitchFamily="18" charset="0"/>
                <a:cs typeface="Times New Roman" panose="02020603050405020304" pitchFamily="18" charset="0"/>
              </a:rPr>
              <a:t>)</a:t>
            </a:r>
          </a:p>
          <a:p>
            <a:pPr marL="800100" lvl="1" indent="-342900">
              <a:lnSpc>
                <a:spcPct val="150000"/>
              </a:lnSpc>
              <a:buFont typeface="Arial" panose="020B0604020202020204" pitchFamily="34" charset="0"/>
              <a:buChar char="•"/>
            </a:pPr>
            <a:r>
              <a:rPr kumimoji="1" lang="ko-KR" altLang="en-US" sz="2200" dirty="0">
                <a:latin typeface="Times New Roman" panose="02020603050405020304" pitchFamily="18" charset="0"/>
                <a:cs typeface="Times New Roman" panose="02020603050405020304" pitchFamily="18" charset="0"/>
              </a:rPr>
              <a:t>앞에서 </a:t>
            </a:r>
            <a:r>
              <a:rPr kumimoji="1" lang="en-US" altLang="ko-KR" sz="2200" dirty="0" err="1">
                <a:latin typeface="Times New Roman" panose="02020603050405020304" pitchFamily="18" charset="0"/>
                <a:cs typeface="Times New Roman" panose="02020603050405020304" pitchFamily="18" charset="0"/>
              </a:rPr>
              <a:t>FlashAttention</a:t>
            </a:r>
            <a:r>
              <a:rPr kumimoji="1" lang="ko-KR" altLang="en-US" sz="2200" dirty="0" err="1">
                <a:latin typeface="Times New Roman" panose="02020603050405020304" pitchFamily="18" charset="0"/>
                <a:cs typeface="Times New Roman" panose="02020603050405020304" pitchFamily="18" charset="0"/>
              </a:rPr>
              <a:t>에</a:t>
            </a:r>
            <a:r>
              <a:rPr kumimoji="1" lang="ko-KR" altLang="en-US" sz="2200" dirty="0">
                <a:latin typeface="Times New Roman" panose="02020603050405020304" pitchFamily="18" charset="0"/>
                <a:cs typeface="Times New Roman" panose="02020603050405020304" pitchFamily="18" charset="0"/>
              </a:rPr>
              <a:t> 대해 요약 설명</a:t>
            </a:r>
            <a:r>
              <a:rPr kumimoji="1" lang="en-US" altLang="ko-KR" sz="2200" dirty="0">
                <a:latin typeface="Times New Roman" panose="02020603050405020304" pitchFamily="18" charset="0"/>
                <a:cs typeface="Times New Roman" panose="02020603050405020304" pitchFamily="18" charset="0"/>
              </a:rPr>
              <a:t> </a:t>
            </a:r>
            <a:r>
              <a:rPr kumimoji="1" lang="ko-KR" altLang="en-US" sz="2200" dirty="0">
                <a:latin typeface="Times New Roman" panose="02020603050405020304" pitchFamily="18" charset="0"/>
                <a:cs typeface="Times New Roman" panose="02020603050405020304" pitchFamily="18" charset="0"/>
              </a:rPr>
              <a:t>후</a:t>
            </a:r>
            <a:r>
              <a:rPr kumimoji="1" lang="en-US" altLang="ko-KR" sz="2200" dirty="0">
                <a:latin typeface="Times New Roman" panose="02020603050405020304" pitchFamily="18" charset="0"/>
                <a:cs typeface="Times New Roman" panose="02020603050405020304" pitchFamily="18" charset="0"/>
              </a:rPr>
              <a:t> </a:t>
            </a:r>
            <a:r>
              <a:rPr kumimoji="1" lang="ko-KR" altLang="en-US" sz="2200" dirty="0">
                <a:latin typeface="Times New Roman" panose="02020603050405020304" pitchFamily="18" charset="0"/>
                <a:cs typeface="Times New Roman" panose="02020603050405020304" pitchFamily="18" charset="0"/>
              </a:rPr>
              <a:t>그대로 적용했다</a:t>
            </a:r>
            <a:r>
              <a:rPr kumimoji="1" lang="en-US" altLang="ko-KR" sz="2200" dirty="0">
                <a:latin typeface="Times New Roman" panose="02020603050405020304" pitchFamily="18" charset="0"/>
                <a:cs typeface="Times New Roman" panose="02020603050405020304" pitchFamily="18" charset="0"/>
              </a:rPr>
              <a:t>.</a:t>
            </a:r>
          </a:p>
          <a:p>
            <a:pPr marL="800100" lvl="1" indent="-342900">
              <a:lnSpc>
                <a:spcPct val="150000"/>
              </a:lnSpc>
              <a:buFont typeface="Arial" panose="020B0604020202020204" pitchFamily="34" charset="0"/>
              <a:buChar char="•"/>
            </a:pPr>
            <a:r>
              <a:rPr kumimoji="1" lang="en-US" altLang="ko-KR" sz="2200" dirty="0">
                <a:latin typeface="Times New Roman" panose="02020603050405020304" pitchFamily="18" charset="0"/>
                <a:cs typeface="Times New Roman" panose="02020603050405020304" pitchFamily="18" charset="0"/>
              </a:rPr>
              <a:t>Kernel-based Linear Attention</a:t>
            </a:r>
            <a:r>
              <a:rPr kumimoji="1" lang="ko-KR" altLang="en-US" sz="2200" dirty="0">
                <a:latin typeface="Times New Roman" panose="02020603050405020304" pitchFamily="18" charset="0"/>
                <a:cs typeface="Times New Roman" panose="02020603050405020304" pitchFamily="18" charset="0"/>
              </a:rPr>
              <a:t>의 </a:t>
            </a:r>
            <a:r>
              <a:rPr kumimoji="1" lang="en-US" altLang="ko-KR" sz="2200" dirty="0">
                <a:latin typeface="Times New Roman" panose="02020603050405020304" pitchFamily="18" charset="0"/>
                <a:cs typeface="Times New Roman" panose="02020603050405020304" pitchFamily="18" charset="0"/>
              </a:rPr>
              <a:t>4</a:t>
            </a:r>
            <a:r>
              <a:rPr kumimoji="1" lang="ko-KR" altLang="en-US" sz="2200" dirty="0">
                <a:latin typeface="Times New Roman" panose="02020603050405020304" pitchFamily="18" charset="0"/>
                <a:cs typeface="Times New Roman" panose="02020603050405020304" pitchFamily="18" charset="0"/>
              </a:rPr>
              <a:t>가지 문제 언급</a:t>
            </a:r>
            <a:r>
              <a:rPr kumimoji="1" lang="en-US" altLang="ko-KR" sz="2200" dirty="0">
                <a:latin typeface="Times New Roman" panose="02020603050405020304" pitchFamily="18" charset="0"/>
                <a:cs typeface="Times New Roman" panose="02020603050405020304" pitchFamily="18" charset="0"/>
              </a:rPr>
              <a:t> </a:t>
            </a:r>
            <a:r>
              <a:rPr kumimoji="1" lang="en-US" altLang="ko-KR" sz="2200" dirty="0">
                <a:latin typeface="Times New Roman" panose="02020603050405020304" pitchFamily="18" charset="0"/>
                <a:cs typeface="Times New Roman" panose="02020603050405020304" pitchFamily="18" charset="0"/>
                <a:sym typeface="Wingdings" pitchFamily="2" charset="2"/>
              </a:rPr>
              <a:t> local attention </a:t>
            </a:r>
            <a:r>
              <a:rPr kumimoji="1" lang="ko-KR" altLang="en-US" sz="2200" dirty="0">
                <a:latin typeface="Times New Roman" panose="02020603050405020304" pitchFamily="18" charset="0"/>
                <a:cs typeface="Times New Roman" panose="02020603050405020304" pitchFamily="18" charset="0"/>
                <a:sym typeface="Wingdings" pitchFamily="2" charset="2"/>
              </a:rPr>
              <a:t>방법으로 유도</a:t>
            </a:r>
            <a:endParaRPr kumimoji="1" lang="en-US" altLang="ko-KR" sz="2200" dirty="0">
              <a:latin typeface="Times New Roman" panose="02020603050405020304" pitchFamily="18" charset="0"/>
              <a:cs typeface="Times New Roman" panose="02020603050405020304" pitchFamily="18" charset="0"/>
              <a:sym typeface="Wingdings" pitchFamily="2" charset="2"/>
            </a:endParaRPr>
          </a:p>
          <a:p>
            <a:pPr marL="800100" lvl="1" indent="-342900">
              <a:lnSpc>
                <a:spcPct val="150000"/>
              </a:lnSpc>
              <a:buFont typeface="Arial" panose="020B0604020202020204" pitchFamily="34" charset="0"/>
              <a:buChar char="•"/>
            </a:pPr>
            <a:r>
              <a:rPr kumimoji="1" lang="ko-KR" altLang="en-US" sz="2200" dirty="0">
                <a:latin typeface="Times New Roman" panose="02020603050405020304" pitchFamily="18" charset="0"/>
                <a:cs typeface="Times New Roman" panose="02020603050405020304" pitchFamily="18" charset="0"/>
                <a:sym typeface="Wingdings" pitchFamily="2" charset="2"/>
              </a:rPr>
              <a:t>기존 </a:t>
            </a:r>
            <a:r>
              <a:rPr kumimoji="1" lang="en-US" altLang="ko-KR" sz="2200" dirty="0">
                <a:latin typeface="Times New Roman" panose="02020603050405020304" pitchFamily="18" charset="0"/>
                <a:cs typeface="Times New Roman" panose="02020603050405020304" pitchFamily="18" charset="0"/>
                <a:sym typeface="Wingdings" pitchFamily="2" charset="2"/>
              </a:rPr>
              <a:t>Local attention </a:t>
            </a:r>
            <a:r>
              <a:rPr kumimoji="1" lang="ko-KR" altLang="en-US" sz="2200" dirty="0">
                <a:latin typeface="Times New Roman" panose="02020603050405020304" pitchFamily="18" charset="0"/>
                <a:cs typeface="Times New Roman" panose="02020603050405020304" pitchFamily="18" charset="0"/>
                <a:sym typeface="Wingdings" pitchFamily="2" charset="2"/>
              </a:rPr>
              <a:t>방법들의 복잡함 </a:t>
            </a:r>
            <a:r>
              <a:rPr kumimoji="1" lang="en-US" altLang="ko-KR" sz="2200" dirty="0">
                <a:latin typeface="Times New Roman" panose="02020603050405020304" pitchFamily="18" charset="0"/>
                <a:cs typeface="Times New Roman" panose="02020603050405020304" pitchFamily="18" charset="0"/>
                <a:sym typeface="Wingdings" pitchFamily="2" charset="2"/>
              </a:rPr>
              <a:t>+ receptive field </a:t>
            </a:r>
            <a:r>
              <a:rPr kumimoji="1" lang="ko-KR" altLang="en-US" sz="2200" dirty="0">
                <a:latin typeface="Times New Roman" panose="02020603050405020304" pitchFamily="18" charset="0"/>
                <a:cs typeface="Times New Roman" panose="02020603050405020304" pitchFamily="18" charset="0"/>
                <a:sym typeface="Wingdings" pitchFamily="2" charset="2"/>
              </a:rPr>
              <a:t>한계 언급 </a:t>
            </a:r>
            <a:r>
              <a:rPr kumimoji="1" lang="en-US" altLang="ko-KR" sz="2200" dirty="0">
                <a:latin typeface="Times New Roman" panose="02020603050405020304" pitchFamily="18" charset="0"/>
                <a:cs typeface="Times New Roman" panose="02020603050405020304" pitchFamily="18" charset="0"/>
                <a:sym typeface="Wingdings" pitchFamily="2" charset="2"/>
              </a:rPr>
              <a:t> Area Attention </a:t>
            </a:r>
            <a:r>
              <a:rPr kumimoji="1" lang="ko-KR" altLang="en-US" sz="2200" dirty="0">
                <a:latin typeface="Times New Roman" panose="02020603050405020304" pitchFamily="18" charset="0"/>
                <a:cs typeface="Times New Roman" panose="02020603050405020304" pitchFamily="18" charset="0"/>
                <a:sym typeface="Wingdings" pitchFamily="2" charset="2"/>
              </a:rPr>
              <a:t>정당화</a:t>
            </a:r>
            <a:endParaRPr kumimoji="1" lang="en-US" altLang="ko-KR" sz="2200" dirty="0">
              <a:latin typeface="Times New Roman" panose="02020603050405020304" pitchFamily="18" charset="0"/>
              <a:cs typeface="Times New Roman" panose="02020603050405020304" pitchFamily="18" charset="0"/>
              <a:sym typeface="Wingdings" pitchFamily="2" charset="2"/>
            </a:endParaRPr>
          </a:p>
          <a:p>
            <a:pPr>
              <a:lnSpc>
                <a:spcPct val="150000"/>
              </a:lnSpc>
            </a:pPr>
            <a:endParaRPr kumimoji="1" lang="en-US" altLang="ko-KR" sz="2200" dirty="0">
              <a:latin typeface="Times New Roman" panose="02020603050405020304" pitchFamily="18" charset="0"/>
              <a:cs typeface="Times New Roman" panose="02020603050405020304" pitchFamily="18" charset="0"/>
              <a:sym typeface="Wingdings" pitchFamily="2" charset="2"/>
            </a:endParaRPr>
          </a:p>
          <a:p>
            <a:pPr>
              <a:lnSpc>
                <a:spcPct val="150000"/>
              </a:lnSpc>
            </a:pPr>
            <a:endParaRPr kumimoji="1" lang="en-US" altLang="ko-KR" sz="2200" dirty="0">
              <a:latin typeface="Times New Roman" panose="02020603050405020304" pitchFamily="18" charset="0"/>
              <a:cs typeface="Times New Roman" panose="02020603050405020304" pitchFamily="18" charset="0"/>
              <a:sym typeface="Wingdings" pitchFamily="2" charset="2"/>
            </a:endParaRPr>
          </a:p>
          <a:p>
            <a:pPr>
              <a:lnSpc>
                <a:spcPct val="150000"/>
              </a:lnSpc>
            </a:pPr>
            <a:r>
              <a:rPr kumimoji="1" lang="en-US" altLang="ko-KR" sz="2200" b="1" dirty="0">
                <a:latin typeface="Times New Roman" panose="02020603050405020304" pitchFamily="18" charset="0"/>
                <a:cs typeface="Times New Roman" panose="02020603050405020304" pitchFamily="18" charset="0"/>
              </a:rPr>
              <a:t>YOLO series + SOTA </a:t>
            </a:r>
            <a:r>
              <a:rPr kumimoji="1" lang="ko-KR" altLang="en-US" sz="2200" b="1" dirty="0">
                <a:latin typeface="Times New Roman" panose="02020603050405020304" pitchFamily="18" charset="0"/>
                <a:cs typeface="Times New Roman" panose="02020603050405020304" pitchFamily="18" charset="0"/>
              </a:rPr>
              <a:t>라서 </a:t>
            </a:r>
            <a:r>
              <a:rPr kumimoji="1" lang="en-US" altLang="ko-KR" sz="2200" b="1" dirty="0" err="1">
                <a:latin typeface="Times New Roman" panose="02020603050405020304" pitchFamily="18" charset="0"/>
                <a:cs typeface="Times New Roman" panose="02020603050405020304" pitchFamily="18" charset="0"/>
              </a:rPr>
              <a:t>NeurIPS</a:t>
            </a:r>
            <a:r>
              <a:rPr kumimoji="1" lang="en-US" altLang="ko-KR" sz="2200" b="1" dirty="0">
                <a:latin typeface="Times New Roman" panose="02020603050405020304" pitchFamily="18" charset="0"/>
                <a:cs typeface="Times New Roman" panose="02020603050405020304" pitchFamily="18" charset="0"/>
              </a:rPr>
              <a:t>…?</a:t>
            </a:r>
          </a:p>
          <a:p>
            <a:pPr>
              <a:lnSpc>
                <a:spcPct val="150000"/>
              </a:lnSpc>
            </a:pPr>
            <a:r>
              <a:rPr kumimoji="1" lang="en-US" altLang="ko-KR" sz="2200" b="1" dirty="0">
                <a:latin typeface="Times New Roman" panose="02020603050405020304" pitchFamily="18" charset="0"/>
                <a:cs typeface="Times New Roman" panose="02020603050405020304" pitchFamily="18" charset="0"/>
                <a:sym typeface="Wingdings" pitchFamily="2" charset="2"/>
              </a:rPr>
              <a:t>+ 600 epoch(</a:t>
            </a:r>
            <a:r>
              <a:rPr kumimoji="1" lang="ko-KR" altLang="en-US" sz="2200" b="1" dirty="0">
                <a:latin typeface="Times New Roman" panose="02020603050405020304" pitchFamily="18" charset="0"/>
                <a:cs typeface="Times New Roman" panose="02020603050405020304" pitchFamily="18" charset="0"/>
                <a:sym typeface="Wingdings" pitchFamily="2" charset="2"/>
              </a:rPr>
              <a:t>비교 불공평</a:t>
            </a:r>
            <a:r>
              <a:rPr kumimoji="1" lang="en-US" altLang="ko-KR" sz="2200" b="1" dirty="0">
                <a:latin typeface="Times New Roman" panose="02020603050405020304" pitchFamily="18" charset="0"/>
                <a:cs typeface="Times New Roman" panose="02020603050405020304" pitchFamily="18" charset="0"/>
                <a:sym typeface="Wingdings" pitchFamily="2" charset="2"/>
              </a:rPr>
              <a:t>), </a:t>
            </a:r>
            <a:r>
              <a:rPr kumimoji="1" lang="en-US" altLang="ko-KR" sz="2200" b="1" dirty="0" err="1">
                <a:latin typeface="Times New Roman" panose="02020603050405020304" pitchFamily="18" charset="0"/>
                <a:cs typeface="Times New Roman" panose="02020603050405020304" pitchFamily="18" charset="0"/>
                <a:sym typeface="Wingdings" pitchFamily="2" charset="2"/>
              </a:rPr>
              <a:t>FlashAttention</a:t>
            </a:r>
            <a:r>
              <a:rPr kumimoji="1" lang="ko-KR" altLang="en-US" sz="2200" b="1" dirty="0">
                <a:latin typeface="Times New Roman" panose="02020603050405020304" pitchFamily="18" charset="0"/>
                <a:cs typeface="Times New Roman" panose="02020603050405020304" pitchFamily="18" charset="0"/>
                <a:sym typeface="Wingdings" pitchFamily="2" charset="2"/>
              </a:rPr>
              <a:t>의 </a:t>
            </a:r>
            <a:r>
              <a:rPr kumimoji="1" lang="en-US" altLang="ko-KR" sz="2200" b="1" dirty="0">
                <a:latin typeface="Times New Roman" panose="02020603050405020304" pitchFamily="18" charset="0"/>
                <a:cs typeface="Times New Roman" panose="02020603050405020304" pitchFamily="18" charset="0"/>
                <a:sym typeface="Wingdings" pitchFamily="2" charset="2"/>
              </a:rPr>
              <a:t>edge deployment</a:t>
            </a:r>
            <a:r>
              <a:rPr kumimoji="1" lang="ko-KR" altLang="en-US" sz="2200" b="1" dirty="0">
                <a:latin typeface="Times New Roman" panose="02020603050405020304" pitchFamily="18" charset="0"/>
                <a:cs typeface="Times New Roman" panose="02020603050405020304" pitchFamily="18" charset="0"/>
                <a:sym typeface="Wingdings" pitchFamily="2" charset="2"/>
              </a:rPr>
              <a:t> 한계</a:t>
            </a:r>
            <a:endParaRPr kumimoji="1" lang="en-US" altLang="ko-KR" sz="2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4496529"/>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9243</TotalTime>
  <Words>2333</Words>
  <Application>Microsoft Macintosh PowerPoint</Application>
  <PresentationFormat>와이드스크린</PresentationFormat>
  <Paragraphs>465</Paragraphs>
  <Slides>36</Slides>
  <Notes>34</Notes>
  <HiddenSlides>0</HiddenSlides>
  <MMClips>0</MMClips>
  <ScaleCrop>false</ScaleCrop>
  <HeadingPairs>
    <vt:vector size="6" baseType="variant">
      <vt:variant>
        <vt:lpstr>사용한 글꼴</vt:lpstr>
      </vt:variant>
      <vt:variant>
        <vt:i4>5</vt:i4>
      </vt:variant>
      <vt:variant>
        <vt:lpstr>테마</vt:lpstr>
      </vt:variant>
      <vt:variant>
        <vt:i4>1</vt:i4>
      </vt:variant>
      <vt:variant>
        <vt:lpstr>슬라이드 제목</vt:lpstr>
      </vt:variant>
      <vt:variant>
        <vt:i4>36</vt:i4>
      </vt:variant>
    </vt:vector>
  </HeadingPairs>
  <TitlesOfParts>
    <vt:vector size="42" baseType="lpstr">
      <vt:lpstr>맑은 고딕</vt:lpstr>
      <vt:lpstr>Arial</vt:lpstr>
      <vt:lpstr>Cambria Math</vt:lpstr>
      <vt:lpstr>Times New Roman</vt:lpstr>
      <vt:lpstr>Wingdings</vt:lpstr>
      <vt:lpstr>Office 테마</vt:lpstr>
      <vt:lpstr>PowerPoint 프레젠테이션</vt:lpstr>
      <vt:lpstr>Outline</vt:lpstr>
      <vt:lpstr>1. Related Works: YOLO series (v1 ~ v10)</vt:lpstr>
      <vt:lpstr>1. Related Works: YOLO series (v1 ~ v10)</vt:lpstr>
      <vt:lpstr>1. Related Works: YOLO series (v1 ~ v10)</vt:lpstr>
      <vt:lpstr>1. Related Works: YOLO series (v1 ~ v10)</vt:lpstr>
      <vt:lpstr>1. Related Works: YOLO series (v1 ~ v10)</vt:lpstr>
      <vt:lpstr>1. Related Works: YOLO series (v1 ~ v10)</vt:lpstr>
      <vt:lpstr>Motivation</vt:lpstr>
      <vt:lpstr>Motivation</vt:lpstr>
      <vt:lpstr>2. Analysis - Complexity</vt:lpstr>
      <vt:lpstr>2. Analysis - Complexity</vt:lpstr>
      <vt:lpstr>2. Analysis - Inefficient memory accessing</vt:lpstr>
      <vt:lpstr>2. FlashAttention의 Preliminary</vt:lpstr>
      <vt:lpstr>2. FlashAttention의 Motivation</vt:lpstr>
      <vt:lpstr>2. Inefficient memory accessing</vt:lpstr>
      <vt:lpstr>2. Inefficient memory accessing</vt:lpstr>
      <vt:lpstr>2. Inefficient memory accessing</vt:lpstr>
      <vt:lpstr>2. Inefficient memory accessing</vt:lpstr>
      <vt:lpstr>3. YOLOv12</vt:lpstr>
      <vt:lpstr>3. YOLOv12</vt:lpstr>
      <vt:lpstr>Proposition – Area Attention</vt:lpstr>
      <vt:lpstr>3. YOLOv12</vt:lpstr>
      <vt:lpstr>3. YOLOv12</vt:lpstr>
      <vt:lpstr>3. YOLOv12</vt:lpstr>
      <vt:lpstr>3. YOLOv12</vt:lpstr>
      <vt:lpstr>3. YOLOv12 - Area Attention</vt:lpstr>
      <vt:lpstr>PowerPoint 프레젠테이션</vt:lpstr>
      <vt:lpstr>PowerPoint 프레젠테이션</vt:lpstr>
      <vt:lpstr>3. Approach: Area Attention</vt:lpstr>
      <vt:lpstr>3. Approach: R-ELAN</vt:lpstr>
      <vt:lpstr>3. Approach: R-ELAN</vt:lpstr>
      <vt:lpstr>3. Experiments</vt:lpstr>
      <vt:lpstr>3. Experiments</vt:lpstr>
      <vt:lpstr>3. Experiments</vt:lpstr>
      <vt:lpstr>Critique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형섭 이</dc:creator>
  <cp:lastModifiedBy>이형섭/임베디드시스템공학과</cp:lastModifiedBy>
  <cp:revision>1563</cp:revision>
  <dcterms:created xsi:type="dcterms:W3CDTF">2023-10-11T13:31:20Z</dcterms:created>
  <dcterms:modified xsi:type="dcterms:W3CDTF">2025-10-02T10:13:54Z</dcterms:modified>
</cp:coreProperties>
</file>