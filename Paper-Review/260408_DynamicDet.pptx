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93" r:id="rId2"/>
    <p:sldId id="471" r:id="rId3"/>
    <p:sldId id="494" r:id="rId4"/>
    <p:sldId id="496" r:id="rId5"/>
    <p:sldId id="497" r:id="rId6"/>
    <p:sldId id="503" r:id="rId7"/>
    <p:sldId id="504" r:id="rId8"/>
    <p:sldId id="505" r:id="rId9"/>
    <p:sldId id="506" r:id="rId10"/>
    <p:sldId id="508" r:id="rId11"/>
    <p:sldId id="509" r:id="rId12"/>
    <p:sldId id="510" r:id="rId13"/>
    <p:sldId id="511" r:id="rId14"/>
    <p:sldId id="513" r:id="rId15"/>
    <p:sldId id="512" r:id="rId16"/>
    <p:sldId id="515" r:id="rId17"/>
    <p:sldId id="516" r:id="rId18"/>
    <p:sldId id="517" r:id="rId19"/>
    <p:sldId id="518" r:id="rId20"/>
    <p:sldId id="519" r:id="rId21"/>
    <p:sldId id="490" r:id="rId22"/>
    <p:sldId id="520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3"/>
    <p:restoredTop sz="86284"/>
  </p:normalViewPr>
  <p:slideViewPr>
    <p:cSldViewPr snapToGrid="0">
      <p:cViewPr>
        <p:scale>
          <a:sx n="129" d="100"/>
          <a:sy n="129" d="100"/>
        </p:scale>
        <p:origin x="704" y="19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166" d="100"/>
          <a:sy n="166" d="100"/>
        </p:scale>
        <p:origin x="59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86FC00A-97F0-39BF-52F7-11F602711C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0FD6ABF-0873-92EE-6C5D-6B7A7DAD41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6566-C4C8-864D-9390-3796A3A9C061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809309-5735-A218-61DF-E20BB6572D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CD20361-3F09-9084-DC5F-B674AC28055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94AFA-983E-D740-B6B2-A1532ECE876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6020888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CD09A-058A-C54B-8839-AF06743A1D5A}" type="datetimeFigureOut">
              <a:rPr kumimoji="1" lang="ko-KR" altLang="en-US" smtClean="0"/>
              <a:t>2026. 4. 7.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D3C5E-06BF-4547-A315-150B76FC98D2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9802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7E762-1F8D-358E-2A7C-CC64A6D5B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35B55E-1977-EE66-43E2-BD393F99E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7867AA-A304-26F8-42AE-27BC4E7BA8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9EDA5-A565-C1B1-0D5A-208B8F3F4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7855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12E5D-0593-62F1-EC9D-BC3B746EF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58EC6E1-EC8E-14B0-6180-FEF430303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D59C70-BB5D-2280-C2C6-CD6FDDA7AF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ACE9C1-382B-3F6D-EF51-1450F4F138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9405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8CBE1-358A-4D69-D843-E37C67315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37396C-8233-B831-82B4-8242D386B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C6FE1C-BBEA-ADDE-52FC-F505B4372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E0AEC-49F8-D649-1E54-E769D320FF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0857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9E3A-9D59-D77E-4EBD-665B39F93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AD607AA-666F-BEDA-A376-36356444D2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12B2D9-200B-B83D-0096-0F158E177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7A7DCE-69EC-E66A-5BC6-8492A9535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1977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35EB-49E8-C3E4-385B-EE02E3324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2039736-FDF0-F98A-44F9-823154638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6068BCD-2FB2-ABE3-E05E-6A79F82AB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EDF79-5B96-F048-C98A-27749B5B4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3384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B87E9-8144-E14F-BB58-52A99901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C77998-0C32-16A5-210B-1E9FEA6766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E742D5-7279-5B76-A724-A6AE82E8CD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4D7FCE-840C-37E2-A423-DB160E0EE8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66522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D91F9-E8D7-84D8-B59C-2F25FE05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D6A50F-92BA-7879-FD76-7E33E3C48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7A77F9-60C1-6678-813D-2CCA9EFD7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68EDDB-DE1B-336B-5F15-49FDB1D64E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9570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1F616-170F-835F-7277-E674D0339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31AA4-53B5-A289-A80F-D603DCD9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9E72C8-FB90-4F4D-FFFA-AF15EE05BE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E3EE5D-2665-A215-B22D-BD6355E22F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88548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1E2D9-501D-B572-ADE4-FBDB65E61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A2C4D1B-0DF7-43F5-C839-842DE1D465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97C04A-E649-D986-7DF5-1CF265E58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5FF85-7F50-0B08-7FDE-AD34C4A0A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94892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70AB-21F1-5908-BDE3-61BBA3A5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9996BD-0A58-9778-1AC9-9BA8E4DAF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EB6DC67-CF92-2937-7B0D-BF75DE403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9CF598-3AB7-5F8C-3435-6377C80A11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1150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3B0CA-3FAF-441B-5FA1-5D2E43F0F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5D3F42-A4D4-A5AF-80D9-3A74FED1A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5FB3EDB-5192-2779-1670-76A637C02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CD033F-9754-7705-0B5C-62DD96444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96946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A6B0-6C92-95F5-2111-B5623BBE2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D75FFA-08DA-2EA7-1C33-057EA47996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345FE21-C01C-94EA-D5D6-E1D12A090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6C3517-8B56-4232-F2F8-EEA1D0AB03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5146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C550-D88C-17BB-39B7-B98B140D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8C602E-F549-EBA8-5D80-6DF5B3091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CCBF3A-782A-E6F1-49A1-8D4A8487A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0B90A4-16C4-2A12-1CC1-ED9312444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514207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A0B1-AAEC-081E-A564-DC3E40C0C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FE563C-DD34-FD95-1392-14AE7CEDE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279057-536B-32AA-BB8D-643F9EE2F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16BE47-1D54-4091-3C0D-1101ACC3A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88812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6E28-8F26-E4F4-15D8-2D1443C01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1D7642-FCCE-E287-E99A-826AED7B8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289975-B6D9-AA14-9F99-341F7E4D7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2C51B2-0485-9BAB-718E-4444CDD609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53739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547E-A5AC-C878-1581-78DA0D0FC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49851D-1CA9-3174-DD2E-71DAF104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AA8D2A7-D718-7CB7-2B21-F7E4BC0C5C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AEBA7B-24DD-A266-2484-C03CC33EE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5507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83CC3-9374-5CF4-13A5-8E87253C5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9C57EA-545D-1EEC-FEB5-56242DB646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7B42BE-1F48-0473-4686-9BCD086874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16BFE-5B3E-3192-619E-907C741441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472030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8CF60-736E-A1EA-104D-7F0ADBE22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685597-E25A-A4E5-C638-93542D100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7F52E7-8641-C1BC-C61B-BF569E6EA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02D748-6A46-F5C6-E11E-46E3AEB9F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19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56851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76529-7553-AFE6-5738-34760DA2A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70DB46-F1E7-BF4D-293A-FCB21333E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075B8E-613B-1B82-7C36-B7C0000584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E349F-F035-380F-195F-0679F3B5A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65145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10E23-A7E7-D6E3-0D74-5F4829A3F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19AC879-F335-3970-73CD-7B2BEAF4DD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03724A-3887-B9EC-0B9E-FF2221AD9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A6B1BCA-CAA5-7C62-D39B-E887C67C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601442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D33A1-E6F9-7B5A-A4AA-90BDEFF7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30D694-765D-D334-75FB-8D8D5F628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E3AF0F-CF71-B7A1-F542-67B2D6E59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200" b="0" dirty="0">
              <a:latin typeface="+mj-lt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54AEE0-B0E5-40A8-9B23-2B3F4CB07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8D3C5E-06BF-4547-A315-150B76FC98D2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95861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mailto:hhss0927@inu.ac.kr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2" descr="텍스트, 폰트, 로고, 그래픽이(가) 표시된 사진&#10;&#10;자동 생성된 설명">
            <a:extLst>
              <a:ext uri="{FF2B5EF4-FFF2-40B4-BE49-F238E27FC236}">
                <a16:creationId xmlns:a16="http://schemas.microsoft.com/office/drawing/2014/main" id="{6AB210DD-1824-17DF-FBC0-45C9B94F09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375"/>
          <a:stretch>
            <a:fillRect/>
          </a:stretch>
        </p:blipFill>
        <p:spPr bwMode="auto">
          <a:xfrm>
            <a:off x="9957473" y="0"/>
            <a:ext cx="2234527" cy="62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직선 연결선[R] 4">
            <a:extLst>
              <a:ext uri="{FF2B5EF4-FFF2-40B4-BE49-F238E27FC236}">
                <a16:creationId xmlns:a16="http://schemas.microsoft.com/office/drawing/2014/main" id="{63405D42-E259-56C1-4B5B-9CA50E12180B}"/>
              </a:ext>
            </a:extLst>
          </p:cNvPr>
          <p:cNvCxnSpPr/>
          <p:nvPr userDrawn="1"/>
        </p:nvCxnSpPr>
        <p:spPr>
          <a:xfrm>
            <a:off x="297543" y="1250938"/>
            <a:ext cx="11538857" cy="0"/>
          </a:xfrm>
          <a:prstGeom prst="line">
            <a:avLst/>
          </a:prstGeom>
          <a:ln w="381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제목 1">
            <a:extLst>
              <a:ext uri="{FF2B5EF4-FFF2-40B4-BE49-F238E27FC236}">
                <a16:creationId xmlns:a16="http://schemas.microsoft.com/office/drawing/2014/main" id="{F345676C-C4E1-C145-2DFF-EA454B22F247}"/>
              </a:ext>
            </a:extLst>
          </p:cNvPr>
          <p:cNvSpPr txBox="1">
            <a:spLocks/>
          </p:cNvSpPr>
          <p:nvPr userDrawn="1"/>
        </p:nvSpPr>
        <p:spPr>
          <a:xfrm>
            <a:off x="3326206" y="621258"/>
            <a:ext cx="2964993" cy="62638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500" b="1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102F48-3F63-68D6-96A4-C3660B1C9F38}"/>
              </a:ext>
            </a:extLst>
          </p:cNvPr>
          <p:cNvSpPr/>
          <p:nvPr userDrawn="1"/>
        </p:nvSpPr>
        <p:spPr>
          <a:xfrm>
            <a:off x="297543" y="640309"/>
            <a:ext cx="2064057" cy="479299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2000" b="1" dirty="0"/>
              <a:t>PAPER REVIEW</a:t>
            </a:r>
            <a:endParaRPr kumimoji="1" lang="ko-KR" altLang="en-US" sz="2000" b="1" dirty="0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A5CC179D-2BEE-00B1-88B7-BE9A2B48C9F4}"/>
              </a:ext>
            </a:extLst>
          </p:cNvPr>
          <p:cNvSpPr txBox="1">
            <a:spLocks/>
          </p:cNvSpPr>
          <p:nvPr userDrawn="1"/>
        </p:nvSpPr>
        <p:spPr>
          <a:xfrm>
            <a:off x="7114308" y="4644069"/>
            <a:ext cx="4860051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700" b="1" dirty="0"/>
              <a:t>PRESENTED BY</a:t>
            </a:r>
          </a:p>
          <a:p>
            <a:pPr algn="l"/>
            <a:r>
              <a:rPr kumimoji="1" lang="en-US" altLang="ko-KR" sz="1500" dirty="0" err="1"/>
              <a:t>Hyungseop</a:t>
            </a:r>
            <a:r>
              <a:rPr kumimoji="1" lang="en-US" altLang="ko-KR" sz="1500" dirty="0"/>
              <a:t> Lee</a:t>
            </a:r>
          </a:p>
          <a:p>
            <a:pPr algn="l"/>
            <a:r>
              <a:rPr kumimoji="1" lang="en-US" altLang="ko-KR" sz="1500" dirty="0"/>
              <a:t>Department of Embedded Systems Engineering, INU</a:t>
            </a:r>
          </a:p>
          <a:p>
            <a:pPr algn="l"/>
            <a:r>
              <a:rPr kumimoji="1" lang="en-US" altLang="ko-KR" sz="1500" dirty="0">
                <a:hlinkClick r:id="rId3"/>
              </a:rPr>
              <a:t>hhss0927@inu.ac.kr</a:t>
            </a:r>
            <a:endParaRPr kumimoji="1" lang="en-US" altLang="ko-KR" sz="1500" dirty="0"/>
          </a:p>
          <a:p>
            <a:pPr algn="l"/>
            <a:r>
              <a:rPr kumimoji="1" lang="en-US" altLang="ko-KR" sz="1500" dirty="0"/>
              <a:t>2026.04.08</a:t>
            </a:r>
            <a:endParaRPr kumimoji="1" lang="ko-KR" altLang="en-US" sz="1500" dirty="0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F1589E37-6BA7-A16C-7C22-D95FDEE79B7A}"/>
              </a:ext>
            </a:extLst>
          </p:cNvPr>
          <p:cNvCxnSpPr/>
          <p:nvPr userDrawn="1"/>
        </p:nvCxnSpPr>
        <p:spPr>
          <a:xfrm>
            <a:off x="259965" y="4145229"/>
            <a:ext cx="11538857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[R] 11">
            <a:extLst>
              <a:ext uri="{FF2B5EF4-FFF2-40B4-BE49-F238E27FC236}">
                <a16:creationId xmlns:a16="http://schemas.microsoft.com/office/drawing/2014/main" id="{27BDD159-5E07-F9AF-6DE3-3BF9A3042BFD}"/>
              </a:ext>
            </a:extLst>
          </p:cNvPr>
          <p:cNvCxnSpPr>
            <a:cxnSpLocks/>
          </p:cNvCxnSpPr>
          <p:nvPr userDrawn="1"/>
        </p:nvCxnSpPr>
        <p:spPr>
          <a:xfrm flipV="1">
            <a:off x="7005612" y="4644069"/>
            <a:ext cx="0" cy="163436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25127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부제목 2">
            <a:extLst>
              <a:ext uri="{FF2B5EF4-FFF2-40B4-BE49-F238E27FC236}">
                <a16:creationId xmlns:a16="http://schemas.microsoft.com/office/drawing/2014/main" id="{5222393B-93E9-E9E9-0D0C-AC1AAD263BDE}"/>
              </a:ext>
            </a:extLst>
          </p:cNvPr>
          <p:cNvSpPr txBox="1">
            <a:spLocks/>
          </p:cNvSpPr>
          <p:nvPr userDrawn="1"/>
        </p:nvSpPr>
        <p:spPr>
          <a:xfrm>
            <a:off x="297543" y="4644069"/>
            <a:ext cx="6621657" cy="1893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ko-KR" sz="1600" b="1" dirty="0"/>
              <a:t>AUTHORS</a:t>
            </a:r>
            <a:endParaRPr kumimoji="1" lang="ko-KR" altLang="en-US" sz="15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B08E7E-80A4-518C-2336-8FA6F74FA74B}"/>
              </a:ext>
            </a:extLst>
          </p:cNvPr>
          <p:cNvSpPr txBox="1"/>
          <p:nvPr userDrawn="1"/>
        </p:nvSpPr>
        <p:spPr>
          <a:xfrm>
            <a:off x="2361600" y="644036"/>
            <a:ext cx="193482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2500" b="1" dirty="0"/>
              <a:t>CVPR 2023</a:t>
            </a:r>
            <a:endParaRPr kumimoji="1" lang="ko-KR" altLang="en-US" sz="2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16D208-0CB5-314C-E4FE-0F9B9697C4FB}"/>
              </a:ext>
            </a:extLst>
          </p:cNvPr>
          <p:cNvSpPr txBox="1"/>
          <p:nvPr userDrawn="1"/>
        </p:nvSpPr>
        <p:spPr>
          <a:xfrm>
            <a:off x="463462" y="1949166"/>
            <a:ext cx="11297781" cy="1468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3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DynamicDet</a:t>
            </a:r>
            <a:r>
              <a:rPr kumimoji="1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br>
              <a:rPr kumimoji="1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1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Unified Dynamic Architecture for Object Detection</a:t>
            </a:r>
            <a:endParaRPr kumimoji="1" lang="en-US" altLang="ko-KR" sz="3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504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8DC919-D7BD-8C3F-E5C1-551E747A20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41258"/>
            <a:ext cx="12192000" cy="628777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kumimoji="1" lang="en-US" altLang="ko-KR" dirty="0"/>
              <a:t>Times New Roman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47EA45-3008-48C5-F050-43B06FD0F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102" y="788284"/>
            <a:ext cx="11952383" cy="5691344"/>
          </a:xfrm>
        </p:spPr>
        <p:txBody>
          <a:bodyPr/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  <a:p>
            <a:pPr lvl="2"/>
            <a:r>
              <a:rPr kumimoji="1" lang="ko-KR" altLang="en-US" dirty="0"/>
              <a:t>세 번째 수준</a:t>
            </a:r>
          </a:p>
          <a:p>
            <a:pPr lvl="3"/>
            <a:r>
              <a:rPr kumimoji="1" lang="ko-KR" altLang="en-US" dirty="0"/>
              <a:t>네 번째 수준</a:t>
            </a:r>
          </a:p>
          <a:p>
            <a:pPr lvl="4"/>
            <a:r>
              <a:rPr kumimoji="1" lang="ko-KR" altLang="en-US" dirty="0"/>
              <a:t>다섯 번째 수준</a:t>
            </a:r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F364B3AA-2176-6CB6-535F-93713FAF6867}"/>
              </a:ext>
            </a:extLst>
          </p:cNvPr>
          <p:cNvCxnSpPr>
            <a:cxnSpLocks/>
          </p:cNvCxnSpPr>
          <p:nvPr userDrawn="1"/>
        </p:nvCxnSpPr>
        <p:spPr>
          <a:xfrm>
            <a:off x="0" y="654271"/>
            <a:ext cx="12192000" cy="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2072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7E16B07-36A2-5A36-5B0E-BBC4620DE0F4}"/>
              </a:ext>
            </a:extLst>
          </p:cNvPr>
          <p:cNvSpPr/>
          <p:nvPr userDrawn="1"/>
        </p:nvSpPr>
        <p:spPr>
          <a:xfrm>
            <a:off x="0" y="6611213"/>
            <a:ext cx="12192000" cy="265531"/>
          </a:xfrm>
          <a:prstGeom prst="rect">
            <a:avLst/>
          </a:prstGeom>
          <a:solidFill>
            <a:schemeClr val="tx1">
              <a:lumMod val="50000"/>
              <a:lumOff val="50000"/>
              <a:alpha val="59239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7A02AF-19FE-5223-EE42-43D4F541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492"/>
            <a:ext cx="12192000" cy="6287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ko-KR" dirty="0"/>
              <a:t>Title</a:t>
            </a:r>
            <a:endParaRPr kumimoji="1"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6B78F7-D9F7-1A4E-0F92-C14FAADAC3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08" y="772511"/>
            <a:ext cx="11952383" cy="56632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 dirty="0"/>
              <a:t>마스터 텍스트 스타일을 편집하려면 클릭</a:t>
            </a:r>
          </a:p>
          <a:p>
            <a:pPr lvl="1"/>
            <a:r>
              <a:rPr kumimoji="1" lang="ko-KR" altLang="en-US" dirty="0"/>
              <a:t>두 번째 수준</a:t>
            </a:r>
          </a:p>
        </p:txBody>
      </p:sp>
      <p:sp>
        <p:nvSpPr>
          <p:cNvPr id="12" name="날짜 개체 틀 3">
            <a:extLst>
              <a:ext uri="{FF2B5EF4-FFF2-40B4-BE49-F238E27FC236}">
                <a16:creationId xmlns:a16="http://schemas.microsoft.com/office/drawing/2014/main" id="{AED9B35F-AB58-03CF-474F-1AFEC25C27A3}"/>
              </a:ext>
            </a:extLst>
          </p:cNvPr>
          <p:cNvSpPr txBox="1">
            <a:spLocks/>
          </p:cNvSpPr>
          <p:nvPr userDrawn="1"/>
        </p:nvSpPr>
        <p:spPr>
          <a:xfrm>
            <a:off x="40978" y="6592837"/>
            <a:ext cx="1434662" cy="26552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ko-KR" sz="14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Embedded AI</a:t>
            </a:r>
            <a:endParaRPr kumimoji="1" lang="ko-KR" altLang="en-US" sz="14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바닥글 개체 틀 4">
            <a:extLst>
              <a:ext uri="{FF2B5EF4-FFF2-40B4-BE49-F238E27FC236}">
                <a16:creationId xmlns:a16="http://schemas.microsoft.com/office/drawing/2014/main" id="{D7807DFB-0F2F-C213-B5C9-704F44B5185E}"/>
              </a:ext>
            </a:extLst>
          </p:cNvPr>
          <p:cNvSpPr txBox="1">
            <a:spLocks/>
          </p:cNvSpPr>
          <p:nvPr userDrawn="1"/>
        </p:nvSpPr>
        <p:spPr>
          <a:xfrm>
            <a:off x="11398474" y="6606887"/>
            <a:ext cx="807728" cy="265530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4346EA7-1898-7E4A-A5B3-305006AD8040}" type="slidenum">
              <a:rPr kumimoji="1" lang="ko-KR" altLang="en-US" sz="1300" b="1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pPr/>
              <a:t>‹#›</a:t>
            </a:fld>
            <a:r>
              <a:rPr kumimoji="1" lang="en-US" altLang="ko-KR" sz="1300" b="1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 / 33</a:t>
            </a:r>
            <a:endParaRPr kumimoji="1" lang="ko-KR" altLang="en-US" sz="1300" b="1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980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3" Type="http://schemas.openxmlformats.org/officeDocument/2006/relationships/image" Target="../media/image5.png"/><Relationship Id="rId21" Type="http://schemas.openxmlformats.org/officeDocument/2006/relationships/image" Target="../media/image24.png"/><Relationship Id="rId7" Type="http://schemas.openxmlformats.org/officeDocument/2006/relationships/image" Target="../media/image9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4.png"/><Relationship Id="rId5" Type="http://schemas.openxmlformats.org/officeDocument/2006/relationships/image" Target="../media/image7.png"/><Relationship Id="rId15" Type="http://schemas.openxmlformats.org/officeDocument/2006/relationships/image" Target="../media/image18.png"/><Relationship Id="rId10" Type="http://schemas.openxmlformats.org/officeDocument/2006/relationships/image" Target="../media/image12.png"/><Relationship Id="rId19" Type="http://schemas.openxmlformats.org/officeDocument/2006/relationships/image" Target="../media/image2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40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8C6D226-2613-B36F-20B5-9E214253B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38" y="5108683"/>
            <a:ext cx="5609735" cy="106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25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FBB4-87B8-07C3-D71F-BE467CBAC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F4CBBCC1-3459-6D04-0464-58B5B48CE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Motivation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88041F5-2418-6993-61F3-62E90B312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61" y="1271646"/>
            <a:ext cx="5700080" cy="474890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74BC52E-C205-C6B7-8DD3-2DE845713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4559" y="1271646"/>
            <a:ext cx="5700080" cy="24913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AAE1A9E-39EB-F8D0-2EE5-18B63D9FCA0B}"/>
              </a:ext>
            </a:extLst>
          </p:cNvPr>
          <p:cNvSpPr txBox="1"/>
          <p:nvPr/>
        </p:nvSpPr>
        <p:spPr>
          <a:xfrm>
            <a:off x="7216991" y="4172803"/>
            <a:ext cx="3595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i="1" dirty="0">
                <a:sym typeface="Wingdings" pitchFamily="2" charset="2"/>
              </a:rPr>
              <a:t> </a:t>
            </a:r>
            <a:r>
              <a:rPr kumimoji="1" lang="en-US" altLang="ko-KR" i="1" dirty="0"/>
              <a:t>Image-wise</a:t>
            </a:r>
            <a:r>
              <a:rPr kumimoji="1" lang="en-US" altLang="ko-KR" dirty="0"/>
              <a:t> dynamic detector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7661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43AF-D7E8-478D-1817-60965389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6A569FF6-7043-B3C3-50BE-8ECD16F53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Overall architecture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E31E8BD-6AFC-27EF-A369-78A5B2042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8" y="1950970"/>
            <a:ext cx="10796334" cy="42705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181829-5E16-A4EA-3352-D8DB9F121F0D}"/>
                  </a:ext>
                </a:extLst>
              </p:cNvPr>
              <p:cNvSpPr txBox="1"/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{2}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{3}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{4}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en-US" altLang="ko-KR" sz="1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C181829-5E16-A4EA-3352-D8DB9F121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DA6BF6-CF66-2B96-E04E-0EAFA870DC6B}"/>
                  </a:ext>
                </a:extLst>
              </p:cNvPr>
              <p:cNvSpPr txBox="1"/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DA6BF6-CF66-2B96-E04E-0EAFA870D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5780A4-CBF0-42FF-02E9-928C5D6344D3}"/>
                  </a:ext>
                </a:extLst>
              </p:cNvPr>
              <p:cNvSpPr txBox="1"/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5780A4-CBF0-42FF-02E9-928C5D634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E5DCAD-CC04-F4FD-7222-0EB5E81CCD87}"/>
                  </a:ext>
                </a:extLst>
              </p:cNvPr>
              <p:cNvSpPr txBox="1"/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{1}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9E5DCAD-CC04-F4FD-7222-0EB5E81CCD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blipFill>
                <a:blip r:embed="rId7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5B82E5-31C6-B28B-0650-504EB25B8268}"/>
                  </a:ext>
                </a:extLst>
              </p:cNvPr>
              <p:cNvSpPr txBox="1"/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{2}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5B82E5-31C6-B28B-0650-504EB25B8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8A2E2B-A862-6216-336A-9D1A88B22952}"/>
                  </a:ext>
                </a:extLst>
              </p:cNvPr>
              <p:cNvSpPr txBox="1"/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{3}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48A2E2B-A862-6216-336A-9D1A88B22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blipFill>
                <a:blip r:embed="rId9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05483B-6A9D-D255-8B8B-C06D4637FA72}"/>
                  </a:ext>
                </a:extLst>
              </p:cNvPr>
              <p:cNvSpPr txBox="1"/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{4}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D05483B-6A9D-D255-8B8B-C06D4637F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C8A76DF7-6762-0864-C94E-5D258222BEA3}"/>
              </a:ext>
            </a:extLst>
          </p:cNvPr>
          <p:cNvSpPr txBox="1"/>
          <p:nvPr/>
        </p:nvSpPr>
        <p:spPr>
          <a:xfrm>
            <a:off x="-2295" y="2173044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Step 1</a:t>
            </a:r>
            <a:endParaRPr kumimoji="1" lang="en-US" altLang="ko-KR" sz="2000" dirty="0">
              <a:solidFill>
                <a:schemeClr val="tx1"/>
              </a:solidFill>
              <a:highlight>
                <a:srgbClr val="FFFF00"/>
              </a:highligh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42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8530-9B40-6DEC-9D0E-EBA96B892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B7D31CC-E1BE-6CD4-EDC4-2A204BFE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Overall architecture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E85513-B571-22CB-780B-B795F3B24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8" y="1950970"/>
            <a:ext cx="10796334" cy="42705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9A12CA-C174-1FA8-B906-D1AE1302D0EB}"/>
                  </a:ext>
                </a:extLst>
              </p:cNvPr>
              <p:cNvSpPr txBox="1"/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{2}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{3}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{4}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en-US" altLang="ko-KR" sz="1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9A12CA-C174-1FA8-B906-D1AE1302D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266ECD-C93F-F37E-FA15-38B56E9F39F7}"/>
                  </a:ext>
                </a:extLst>
              </p:cNvPr>
              <p:cNvSpPr txBox="1"/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266ECD-C93F-F37E-FA15-38B56E9F3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55BF4C-CEEA-05E1-3965-E1151C873C6D}"/>
                  </a:ext>
                </a:extLst>
              </p:cNvPr>
              <p:cNvSpPr txBox="1"/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55BF4C-CEEA-05E1-3965-E1151C873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52505-0BE3-3E4D-7A07-C4F22E6E4C27}"/>
                  </a:ext>
                </a:extLst>
              </p:cNvPr>
              <p:cNvSpPr txBox="1"/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{1}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52505-0BE3-3E4D-7A07-C4F22E6E4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blipFill>
                <a:blip r:embed="rId7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CA147-766C-2AC4-DC78-D4B90502112A}"/>
                  </a:ext>
                </a:extLst>
              </p:cNvPr>
              <p:cNvSpPr txBox="1"/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{2}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41CA147-766C-2AC4-DC78-D4B905021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7D5D7-0D9A-8EB7-AAAC-734072118BDA}"/>
                  </a:ext>
                </a:extLst>
              </p:cNvPr>
              <p:cNvSpPr txBox="1"/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{3}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897D5D7-0D9A-8EB7-AAAC-734072118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blipFill>
                <a:blip r:embed="rId9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F145F3-CC09-B45C-8F86-8C94E730445B}"/>
                  </a:ext>
                </a:extLst>
              </p:cNvPr>
              <p:cNvSpPr txBox="1"/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{4}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F145F3-CC09-B45C-8F86-8C94E730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370DF00B-0FEF-2FB4-BF6D-82AADC31C042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909117" y="1989993"/>
            <a:ext cx="0" cy="832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BCA001-1138-836D-0121-E3B850AE763D}"/>
                  </a:ext>
                </a:extLst>
              </p:cNvPr>
              <p:cNvSpPr txBox="1"/>
              <p:nvPr/>
            </p:nvSpPr>
            <p:spPr>
              <a:xfrm>
                <a:off x="2219396" y="716311"/>
                <a:ext cx="7379441" cy="127368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Concat</m:t>
                      </m:r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{1}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kumimoji="1" lang="en-US" altLang="ko-KR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kumimoji="1" lang="en-US" altLang="ko-KR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kumimoji="1" lang="en-US" altLang="ko-KR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br>
                  <a:rPr kumimoji="1" lang="en-US" altLang="ko-KR" sz="1800" b="0" dirty="0">
                    <a:solidFill>
                      <a:schemeClr val="accent1"/>
                    </a:solidFill>
                  </a:rPr>
                </a:br>
                <a:r>
                  <a:rPr kumimoji="1" lang="en-US" altLang="ko-KR" dirty="0">
                    <a:solidFill>
                      <a:schemeClr val="accent1"/>
                    </a:solidFill>
                  </a:rPr>
                  <a:t>Diffifulty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score: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ko-KR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Sigmoid</m:t>
                    </m:r>
                    <m:d>
                      <m:dPr>
                        <m:ctrlPr>
                          <a:rPr kumimoji="1" lang="en-US" altLang="ko-KR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ko-KR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ReLU</m:t>
                            </m:r>
                            <m:d>
                              <m:dPr>
                                <m:ctrlPr>
                                  <a:rPr kumimoji="1" lang="en-US" altLang="ko-KR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1" lang="en-US" altLang="ko-KR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ko-KR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ko-KR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kumimoji="1" lang="en-US" altLang="ko-K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ko-KR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∈ (0,1)</m:t>
                    </m:r>
                  </m:oMath>
                </a14:m>
                <a:endParaRPr kumimoji="1" lang="en-US" altLang="ko-KR" sz="18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τ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? “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Easy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”: “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Hard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kumimoji="1" lang="en-US" altLang="ko-KR" sz="1800" b="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BCA001-1138-836D-0121-E3B850AE7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96" y="716311"/>
                <a:ext cx="7379441" cy="1273682"/>
              </a:xfrm>
              <a:prstGeom prst="rect">
                <a:avLst/>
              </a:prstGeom>
              <a:blipFill>
                <a:blip r:embed="rId11"/>
                <a:stretch>
                  <a:fillRect l="-514" b="-3883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16D6508-6718-8835-4BDD-3A7B92E98E90}"/>
              </a:ext>
            </a:extLst>
          </p:cNvPr>
          <p:cNvSpPr txBox="1"/>
          <p:nvPr/>
        </p:nvSpPr>
        <p:spPr>
          <a:xfrm>
            <a:off x="0" y="2170658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Step 1</a:t>
            </a:r>
            <a:endParaRPr kumimoji="1" lang="en-US" altLang="ko-KR" sz="20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223524-D9EE-B624-1C24-42D2E05E0E55}"/>
              </a:ext>
            </a:extLst>
          </p:cNvPr>
          <p:cNvSpPr txBox="1"/>
          <p:nvPr/>
        </p:nvSpPr>
        <p:spPr>
          <a:xfrm>
            <a:off x="5350298" y="2254791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Step 2</a:t>
            </a:r>
            <a:endParaRPr kumimoji="1" lang="en-US" altLang="ko-KR" sz="2000" dirty="0">
              <a:solidFill>
                <a:schemeClr val="tx1"/>
              </a:solidFill>
              <a:highlight>
                <a:srgbClr val="FFFF00"/>
              </a:highligh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17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8AFD2-3F24-AA43-F246-B561EFFC4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5BBF5065-8527-73EE-BB48-5ACBC7943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Overall architecture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EDB917C-EDD3-997A-F756-FD606C9EF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8" y="1950970"/>
            <a:ext cx="10796334" cy="42705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E60FBD-8DD1-45C8-66EC-492C8211DE6E}"/>
                  </a:ext>
                </a:extLst>
              </p:cNvPr>
              <p:cNvSpPr txBox="1"/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{2}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{3}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{4}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en-US" altLang="ko-KR" sz="1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E60FBD-8DD1-45C8-66EC-492C8211D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7B92B-B3F3-498D-85D7-3CB9C256DC85}"/>
                  </a:ext>
                </a:extLst>
              </p:cNvPr>
              <p:cNvSpPr txBox="1"/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C47B92B-B3F3-498D-85D7-3CB9C256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8BCC5-58A2-289B-B693-A4A346EBEBBF}"/>
                  </a:ext>
                </a:extLst>
              </p:cNvPr>
              <p:cNvSpPr txBox="1"/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348BCC5-58A2-289B-B693-A4A346EBE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3ECA61-DB0C-291F-8208-BC898241738F}"/>
                  </a:ext>
                </a:extLst>
              </p:cNvPr>
              <p:cNvSpPr txBox="1"/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{1}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C3ECA61-DB0C-291F-8208-BC8982417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blipFill>
                <a:blip r:embed="rId7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1DC825-903F-DEE5-1EE0-AE95717F028E}"/>
                  </a:ext>
                </a:extLst>
              </p:cNvPr>
              <p:cNvSpPr txBox="1"/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{2}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1DC825-903F-DEE5-1EE0-AE95717F0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7A7B3C-9B50-9692-1C7C-F299A25E490D}"/>
                  </a:ext>
                </a:extLst>
              </p:cNvPr>
              <p:cNvSpPr txBox="1"/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{3}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17A7B3C-9B50-9692-1C7C-F299A25E4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blipFill>
                <a:blip r:embed="rId9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AC857A-8685-0634-2264-D4C40B1AF59F}"/>
                  </a:ext>
                </a:extLst>
              </p:cNvPr>
              <p:cNvSpPr txBox="1"/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{4}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0AC857A-8685-0634-2264-D4C40B1AF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8408BF9-DC66-ED57-9858-9FB8F3E19D97}"/>
              </a:ext>
            </a:extLst>
          </p:cNvPr>
          <p:cNvSpPr txBox="1"/>
          <p:nvPr/>
        </p:nvSpPr>
        <p:spPr>
          <a:xfrm>
            <a:off x="0" y="2170658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Step 1</a:t>
            </a:r>
            <a:endParaRPr kumimoji="1" lang="en-US" altLang="ko-KR" sz="20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6D6FF9-055B-14EB-7048-6038AC6F9E3B}"/>
              </a:ext>
            </a:extLst>
          </p:cNvPr>
          <p:cNvSpPr txBox="1"/>
          <p:nvPr/>
        </p:nvSpPr>
        <p:spPr>
          <a:xfrm>
            <a:off x="2458429" y="1207967"/>
            <a:ext cx="234957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Step 3 (if ”easy”)</a:t>
            </a:r>
            <a:endParaRPr kumimoji="1" lang="en-US" altLang="ko-KR" sz="2000" dirty="0">
              <a:solidFill>
                <a:schemeClr val="tx1"/>
              </a:solidFill>
              <a:highlight>
                <a:srgbClr val="FFFF00"/>
              </a:highlight>
              <a:latin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B6940B-AC1A-AA40-5034-DECED5D96FC7}"/>
                  </a:ext>
                </a:extLst>
              </p:cNvPr>
              <p:cNvSpPr txBox="1"/>
              <p:nvPr/>
            </p:nvSpPr>
            <p:spPr>
              <a:xfrm>
                <a:off x="2727191" y="1702461"/>
                <a:ext cx="1812051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ko-KR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ko-KR" sz="2000" b="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5B6940B-AC1A-AA40-5034-DECED5D96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191" y="1702461"/>
                <a:ext cx="1812051" cy="400110"/>
              </a:xfrm>
              <a:prstGeom prst="rect">
                <a:avLst/>
              </a:prstGeom>
              <a:blipFill>
                <a:blip r:embed="rId1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B10AD4D-CDAE-42C9-96F9-6CBAF19F59B8}"/>
              </a:ext>
            </a:extLst>
          </p:cNvPr>
          <p:cNvSpPr txBox="1"/>
          <p:nvPr/>
        </p:nvSpPr>
        <p:spPr>
          <a:xfrm>
            <a:off x="6848537" y="1207967"/>
            <a:ext cx="234957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Step 3 (if ”hard”)</a:t>
            </a:r>
            <a:endParaRPr kumimoji="1" lang="en-US" altLang="ko-KR" sz="2000" dirty="0">
              <a:solidFill>
                <a:schemeClr val="tx1"/>
              </a:solidFill>
              <a:highlight>
                <a:srgbClr val="FFFF00"/>
              </a:highlight>
              <a:latin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133E49-31FA-CC29-B378-FA874F33F667}"/>
                  </a:ext>
                </a:extLst>
              </p:cNvPr>
              <p:cNvSpPr txBox="1"/>
              <p:nvPr/>
            </p:nvSpPr>
            <p:spPr>
              <a:xfrm>
                <a:off x="8023324" y="2659678"/>
                <a:ext cx="4040659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{2}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{3}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{4}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en-US" altLang="ko-KR" sz="1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0133E49-31FA-CC29-B378-FA874F33F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324" y="2659678"/>
                <a:ext cx="4040659" cy="50481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480F-884C-463B-886E-31A4DEE97B63}"/>
                  </a:ext>
                </a:extLst>
              </p:cNvPr>
              <p:cNvSpPr txBox="1"/>
              <p:nvPr/>
            </p:nvSpPr>
            <p:spPr>
              <a:xfrm>
                <a:off x="9146006" y="3862902"/>
                <a:ext cx="739263" cy="451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{1}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480F-884C-463B-886E-31A4DEE97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6006" y="3862902"/>
                <a:ext cx="739263" cy="451855"/>
              </a:xfrm>
              <a:prstGeom prst="rect">
                <a:avLst/>
              </a:prstGeom>
              <a:blipFill>
                <a:blip r:embed="rId13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EEDE69-150D-1A03-9F90-1F81F414E60B}"/>
                  </a:ext>
                </a:extLst>
              </p:cNvPr>
              <p:cNvSpPr txBox="1"/>
              <p:nvPr/>
            </p:nvSpPr>
            <p:spPr>
              <a:xfrm>
                <a:off x="9062430" y="3613988"/>
                <a:ext cx="739263" cy="451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{2}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4EEDE69-150D-1A03-9F90-1F81F414E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2430" y="3613988"/>
                <a:ext cx="739263" cy="451855"/>
              </a:xfrm>
              <a:prstGeom prst="rect">
                <a:avLst/>
              </a:prstGeom>
              <a:blipFill>
                <a:blip r:embed="rId14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32927B-E3D0-C9A9-AEE0-A620292C5A89}"/>
                  </a:ext>
                </a:extLst>
              </p:cNvPr>
              <p:cNvSpPr txBox="1"/>
              <p:nvPr/>
            </p:nvSpPr>
            <p:spPr>
              <a:xfrm>
                <a:off x="8890366" y="3365549"/>
                <a:ext cx="739263" cy="451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{3}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132927B-E3D0-C9A9-AEE0-A620292C5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0366" y="3365549"/>
                <a:ext cx="739263" cy="451855"/>
              </a:xfrm>
              <a:prstGeom prst="rect">
                <a:avLst/>
              </a:prstGeom>
              <a:blipFill>
                <a:blip r:embed="rId15"/>
                <a:stretch>
                  <a:fillRect b="-8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7E4F84-9744-F99B-D687-7693898A7C03}"/>
                  </a:ext>
                </a:extLst>
              </p:cNvPr>
              <p:cNvSpPr txBox="1"/>
              <p:nvPr/>
            </p:nvSpPr>
            <p:spPr>
              <a:xfrm>
                <a:off x="8729254" y="3090116"/>
                <a:ext cx="739263" cy="4518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{4}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47E4F84-9744-F99B-D687-7693898A7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254" y="3090116"/>
                <a:ext cx="739263" cy="451855"/>
              </a:xfrm>
              <a:prstGeom prst="rect">
                <a:avLst/>
              </a:prstGeom>
              <a:blipFill>
                <a:blip r:embed="rId16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7EF1C2-DDF4-A3FD-E871-5D4B3FC3A35F}"/>
                  </a:ext>
                </a:extLst>
              </p:cNvPr>
              <p:cNvSpPr txBox="1"/>
              <p:nvPr/>
            </p:nvSpPr>
            <p:spPr>
              <a:xfrm>
                <a:off x="6034780" y="4007989"/>
                <a:ext cx="655687" cy="3883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A7EF1C2-DDF4-A3FD-E871-5D4B3FC3A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4780" y="4007989"/>
                <a:ext cx="655687" cy="388311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EF50AB-0C35-D1E0-CA74-A382F9A236F7}"/>
                  </a:ext>
                </a:extLst>
              </p:cNvPr>
              <p:cNvSpPr txBox="1"/>
              <p:nvPr/>
            </p:nvSpPr>
            <p:spPr>
              <a:xfrm>
                <a:off x="6320836" y="3731413"/>
                <a:ext cx="583483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EF50AB-0C35-D1E0-CA74-A382F9A23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836" y="3731413"/>
                <a:ext cx="583483" cy="39299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34A335-BA56-F5FB-F21F-8D6F50C7CC68}"/>
                  </a:ext>
                </a:extLst>
              </p:cNvPr>
              <p:cNvSpPr txBox="1"/>
              <p:nvPr/>
            </p:nvSpPr>
            <p:spPr>
              <a:xfrm>
                <a:off x="6564317" y="3456429"/>
                <a:ext cx="583484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34A335-BA56-F5FB-F21F-8D6F50C7C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317" y="3456429"/>
                <a:ext cx="583484" cy="392993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098169-40A6-CBD4-22DA-5FD8C84CC899}"/>
                  </a:ext>
                </a:extLst>
              </p:cNvPr>
              <p:cNvSpPr txBox="1"/>
              <p:nvPr/>
            </p:nvSpPr>
            <p:spPr>
              <a:xfrm>
                <a:off x="6822546" y="3162457"/>
                <a:ext cx="583484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p>
                          <m:d>
                            <m:dPr>
                              <m:begChr m:val="{"/>
                              <m:endChr m:val="}"/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9098169-40A6-CBD4-22DA-5FD8C84CC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2546" y="3162457"/>
                <a:ext cx="583484" cy="392993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E67129-2BD1-ECAC-2D33-A116BD288F63}"/>
                  </a:ext>
                </a:extLst>
              </p:cNvPr>
              <p:cNvSpPr txBox="1"/>
              <p:nvPr/>
            </p:nvSpPr>
            <p:spPr>
              <a:xfrm>
                <a:off x="7250378" y="1702461"/>
                <a:ext cx="18120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0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kumimoji="1" lang="en-US" altLang="ko-KR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ko-KR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ko-KR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ko-KR" sz="2000" b="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7FE67129-2BD1-ECAC-2D33-A116BD288F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378" y="1702461"/>
                <a:ext cx="1812052" cy="400110"/>
              </a:xfrm>
              <a:prstGeom prst="rect">
                <a:avLst/>
              </a:prstGeom>
              <a:blipFill>
                <a:blip r:embed="rId21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6A0A91AF-BB86-71E3-2927-751CA2367E38}"/>
              </a:ext>
            </a:extLst>
          </p:cNvPr>
          <p:cNvSpPr txBox="1"/>
          <p:nvPr/>
        </p:nvSpPr>
        <p:spPr>
          <a:xfrm>
            <a:off x="5350298" y="2254791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Step 2</a:t>
            </a:r>
            <a:endParaRPr kumimoji="1" lang="en-US" altLang="ko-KR" sz="20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209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F733-1AC9-363F-C1F2-BC441DF3A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AAF466E-44AA-8CF2-910E-CCA8CA419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048A45-36EE-295A-3154-457EAC104BE9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12214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🔥</m:t>
                        </m:r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0048A45-36EE-295A-3154-457EAC104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1221425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184FF1E-6711-EFA9-4310-FB5CBA9C6A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62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D4081-A9F9-38D9-7756-CC4B6D0B2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4EEDF34D-C141-A39D-3166-95179B97A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D92532-EBC8-40F3-853B-103F91F678DF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2107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🔥</m:t>
                        </m:r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0D92532-EBC8-40F3-853B-103F91F678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2107244"/>
              </a:xfrm>
              <a:prstGeom prst="rect">
                <a:avLst/>
              </a:prstGeom>
              <a:blipFill>
                <a:blip r:embed="rId3"/>
                <a:stretch>
                  <a:fillRect l="-531" b="-29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66372280-0E2B-C111-2609-370A00EFDF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5817" y="2784407"/>
            <a:ext cx="8835776" cy="373265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D7E71F-F3B3-0E51-9953-5684027B5F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8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4C0B8-AA34-55B7-09F0-34205286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DDC56F5-2446-2518-8969-751F123AD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8A4D36-128D-1706-61D2-B002A73B0759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3760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🔥</m:t>
                        </m:r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endParaRPr lang="en-US" altLang="ko-KR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mtClean="0">
                        <a:solidFill>
                          <a:schemeClr val="tx1"/>
                        </a:solidFill>
                        <a:ea typeface="+mj-ea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solidFill>
                              <a:schemeClr val="tx1"/>
                            </a:solidFill>
                            <a:ea typeface="+mj-ea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 smtClean="0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1−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  <m:t> + </m:t>
                        </m:r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?</a:t>
                </a:r>
                <a:endParaRPr lang="en-US" altLang="ko-KR" sz="150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08A4D36-128D-1706-61D2-B002A73B0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3760645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5882E2BF-BE6E-9237-07F3-EAB5506D6A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3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6686E-0AEF-F279-3A32-7EBCDCF6D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169649DC-0440-6BC8-907F-D0AEBF32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794692-1883-0533-B0FA-B864FC5A1CED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36688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endParaRPr lang="en-US" altLang="ko-KR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mtClean="0">
                        <a:solidFill>
                          <a:schemeClr val="tx1"/>
                        </a:solidFill>
                        <a:ea typeface="+mj-ea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solidFill>
                              <a:schemeClr val="tx1"/>
                            </a:solidFill>
                            <a:ea typeface="+mj-ea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 smtClean="0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1−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  <m:t> + </m:t>
                        </m:r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ea typeface="+mj-ea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?</a:t>
                </a:r>
                <a:r>
                  <a:rPr lang="ko-KR" altLang="en-US" dirty="0">
                    <a:ea typeface="+mj-ea"/>
                  </a:rPr>
                  <a:t> </a:t>
                </a:r>
                <a:r>
                  <a:rPr lang="en-US" altLang="ko-KR" dirty="0">
                    <a:ea typeface="+mj-ea"/>
                    <a:sym typeface="Wingdings" pitchFamily="2" charset="2"/>
                  </a:rPr>
                  <a:t></a:t>
                </a:r>
                <a:r>
                  <a:rPr lang="ko-KR" altLang="en-US" dirty="0">
                    <a:ea typeface="+mj-ea"/>
                    <a:sym typeface="Wingdings" pitchFamily="2" charset="2"/>
                  </a:rPr>
                  <a:t> </a:t>
                </a:r>
                <a:r>
                  <a:rPr lang="en-US" altLang="ko-KR" sz="1500" dirty="0">
                    <a:ea typeface="+mj-ea"/>
                    <a:sym typeface="Wingdings" pitchFamily="2" charset="2"/>
                  </a:rPr>
                  <a:t>the router will always choose the most accurate det</a:t>
                </a:r>
                <a:endParaRPr lang="en-US" altLang="ko-KR" sz="150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B794692-1883-0533-B0FA-B864FC5A1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3668889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577187BF-641D-18BD-0CCC-B1AFEA9C8F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79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5C08-C796-8A4D-F1B4-A1AD68203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488EE56-3398-A68E-E41C-CC9D6225D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71B7D7-BDBD-C1AE-B632-B2E3497A6C93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407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endParaRPr lang="en-US" altLang="ko-KR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trike="sngStrike" smtClean="0">
                        <a:solidFill>
                          <a:schemeClr val="tx1"/>
                        </a:solidFill>
                        <a:ea typeface="+mj-ea"/>
                      </a:rPr>
                      <m:t>mi</m:t>
                    </m:r>
                    <m:sSub>
                      <m:sSubPr>
                        <m:ctrlP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 strike="sngStrike" smtClean="0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1−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trike="sngStrike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 + </m:t>
                        </m:r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trike="sngStrike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trike="sngStrike" dirty="0">
                    <a:ea typeface="+mj-ea"/>
                  </a:rPr>
                  <a:t>?</a:t>
                </a:r>
                <a:r>
                  <a:rPr lang="ko-KR" altLang="en-US" strike="sngStrike" dirty="0">
                    <a:ea typeface="+mj-ea"/>
                  </a:rPr>
                  <a:t> </a:t>
                </a:r>
                <a:r>
                  <a:rPr lang="en-US" altLang="ko-KR" strike="sngStrike" dirty="0">
                    <a:ea typeface="+mj-ea"/>
                    <a:sym typeface="Wingdings" pitchFamily="2" charset="2"/>
                  </a:rPr>
                  <a:t></a:t>
                </a:r>
                <a:r>
                  <a:rPr lang="ko-KR" altLang="en-US" strike="sngStrike" dirty="0">
                    <a:ea typeface="+mj-ea"/>
                    <a:sym typeface="Wingdings" pitchFamily="2" charset="2"/>
                  </a:rPr>
                  <a:t> </a:t>
                </a:r>
                <a:r>
                  <a:rPr lang="en-US" altLang="ko-KR" sz="1500" strike="sngStrike" dirty="0">
                    <a:ea typeface="+mj-ea"/>
                    <a:sym typeface="Wingdings" pitchFamily="2" charset="2"/>
                  </a:rPr>
                  <a:t>the router will always choose the most accurate det</a:t>
                </a:r>
                <a:endParaRPr lang="en-US" altLang="ko-KR" sz="1500" strike="sngStrike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d>
                        <m:r>
                          <a:rPr kumimoji="1" lang="en-US" altLang="ko-KR" b="0" i="1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dirty="0"/>
                  <a:t>?</a:t>
                </a:r>
                <a:endParaRPr lang="en-US" altLang="ko-KR" sz="150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F71B7D7-BDBD-C1AE-B632-B2E3497A6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407489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02385659-8710-AE6F-E57B-64708ED726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36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EF7F7-6FDF-F386-1FFC-4D7870E62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6351D88D-B626-34CF-23D6-7B96F05FF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FE00A5-A0D3-B550-353E-D84F33F5E7C5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407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endParaRPr lang="en-US" altLang="ko-KR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trike="sngStrike" smtClean="0">
                        <a:solidFill>
                          <a:schemeClr val="tx1"/>
                        </a:solidFill>
                        <a:ea typeface="+mj-ea"/>
                      </a:rPr>
                      <m:t>mi</m:t>
                    </m:r>
                    <m:sSub>
                      <m:sSubPr>
                        <m:ctrlP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 strike="sngStrike" smtClean="0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1−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trike="sngStrike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 + </m:t>
                        </m:r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trike="sngStrike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trike="sngStrike" dirty="0">
                    <a:ea typeface="+mj-ea"/>
                  </a:rPr>
                  <a:t>?</a:t>
                </a:r>
                <a:r>
                  <a:rPr lang="ko-KR" altLang="en-US" strike="sngStrike" dirty="0">
                    <a:ea typeface="+mj-ea"/>
                  </a:rPr>
                  <a:t> </a:t>
                </a:r>
                <a:r>
                  <a:rPr lang="en-US" altLang="ko-KR" strike="sngStrike" dirty="0">
                    <a:ea typeface="+mj-ea"/>
                    <a:sym typeface="Wingdings" pitchFamily="2" charset="2"/>
                  </a:rPr>
                  <a:t></a:t>
                </a:r>
                <a:r>
                  <a:rPr lang="ko-KR" altLang="en-US" strike="sngStrike" dirty="0">
                    <a:ea typeface="+mj-ea"/>
                    <a:sym typeface="Wingdings" pitchFamily="2" charset="2"/>
                  </a:rPr>
                  <a:t> </a:t>
                </a:r>
                <a:r>
                  <a:rPr lang="en-US" altLang="ko-KR" sz="1500" strike="sngStrike" dirty="0">
                    <a:ea typeface="+mj-ea"/>
                    <a:sym typeface="Wingdings" pitchFamily="2" charset="2"/>
                  </a:rPr>
                  <a:t>the router will always choose the most accurate det</a:t>
                </a:r>
                <a:endParaRPr lang="en-US" altLang="ko-KR" sz="1500" strike="sngStrike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d>
                        <m:r>
                          <a:rPr kumimoji="1" lang="en-US" altLang="ko-KR" b="0" i="1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ko-KR" b="0" i="1" smtClean="0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dirty="0"/>
                  <a:t>?</a:t>
                </a:r>
                <a:r>
                  <a:rPr lang="ko-KR" altLang="en-US" dirty="0"/>
                  <a:t> </a:t>
                </a:r>
                <a:r>
                  <a:rPr lang="en-US" altLang="ko-KR" dirty="0">
                    <a:sym typeface="Wingdings" pitchFamily="2" charset="2"/>
                  </a:rPr>
                  <a:t></a:t>
                </a:r>
                <a:r>
                  <a:rPr lang="ko-KR" altLang="en-US" dirty="0">
                    <a:sym typeface="Wingdings" pitchFamily="2" charset="2"/>
                  </a:rPr>
                  <a:t> </a:t>
                </a:r>
                <a:r>
                  <a:rPr lang="en-US" altLang="ko-KR" sz="1500" dirty="0">
                    <a:sym typeface="Wingdings" pitchFamily="2" charset="2"/>
                  </a:rPr>
                  <a:t>we will have to adjust the hyperparameter</a:t>
                </a:r>
                <a:endParaRPr kumimoji="1" lang="en-US" altLang="ko-KR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FE00A5-A0D3-B550-353E-D84F33F5E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407489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21D12FB8-7133-3C3F-5F81-E6B81B6100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45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99EEE-3144-5069-F3D5-AA6F9B5EA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E1165031-5752-223C-2173-9B4DEDD3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B4781B-F5BB-AEC0-8DB4-1AA109D529E9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5565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 smtClean="0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ea typeface="+mj-ea"/>
                      </a:rPr>
                      <m:t>Δ</m:t>
                    </m:r>
                    <m:r>
                      <a:rPr kumimoji="1" lang="en-US" altLang="ko-KR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solidFill>
                          <a:srgbClr val="FF0000"/>
                        </a:solidFill>
                        <a:highlight>
                          <a:srgbClr val="FFFF00"/>
                        </a:highlight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highlight>
                              <a:srgbClr val="FFFF00"/>
                            </a:highlight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solidFill>
                    <a:srgbClr val="FF0000"/>
                  </a:solidFill>
                  <a:highlight>
                    <a:srgbClr val="FFFF00"/>
                  </a:highlight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endParaRPr lang="en-US" altLang="ko-KR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trike="sngStrike" smtClean="0">
                        <a:solidFill>
                          <a:schemeClr val="tx1"/>
                        </a:solidFill>
                        <a:ea typeface="+mj-ea"/>
                      </a:rPr>
                      <m:t>mi</m:t>
                    </m:r>
                    <m:sSub>
                      <m:sSubPr>
                        <m:ctrlP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 strike="sngStrike" smtClean="0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1−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trike="sngStrike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 + </m:t>
                        </m:r>
                        <m:r>
                          <a:rPr kumimoji="1" lang="en-US" altLang="ko-KR" i="1" strike="sngStrike">
                            <a:solidFill>
                              <a:schemeClr val="tx1"/>
                            </a:solidFill>
                            <a:ea typeface="+mj-ea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solidFill>
                                      <a:schemeClr val="tx1"/>
                                    </a:solidFill>
                                    <a:ea typeface="+mj-ea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 smtClean="0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ea typeface="+mj-ea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)</m:t>
                            </m:r>
                            <m:r>
                              <a:rPr kumimoji="1" lang="en-US" altLang="ko-KR" i="1" strike="sngStrike" smtClean="0">
                                <a:solidFill>
                                  <a:schemeClr val="tx1"/>
                                </a:solidFill>
                                <a:ea typeface="+mj-ea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strike="sngStrike" dirty="0">
                    <a:ea typeface="+mj-ea"/>
                  </a:rPr>
                  <a:t>?</a:t>
                </a:r>
                <a:r>
                  <a:rPr lang="ko-KR" altLang="en-US" strike="sngStrike" dirty="0">
                    <a:ea typeface="+mj-ea"/>
                  </a:rPr>
                  <a:t> </a:t>
                </a:r>
                <a:r>
                  <a:rPr lang="en-US" altLang="ko-KR" strike="sngStrike" dirty="0">
                    <a:ea typeface="+mj-ea"/>
                    <a:sym typeface="Wingdings" pitchFamily="2" charset="2"/>
                  </a:rPr>
                  <a:t></a:t>
                </a:r>
                <a:r>
                  <a:rPr lang="ko-KR" altLang="en-US" strike="sngStrike" dirty="0">
                    <a:ea typeface="+mj-ea"/>
                    <a:sym typeface="Wingdings" pitchFamily="2" charset="2"/>
                  </a:rPr>
                  <a:t> </a:t>
                </a:r>
                <a:r>
                  <a:rPr lang="en-US" altLang="ko-KR" sz="1500" strike="sngStrike" dirty="0">
                    <a:ea typeface="+mj-ea"/>
                    <a:sym typeface="Wingdings" pitchFamily="2" charset="2"/>
                  </a:rPr>
                  <a:t>the router will always choose the most accurate det</a:t>
                </a:r>
                <a:endParaRPr lang="en-US" altLang="ko-KR" sz="1500" strike="sngStrike" dirty="0">
                  <a:ea typeface="+mj-ea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trike="sngStrike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 strike="sngStrike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 strike="sngStrike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 strike="sngStrike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 strike="sngStrike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 strike="sngStrike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d>
                        <m:r>
                          <a:rPr kumimoji="1" lang="en-US" altLang="ko-KR" i="1" strike="sngStrike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 strike="sngStrike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 strike="sngStrike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 strike="sngStrike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 strike="sngStrike">
                                <a:latin typeface="Cambria Math" panose="02040503050406030204" pitchFamily="18" charset="0"/>
                              </a:rPr>
                              <m:t>) </m:t>
                            </m:r>
                          </m:e>
                        </m:d>
                        <m:r>
                          <a:rPr kumimoji="1"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kumimoji="1" lang="en-US" altLang="ko-KR" b="0" i="1" strike="sngStrik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kumimoji="1" lang="en-US" altLang="ko-KR" i="1" strike="sngStrik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</m:oMath>
                </a14:m>
                <a:r>
                  <a:rPr lang="en-US" altLang="ko-KR" strike="sngStrike" dirty="0"/>
                  <a:t>?</a:t>
                </a:r>
                <a:r>
                  <a:rPr lang="ko-KR" altLang="en-US" strike="sngStrike" dirty="0"/>
                  <a:t> </a:t>
                </a:r>
                <a:r>
                  <a:rPr lang="en-US" altLang="ko-KR" strike="sngStrike" dirty="0">
                    <a:sym typeface="Wingdings" pitchFamily="2" charset="2"/>
                  </a:rPr>
                  <a:t></a:t>
                </a:r>
                <a:r>
                  <a:rPr lang="ko-KR" altLang="en-US" strike="sngStrike" dirty="0">
                    <a:sym typeface="Wingdings" pitchFamily="2" charset="2"/>
                  </a:rPr>
                  <a:t> </a:t>
                </a:r>
                <a:r>
                  <a:rPr lang="en-US" altLang="ko-KR" sz="1500" strike="sngStrike" dirty="0">
                    <a:sym typeface="Wingdings" pitchFamily="2" charset="2"/>
                  </a:rPr>
                  <a:t>we will have to adjust the hyperparameter</a:t>
                </a:r>
                <a:endParaRPr kumimoji="1" lang="en-US" altLang="ko-KR" strike="sngStrike" dirty="0">
                  <a:latin typeface="Cambria Math" panose="02040503050406030204" pitchFamily="18" charset="0"/>
                </a:endParaRPr>
              </a:p>
              <a:p>
                <a:pPr marL="742950" lvl="1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 </a:t>
                </a:r>
                <a:r>
                  <a:rPr lang="en-US" altLang="ko-KR" dirty="0">
                    <a:ea typeface="+mj-ea"/>
                    <a:sym typeface="Wingdings" pitchFamily="2" charset="2"/>
                  </a:rPr>
                  <a:t> </a:t>
                </a:r>
                <a:r>
                  <a:rPr lang="en-US" altLang="ko-KR" sz="1500" dirty="0">
                    <a:ea typeface="+mj-ea"/>
                    <a:sym typeface="Wingdings" pitchFamily="2" charset="2"/>
                  </a:rPr>
                  <a:t>we introduce an adaptive offset to balance the losses of two dets</a:t>
                </a:r>
                <a:endParaRPr lang="en-US" altLang="ko-KR" sz="150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EB4781B-F5BB-AEC0-8DB4-1AA109D52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5565434"/>
              </a:xfrm>
              <a:prstGeom prst="rect">
                <a:avLst/>
              </a:prstGeom>
              <a:blipFill>
                <a:blip r:embed="rId3"/>
                <a:stretch>
                  <a:fillRect l="-531" r="-1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EC09F3A0-8EB7-802C-2B49-AC060F95B8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8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C034D-8413-77BB-3DC0-34FA9D62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906BD037-8635-434C-41F5-93A4B2368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3EA5B4-242D-8244-F75D-C2E4E385F5CD}"/>
                  </a:ext>
                </a:extLst>
              </p:cNvPr>
              <p:cNvSpPr txBox="1"/>
              <p:nvPr/>
            </p:nvSpPr>
            <p:spPr>
              <a:xfrm>
                <a:off x="117514" y="814073"/>
                <a:ext cx="119523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:</a:t>
                </a:r>
                <a:r>
                  <a:rPr lang="en-US" altLang="ko-KR" sz="2000" dirty="0"/>
                  <a:t> </a:t>
                </a:r>
                <a:r>
                  <a:rPr lang="en-US" altLang="ko-KR" sz="2000" u="sng" dirty="0"/>
                  <a:t>the median of the training loss difference</a:t>
                </a:r>
                <a:r>
                  <a:rPr lang="en-US" altLang="ko-KR" sz="2000" dirty="0"/>
                  <a:t> between the first and the second detector on the training set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13EA5B4-242D-8244-F75D-C2E4E385F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4" y="814073"/>
                <a:ext cx="11952382" cy="707886"/>
              </a:xfrm>
              <a:prstGeom prst="rect">
                <a:avLst/>
              </a:prstGeom>
              <a:blipFill>
                <a:blip r:embed="rId3"/>
                <a:stretch>
                  <a:fillRect l="-425" t="-5263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64D72A-C3FA-9CF1-54BA-A385FB9FBDAA}"/>
                  </a:ext>
                </a:extLst>
              </p:cNvPr>
              <p:cNvSpPr txBox="1"/>
              <p:nvPr/>
            </p:nvSpPr>
            <p:spPr>
              <a:xfrm>
                <a:off x="119808" y="1432960"/>
                <a:ext cx="11952383" cy="1112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65309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500">
                          <a:latin typeface="Cambria Math" panose="02040503050406030204" pitchFamily="18" charset="0"/>
                        </a:rPr>
                        <m:t>mi</m:t>
                      </m:r>
                      <m:sSub>
                        <m:sSubPr>
                          <m:ctrlP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50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kumimoji="1" lang="en-US" altLang="ko-KR" sz="2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{1}</m:t>
                                  </m:r>
                                </m:sup>
                              </m:sSubSup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ko-KR" sz="2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{2}</m:t>
                                  </m:r>
                                </m:sup>
                              </m:sSubSup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25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2500" dirty="0">
                  <a:ea typeface="+mj-ea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64D72A-C3FA-9CF1-54BA-A385FB9FB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1432960"/>
                <a:ext cx="11952383" cy="11128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오른쪽 중괄호[R] 14">
            <a:extLst>
              <a:ext uri="{FF2B5EF4-FFF2-40B4-BE49-F238E27FC236}">
                <a16:creationId xmlns:a16="http://schemas.microsoft.com/office/drawing/2014/main" id="{00B27279-49BF-841C-FDC1-1580B97FDC8D}"/>
              </a:ext>
            </a:extLst>
          </p:cNvPr>
          <p:cNvSpPr/>
          <p:nvPr/>
        </p:nvSpPr>
        <p:spPr>
          <a:xfrm rot="5400000">
            <a:off x="6067098" y="1949811"/>
            <a:ext cx="194097" cy="963498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3976A3-650F-DBB6-08D9-2AE184DC80E0}"/>
              </a:ext>
            </a:extLst>
          </p:cNvPr>
          <p:cNvSpPr txBox="1"/>
          <p:nvPr/>
        </p:nvSpPr>
        <p:spPr>
          <a:xfrm>
            <a:off x="5682397" y="2545765"/>
            <a:ext cx="3131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reward </a:t>
            </a:r>
            <a:b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to the first detector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0032C6-ED89-4B01-D084-8180DB0491B4}"/>
              </a:ext>
            </a:extLst>
          </p:cNvPr>
          <p:cNvSpPr txBox="1"/>
          <p:nvPr/>
        </p:nvSpPr>
        <p:spPr>
          <a:xfrm>
            <a:off x="9548115" y="2551055"/>
            <a:ext cx="2643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rgbClr val="0070C0"/>
                </a:solidFill>
              </a:rPr>
              <a:t>penalty 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to the second detector</a:t>
            </a:r>
          </a:p>
        </p:txBody>
      </p:sp>
      <p:sp>
        <p:nvSpPr>
          <p:cNvPr id="18" name="오른쪽 중괄호[R] 17">
            <a:extLst>
              <a:ext uri="{FF2B5EF4-FFF2-40B4-BE49-F238E27FC236}">
                <a16:creationId xmlns:a16="http://schemas.microsoft.com/office/drawing/2014/main" id="{04BFEE4D-1AE7-B1E8-D2DD-E3DED8289E16}"/>
              </a:ext>
            </a:extLst>
          </p:cNvPr>
          <p:cNvSpPr/>
          <p:nvPr/>
        </p:nvSpPr>
        <p:spPr>
          <a:xfrm rot="5400000">
            <a:off x="9829392" y="1922628"/>
            <a:ext cx="194097" cy="963498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6036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15AC-29B5-38E2-AF5B-5D8602F1E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00714074-6AFE-7BB8-A7CE-28304F75D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BCA0AE-D923-5CFC-2E6A-54FE0CB1AC7D}"/>
                  </a:ext>
                </a:extLst>
              </p:cNvPr>
              <p:cNvSpPr txBox="1"/>
              <p:nvPr/>
            </p:nvSpPr>
            <p:spPr>
              <a:xfrm>
                <a:off x="119808" y="1432960"/>
                <a:ext cx="11952383" cy="1112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65309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500">
                          <a:latin typeface="Cambria Math" panose="02040503050406030204" pitchFamily="18" charset="0"/>
                        </a:rPr>
                        <m:t>mi</m:t>
                      </m:r>
                      <m:sSub>
                        <m:sSubPr>
                          <m:ctrlP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50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kumimoji="1" lang="en-US" altLang="ko-KR" sz="2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{1}</m:t>
                                  </m:r>
                                </m:sup>
                              </m:sSubSup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ko-KR" sz="2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{2}</m:t>
                                  </m:r>
                                </m:sup>
                              </m:sSubSup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ko-KR" sz="2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250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BCA0AE-D923-5CFC-2E6A-54FE0CB1A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1432960"/>
                <a:ext cx="11952383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91B9CA-52BF-5B06-3098-C2325263DDFC}"/>
                  </a:ext>
                </a:extLst>
              </p:cNvPr>
              <p:cNvSpPr txBox="1"/>
              <p:nvPr/>
            </p:nvSpPr>
            <p:spPr>
              <a:xfrm>
                <a:off x="117514" y="814073"/>
                <a:ext cx="119523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:</a:t>
                </a:r>
                <a:r>
                  <a:rPr lang="en-US" altLang="ko-KR" sz="2000" dirty="0"/>
                  <a:t> </a:t>
                </a:r>
                <a:r>
                  <a:rPr lang="en-US" altLang="ko-KR" sz="2000" u="sng" dirty="0"/>
                  <a:t>the median of the training loss difference</a:t>
                </a:r>
                <a:r>
                  <a:rPr lang="en-US" altLang="ko-KR" sz="2000" dirty="0"/>
                  <a:t> between the first and the second detector on the training set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91B9CA-52BF-5B06-3098-C2325263D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4" y="814073"/>
                <a:ext cx="11952382" cy="707886"/>
              </a:xfrm>
              <a:prstGeom prst="rect">
                <a:avLst/>
              </a:prstGeom>
              <a:blipFill>
                <a:blip r:embed="rId4"/>
                <a:stretch>
                  <a:fillRect l="-425" t="-5263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오른쪽 중괄호[R] 5">
            <a:extLst>
              <a:ext uri="{FF2B5EF4-FFF2-40B4-BE49-F238E27FC236}">
                <a16:creationId xmlns:a16="http://schemas.microsoft.com/office/drawing/2014/main" id="{A2675732-B6A7-B414-219A-DFDFBB63DC08}"/>
              </a:ext>
            </a:extLst>
          </p:cNvPr>
          <p:cNvSpPr/>
          <p:nvPr/>
        </p:nvSpPr>
        <p:spPr>
          <a:xfrm rot="5400000">
            <a:off x="6067098" y="1949811"/>
            <a:ext cx="194097" cy="963498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0E364-F167-DCD6-A971-7C1D094EF1DF}"/>
              </a:ext>
            </a:extLst>
          </p:cNvPr>
          <p:cNvSpPr txBox="1"/>
          <p:nvPr/>
        </p:nvSpPr>
        <p:spPr>
          <a:xfrm>
            <a:off x="5682397" y="2545765"/>
            <a:ext cx="3131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reward </a:t>
            </a:r>
            <a:b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to the first detector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1F100A-B284-DFB5-8868-866E49B34328}"/>
              </a:ext>
            </a:extLst>
          </p:cNvPr>
          <p:cNvSpPr txBox="1"/>
          <p:nvPr/>
        </p:nvSpPr>
        <p:spPr>
          <a:xfrm>
            <a:off x="9548115" y="2551055"/>
            <a:ext cx="2643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rgbClr val="0070C0"/>
                </a:solidFill>
              </a:rPr>
              <a:t>penalty 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to the second detector</a:t>
            </a:r>
          </a:p>
        </p:txBody>
      </p:sp>
      <p:sp>
        <p:nvSpPr>
          <p:cNvPr id="9" name="오른쪽 중괄호[R] 8">
            <a:extLst>
              <a:ext uri="{FF2B5EF4-FFF2-40B4-BE49-F238E27FC236}">
                <a16:creationId xmlns:a16="http://schemas.microsoft.com/office/drawing/2014/main" id="{8292DF0C-6513-B137-226C-FAA92CC8F3A8}"/>
              </a:ext>
            </a:extLst>
          </p:cNvPr>
          <p:cNvSpPr/>
          <p:nvPr/>
        </p:nvSpPr>
        <p:spPr>
          <a:xfrm rot="5400000">
            <a:off x="9829392" y="1922628"/>
            <a:ext cx="194097" cy="963498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6C344D6-184C-5DA7-41DF-581158D852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60" b="1408"/>
          <a:stretch>
            <a:fillRect/>
          </a:stretch>
        </p:blipFill>
        <p:spPr>
          <a:xfrm>
            <a:off x="0" y="2862512"/>
            <a:ext cx="5582463" cy="36183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0E90CD-F83F-F603-7D72-D29E4F84C9B8}"/>
              </a:ext>
            </a:extLst>
          </p:cNvPr>
          <p:cNvSpPr txBox="1"/>
          <p:nvPr/>
        </p:nvSpPr>
        <p:spPr>
          <a:xfrm rot="20407049">
            <a:off x="1847485" y="4068117"/>
            <a:ext cx="983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reward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84413B-F5CD-F8AF-9524-9E9FC5ED8EDF}"/>
              </a:ext>
            </a:extLst>
          </p:cNvPr>
          <p:cNvSpPr txBox="1"/>
          <p:nvPr/>
        </p:nvSpPr>
        <p:spPr>
          <a:xfrm rot="20970303">
            <a:off x="2849173" y="4228348"/>
            <a:ext cx="983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rgbClr val="0070C0"/>
                </a:solidFill>
              </a:rPr>
              <a:t>penalty</a:t>
            </a:r>
          </a:p>
        </p:txBody>
      </p:sp>
    </p:spTree>
    <p:extLst>
      <p:ext uri="{BB962C8B-B14F-4D97-AF65-F5344CB8AC3E}">
        <p14:creationId xmlns:p14="http://schemas.microsoft.com/office/powerpoint/2010/main" val="27425593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FC2DC-799D-C571-6166-ECB9D53B8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756293DE-20C3-881F-77FC-EEB913E02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FB1A6F-02AE-399A-C38D-3972D06EA3EE}"/>
                  </a:ext>
                </a:extLst>
              </p:cNvPr>
              <p:cNvSpPr txBox="1"/>
              <p:nvPr/>
            </p:nvSpPr>
            <p:spPr>
              <a:xfrm>
                <a:off x="-175467" y="1432960"/>
                <a:ext cx="11952383" cy="1112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6530975" algn="l"/>
                  </a:tabLs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ko-KR" sz="2500" b="0" i="0" smtClean="0">
                          <a:latin typeface="Cambria Math" panose="02040503050406030204" pitchFamily="18" charset="0"/>
                        </a:rPr>
                        <m:t>L</m:t>
                      </m:r>
                      <m:r>
                        <a:rPr kumimoji="1" lang="en-US" altLang="ko-KR" sz="25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2500">
                          <a:latin typeface="Cambria Math" panose="02040503050406030204" pitchFamily="18" charset="0"/>
                        </a:rPr>
                        <m:t>mi</m:t>
                      </m:r>
                      <m:sSub>
                        <m:sSubPr>
                          <m:ctrlP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kumimoji="1" lang="en-US" altLang="ko-KR" sz="2500">
                              <a:latin typeface="Cambria Math" panose="02040503050406030204" pitchFamily="18" charset="0"/>
                            </a:rPr>
                            <m:t>n</m:t>
                          </m:r>
                        </m:e>
                        <m:sub>
                          <m:sSub>
                            <m:sSubPr>
                              <m:ctrl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  <m:r>
                            <a:rPr kumimoji="1" lang="en-US" altLang="ko-KR" sz="2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d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{1}</m:t>
                                  </m:r>
                                </m:sup>
                              </m:sSubSup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ko-KR" sz="2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  <m:t> + </m:t>
                          </m:r>
                          <m:r>
                            <a:rPr kumimoji="1" lang="en-US" altLang="ko-KR" sz="2500" i="1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500" i="1">
                                      <a:latin typeface="Cambria Math" panose="02040503050406030204" pitchFamily="18" charset="0"/>
                                    </a:rPr>
                                    <m:t>{2}</m:t>
                                  </m:r>
                                </m:sup>
                              </m:sSubSup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kumimoji="1" lang="en-US" altLang="ko-KR" sz="25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kumimoji="1" lang="en-US" altLang="ko-KR" sz="25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1" lang="en-US" altLang="ko-KR" sz="25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500" i="1">
                                  <a:solidFill>
                                    <a:srgbClr val="FF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sz="250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FB1A6F-02AE-399A-C38D-3972D06EA3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75467" y="1432960"/>
                <a:ext cx="11952383" cy="11128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9E10FB-6041-E6F3-E6A0-6276BE9BE8A3}"/>
                  </a:ext>
                </a:extLst>
              </p:cNvPr>
              <p:cNvSpPr txBox="1"/>
              <p:nvPr/>
            </p:nvSpPr>
            <p:spPr>
              <a:xfrm>
                <a:off x="117514" y="814073"/>
                <a:ext cx="11952382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:</a:t>
                </a:r>
                <a:r>
                  <a:rPr lang="en-US" altLang="ko-KR" sz="2000" dirty="0"/>
                  <a:t> </a:t>
                </a:r>
                <a:r>
                  <a:rPr lang="en-US" altLang="ko-KR" sz="2000" u="sng" dirty="0"/>
                  <a:t>the median of the training loss difference</a:t>
                </a:r>
                <a:r>
                  <a:rPr lang="en-US" altLang="ko-KR" sz="2000" dirty="0"/>
                  <a:t> between the first and the second detector on the training set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89E10FB-6041-E6F3-E6A0-6276BE9BE8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14" y="814073"/>
                <a:ext cx="11952382" cy="707886"/>
              </a:xfrm>
              <a:prstGeom prst="rect">
                <a:avLst/>
              </a:prstGeom>
              <a:blipFill>
                <a:blip r:embed="rId4"/>
                <a:stretch>
                  <a:fillRect l="-425" t="-5263" b="-140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오른쪽 중괄호[R] 5">
            <a:extLst>
              <a:ext uri="{FF2B5EF4-FFF2-40B4-BE49-F238E27FC236}">
                <a16:creationId xmlns:a16="http://schemas.microsoft.com/office/drawing/2014/main" id="{93FDD983-F02B-4526-D8F4-A85B9CB8CF3A}"/>
              </a:ext>
            </a:extLst>
          </p:cNvPr>
          <p:cNvSpPr/>
          <p:nvPr/>
        </p:nvSpPr>
        <p:spPr>
          <a:xfrm rot="5400000">
            <a:off x="6067098" y="1949811"/>
            <a:ext cx="194097" cy="963498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177A46-14ED-4486-6956-F817C7057B53}"/>
              </a:ext>
            </a:extLst>
          </p:cNvPr>
          <p:cNvSpPr txBox="1"/>
          <p:nvPr/>
        </p:nvSpPr>
        <p:spPr>
          <a:xfrm>
            <a:off x="5682397" y="2545765"/>
            <a:ext cx="313119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reward </a:t>
            </a:r>
            <a:b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to the first detector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D4713-D577-9DED-F082-8BDA082BCA03}"/>
              </a:ext>
            </a:extLst>
          </p:cNvPr>
          <p:cNvSpPr txBox="1"/>
          <p:nvPr/>
        </p:nvSpPr>
        <p:spPr>
          <a:xfrm>
            <a:off x="9548115" y="2551055"/>
            <a:ext cx="264388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rgbClr val="0070C0"/>
                </a:solidFill>
              </a:rPr>
              <a:t>penalty </a:t>
            </a:r>
            <a:br>
              <a:rPr lang="en-US" altLang="ko-KR" dirty="0">
                <a:solidFill>
                  <a:srgbClr val="0070C0"/>
                </a:solidFill>
              </a:rPr>
            </a:br>
            <a:r>
              <a:rPr lang="en-US" altLang="ko-KR" dirty="0">
                <a:solidFill>
                  <a:srgbClr val="0070C0"/>
                </a:solidFill>
              </a:rPr>
              <a:t>to the second detector</a:t>
            </a:r>
          </a:p>
        </p:txBody>
      </p:sp>
      <p:sp>
        <p:nvSpPr>
          <p:cNvPr id="9" name="오른쪽 중괄호[R] 8">
            <a:extLst>
              <a:ext uri="{FF2B5EF4-FFF2-40B4-BE49-F238E27FC236}">
                <a16:creationId xmlns:a16="http://schemas.microsoft.com/office/drawing/2014/main" id="{E464ADEE-A7F4-B6C1-3281-7C2A4403D6D2}"/>
              </a:ext>
            </a:extLst>
          </p:cNvPr>
          <p:cNvSpPr/>
          <p:nvPr/>
        </p:nvSpPr>
        <p:spPr>
          <a:xfrm rot="5400000">
            <a:off x="9829392" y="1922628"/>
            <a:ext cx="194097" cy="963498"/>
          </a:xfrm>
          <a:prstGeom prst="rightBrac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18CEABD-DD4F-4EE5-389E-C382D89F48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60" b="1408"/>
          <a:stretch>
            <a:fillRect/>
          </a:stretch>
        </p:blipFill>
        <p:spPr>
          <a:xfrm>
            <a:off x="0" y="2862512"/>
            <a:ext cx="5582463" cy="36183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AEA0ED-7A22-1E69-4F01-F69FA9B7F779}"/>
              </a:ext>
            </a:extLst>
          </p:cNvPr>
          <p:cNvSpPr txBox="1"/>
          <p:nvPr/>
        </p:nvSpPr>
        <p:spPr>
          <a:xfrm rot="20407049">
            <a:off x="1847485" y="4068117"/>
            <a:ext cx="983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chemeClr val="accent6">
                    <a:lumMod val="75000"/>
                  </a:schemeClr>
                </a:solidFill>
              </a:rPr>
              <a:t>reward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5CD00B-0C46-A57F-593B-42C984AEC261}"/>
              </a:ext>
            </a:extLst>
          </p:cNvPr>
          <p:cNvSpPr txBox="1"/>
          <p:nvPr/>
        </p:nvSpPr>
        <p:spPr>
          <a:xfrm rot="20970303">
            <a:off x="2849173" y="4228348"/>
            <a:ext cx="9839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altLang="ko-KR" dirty="0">
                <a:solidFill>
                  <a:srgbClr val="0070C0"/>
                </a:solidFill>
              </a:rPr>
              <a:t>penalty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D1A4AA-021F-DB59-2B96-B0846837E5A9}"/>
                  </a:ext>
                </a:extLst>
              </p:cNvPr>
              <p:cNvSpPr txBox="1"/>
              <p:nvPr/>
            </p:nvSpPr>
            <p:spPr>
              <a:xfrm>
                <a:off x="5682397" y="3596402"/>
                <a:ext cx="6878741" cy="2884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653097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  <a:ea typeface="+mj-ea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f>
                        <m:fPr>
                          <m:ctrlPr>
                            <a:rPr lang="en-US" altLang="ko-K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kumimoji="1"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kumimoji="1" lang="en-US" altLang="ko-KR" sz="20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kumimoji="1" lang="en-US" altLang="ko-KR" sz="20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𝑑𝑒𝑡</m:t>
                                      </m:r>
                                    </m:sub>
                                    <m:sup>
                                      <m: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{1}</m:t>
                                      </m:r>
                                    </m:sup>
                                  </m:sSubSup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e>
                              </m:d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𝑑𝑒𝑡</m:t>
                                      </m:r>
                                    </m:sub>
                                    <m:sup>
                                      <m:r>
                                        <a:rPr kumimoji="1" lang="en-US" altLang="ko-KR" sz="20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{2}</m:t>
                                      </m:r>
                                    </m:sup>
                                  </m:sSubSup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/2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d>
                        <m:dPr>
                          <m:ctrlPr>
                            <a:rPr kumimoji="1" lang="en-US" altLang="ko-K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{1}</m:t>
                                  </m:r>
                                </m:sup>
                              </m:sSubSup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  <m:r>
                            <a:rPr kumimoji="1"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+ </m:t>
                          </m:r>
                          <m:d>
                            <m:dPr>
                              <m:ctrlP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𝑑𝑒𝑡</m:t>
                                  </m:r>
                                </m:sub>
                                <m:sup>
                                  <m:r>
                                    <a:rPr kumimoji="1" lang="en-US" altLang="ko-KR" sz="20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{2}</m:t>
                                  </m:r>
                                </m:sup>
                              </m:sSubSup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e>
                          </m:d>
                        </m:e>
                      </m:d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  <a:ea typeface="+mj-ea"/>
                        </a:rPr>
                        <m:t>=</m:t>
                      </m:r>
                      <m:d>
                        <m:dPr>
                          <m:ctrlPr>
                            <a:rPr kumimoji="1" lang="en-US" altLang="ko-KR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</m:sub>
                            <m:sup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{2}</m:t>
                              </m:r>
                            </m:sup>
                          </m:sSubSup>
                          <m:r>
                            <a:rPr kumimoji="1"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𝑑𝑒𝑡</m:t>
                              </m:r>
                            </m:sub>
                            <m:sup>
                              <m:r>
                                <a:rPr kumimoji="1" lang="en-US" altLang="ko-KR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{1}</m:t>
                              </m:r>
                            </m:sup>
                          </m:sSubSup>
                          <m:r>
                            <a:rPr kumimoji="1" lang="en-US" altLang="ko-K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kumimoji="1" lang="en-US" altLang="ko-KR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f>
                        <m:f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kumimoji="1" lang="en-US" altLang="ko-KR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kumimoji="1" lang="en-US" altLang="ko-KR" sz="20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ko-KR" sz="2000" b="0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0D1A4AA-021F-DB59-2B96-B0846837E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397" y="3596402"/>
                <a:ext cx="6878741" cy="2884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06240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5002C-3290-04A9-CB47-D3B3325B9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CDCB4953-81F5-671F-59B3-78812BCF3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Optimization strategy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F4F228-7084-9EE8-77F4-8E29F15DB1EE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37301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500" dirty="0">
                  <a:sym typeface="Wingdings" pitchFamily="2" charset="2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5F4F228-7084-9EE8-77F4-8E29F15DB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3730124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1E77D335-CE8B-7939-DB29-A5F5653879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356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256D-9CA5-B767-85B7-012B12AE5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729389C6-8ED9-B622-71B1-D06664679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8C6CE6-89EE-526C-159E-A140ED11CD28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4511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500" dirty="0">
                  <a:sym typeface="Wingdings" pitchFamily="2" charset="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Variable-speed inference (how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accent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lang="en-US" altLang="ko-KR" dirty="0">
                    <a:ea typeface="+mj-ea"/>
                  </a:rPr>
                  <a:t>?)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8C6CE6-89EE-526C-159E-A140ED11C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4511428"/>
              </a:xfrm>
              <a:prstGeom prst="rect">
                <a:avLst/>
              </a:prstGeom>
              <a:blipFill>
                <a:blip r:embed="rId3"/>
                <a:stretch>
                  <a:fillRect l="-531" b="-14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2AF4589E-A1A7-8263-CEC6-DAEF6B2AC9E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72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67B24-C088-DB42-2CFB-E319A15DF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0AB0F3B-4F28-6C96-B032-633B5447B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r>
              <a:rPr kumimoji="1" lang="en-US" altLang="ko-KR" dirty="0"/>
              <a:t> &gt; Overall architecture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1DBA615-DF3E-2FA4-14DB-6CB9E4451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38" y="1950970"/>
            <a:ext cx="10796334" cy="427054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8BB12B-F25C-CBCF-4AD4-D61484704C23}"/>
                  </a:ext>
                </a:extLst>
              </p:cNvPr>
              <p:cNvSpPr txBox="1"/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{2}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{3}</m:t>
                              </m:r>
                            </m:sup>
                          </m:sSub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{4}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kumimoji="1" lang="en-US" altLang="ko-KR" sz="1800" b="0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C8BB12B-F25C-CBCF-4AD4-D61484704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4355" y="2659678"/>
                <a:ext cx="4040659" cy="5048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6B0A20-D6E9-31E3-7E7F-84EE3B295A62}"/>
                  </a:ext>
                </a:extLst>
              </p:cNvPr>
              <p:cNvSpPr txBox="1"/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6B0A20-D6E9-31E3-7E7F-84EE3B295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367" y="4955484"/>
                <a:ext cx="579703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0FFC2A-A9AD-F006-4581-93403367DB9F}"/>
                  </a:ext>
                </a:extLst>
              </p:cNvPr>
              <p:cNvSpPr txBox="1"/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2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kumimoji="1" lang="en-US" altLang="ko-KR" sz="2200" b="0" i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80FFC2A-A9AD-F006-4581-93403367DB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3473" y="4955483"/>
                <a:ext cx="579703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A8FB6-B5C2-C14E-11B6-971D57E4349F}"/>
                  </a:ext>
                </a:extLst>
              </p:cNvPr>
              <p:cNvSpPr txBox="1"/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{1}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8A8FB6-B5C2-C14E-11B6-971D57E43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587" y="3878925"/>
                <a:ext cx="739263" cy="439351"/>
              </a:xfrm>
              <a:prstGeom prst="rect">
                <a:avLst/>
              </a:prstGeom>
              <a:blipFill>
                <a:blip r:embed="rId7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5904DE-7898-5A1E-C327-06F795C1C300}"/>
                  </a:ext>
                </a:extLst>
              </p:cNvPr>
              <p:cNvSpPr txBox="1"/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{2}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B5904DE-7898-5A1E-C327-06F795C1C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011" y="3630011"/>
                <a:ext cx="739263" cy="439351"/>
              </a:xfrm>
              <a:prstGeom prst="rect">
                <a:avLst/>
              </a:prstGeom>
              <a:blipFill>
                <a:blip r:embed="rId8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E3E867-E01C-57D1-A1B2-77FE768DF2C5}"/>
                  </a:ext>
                </a:extLst>
              </p:cNvPr>
              <p:cNvSpPr txBox="1"/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{3}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7E3E867-E01C-57D1-A1B2-77FE768DF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2947" y="3381572"/>
                <a:ext cx="739263" cy="439351"/>
              </a:xfrm>
              <a:prstGeom prst="rect">
                <a:avLst/>
              </a:prstGeom>
              <a:blipFill>
                <a:blip r:embed="rId9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DDCE6D-D35F-06ED-52F2-7B63F8D44EF2}"/>
                  </a:ext>
                </a:extLst>
              </p:cNvPr>
              <p:cNvSpPr txBox="1"/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1" lang="en-US" altLang="ko-KR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{4}</m:t>
                          </m:r>
                        </m:sup>
                      </m:sSubSup>
                    </m:oMath>
                  </m:oMathPara>
                </a14:m>
                <a:endParaRPr lang="ko-KR" altLang="en-US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DDCE6D-D35F-06ED-52F2-7B63F8D44E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1835" y="3106139"/>
                <a:ext cx="739263" cy="439351"/>
              </a:xfrm>
              <a:prstGeom prst="rect">
                <a:avLst/>
              </a:prstGeom>
              <a:blipFill>
                <a:blip r:embed="rId10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직선 화살표 연결선 1">
            <a:extLst>
              <a:ext uri="{FF2B5EF4-FFF2-40B4-BE49-F238E27FC236}">
                <a16:creationId xmlns:a16="http://schemas.microsoft.com/office/drawing/2014/main" id="{DA3CD82F-1699-1C43-B1BA-094E879BE55A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5909117" y="1989993"/>
            <a:ext cx="0" cy="8324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B2E43B-4BD5-5377-33F1-923E67F59912}"/>
                  </a:ext>
                </a:extLst>
              </p:cNvPr>
              <p:cNvSpPr txBox="1"/>
              <p:nvPr/>
            </p:nvSpPr>
            <p:spPr>
              <a:xfrm>
                <a:off x="2219396" y="716311"/>
                <a:ext cx="7379441" cy="1273682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ko-KR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</m:acc>
                        </m:e>
                        <m:sub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ko-K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Concat</m:t>
                      </m:r>
                      <m:d>
                        <m:d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sz="18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{1}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kumimoji="1" lang="en-US" altLang="ko-KR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kumimoji="1" lang="en-US" altLang="ko-KR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bSup>
                            </m:e>
                          </m:d>
                          <m:r>
                            <a:rPr kumimoji="1" lang="en-US" altLang="ko-KR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kumimoji="1" lang="en-US" altLang="ko-KR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GAP</m:t>
                          </m:r>
                          <m:d>
                            <m:dPr>
                              <m:ctrlPr>
                                <a:rPr kumimoji="1" lang="en-US" altLang="ko-KR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r>
                                    <a:rPr kumimoji="1" lang="en-US" altLang="ko-KR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kumimoji="1" lang="en-US" altLang="ko-KR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br>
                  <a:rPr kumimoji="1" lang="en-US" altLang="ko-KR" sz="1800" b="0" dirty="0">
                    <a:solidFill>
                      <a:schemeClr val="accent1"/>
                    </a:solidFill>
                  </a:rPr>
                </a:br>
                <a:r>
                  <a:rPr kumimoji="1" lang="en-US" altLang="ko-KR" dirty="0">
                    <a:solidFill>
                      <a:schemeClr val="accent1"/>
                    </a:solidFill>
                  </a:rPr>
                  <a:t>Diffifulty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</a:t>
                </a:r>
                <a:r>
                  <a:rPr kumimoji="1" lang="en-US" altLang="ko-KR" dirty="0">
                    <a:solidFill>
                      <a:schemeClr val="accent1"/>
                    </a:solidFill>
                  </a:rPr>
                  <a:t>score:</a:t>
                </a:r>
                <a:r>
                  <a:rPr kumimoji="1" lang="ko-KR" altLang="en-US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ko-KR" sz="18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ko-KR" sz="18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Sigmoid</m:t>
                    </m:r>
                    <m:d>
                      <m:dPr>
                        <m:ctrlPr>
                          <a:rPr kumimoji="1" lang="en-US" altLang="ko-KR" sz="18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ko-KR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ReLU</m:t>
                            </m:r>
                            <m:d>
                              <m:dPr>
                                <m:ctrlPr>
                                  <a:rPr kumimoji="1" lang="en-US" altLang="ko-KR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kumimoji="1" lang="en-US" altLang="ko-KR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1" lang="en-US" altLang="ko-KR" i="1">
                                            <a:solidFill>
                                              <a:schemeClr val="accent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ko-KR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1" lang="en-US" altLang="ko-KR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ko-KR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kumimoji="1" lang="en-US" altLang="ko-KR" b="0" i="1" smtClean="0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kumimoji="1" lang="en-US" altLang="ko-K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1" lang="en-US" altLang="ko-KR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∈ (0,1)</m:t>
                    </m:r>
                  </m:oMath>
                </a14:m>
                <a:endParaRPr kumimoji="1" lang="en-US" altLang="ko-KR" sz="1800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m:rPr>
                              <m:sty m:val="p"/>
                            </m:rPr>
                            <a:rPr kumimoji="1" lang="en-US" altLang="ko-KR" sz="1800" b="0" i="1" smtClean="0">
                              <a:solidFill>
                                <a:schemeClr val="accent1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al</m:t>
                          </m:r>
                        </m:sub>
                      </m:sSub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 ? “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Easy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”: “</m:t>
                      </m:r>
                      <m:r>
                        <m:rPr>
                          <m:sty m:val="p"/>
                        </m:rP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Hard</m:t>
                      </m:r>
                      <m:r>
                        <a:rPr kumimoji="1" lang="en-US" altLang="ko-KR" sz="18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”</m:t>
                      </m:r>
                    </m:oMath>
                  </m:oMathPara>
                </a14:m>
                <a:endParaRPr kumimoji="1" lang="en-US" altLang="ko-KR" sz="1800" b="0" i="1" dirty="0">
                  <a:solidFill>
                    <a:schemeClr val="accent1"/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B2E43B-4BD5-5377-33F1-923E67F59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9396" y="716311"/>
                <a:ext cx="7379441" cy="1273682"/>
              </a:xfrm>
              <a:prstGeom prst="rect">
                <a:avLst/>
              </a:prstGeom>
              <a:blipFill>
                <a:blip r:embed="rId11"/>
                <a:stretch>
                  <a:fillRect l="-514" b="-3883"/>
                </a:stretch>
              </a:blipFill>
              <a:ln w="254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0F8357E2-0EFA-C040-6510-A8801654F01F}"/>
              </a:ext>
            </a:extLst>
          </p:cNvPr>
          <p:cNvSpPr txBox="1"/>
          <p:nvPr/>
        </p:nvSpPr>
        <p:spPr>
          <a:xfrm>
            <a:off x="0" y="2170658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latin typeface="+mn-ea"/>
                <a:cs typeface="Times New Roman" panose="02020603050405020304" pitchFamily="18" charset="0"/>
              </a:rPr>
              <a:t>Step 1</a:t>
            </a:r>
            <a:endParaRPr kumimoji="1" lang="en-US" altLang="ko-KR" sz="2000" dirty="0">
              <a:solidFill>
                <a:schemeClr val="tx1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41992A-BCEA-FF0A-29B8-D54ED54F005D}"/>
              </a:ext>
            </a:extLst>
          </p:cNvPr>
          <p:cNvSpPr txBox="1"/>
          <p:nvPr/>
        </p:nvSpPr>
        <p:spPr>
          <a:xfrm>
            <a:off x="5350298" y="2254791"/>
            <a:ext cx="111510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ko-KR" sz="2000" b="1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  <a:cs typeface="Times New Roman" panose="02020603050405020304" pitchFamily="18" charset="0"/>
              </a:rPr>
              <a:t>Step 2</a:t>
            </a:r>
            <a:endParaRPr kumimoji="1" lang="en-US" altLang="ko-KR" sz="2000" dirty="0">
              <a:solidFill>
                <a:schemeClr val="tx1"/>
              </a:solidFill>
              <a:highlight>
                <a:srgbClr val="FFFF00"/>
              </a:highlight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553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2D0A-C8E3-5216-DAE9-C8C192036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8E0BDF3C-1BD1-0169-8BE9-1C6164A50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5" y="0"/>
            <a:ext cx="12192000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 err="1"/>
              <a:t>DynamicDet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503FCA-203E-0436-7302-75EFE0B471AE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5546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Firstly, we jointly train the cascaded detectors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 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 and the training objective is </a:t>
                </a:r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ea typeface="+mj-ea"/>
                          </a:rPr>
                          <m:t>min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,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1" lang="en-US" altLang="ko-KR" i="1">
                            <a:ea typeface="+mj-ea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{1}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 + </m:t>
                        </m:r>
                        <m:sSubSup>
                          <m:sSubSupPr>
                            <m:ctrlPr>
                              <a:rPr kumimoji="1" lang="en-US" altLang="ko-KR" i="1">
                                <a:ea typeface="+mj-ea"/>
                              </a:rPr>
                            </m:ctrlPr>
                          </m:sSubSupPr>
                          <m:e>
                            <m:r>
                              <a:rPr kumimoji="1" lang="en-US" altLang="ko-KR" i="1">
                                <a:ea typeface="+mj-ea"/>
                              </a:rPr>
                              <m:t>𝐿</m:t>
                            </m:r>
                          </m:e>
                          <m:sub>
                            <m:r>
                              <a:rPr kumimoji="1" lang="en-US" altLang="ko-KR" i="1">
                                <a:ea typeface="+mj-ea"/>
                              </a:rPr>
                              <m:t>𝑑𝑒𝑡</m:t>
                            </m:r>
                          </m:sub>
                          <m:sup>
                            <m:r>
                              <a:rPr kumimoji="1" lang="en-US" altLang="ko-KR" i="1">
                                <a:ea typeface="+mj-ea"/>
                              </a:rPr>
                              <m:t>{2}</m:t>
                            </m:r>
                          </m:sup>
                        </m:sSubSup>
                        <m:r>
                          <a:rPr kumimoji="1" lang="en-US" altLang="ko-KR" i="1">
                            <a:ea typeface="+mj-ea"/>
                          </a:rPr>
                          <m:t>(</m:t>
                        </m:r>
                        <m:r>
                          <a:rPr kumimoji="1" lang="en-US" altLang="ko-KR" i="1">
                            <a:ea typeface="+mj-ea"/>
                          </a:rPr>
                          <m:t>𝑥</m:t>
                        </m:r>
                        <m:r>
                          <a:rPr kumimoji="1" lang="en-US" altLang="ko-KR" i="1">
                            <a:ea typeface="+mj-ea"/>
                          </a:rPr>
                          <m:t>, </m:t>
                        </m:r>
                        <m:r>
                          <a:rPr kumimoji="1" lang="en-US" altLang="ko-KR" i="1">
                            <a:ea typeface="+mj-ea"/>
                          </a:rPr>
                          <m:t>𝑦</m:t>
                        </m:r>
                        <m:r>
                          <a:rPr kumimoji="1" lang="en-US" altLang="ko-KR" i="1">
                            <a:ea typeface="+mj-ea"/>
                          </a:rPr>
                          <m:t>|</m:t>
                        </m:r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ea typeface="+mj-ea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  <a:cs typeface="Times New Roman" panose="020206030504050203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  <a:cs typeface="Times New Roman" panose="02020603050405020304" pitchFamily="18" charset="0"/>
                  </a:rPr>
                  <a:t>The median of the training loss difference on the training set</a:t>
                </a:r>
                <a:r>
                  <a:rPr kumimoji="1" lang="en-US" altLang="ko-KR" dirty="0">
                    <a:ea typeface="+mj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i="1">
                        <a:ea typeface="+mj-ea"/>
                      </a:rPr>
                      <m:t>Δ</m:t>
                    </m:r>
                    <m:r>
                      <a:rPr kumimoji="1" lang="en-US" altLang="ko-KR" i="1">
                        <a:ea typeface="+mj-ea"/>
                      </a:rPr>
                      <m:t>=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{1}</m:t>
                        </m:r>
                      </m:sup>
                    </m:sSubSup>
                    <m:r>
                      <a:rPr kumimoji="1" lang="en-US" altLang="ko-KR" i="1">
                        <a:ea typeface="+mj-ea"/>
                      </a:rPr>
                      <m:t> −</m:t>
                    </m:r>
                    <m:sSubSup>
                      <m:sSubSupPr>
                        <m:ctrlPr>
                          <a:rPr kumimoji="1" lang="en-US" altLang="ko-KR" i="1">
                            <a:ea typeface="+mj-ea"/>
                          </a:rPr>
                        </m:ctrlPr>
                      </m:sSubSupPr>
                      <m:e>
                        <m:r>
                          <a:rPr kumimoji="1" lang="en-US" altLang="ko-KR" i="1">
                            <a:ea typeface="+mj-ea"/>
                          </a:rPr>
                          <m:t>𝐿</m:t>
                        </m:r>
                      </m:e>
                      <m:sub>
                        <m:r>
                          <a:rPr kumimoji="1" lang="en-US" altLang="ko-KR" i="1">
                            <a:ea typeface="+mj-ea"/>
                          </a:rPr>
                          <m:t>𝑑𝑒𝑡</m:t>
                        </m:r>
                      </m:sub>
                      <m:sup>
                        <m:r>
                          <a:rPr kumimoji="1" lang="en-US" altLang="ko-KR" i="1">
                            <a:ea typeface="+mj-ea"/>
                          </a:rPr>
                          <m:t>{2}</m:t>
                        </m:r>
                      </m:sup>
                    </m:sSubSup>
                  </m:oMath>
                </a14:m>
                <a:endParaRPr kumimoji="1"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Then, we train the adaptive router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i="1">
                            <a:ea typeface="+mj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ea typeface="+mj-ea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ea typeface="+mj-ea"/>
                          </a:rPr>
                          <m:t>🔥</m:t>
                        </m:r>
                      </m:e>
                    </m:d>
                  </m:oMath>
                </a14:m>
                <a:r>
                  <a:rPr lang="en-US" altLang="ko-KR" dirty="0">
                    <a:ea typeface="+mj-ea"/>
                  </a:rPr>
                  <a:t>,</a:t>
                </a:r>
                <a:r>
                  <a:rPr lang="en-US" altLang="ko-KR" dirty="0">
                    <a:solidFill>
                      <a:schemeClr val="accent1"/>
                    </a:solidFill>
                    <a:ea typeface="+mj-ea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  <m:r>
                      <a:rPr kumimoji="1" lang="en-US" altLang="ko-KR" i="1">
                        <a:solidFill>
                          <a:schemeClr val="accent1"/>
                        </a:solidFill>
                        <a:ea typeface="+mj-ea"/>
                      </a:rPr>
                      <m:t>,</m:t>
                    </m:r>
                    <m:sSub>
                      <m:sSubPr>
                        <m:ctrlPr>
                          <a:rPr kumimoji="1" lang="en-US" altLang="ko-KR" i="1" smtClean="0">
                            <a:solidFill>
                              <a:schemeClr val="accent1"/>
                            </a:solidFill>
                            <a:ea typeface="+mj-ea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𝜃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accent1"/>
                            </a:solidFill>
                            <a:ea typeface="+mj-ea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>
                        <a:ea typeface="+mj-ea"/>
                      </a:rPr>
                      <m:t>❄️</m:t>
                    </m:r>
                  </m:oMath>
                </a14:m>
                <a:br>
                  <a:rPr lang="en-US" altLang="ko-KR" dirty="0">
                    <a:ea typeface="+mj-ea"/>
                  </a:rPr>
                </a:b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>
                        <a:latin typeface="Cambria Math" panose="02040503050406030204" pitchFamily="18" charset="0"/>
                      </a:rPr>
                      <m:t>mi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1" lang="en-US" altLang="ko-KR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b>
                        <m:sSub>
                          <m:sSubPr>
                            <m:ctrlP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  <m:r>
                          <a:rPr kumimoji="1"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d>
                      <m:d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</m:d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{1}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+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𝑑𝑒𝑡</m:t>
                                </m:r>
                              </m:sub>
                              <m:sup>
                                <m:r>
                                  <a:rPr kumimoji="1" lang="en-US" altLang="ko-KR" i="1">
                                    <a:latin typeface="Cambria Math" panose="02040503050406030204" pitchFamily="18" charset="0"/>
                                  </a:rPr>
                                  <m:t>{2}</m:t>
                                </m:r>
                              </m:sup>
                            </m:sSubSup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ko-KR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kumimoji="1" lang="en-US" altLang="ko-KR" i="1">
                                <a:solidFill>
                                  <a:srgbClr val="FF0000"/>
                                </a:solidFill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/2</m:t>
                            </m:r>
                          </m:e>
                        </m:d>
                      </m:e>
                    </m:d>
                  </m:oMath>
                </a14:m>
                <a:endParaRPr lang="en-US" altLang="ko-KR" sz="1500" dirty="0">
                  <a:sym typeface="Wingdings" pitchFamily="2" charset="2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endParaRPr lang="en-US" altLang="ko-KR" dirty="0">
                  <a:ea typeface="+mj-ea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Variable-speed inference (how to g</a:t>
                </a:r>
                <a:r>
                  <a:rPr lang="en-US" altLang="ko-KR" dirty="0">
                    <a:solidFill>
                      <a:schemeClr val="tx1"/>
                    </a:solidFill>
                    <a:ea typeface="+mj-ea"/>
                  </a:rPr>
                  <a:t>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kumimoji="1" lang="en-US" altLang="ko-KR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ko-KR" i="1">
                            <a:solidFill>
                              <a:schemeClr val="tx1"/>
                            </a:solidFill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lang="en-US" altLang="ko-KR" dirty="0">
                    <a:ea typeface="+mj-ea"/>
                  </a:rPr>
                  <a:t>?)</a:t>
                </a:r>
              </a:p>
              <a:p>
                <a:pPr marL="914400" lvl="1" indent="-457200"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 maximum allowable proportion of the “hard” image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– </m:t>
                        </m:r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, 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ko-KR" i="1" dirty="0"/>
              </a:p>
              <a:p>
                <a:pPr marL="914400" lvl="1" indent="-457200">
                  <a:buFontTx/>
                  <a:buAutoNum type="arabicPeriod"/>
                  <a:tabLst>
                    <a:tab pos="6530975" algn="l"/>
                  </a:tabLst>
                </a:pPr>
                <a:r>
                  <a:rPr lang="ko-KR" altLang="en-US" dirty="0"/>
                  <a:t>we </a:t>
                </a:r>
                <a:r>
                  <a:rPr lang="ko-KR" altLang="en-US" dirty="0" err="1"/>
                  <a:t>count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the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difficulty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scores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lang="ko-KR" altLang="en-US" dirty="0"/>
                  <a:t> of </a:t>
                </a:r>
                <a:r>
                  <a:rPr lang="ko-KR" altLang="en-US" dirty="0" err="1"/>
                  <a:t>the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validation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set</a:t>
                </a:r>
                <a:r>
                  <a:rPr lang="en-US" altLang="ko-KR" dirty="0"/>
                  <a:t>.</a:t>
                </a:r>
                <a:endParaRPr kumimoji="1" lang="en-US" altLang="ko-KR" i="1" dirty="0">
                  <a:latin typeface="Cambria Math" panose="02040503050406030204" pitchFamily="18" charset="0"/>
                </a:endParaRPr>
              </a:p>
              <a:p>
                <a:pPr marL="914400" lvl="1" indent="-457200">
                  <a:buFontTx/>
                  <a:buAutoNum type="arabicPeriod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a:rPr lang="en-US" altLang="ko-KR" b="0" i="0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b>
                      <m:sSubPr>
                        <m:ctrlPr>
                          <a:rPr lang="en-US" altLang="ko-KR" b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j-ea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+mj-ea"/>
                          </a:rPr>
                          <m:t>val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percentile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endParaRPr lang="en-US" altLang="ko-KR" b="0" dirty="0">
                  <a:ea typeface="+mj-ea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5503FCA-203E-0436-7302-75EFE0B47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5546903"/>
              </a:xfrm>
              <a:prstGeom prst="rect">
                <a:avLst/>
              </a:prstGeom>
              <a:blipFill>
                <a:blip r:embed="rId3"/>
                <a:stretch>
                  <a:fillRect l="-531" b="-2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>
            <a:extLst>
              <a:ext uri="{FF2B5EF4-FFF2-40B4-BE49-F238E27FC236}">
                <a16:creationId xmlns:a16="http://schemas.microsoft.com/office/drawing/2014/main" id="{A34169FC-8559-D66D-4894-5831123838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956" r="12302" b="17564"/>
          <a:stretch>
            <a:fillRect/>
          </a:stretch>
        </p:blipFill>
        <p:spPr>
          <a:xfrm>
            <a:off x="8867775" y="1208506"/>
            <a:ext cx="3321930" cy="14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306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F1CD3-550C-CED8-343C-B6D88BEF2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B95D48AA-CEC5-62F2-81B1-CEEE8305F47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</p:spPr>
            <p:txBody>
              <a:bodyPr anchor="ctr"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altLang="ko-KR" dirty="0"/>
                  <a:t>Variable-speed inference (how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kumimoji="1" lang="en-US" altLang="ko-KR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kumimoji="1" lang="en-US" altLang="ko-KR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lang="en-US" altLang="ko-KR" dirty="0"/>
                  <a:t>?)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&gt;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Example</a:t>
                </a:r>
                <a:endParaRPr kumimoji="1" lang="en-US" altLang="ko-KR" b="1" dirty="0">
                  <a:latin typeface="+mj-lt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제목 26">
                <a:extLst>
                  <a:ext uri="{FF2B5EF4-FFF2-40B4-BE49-F238E27FC236}">
                    <a16:creationId xmlns:a16="http://schemas.microsoft.com/office/drawing/2014/main" id="{B95D48AA-CEC5-62F2-81B1-CEEE8305F4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-2295" y="0"/>
                <a:ext cx="12192000" cy="677163"/>
              </a:xfrm>
              <a:blipFill>
                <a:blip r:embed="rId3"/>
                <a:stretch>
                  <a:fillRect l="-937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DE95A9-3509-7F48-2A6B-F6F693C0D2A5}"/>
                  </a:ext>
                </a:extLst>
              </p:cNvPr>
              <p:cNvSpPr txBox="1"/>
              <p:nvPr/>
            </p:nvSpPr>
            <p:spPr>
              <a:xfrm>
                <a:off x="119808" y="677163"/>
                <a:ext cx="11952383" cy="586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en-US" altLang="ko-KR" dirty="0">
                    <a:ea typeface="+mj-ea"/>
                  </a:rPr>
                  <a:t>the maximum allowable proportion of the “hard” image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– </m:t>
                        </m:r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𝑙𝑎𝑡</m:t>
                            </m:r>
                          </m:e>
                          <m:sub>
                            <m:r>
                              <a:rPr kumimoji="1" lang="en-US" altLang="ko-KR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, 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kumimoji="1" lang="en-US" altLang="ko-KR" i="1" dirty="0"/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sty m:val="p"/>
                      </m:rPr>
                      <a:rPr kumimoji="1" lang="en-US" altLang="ko-KR" b="0" i="1" smtClean="0">
                        <a:latin typeface="Cambria Math" panose="02040503050406030204" pitchFamily="18" charset="0"/>
                      </a:rPr>
                      <m:t>ms</m:t>
                    </m:r>
                  </m:oMath>
                </a14:m>
                <a:endParaRPr kumimoji="1" lang="en-US" altLang="ko-KR" i="1" dirty="0"/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kumimoji="1" lang="en-US" altLang="ko-KR" i="1">
                        <a:latin typeface="Cambria Math" panose="02040503050406030204" pitchFamily="18" charset="0"/>
                      </a:rPr>
                      <m:t>ms</m:t>
                    </m:r>
                  </m:oMath>
                </a14:m>
                <a:endParaRPr kumimoji="1" lang="en-US" altLang="ko-KR" i="1" dirty="0"/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𝑙𝑎𝑡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ko-KR" i="1">
                        <a:latin typeface="Cambria Math" panose="02040503050406030204" pitchFamily="18" charset="0"/>
                      </a:rPr>
                      <m:t>=1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kumimoji="1" lang="en-US" altLang="ko-KR" i="1">
                        <a:latin typeface="Cambria Math" panose="02040503050406030204" pitchFamily="18" charset="0"/>
                      </a:rPr>
                      <m:t>ms</m:t>
                    </m:r>
                  </m:oMath>
                </a14:m>
                <a:r>
                  <a:rPr kumimoji="1" lang="en-US" altLang="ko-KR" dirty="0"/>
                  <a:t> (target latency)</a:t>
                </a: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–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–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=0.25</m:t>
                    </m:r>
                  </m:oMath>
                </a14:m>
                <a:r>
                  <a:rPr kumimoji="1" lang="en-US" altLang="ko-KR" i="1" dirty="0"/>
                  <a:t> </a:t>
                </a:r>
                <a:r>
                  <a:rPr kumimoji="1" lang="en-US" altLang="ko-KR" dirty="0"/>
                  <a:t>(target latency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맞추기 위해 </a:t>
                </a:r>
                <a:r>
                  <a:rPr kumimoji="1" lang="en-US" altLang="ko-KR" dirty="0"/>
                  <a:t>25%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”hard”</a:t>
                </a:r>
                <a:r>
                  <a:rPr kumimoji="1" lang="ko-KR" altLang="en-US" dirty="0"/>
                  <a:t>로</a:t>
                </a:r>
                <a:r>
                  <a:rPr kumimoji="1" lang="en-US" altLang="ko-KR" dirty="0"/>
                  <a:t>,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75%</a:t>
                </a:r>
                <a:r>
                  <a:rPr kumimoji="1" lang="ko-KR" altLang="en-US" dirty="0" err="1"/>
                  <a:t>를</a:t>
                </a:r>
                <a:r>
                  <a:rPr kumimoji="1" lang="ko-KR" altLang="en-US" dirty="0"/>
                  <a:t> </a:t>
                </a:r>
                <a:r>
                  <a:rPr kumimoji="1" lang="en-US" altLang="ko-KR" dirty="0"/>
                  <a:t>“easy”</a:t>
                </a:r>
                <a:r>
                  <a:rPr kumimoji="1" lang="ko-KR" altLang="en-US" dirty="0"/>
                  <a:t>로 해야 함</a:t>
                </a:r>
                <a:r>
                  <a:rPr kumimoji="1" lang="en-US" altLang="ko-KR" dirty="0"/>
                  <a:t>)</a:t>
                </a: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:endParaRPr kumimoji="1" lang="en-US" altLang="ko-KR" i="1" dirty="0"/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:r>
                  <a:rPr lang="ko-KR" altLang="en-US" dirty="0"/>
                  <a:t>we </a:t>
                </a:r>
                <a:r>
                  <a:rPr lang="ko-KR" altLang="en-US" dirty="0" err="1"/>
                  <a:t>count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the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difficulty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scores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lang="ko-KR" altLang="en-US" dirty="0"/>
                  <a:t> of </a:t>
                </a:r>
                <a:r>
                  <a:rPr lang="ko-KR" altLang="en-US" dirty="0" err="1"/>
                  <a:t>the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validation</a:t>
                </a:r>
                <a:r>
                  <a:rPr lang="ko-KR" altLang="en-US" dirty="0"/>
                  <a:t> </a:t>
                </a:r>
                <a:r>
                  <a:rPr lang="ko-KR" altLang="en-US" dirty="0" err="1"/>
                  <a:t>set</a:t>
                </a:r>
                <a:r>
                  <a:rPr lang="en-US" altLang="ko-KR" dirty="0"/>
                  <a:t>.</a:t>
                </a:r>
                <a:endParaRPr kumimoji="1" lang="en-US" altLang="ko-KR" i="1" dirty="0"/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kumimoji="1" lang="en-US" altLang="ko-KR" dirty="0">
                    <a:latin typeface="Cambria Math" panose="02040503050406030204" pitchFamily="18" charset="0"/>
                  </a:rPr>
                  <a:t>: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[Validation image 1,000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장을 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router</a:t>
                </a:r>
                <a:r>
                  <a:rPr kumimoji="1" lang="ko-KR" altLang="en-US" dirty="0" err="1">
                    <a:latin typeface="Cambria Math" panose="02040503050406030204" pitchFamily="18" charset="0"/>
                  </a:rPr>
                  <a:t>에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 넣고 각각의 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difficulty score (0~1)</a:t>
                </a:r>
                <a:r>
                  <a:rPr kumimoji="1" lang="ko-KR" altLang="en-US" dirty="0" err="1">
                    <a:latin typeface="Cambria Math" panose="02040503050406030204" pitchFamily="18" charset="0"/>
                  </a:rPr>
                  <a:t>를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 뽑아서 모아둠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]</a:t>
                </a: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:endParaRPr kumimoji="1" lang="en-US" altLang="ko-KR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150000"/>
                  </a:lnSpc>
                  <a:buFontTx/>
                  <a:buAutoNum type="arabicPeriod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sSub>
                      <m:sSubPr>
                        <m:ctrlPr>
                          <a:rPr lang="en-US" altLang="ko-KR" b="0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+mj-ea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  <a:ea typeface="+mj-ea"/>
                          </a:rPr>
                          <m:t>val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perc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entile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endParaRPr kumimoji="1" lang="en-US" altLang="ko-KR" i="1" dirty="0"/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𝑣𝑎𝑙</m:t>
                        </m:r>
                      </m:sub>
                    </m:sSub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: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al</m:t>
                        </m:r>
                      </m:sub>
                    </m:sSub>
                  </m:oMath>
                </a14:m>
                <a:r>
                  <a:rPr kumimoji="1" lang="ko-KR" altLang="en-US" dirty="0">
                    <a:latin typeface="Cambria Math" panose="02040503050406030204" pitchFamily="18" charset="0"/>
                  </a:rPr>
                  <a:t> 중 상위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en-US" altLang="ko-KR" dirty="0">
                    <a:latin typeface="Cambria Math" panose="02040503050406030204" pitchFamily="18" charset="0"/>
                  </a:rPr>
                  <a:t> (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즉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,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 상위 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25%)</a:t>
                </a:r>
                <a:r>
                  <a:rPr kumimoji="1" lang="ko-KR" altLang="en-US" dirty="0" err="1">
                    <a:latin typeface="Cambria Math" panose="02040503050406030204" pitchFamily="18" charset="0"/>
                  </a:rPr>
                  <a:t>에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 해당하는 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difficulty score</a:t>
                </a:r>
                <a:r>
                  <a:rPr kumimoji="1" lang="ko-KR" altLang="en-US" dirty="0">
                    <a:latin typeface="Cambria Math" panose="02040503050406030204" pitchFamily="18" charset="0"/>
                  </a:rPr>
                  <a:t> </a:t>
                </a:r>
                <a:r>
                  <a:rPr kumimoji="1" lang="en-US" altLang="ko-KR" dirty="0">
                    <a:latin typeface="Cambria Math" panose="02040503050406030204" pitchFamily="18" charset="0"/>
                  </a:rPr>
                  <a:t>(ex: 0.6)</a:t>
                </a: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≤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=0.6 ? “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easy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” : “</m:t>
                    </m:r>
                    <m:r>
                      <m:rPr>
                        <m:sty m:val="p"/>
                      </m:rPr>
                      <a:rPr lang="en-US" altLang="ko-KR" b="0" i="1" smtClean="0">
                        <a:latin typeface="Cambria Math" panose="02040503050406030204" pitchFamily="18" charset="0"/>
                      </a:rPr>
                      <m:t>hard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”</m:t>
                    </m:r>
                  </m:oMath>
                </a14:m>
                <a:r>
                  <a:rPr kumimoji="1" lang="en-US" altLang="ko-KR" dirty="0">
                    <a:latin typeface="Cambria Math" panose="02040503050406030204" pitchFamily="18" charset="0"/>
                  </a:rPr>
                  <a:t> </a:t>
                </a:r>
              </a:p>
              <a:p>
                <a:pPr marL="914400" lvl="1" indent="-45720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6530975" algn="l"/>
                  </a:tabLst>
                </a:pPr>
                <a:endParaRPr kumimoji="1" lang="en-US" altLang="ko-KR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ADE95A9-3509-7F48-2A6B-F6F693C0D2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08" y="677163"/>
                <a:ext cx="11952383" cy="5864169"/>
              </a:xfrm>
              <a:prstGeom prst="rect">
                <a:avLst/>
              </a:prstGeom>
              <a:blipFill>
                <a:blip r:embed="rId4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749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0C415-9BC4-0479-5479-6B4D445A9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66064574-AFAB-996C-D4D5-562CBC1D1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6" y="0"/>
            <a:ext cx="12400483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Experiments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B25EA-8317-757A-3878-508A6F26CC63}"/>
              </a:ext>
            </a:extLst>
          </p:cNvPr>
          <p:cNvSpPr txBox="1"/>
          <p:nvPr/>
        </p:nvSpPr>
        <p:spPr>
          <a:xfrm>
            <a:off x="119808" y="677163"/>
            <a:ext cx="11952383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We use brief notation to indicate the easy-hard proportion for each dynamic detector: </a:t>
            </a:r>
            <a:br>
              <a:rPr kumimoji="1" lang="en-US" altLang="ko-KR" dirty="0">
                <a:latin typeface="+mn-ea"/>
                <a:cs typeface="Times New Roman" panose="02020603050405020304" pitchFamily="18" charset="0"/>
              </a:rPr>
            </a:br>
            <a:r>
              <a:rPr kumimoji="1" lang="en-US" altLang="ko-KR" dirty="0">
                <a:latin typeface="+mn-ea"/>
                <a:cs typeface="Times New Roman" panose="02020603050405020304" pitchFamily="18" charset="0"/>
              </a:rPr>
              <a:t>for instance, “Dy-YOLOv7-X/10” means the dynamic YOLOv7-X model with 10% images are classified as “hard” and the rest are classified as “easy”.</a:t>
            </a:r>
          </a:p>
        </p:txBody>
      </p:sp>
    </p:spTree>
    <p:extLst>
      <p:ext uri="{BB962C8B-B14F-4D97-AF65-F5344CB8AC3E}">
        <p14:creationId xmlns:p14="http://schemas.microsoft.com/office/powerpoint/2010/main" val="28208089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0A5A4-6D4E-4F4F-1BE9-E1B126F4E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26">
            <a:extLst>
              <a:ext uri="{FF2B5EF4-FFF2-40B4-BE49-F238E27FC236}">
                <a16:creationId xmlns:a16="http://schemas.microsoft.com/office/drawing/2014/main" id="{5C1F21FE-2A17-EE4D-065B-8F08CA405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296" y="0"/>
            <a:ext cx="12400483" cy="67716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ko-KR" dirty="0"/>
              <a:t>Experiments</a:t>
            </a:r>
            <a:endParaRPr kumimoji="1" lang="en-US" altLang="ko-KR" b="1" dirty="0"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33AB01-F189-06A0-F1C6-6D482BF66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7163"/>
            <a:ext cx="3440209" cy="61808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13F5A81-8A0B-14AD-8434-8533312ADCA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98"/>
          <a:stretch>
            <a:fillRect/>
          </a:stretch>
        </p:blipFill>
        <p:spPr>
          <a:xfrm>
            <a:off x="3440209" y="2324688"/>
            <a:ext cx="8751791" cy="29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740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18631</TotalTime>
  <Words>1169</Words>
  <Application>Microsoft Macintosh PowerPoint</Application>
  <PresentationFormat>와이드스크린</PresentationFormat>
  <Paragraphs>185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맑은 고딕</vt:lpstr>
      <vt:lpstr>Arial</vt:lpstr>
      <vt:lpstr>Cambria Math</vt:lpstr>
      <vt:lpstr>Times New Roman</vt:lpstr>
      <vt:lpstr>Wingdings</vt:lpstr>
      <vt:lpstr>Office 테마</vt:lpstr>
      <vt:lpstr>PowerPoint 프레젠테이션</vt:lpstr>
      <vt:lpstr>Motivation</vt:lpstr>
      <vt:lpstr>DynamicDet &gt; Overall architecture</vt:lpstr>
      <vt:lpstr>DynamicDet &gt; Overall architecture</vt:lpstr>
      <vt:lpstr>DynamicDet &gt; Overall architecture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 &gt; Optimization strategy</vt:lpstr>
      <vt:lpstr>DynamicDet</vt:lpstr>
      <vt:lpstr>DynamicDet &gt; Overall architecture</vt:lpstr>
      <vt:lpstr>DynamicDet</vt:lpstr>
      <vt:lpstr>Variable-speed inference (how to get τ_val?) &gt; Example</vt:lpstr>
      <vt:lpstr>Experiments</vt:lpstr>
      <vt:lpstr>Experiments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형섭 이</dc:creator>
  <cp:lastModifiedBy>이형섭/임베디드시스템공학과</cp:lastModifiedBy>
  <cp:revision>3936</cp:revision>
  <cp:lastPrinted>2025-10-29T03:35:47Z</cp:lastPrinted>
  <dcterms:created xsi:type="dcterms:W3CDTF">2023-10-11T13:31:20Z</dcterms:created>
  <dcterms:modified xsi:type="dcterms:W3CDTF">2026-04-07T08:06:37Z</dcterms:modified>
</cp:coreProperties>
</file>