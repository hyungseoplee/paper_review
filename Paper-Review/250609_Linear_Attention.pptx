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373" r:id="rId4"/>
    <p:sldId id="334" r:id="rId5"/>
    <p:sldId id="340" r:id="rId6"/>
    <p:sldId id="341" r:id="rId7"/>
    <p:sldId id="370" r:id="rId8"/>
    <p:sldId id="343" r:id="rId9"/>
    <p:sldId id="344" r:id="rId10"/>
    <p:sldId id="347" r:id="rId11"/>
    <p:sldId id="345" r:id="rId12"/>
    <p:sldId id="348" r:id="rId13"/>
    <p:sldId id="349" r:id="rId14"/>
    <p:sldId id="350" r:id="rId15"/>
    <p:sldId id="351" r:id="rId16"/>
    <p:sldId id="371" r:id="rId17"/>
    <p:sldId id="355" r:id="rId18"/>
    <p:sldId id="356" r:id="rId19"/>
    <p:sldId id="357" r:id="rId20"/>
    <p:sldId id="359" r:id="rId21"/>
    <p:sldId id="360" r:id="rId22"/>
    <p:sldId id="361" r:id="rId23"/>
    <p:sldId id="362" r:id="rId24"/>
    <p:sldId id="368" r:id="rId25"/>
    <p:sldId id="365" r:id="rId26"/>
    <p:sldId id="366" r:id="rId27"/>
    <p:sldId id="372" r:id="rId28"/>
    <p:sldId id="374" r:id="rId29"/>
    <p:sldId id="375" r:id="rId30"/>
    <p:sldId id="376" r:id="rId31"/>
    <p:sldId id="385" r:id="rId32"/>
    <p:sldId id="387" r:id="rId33"/>
    <p:sldId id="388" r:id="rId34"/>
    <p:sldId id="389" r:id="rId35"/>
    <p:sldId id="390" r:id="rId36"/>
    <p:sldId id="391" r:id="rId37"/>
    <p:sldId id="392" r:id="rId38"/>
    <p:sldId id="393" r:id="rId39"/>
    <p:sldId id="394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논문 리뷰" id="{8F607E87-A14A-7C40-8752-24765BB272FF}">
          <p14:sldIdLst>
            <p14:sldId id="256"/>
          </p14:sldIdLst>
        </p14:section>
        <p14:section name="Recap: Softmax-based Attention" id="{4F2A77EA-8CC3-0047-BF85-802BB43D0D5D}">
          <p14:sldIdLst>
            <p14:sldId id="257"/>
            <p14:sldId id="373"/>
            <p14:sldId id="334"/>
            <p14:sldId id="340"/>
            <p14:sldId id="341"/>
          </p14:sldIdLst>
        </p14:section>
        <p14:section name="Related Works: Linear Attention" id="{5E18E9EA-D5B9-274B-913D-454E460D8DC4}">
          <p14:sldIdLst>
            <p14:sldId id="370"/>
          </p14:sldIdLst>
        </p14:section>
        <p14:section name="relatedworks: sparse attention matrix" id="{C43B481D-8CE3-A14E-8EF1-85F01E9B4BF2}">
          <p14:sldIdLst>
            <p14:sldId id="343"/>
          </p14:sldIdLst>
        </p14:section>
        <p14:section name="relatedworks: low-rank representations" id="{4116CDE2-10C3-5345-86AB-CC8E03765A3B}">
          <p14:sldIdLst>
            <p14:sldId id="344"/>
            <p14:sldId id="347"/>
          </p14:sldIdLst>
        </p14:section>
        <p14:section name="relatedwork: kernel-based" id="{6DE23704-47BF-464A-9DEF-F7F789C73E08}">
          <p14:sldIdLst>
            <p14:sldId id="345"/>
            <p14:sldId id="348"/>
            <p14:sldId id="349"/>
            <p14:sldId id="350"/>
            <p14:sldId id="351"/>
            <p14:sldId id="371"/>
            <p14:sldId id="355"/>
            <p14:sldId id="356"/>
            <p14:sldId id="357"/>
            <p14:sldId id="359"/>
            <p14:sldId id="360"/>
            <p14:sldId id="361"/>
            <p14:sldId id="362"/>
            <p14:sldId id="368"/>
            <p14:sldId id="365"/>
            <p14:sldId id="366"/>
          </p14:sldIdLst>
        </p14:section>
        <p14:section name="Linear Attention to my work" id="{D0C217A9-D085-F54E-9444-66CF42469142}">
          <p14:sldIdLst>
            <p14:sldId id="372"/>
            <p14:sldId id="374"/>
            <p14:sldId id="375"/>
            <p14:sldId id="376"/>
            <p14:sldId id="385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</p14:sldIdLst>
        </p14:section>
        <p14:section name="references" id="{7F7ABE5E-741F-4A4A-BC19-E120944D47CF}">
          <p14:sldIdLst/>
        </p14:section>
        <p14:section name="tmp" id="{A80DA209-1C45-FB46-A3C7-69E95094FC5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83FF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3"/>
    <p:restoredTop sz="87231"/>
  </p:normalViewPr>
  <p:slideViewPr>
    <p:cSldViewPr snapToGrid="0">
      <p:cViewPr>
        <p:scale>
          <a:sx n="157" d="100"/>
          <a:sy n="157" d="100"/>
        </p:scale>
        <p:origin x="36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09T03:50:03.8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67,'86'0,"-1"0,1 0,5 0,6 0,5 0,6 0,-29 0,5 0,2 0,3 0,1 0,1 0,1 0,-3 0,2 0,1 0,1 0,1 0,-1 0,-1 0,0 0,8 0,0 0,-1 0,0 0,-1 0,-3 0,-1 0,2 0,-1 0,-3 0,-1 0,-1 0,-3 0,7 0,-1 0,-2 0,-5 0,-8 0,5 0,-7 0,-3 0,1 0,-2 0,-11 0,19 0,-29 0,-32 0,-3 0,-2 0,5 0,1 0,19-1,3-3,23 0,-4-4,1 5,-13-3,-4 1,4 0,-2-1,9 4,-11 2,-9 0,0 0,-7 0,1 0,1-2,0 0,0-1,8-4,-7 5,5-3,-17 4,-4 1,-9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CD09A-058A-C54B-8839-AF06743A1D5A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D3C5E-06BF-4547-A315-150B76FC98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980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0508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9692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7B187-61CD-62DA-54F4-951CAC48A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C91E8F-02B6-0A44-D10D-0F2138E00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951EE6-89FE-2665-896B-E581E5E51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C15A4-9643-9F46-FA54-444903840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0466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CB43-B160-76A8-DB29-E0520C0E2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C597A1-E3C6-BB79-D4FD-A171BD4EB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CF6B3D-0E19-4850-6D55-ED6DAC4B7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B0CDB3-111A-A6E1-15F3-21305BA7D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016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9D46-C2F6-D879-7391-E065A89B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425F2A-E5AB-838C-6171-28AF4257F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ED2D61-B186-64CD-F251-16D92C659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703207-D0B1-D265-D44D-B02AF1BB3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8840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EE4EA-D03E-13A5-F37E-688774011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581C02-2163-686D-4035-94169DB0C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5A75BF-91F1-CD06-6795-791EEF2D0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BC1400-6CF9-BDC7-2FC5-CE5D47D49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4977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C6793-49FE-CA62-2F39-227079298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532DF5-23C2-A403-2AA4-0B8363404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7472B0-EB9F-360D-CD34-6825C3853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E3CD4D-09DC-4D73-88F9-08F477176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7264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68192-4D50-9CE7-D9F3-8D541186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E0FE9A-AE3C-F88A-C5B6-DA24F3A0E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2DCF53-64AD-1961-685B-9242ABCAF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0A711-1CF7-1ACA-A7C7-932881F9B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8532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021D2-9D2A-52BB-A8AD-6A6A63802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F23267-497B-5CAA-F45F-3BC2E63BC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689FAE-7581-BDC6-882B-646C627D7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951AC8-A16D-F87A-98F9-0AAB1603D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9522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4427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9FEE9-D9FF-A212-E49A-B6759C36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5B704A-0C8B-4486-00D8-F871AF048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78FED3-EC9B-2E30-C2C0-D50677144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15883C-E069-4747-413E-978928C1B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7576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604E0-F744-35BA-83AC-49EF7F99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CCFEB2-07EB-8FE2-5F98-5A1C192FD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735AB3-9C7F-96BF-8513-D8FD4D873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5DBDB3-C239-D73B-ECA2-72BC66310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641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60A5-5EB6-9FF7-420F-C66714A7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B28AF8-225C-78F5-30BA-AB1BD6D86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807E95-90DD-CAE0-27B4-48444C651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952355-0DE0-1CDD-433D-27478B920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00114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48E8-1D12-6F19-C2EB-B1F91403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F76AAF-C05B-E9B1-CC04-00D1FDF8C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BF789C-9079-323F-EF8E-FDA6B71FC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5B456C-7F14-F247-DB73-6FCB96906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9973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58B4C-CD8C-6F6F-7E14-C7F6EEE28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DD2C2-8BBF-39B7-CF11-17C96DCF5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5D31BD-5C50-0C1A-D112-B1525470B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FAC040-AB0F-4ADB-D759-61D19DF65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8831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94778-7A95-3F2D-40DB-8679342D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C25105-3BFA-81B3-8ED7-9EBAC272F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1903C2-A8A8-6CB9-CA0F-5EBBD1EC5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2D209-5537-CD0A-48C2-0C26CFB29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4493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B467-FFF5-9438-30B4-FA547ECE9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8C0FBE-4E3A-45BF-0269-ADD2914CD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92B814-41E8-2F0A-D4AB-F51ED0F10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FED718-FDE6-7E63-748F-A950D50EA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4502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5C9A-DACF-99E5-0936-E526A8084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0B96B9-695F-C6F1-178D-42670C102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698C63-EF42-336C-3F48-C0D75F2E9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2C8D2A-E946-1D54-0937-E91FEDBAE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7380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1375C-E2AF-778E-39B2-2265C2E8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0B08BA-075B-9E04-372D-F381C7F4C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026C32-69C9-2E73-E11B-A4AB4A1AA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397A2-ADCA-5CDC-6376-24C45B1F3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8984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D92A-E2F3-318B-0E87-898C7FDC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AEE1DE-B6EF-03A5-7CFC-22D195DF8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4D67CE-BCCF-1F0C-4342-6CAEF5F4F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그런데</a:t>
            </a:r>
            <a:r>
              <a:rPr kumimoji="1" lang="en-US" altLang="ko-KR" dirty="0"/>
              <a:t>… A non-linear re-weighting scheme</a:t>
            </a:r>
            <a:r>
              <a:rPr kumimoji="1" lang="ko-KR" altLang="en-US" dirty="0"/>
              <a:t>을 고려하지 않고 있었음</a:t>
            </a:r>
            <a:r>
              <a:rPr kumimoji="1" lang="en-US" altLang="ko-KR" dirty="0"/>
              <a:t>..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가중합으로 나눔으로써 정규화 </a:t>
            </a:r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>
                <a:sym typeface="Wingdings" pitchFamily="2" charset="2"/>
              </a:rPr>
              <a:t>이는 </a:t>
            </a:r>
            <a:r>
              <a:rPr kumimoji="1" lang="en-US" altLang="ko-KR" dirty="0">
                <a:sym typeface="Wingdings" pitchFamily="2" charset="2"/>
              </a:rPr>
              <a:t>non-linear re-weighting</a:t>
            </a:r>
            <a:r>
              <a:rPr kumimoji="1" lang="ko-KR" altLang="en-US" dirty="0">
                <a:sym typeface="Wingdings" pitchFamily="2" charset="2"/>
              </a:rPr>
              <a:t>임</a:t>
            </a:r>
            <a:endParaRPr kumimoji="1" lang="en-US" altLang="ko-KR" dirty="0">
              <a:sym typeface="Wingdings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 err="1">
                <a:sym typeface="Wingdings" pitchFamily="2" charset="2"/>
              </a:rPr>
              <a:t>ReLU</a:t>
            </a:r>
            <a:r>
              <a:rPr kumimoji="1" lang="ko-KR" altLang="en-US" dirty="0">
                <a:sym typeface="Wingdings" pitchFamily="2" charset="2"/>
              </a:rPr>
              <a:t>만 사용하면 </a:t>
            </a:r>
            <a:r>
              <a:rPr kumimoji="1" lang="en-US" altLang="ko-KR" dirty="0">
                <a:sym typeface="Wingdings" pitchFamily="2" charset="2"/>
              </a:rPr>
              <a:t>re-weighting scheme</a:t>
            </a:r>
            <a:r>
              <a:rPr kumimoji="1" lang="ko-KR" altLang="en-US" dirty="0">
                <a:sym typeface="Wingdings" pitchFamily="2" charset="2"/>
              </a:rPr>
              <a:t>이 없음</a:t>
            </a:r>
            <a:r>
              <a:rPr kumimoji="1" lang="en-US" altLang="ko-KR" dirty="0">
                <a:sym typeface="Wingdings" pitchFamily="2" charset="2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F3AB4A-E6D3-361D-BC0B-44F08AAA1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1883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8BA4D-8A88-B845-7AB9-9480DF3A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47C3A7-C741-AA30-F675-A2DE80785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40D344-6F76-9A8C-238B-057300E89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그래서 </a:t>
            </a:r>
            <a:r>
              <a:rPr kumimoji="1" lang="en-US" altLang="ko-KR" dirty="0"/>
              <a:t>cos-former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cosine </a:t>
            </a:r>
            <a:r>
              <a:rPr kumimoji="1" lang="ko-KR" altLang="en-US" dirty="0"/>
              <a:t>기반 </a:t>
            </a:r>
            <a:r>
              <a:rPr kumimoji="1" lang="en-US" altLang="ko-KR" dirty="0"/>
              <a:t>re-weighting scheme</a:t>
            </a:r>
            <a:r>
              <a:rPr kumimoji="1" lang="ko-KR" altLang="en-US" dirty="0"/>
              <a:t>을 도입함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02E893-AFBA-5EBE-89F7-59C92FF1B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67084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68A78-ED7A-9C99-410C-3697E24F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2BD2C5-C485-F59A-E9F5-9B99CB0FF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1AD1DC-5396-1BCD-C8F9-49436DEFF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36EA2C-8216-8225-3909-C16023E86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04903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B67B9-288D-A2B0-814C-5896F9A86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D2E965-3157-1C10-C355-5DE97222E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0A8F415C-EA1A-4CB0-5E01-7BE0E38669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ko-KR" altLang="en-US" dirty="0"/>
                  <a:t>그래서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ko-KR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kumimoji="1" lang="en-US" altLang="ko-KR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kumimoji="1" lang="ko-KR" altLang="en-US" dirty="0"/>
                  <a:t>은 </a:t>
                </a:r>
                <a:r>
                  <a:rPr kumimoji="1" lang="en-US" altLang="ko-KR" dirty="0"/>
                  <a:t>-1</a:t>
                </a:r>
                <a:r>
                  <a:rPr kumimoji="1" lang="ko-KR" altLang="en-US" dirty="0" err="1"/>
                  <a:t>부터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1</a:t>
                </a:r>
                <a:r>
                  <a:rPr kumimoji="1" lang="ko-KR" altLang="en-US" dirty="0"/>
                  <a:t>로 </a:t>
                </a:r>
                <a:r>
                  <a:rPr kumimoji="1" lang="ko-KR" altLang="en-US" dirty="0" err="1"/>
                  <a:t>정규화된</a:t>
                </a:r>
                <a:r>
                  <a:rPr kumimoji="1" lang="ko-KR" altLang="en-US" dirty="0"/>
                  <a:t> 거리를 의미함</a:t>
                </a:r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ko-KR" altLang="en-US" dirty="0"/>
                  <a:t>그래서 </a:t>
                </a:r>
                <a:r>
                  <a:rPr kumimoji="1" lang="en-US" altLang="ko-KR" dirty="0"/>
                  <a:t>cos(-pi/2) </a:t>
                </a:r>
                <a:r>
                  <a:rPr kumimoji="1" lang="ko-KR" altLang="en-US" dirty="0" err="1"/>
                  <a:t>부터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cos(pi/2)</a:t>
                </a:r>
                <a:r>
                  <a:rPr kumimoji="1" lang="ko-KR" altLang="en-US" dirty="0"/>
                  <a:t>까지만 잘라서 가져왔음</a:t>
                </a:r>
                <a:endParaRPr kumimoji="1" lang="en-US" altLang="ko-KR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0A8F415C-EA1A-4CB0-5E01-7BE0E38669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ko-KR" altLang="en-US" dirty="0"/>
                  <a:t>그래서 </a:t>
                </a:r>
                <a:r>
                  <a:rPr kumimoji="1" lang="en-US" altLang="ko-KR" sz="120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(𝑖−𝑗)/𝑀</a:t>
                </a:r>
                <a:r>
                  <a:rPr kumimoji="1" lang="ko-KR" altLang="en-US" dirty="0"/>
                  <a:t>은 </a:t>
                </a:r>
                <a:r>
                  <a:rPr kumimoji="1" lang="en-US" altLang="ko-KR" dirty="0"/>
                  <a:t>-1</a:t>
                </a:r>
                <a:r>
                  <a:rPr kumimoji="1" lang="ko-KR" altLang="en-US" dirty="0" err="1"/>
                  <a:t>부터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1</a:t>
                </a:r>
                <a:r>
                  <a:rPr kumimoji="1" lang="ko-KR" altLang="en-US" dirty="0"/>
                  <a:t>로 </a:t>
                </a:r>
                <a:r>
                  <a:rPr kumimoji="1" lang="ko-KR" altLang="en-US" dirty="0" err="1"/>
                  <a:t>정규화된</a:t>
                </a:r>
                <a:r>
                  <a:rPr kumimoji="1" lang="ko-KR" altLang="en-US" dirty="0"/>
                  <a:t> 거리를 의미함</a:t>
                </a:r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ko-KR" altLang="en-US" dirty="0"/>
                  <a:t>그래서 </a:t>
                </a:r>
                <a:r>
                  <a:rPr kumimoji="1" lang="en-US" altLang="ko-KR" dirty="0"/>
                  <a:t>cos(-pi/2) </a:t>
                </a:r>
                <a:r>
                  <a:rPr kumimoji="1" lang="ko-KR" altLang="en-US" dirty="0" err="1"/>
                  <a:t>부터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cos(pi/2)</a:t>
                </a:r>
                <a:r>
                  <a:rPr kumimoji="1" lang="ko-KR" altLang="en-US" dirty="0"/>
                  <a:t>까지만 잘라서 가져왔음</a:t>
                </a:r>
                <a:endParaRPr kumimoji="1" lang="en-US" altLang="ko-KR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56E85-AB78-28BD-B33B-471BD83D8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3430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A0E4C-5EBC-8CB7-2070-97EBF9B33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ED9BA9-2199-B4CF-1CE3-CFE37BEE9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FED26D-AC9E-D997-5864-2001933E3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따라서 가까이에 있는 </a:t>
            </a:r>
            <a:r>
              <a:rPr kumimoji="1" lang="en-US" altLang="ko-KR" dirty="0"/>
              <a:t>token. </a:t>
            </a:r>
            <a:r>
              <a:rPr kumimoji="1" lang="ko-KR" altLang="en-US" dirty="0"/>
              <a:t>즉 서로 인접한 </a:t>
            </a:r>
            <a:r>
              <a:rPr kumimoji="1" lang="en-US" altLang="ko-KR" dirty="0"/>
              <a:t>token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대해서는 </a:t>
            </a:r>
            <a:r>
              <a:rPr kumimoji="1" lang="en-US" altLang="ko-KR" dirty="0"/>
              <a:t>weight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로 주고</a:t>
            </a:r>
            <a:endParaRPr kumimoji="1" lang="en-US" altLang="ko-KR" dirty="0"/>
          </a:p>
          <a:p>
            <a:r>
              <a:rPr kumimoji="1" lang="ko-KR" altLang="en-US" dirty="0"/>
              <a:t>서로 멀리 </a:t>
            </a:r>
            <a:r>
              <a:rPr kumimoji="1" lang="ko-KR" altLang="en-US" dirty="0" err="1"/>
              <a:t>떨어져있는</a:t>
            </a:r>
            <a:r>
              <a:rPr kumimoji="1" lang="ko-KR" altLang="en-US" dirty="0"/>
              <a:t> </a:t>
            </a:r>
            <a:r>
              <a:rPr kumimoji="1" lang="en-US" altLang="ko-KR" dirty="0"/>
              <a:t>token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대해서는 </a:t>
            </a:r>
            <a:r>
              <a:rPr kumimoji="1" lang="en-US" altLang="ko-KR" dirty="0"/>
              <a:t>weight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줘서</a:t>
            </a:r>
            <a:r>
              <a:rPr kumimoji="1" lang="en-US" altLang="ko-KR" dirty="0"/>
              <a:t> re-weighting</a:t>
            </a:r>
            <a:r>
              <a:rPr kumimoji="1" lang="ko-KR" altLang="en-US" dirty="0"/>
              <a:t>하는 방법을 도입했다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A2CB64-2D00-E312-D036-3CAFC08F9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05666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836C-4A95-2D0F-7911-ADD4C0A70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F63A3F-29CF-6E77-D213-A4071A462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608781-609F-8CA5-D61C-A322D1BF6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ED299D-E022-DCE9-7FE7-0C12A2329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9233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8008-9819-6A66-83EC-F5D351334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B58CE1-1609-0AFD-4994-5F7ACF682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A6DBBB-2410-75CA-66FD-177DA5629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5C880E-5A38-8259-C302-4D02A7553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039137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9C72-4A4A-1BBA-D89F-E732E2D9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064B4-E0D0-A140-EDC5-F91821D05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155332-F268-1059-E478-D0E74A510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49C49-748C-7B9E-9034-FB31923A5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97661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B6DD-AB22-1AAA-4202-D97BB798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6727BF-5FC6-3182-249F-0E670AC6F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35D243-9643-0EC1-9B7C-D2595295B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지금 투고중인 논문에서는 </a:t>
            </a:r>
            <a:r>
              <a:rPr kumimoji="1" lang="en-US" altLang="ko-KR" sz="1200" b="0" dirty="0">
                <a:latin typeface="+mj-lt"/>
              </a:rPr>
              <a:t>cross attention</a:t>
            </a:r>
            <a:r>
              <a:rPr kumimoji="1" lang="ko-KR" altLang="en-US" sz="1200" b="0" dirty="0">
                <a:latin typeface="+mj-lt"/>
              </a:rPr>
              <a:t>의 경량화를 위해 가장 작은 해상도를 갖는 </a:t>
            </a:r>
            <a:r>
              <a:rPr kumimoji="1" lang="en-US" altLang="ko-KR" sz="1200" b="0" dirty="0">
                <a:latin typeface="+mj-lt"/>
              </a:rPr>
              <a:t>feature map</a:t>
            </a:r>
            <a:r>
              <a:rPr kumimoji="1" lang="ko-KR" altLang="en-US" sz="1200" b="0" dirty="0">
                <a:latin typeface="+mj-lt"/>
              </a:rPr>
              <a:t>의 </a:t>
            </a:r>
            <a:r>
              <a:rPr kumimoji="1" lang="en-US" altLang="ko-KR" sz="1200" b="0" dirty="0">
                <a:latin typeface="+mj-lt"/>
              </a:rPr>
              <a:t>sequence length N</a:t>
            </a:r>
            <a:r>
              <a:rPr kumimoji="1" lang="ko-KR" altLang="en-US" sz="1200" b="0" dirty="0" err="1">
                <a:latin typeface="+mj-lt"/>
              </a:rPr>
              <a:t>으로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en-US" altLang="ko-KR" sz="1200" b="0" dirty="0" err="1">
                <a:latin typeface="+mj-lt"/>
              </a:rPr>
              <a:t>downsampling</a:t>
            </a:r>
            <a:r>
              <a:rPr kumimoji="1" lang="en-US" altLang="ko-KR" sz="1200" b="0" dirty="0">
                <a:latin typeface="+mj-lt"/>
              </a:rPr>
              <a:t> </a:t>
            </a:r>
            <a:r>
              <a:rPr kumimoji="1" lang="ko-KR" altLang="en-US" sz="1200" b="0" dirty="0">
                <a:latin typeface="+mj-lt"/>
              </a:rPr>
              <a:t>했었다</a:t>
            </a:r>
            <a:r>
              <a:rPr kumimoji="1" lang="en-US" altLang="ko-KR" sz="1200" b="0" dirty="0">
                <a:latin typeface="+mj-lt"/>
              </a:rPr>
              <a:t>..</a:t>
            </a:r>
            <a:br>
              <a:rPr kumimoji="1" lang="en-US" altLang="ko-KR" sz="1200" b="0" dirty="0">
                <a:latin typeface="+mj-lt"/>
              </a:rPr>
            </a:br>
            <a:br>
              <a:rPr kumimoji="1" lang="en-US" altLang="ko-KR" sz="1200" b="0" dirty="0">
                <a:latin typeface="+mj-lt"/>
              </a:rPr>
            </a:br>
            <a:r>
              <a:rPr kumimoji="1" lang="ko-KR" altLang="en-US" sz="1200" b="0" dirty="0">
                <a:latin typeface="+mj-lt"/>
              </a:rPr>
              <a:t>만약 이게 없었더라면</a:t>
            </a:r>
            <a:r>
              <a:rPr kumimoji="1" lang="en-US" altLang="ko-KR" sz="1200" b="0" dirty="0">
                <a:latin typeface="+mj-lt"/>
              </a:rPr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BDF430-A9D6-6A09-60FD-45F72C7F8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61465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2A587-AFC1-358B-F360-0339C63DF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55247-360B-EEA9-CB55-3B7CC6C28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58F7AB-DD92-9128-A484-E9F07F8F7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0268B2-0D81-101A-9043-7E075363A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47637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1A181-27F4-6C55-873C-68BEB0E4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EF78E8-2484-40CF-2C5F-6C8C1457B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08E8FA-308A-B79F-F917-CD3FE7B45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D2A5DA-5613-849E-BE0C-1D5E8BCEA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17410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A028-0C7C-71CD-C18B-4F84650C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3435F7-0772-AC11-F8D8-19E7CC500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D309C6-4103-B068-5DCB-BA13BDC3C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8F5BA-A1FF-F18E-D114-F3F63C6D2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71155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DD05A-D31D-C230-FCB9-7F7D60415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9EA34B-3E73-2B8D-D2D9-F1FF0B067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661031-24EC-44F6-F351-316F94176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D79DDC-78AA-C8D1-02BC-DEF4CEEF0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957333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A136C-846C-23FB-35EB-DAF874CA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11F825-CFD4-C66B-7EA2-AF0C68D29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B2E88-3E69-C4EC-54B6-812DC2232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03A960-3F88-C22E-11E0-40E1349B9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67200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ADB88-161F-DC6B-04BF-06608E06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3E626B-3C9F-2B93-CE54-8925536CC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4ADF36-5294-D8AD-8428-5EB4B92DF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AEA579-AC08-D8CC-4B6E-731B80E55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20367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776EA-2826-508F-4557-BCA08992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712593-22C4-7C1E-E866-073227A03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EEC9D9-5527-E4F1-39F4-098E14E18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4F8EA0-9422-1181-4E68-005E212A8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854817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1183-2091-43EF-AAE5-4F6C870F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CCB7DE-1000-5890-6FB6-ABD0A31D5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D6FF2-F997-F082-E7CF-C0C16AF35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31C207-D3E8-2D07-9D27-B0D9A5A66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803665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1E67-760B-5089-8B3A-04B38491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041459-4800-5E34-BEB5-76ABD85E3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C83306-DF88-07AF-8710-799FE5B38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flops </a:t>
            </a:r>
            <a:r>
              <a:rPr kumimoji="1" lang="ko-KR" altLang="en-US" sz="1200" b="0" dirty="0">
                <a:latin typeface="+mj-lt"/>
              </a:rPr>
              <a:t>대 </a:t>
            </a:r>
            <a:r>
              <a:rPr kumimoji="1" lang="en-US" altLang="ko-KR" sz="1200" b="0" dirty="0">
                <a:latin typeface="+mj-lt"/>
              </a:rPr>
              <a:t>performance plot</a:t>
            </a:r>
            <a:r>
              <a:rPr kumimoji="1" lang="ko-KR" altLang="en-US" sz="1200" b="0" dirty="0">
                <a:latin typeface="+mj-lt"/>
              </a:rPr>
              <a:t>을 그리면 좋을 거 같다 </a:t>
            </a:r>
            <a:r>
              <a:rPr kumimoji="1" lang="en-US" altLang="ko-KR" sz="1200" b="0" dirty="0">
                <a:latin typeface="+mj-lt"/>
              </a:rPr>
              <a:t>(SOTA </a:t>
            </a:r>
            <a:r>
              <a:rPr kumimoji="1" lang="ko-KR" altLang="en-US" sz="1200" b="0" dirty="0">
                <a:latin typeface="+mj-lt"/>
              </a:rPr>
              <a:t>비교</a:t>
            </a:r>
            <a:r>
              <a:rPr kumimoji="1" lang="en-US" altLang="ko-KR" sz="1200" b="0" dirty="0">
                <a:latin typeface="+mj-lt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ECE48E-2931-4231-8354-8A6CF0E31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72525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0369-182F-865D-A6E7-917848AD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A86136-2323-A548-1CFE-6FD9EA355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D4E7AC-3264-5A72-6748-7C123775F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04364F-9C65-1917-D4DF-F20956ACF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708628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9AEF-709A-A308-D6CD-0BBA7550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F34174-8A27-707E-A71C-2455E0A9F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93694F-D7E6-6A37-6C0D-4E544175F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CF3B51-CC96-A3DB-E045-CCD84B9B5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06833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4445D-ECB8-0499-8964-4FDB78953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9A268D-9DEA-C3FD-00FE-2620A8BAF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E8F5B5-AF9C-CA2A-02E2-61D40CC5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" y="6459442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ko-KR" dirty="0"/>
              <a:t>Embedded AI</a:t>
            </a:r>
            <a:endParaRPr kumimoji="1" lang="ko-KR" altLang="en-US" dirty="0"/>
          </a:p>
        </p:txBody>
      </p:sp>
      <p:pic>
        <p:nvPicPr>
          <p:cNvPr id="7" name="그림 2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6AB210DD-1824-17DF-FBC0-45C9B94F09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75"/>
          <a:stretch>
            <a:fillRect/>
          </a:stretch>
        </p:blipFill>
        <p:spPr bwMode="auto">
          <a:xfrm>
            <a:off x="10766425" y="6435629"/>
            <a:ext cx="138747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504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DC919-D7BD-8C3F-E5C1-551E747A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7EA45-3008-48C5-F050-43B06FD0F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02" y="859317"/>
            <a:ext cx="11952383" cy="5600124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82A293-84BB-8176-79FA-93AD7D4C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F0532F-39F4-1C59-48C6-349317E6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581470-8021-B9A6-C758-099E98E9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F364B3AA-2176-6CB6-535F-93713FAF6867}"/>
              </a:ext>
            </a:extLst>
          </p:cNvPr>
          <p:cNvCxnSpPr/>
          <p:nvPr userDrawn="1"/>
        </p:nvCxnSpPr>
        <p:spPr>
          <a:xfrm>
            <a:off x="122102" y="859316"/>
            <a:ext cx="119523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072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27320-E9CF-58F3-25CF-EC84A6EC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6A89B9-91DF-CD03-050F-5CF68068A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3D4811-1B9D-80F7-00D5-0AAF0F7B83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1FC1B-853B-F10C-FE4A-E89C0E3A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AD5286-AF7E-EF9C-4978-FF918E35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3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094B5-CB9A-7C0A-1650-1E4E7098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BDB87A-834B-44EE-8FE7-7E0045916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3BCAF8-2A6B-3C8F-28E7-023995472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CE864D-30F7-3D52-4E18-911C2EE3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0F0BA6-DBD3-3BCE-08B5-16F71406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2A0F8F-CD96-1BD1-1094-9C812896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873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6FC4D-ABFE-ADD1-B5A5-2262FA423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9A8225-01C5-21AE-CB94-36DAB1A03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8C7E16-FED9-13BC-B1E7-B81A16F71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AFA172-42BD-39AA-622C-598885178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7817D7-3B1C-1E01-9921-2FBB09DDB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8D3096-8CC2-79F6-E15C-D7E24284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79F2CF-BA3D-5082-1E69-628EE7651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ACE2ED-8653-AC3A-2511-FE07FEE6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7997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765F9-5675-E99F-E67B-CECC0CB68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C9B367-9B68-C75F-3FE6-020277DC26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9A20CE-F246-7FF8-A9A7-AA4E0BFC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B29946-5AF7-EF36-8773-C7910A05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7360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C473F6-B740-4BA5-ACC4-16CF47B2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804D54-98DA-AE3A-2420-38DD08FD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EF982-8CF6-1696-5264-7B280A98E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173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5EED2-E92C-00DF-B61B-6332055E0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2F0C5-26C6-2BA4-7201-2D8F85ADC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9C73CA-C139-E086-24F8-6A9A0A7A7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F7587B-0668-B1E5-43C3-9D2FE2A235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44FE70-985F-4528-7215-8696805C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1EDB3-7C87-6C00-0EBB-9FBBC84C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1144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669FA-63B0-E9A8-C2B9-D3A6DD7BF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5F4837-551F-C9C2-D463-EC536A07A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D37D25-9E48-DA22-DB03-95B50C002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D609E1-9B07-ACE4-11EF-CD4D1D05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381565-96D6-0B30-BE60-685F2B0F7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C95245-0716-8AD0-BC76-7C974E35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701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514812-D785-2DE3-E44B-0DAA5181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9F81B9-6F3D-44B1-105A-F5C70C30C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9AEA9A-9FFE-05D3-E2FE-5572F955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4E24F-8065-66B2-3C24-45FF518E5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4EF81F-7757-746A-6910-AE15DC52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561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81C3E6-FA51-485B-031B-219E64D33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75F77D-015E-6C14-7995-6DE3D39F2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5D18FA-6F42-A8DF-EC8C-BAAECE3D62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8358FE-4A8D-A043-BD7E-DF1CFFD7196F}" type="datetimeFigureOut">
              <a:rPr kumimoji="1" lang="ko-KR" altLang="en-US" smtClean="0"/>
              <a:t>2025. 9. 30.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A8B3CA-0028-9132-5C62-0BEE2EFA6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4A0168-5401-CEB8-A6D7-4ABF1799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346EA7-1898-7E4A-A5B3-305006AD804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5820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7A02AF-19FE-5223-EE42-43D4F541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03" y="57035"/>
            <a:ext cx="11952383" cy="802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6B78F7-D9F7-1A4E-0F92-C14FAADAC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102" y="1021393"/>
            <a:ext cx="11952383" cy="5438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AED9B35F-AB58-03CF-474F-1AFEC25C27A3}"/>
              </a:ext>
            </a:extLst>
          </p:cNvPr>
          <p:cNvSpPr txBox="1">
            <a:spLocks/>
          </p:cNvSpPr>
          <p:nvPr userDrawn="1"/>
        </p:nvSpPr>
        <p:spPr>
          <a:xfrm>
            <a:off x="38100" y="645944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Embedded AI</a:t>
            </a:r>
            <a:endParaRPr kumimoji="1" lang="ko-KR" altLang="en-US" sz="1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D7807DFB-0F2F-C213-B5C9-704F44B5185E}"/>
              </a:ext>
            </a:extLst>
          </p:cNvPr>
          <p:cNvSpPr txBox="1">
            <a:spLocks/>
          </p:cNvSpPr>
          <p:nvPr userDrawn="1"/>
        </p:nvSpPr>
        <p:spPr>
          <a:xfrm>
            <a:off x="5581420" y="6459441"/>
            <a:ext cx="1029159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346EA7-1898-7E4A-A5B3-305006AD8040}" type="slidenum">
              <a:rPr kumimoji="1" lang="ko-KR" altLang="en-US" sz="15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‹#›</a:t>
            </a:fld>
            <a:r>
              <a:rPr kumimoji="1" lang="en-US" altLang="ko-KR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 39</a:t>
            </a:r>
            <a:endParaRPr kumimoji="1" lang="ko-KR" altLang="en-US" sz="1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4" name="그림 2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84C0102A-8DBC-63BD-6797-14D0EBCB78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75"/>
          <a:stretch>
            <a:fillRect/>
          </a:stretch>
        </p:blipFill>
        <p:spPr bwMode="auto">
          <a:xfrm>
            <a:off x="10766425" y="6435629"/>
            <a:ext cx="138747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998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oceedings.neurips.cc/paper/2017/hash/3f5ee243547dee91fbd053c1c4a845aa-Abstract.html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holar.google.com/scholar_lookup?arxiv_id=2007.14062" TargetMode="Externa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scholar_lookup?arxiv_id=2006.04768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0.png"/><Relationship Id="rId21" Type="http://schemas.openxmlformats.org/officeDocument/2006/relationships/image" Target="../media/image41.png"/><Relationship Id="rId7" Type="http://schemas.openxmlformats.org/officeDocument/2006/relationships/image" Target="../media/image270.png"/><Relationship Id="rId12" Type="http://schemas.openxmlformats.org/officeDocument/2006/relationships/image" Target="../media/image320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11" Type="http://schemas.openxmlformats.org/officeDocument/2006/relationships/image" Target="../media/image310.png"/><Relationship Id="rId5" Type="http://schemas.openxmlformats.org/officeDocument/2006/relationships/image" Target="../media/image250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0.png"/><Relationship Id="rId19" Type="http://schemas.openxmlformats.org/officeDocument/2006/relationships/image" Target="../media/image39.png"/><Relationship Id="rId4" Type="http://schemas.openxmlformats.org/officeDocument/2006/relationships/image" Target="../media/image240.png"/><Relationship Id="rId9" Type="http://schemas.openxmlformats.org/officeDocument/2006/relationships/image" Target="../media/image290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009.1479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21" Type="http://schemas.openxmlformats.org/officeDocument/2006/relationships/image" Target="../media/image6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21" Type="http://schemas.openxmlformats.org/officeDocument/2006/relationships/image" Target="../media/image6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hyperlink" Target="https://proceedings.mlr.press/v119/katharopoulos20a.html?ref=mackenziemorehead.com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/ICCV2023/html/Cai_EfficientViT_Lightweight_Multi-Scale_Attention_for_High-Resolution_Dense_Prediction_ICCV_2023_paper.html" TargetMode="External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7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8.png"/><Relationship Id="rId9" Type="http://schemas.openxmlformats.org/officeDocument/2006/relationships/image" Target="../media/image9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7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8.png"/><Relationship Id="rId9" Type="http://schemas.openxmlformats.org/officeDocument/2006/relationships/image" Target="../media/image9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customXml" Target="../ink/ink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22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19" Type="http://schemas.openxmlformats.org/officeDocument/2006/relationships/image" Target="../media/image123.png"/><Relationship Id="rId4" Type="http://schemas.openxmlformats.org/officeDocument/2006/relationships/image" Target="../media/image120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11" Type="http://schemas.openxmlformats.org/officeDocument/2006/relationships/image" Target="../media/image132.png"/><Relationship Id="rId5" Type="http://schemas.openxmlformats.org/officeDocument/2006/relationships/image" Target="../media/image126.png"/><Relationship Id="rId10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2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18" Type="http://schemas.openxmlformats.org/officeDocument/2006/relationships/image" Target="../media/image148.png"/><Relationship Id="rId26" Type="http://schemas.openxmlformats.org/officeDocument/2006/relationships/image" Target="../media/image156.png"/><Relationship Id="rId3" Type="http://schemas.openxmlformats.org/officeDocument/2006/relationships/image" Target="../media/image133.png"/><Relationship Id="rId21" Type="http://schemas.openxmlformats.org/officeDocument/2006/relationships/image" Target="../media/image151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47.png"/><Relationship Id="rId25" Type="http://schemas.openxmlformats.org/officeDocument/2006/relationships/image" Target="../media/image155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46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24" Type="http://schemas.openxmlformats.org/officeDocument/2006/relationships/image" Target="../media/image154.png"/><Relationship Id="rId5" Type="http://schemas.openxmlformats.org/officeDocument/2006/relationships/image" Target="../media/image135.png"/><Relationship Id="rId15" Type="http://schemas.openxmlformats.org/officeDocument/2006/relationships/image" Target="../media/image145.png"/><Relationship Id="rId23" Type="http://schemas.openxmlformats.org/officeDocument/2006/relationships/image" Target="../media/image153.png"/><Relationship Id="rId28" Type="http://schemas.openxmlformats.org/officeDocument/2006/relationships/image" Target="../media/image158.png"/><Relationship Id="rId10" Type="http://schemas.openxmlformats.org/officeDocument/2006/relationships/image" Target="../media/image140.png"/><Relationship Id="rId19" Type="http://schemas.openxmlformats.org/officeDocument/2006/relationships/image" Target="../media/image149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Relationship Id="rId22" Type="http://schemas.openxmlformats.org/officeDocument/2006/relationships/image" Target="../media/image152.png"/><Relationship Id="rId27" Type="http://schemas.openxmlformats.org/officeDocument/2006/relationships/image" Target="../media/image1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1">
            <a:extLst>
              <a:ext uri="{FF2B5EF4-FFF2-40B4-BE49-F238E27FC236}">
                <a16:creationId xmlns:a16="http://schemas.microsoft.com/office/drawing/2014/main" id="{224796B4-F456-4062-68E6-04EE81691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66700"/>
            <a:ext cx="11557000" cy="610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buFont typeface="Wingdings" pitchFamily="2" charset="2"/>
              <a:buNone/>
            </a:pPr>
            <a:r>
              <a:rPr kumimoji="1" lang="en-US" altLang="ko-KR" sz="30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| Paper Review &amp; </a:t>
            </a:r>
            <a:r>
              <a:rPr kumimoji="1" lang="ko-KR" altLang="en-US" sz="30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연구 진행 상황 공유</a:t>
            </a:r>
            <a:r>
              <a:rPr kumimoji="1" lang="en-US" altLang="ko-KR" sz="30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|</a:t>
            </a: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20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>
              <a:lnSpc>
                <a:spcPct val="150000"/>
              </a:lnSpc>
              <a:buFont typeface="Wingdings" pitchFamily="2" charset="2"/>
              <a:buNone/>
            </a:pPr>
            <a:endParaRPr kumimoji="1" lang="en-US" altLang="ko-KR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r">
              <a:lnSpc>
                <a:spcPct val="150000"/>
              </a:lnSpc>
              <a:buFont typeface="Wingdings" pitchFamily="2" charset="2"/>
              <a:buNone/>
            </a:pPr>
            <a:r>
              <a:rPr kumimoji="1" lang="en-US" altLang="ko-KR" sz="16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Hyungseop</a:t>
            </a:r>
            <a:r>
              <a:rPr kumimoji="1" lang="en-US" altLang="ko-KR" sz="16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Lee</a:t>
            </a:r>
            <a:r>
              <a:rPr kumimoji="1" lang="ko-KR" altLang="en-US" sz="16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endParaRPr kumimoji="1" lang="en-US" altLang="ko-KR" sz="16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r">
              <a:lnSpc>
                <a:spcPct val="150000"/>
              </a:lnSpc>
              <a:buFont typeface="Wingdings" pitchFamily="2" charset="2"/>
              <a:buNone/>
            </a:pPr>
            <a:r>
              <a:rPr kumimoji="1" lang="en-US" altLang="ko-KR" sz="16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Department of Embedded Systems Engineering, INU</a:t>
            </a:r>
            <a:br>
              <a:rPr kumimoji="1" lang="en-US" altLang="ko-KR" sz="1600" dirty="0">
                <a:latin typeface="맑은 고딕" panose="020B0503020000020004" pitchFamily="34" charset="-127"/>
                <a:ea typeface="맑은 고딕" panose="020B0503020000020004" pitchFamily="34" charset="-127"/>
              </a:rPr>
            </a:br>
            <a:r>
              <a:rPr kumimoji="1" lang="en-US" altLang="ko-KR" sz="16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hhss0927@inu.ac.kr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834AE-3B08-C5F2-6FD3-C9BAAE5B03D0}"/>
              </a:ext>
            </a:extLst>
          </p:cNvPr>
          <p:cNvSpPr txBox="1"/>
          <p:nvPr/>
        </p:nvSpPr>
        <p:spPr>
          <a:xfrm>
            <a:off x="12103100" y="15430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108960-35AE-9A6F-2F1A-35E51379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363"/>
          <a:stretch>
            <a:fillRect/>
          </a:stretch>
        </p:blipFill>
        <p:spPr>
          <a:xfrm>
            <a:off x="63500" y="2615440"/>
            <a:ext cx="6038653" cy="1470566"/>
          </a:xfrm>
          <a:prstGeom prst="rect">
            <a:avLst/>
          </a:prstGeom>
        </p:spPr>
      </p:pic>
      <p:pic>
        <p:nvPicPr>
          <p:cNvPr id="7" name="그림 6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354CD0-F7F5-97C4-BF15-4BFB91CF84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43"/>
          <a:stretch>
            <a:fillRect/>
          </a:stretch>
        </p:blipFill>
        <p:spPr>
          <a:xfrm>
            <a:off x="6237664" y="2537164"/>
            <a:ext cx="5890836" cy="16271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37DABA-FFCA-1597-9E3A-91873D1C99F0}"/>
              </a:ext>
            </a:extLst>
          </p:cNvPr>
          <p:cNvSpPr txBox="1"/>
          <p:nvPr/>
        </p:nvSpPr>
        <p:spPr>
          <a:xfrm>
            <a:off x="63500" y="1912338"/>
            <a:ext cx="164179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500" dirty="0"/>
              <a:t>ICLR 2022</a:t>
            </a:r>
            <a:endParaRPr kumimoji="1" lang="ko-KR" alt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5CA7B-6417-4669-9132-42E185F7B487}"/>
              </a:ext>
            </a:extLst>
          </p:cNvPr>
          <p:cNvSpPr txBox="1"/>
          <p:nvPr/>
        </p:nvSpPr>
        <p:spPr>
          <a:xfrm>
            <a:off x="6096000" y="1912338"/>
            <a:ext cx="169027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500" dirty="0"/>
              <a:t>ICCV 2023</a:t>
            </a:r>
            <a:endParaRPr kumimoji="1"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254151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62878-3482-178A-E776-A6670BB5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000" b="1" dirty="0"/>
              <a:t>Outline</a:t>
            </a:r>
            <a:endParaRPr kumimoji="1" lang="ko-KR" altLang="en-US" sz="3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F2C187-0F7B-3088-D810-FBE27C7B9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14" y="852967"/>
            <a:ext cx="11952383" cy="581107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kumimoji="1" lang="en-US" altLang="ko-KR" sz="2500" dirty="0" err="1"/>
              <a:t>Softmax</a:t>
            </a:r>
            <a:r>
              <a:rPr kumimoji="1" lang="en-US" altLang="ko-KR" sz="2500" dirty="0"/>
              <a:t>-based Self-Attention</a:t>
            </a:r>
          </a:p>
          <a:p>
            <a:pPr>
              <a:lnSpc>
                <a:spcPct val="200000"/>
              </a:lnSpc>
            </a:pPr>
            <a:r>
              <a:rPr kumimoji="1" lang="en-US" altLang="ko-KR" sz="2500" dirty="0"/>
              <a:t>Linear 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en-US" altLang="ko-KR" sz="2500" dirty="0"/>
              <a:t>Sparse 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en-US" altLang="ko-KR" sz="2500" dirty="0"/>
              <a:t>Low-rank representations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ko-KR" altLang="en-US" sz="2500" dirty="0"/>
              <a:t>*</a:t>
            </a:r>
            <a:r>
              <a:rPr kumimoji="1" lang="en-US" altLang="ko-KR" sz="2500" dirty="0"/>
              <a:t>Kernel-based methods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2200" dirty="0" err="1"/>
              <a:t>EfficientViT</a:t>
            </a:r>
            <a:r>
              <a:rPr kumimoji="1" lang="en-US" altLang="ko-KR" sz="2200" dirty="0"/>
              <a:t>: </a:t>
            </a:r>
            <a:r>
              <a:rPr kumimoji="1" lang="en-US" altLang="ko-KR" sz="2200" dirty="0" err="1"/>
              <a:t>ReLU</a:t>
            </a:r>
            <a:r>
              <a:rPr kumimoji="1" lang="en-US" altLang="ko-KR" sz="2200" dirty="0"/>
              <a:t>-based Linear Self-Attention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2200" dirty="0" err="1"/>
              <a:t>CosFormer</a:t>
            </a:r>
            <a:r>
              <a:rPr kumimoji="1" lang="en-US" altLang="ko-KR" sz="2200" dirty="0"/>
              <a:t>: </a:t>
            </a:r>
            <a:r>
              <a:rPr kumimoji="1" lang="en-US" altLang="ko-KR" sz="2200" dirty="0" err="1"/>
              <a:t>ReLU</a:t>
            </a:r>
            <a:r>
              <a:rPr kumimoji="1" lang="en-US" altLang="ko-KR" sz="2200" dirty="0"/>
              <a:t>-based Linear Self-Attention + cosine-based re-weighting scheme</a:t>
            </a:r>
            <a:endParaRPr kumimoji="1" lang="en-US" altLang="ko-KR" sz="2500" dirty="0"/>
          </a:p>
          <a:p>
            <a:pPr>
              <a:lnSpc>
                <a:spcPct val="200000"/>
              </a:lnSpc>
            </a:pPr>
            <a:r>
              <a:rPr kumimoji="1" lang="en-US" altLang="ko-KR" sz="2500" dirty="0"/>
              <a:t>Applying </a:t>
            </a:r>
            <a:r>
              <a:rPr kumimoji="1" lang="en-US" altLang="ko-KR" sz="2500" dirty="0" err="1"/>
              <a:t>CosFormer</a:t>
            </a:r>
            <a:r>
              <a:rPr kumimoji="1" lang="en-US" altLang="ko-KR" sz="2500" dirty="0"/>
              <a:t> to My Research</a:t>
            </a:r>
            <a:endParaRPr kumimoji="1"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183606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A849-6FB4-2AA3-27E6-00BF58BB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4D97B-4684-0C27-56AF-BF89405A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000" b="1" dirty="0"/>
              <a:t>Outline</a:t>
            </a:r>
            <a:endParaRPr kumimoji="1" lang="ko-KR" altLang="en-US" sz="3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C142C0-3635-2F98-216F-9509A2D56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14" y="852967"/>
            <a:ext cx="11952383" cy="581107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kumimoji="1" lang="en-US" altLang="ko-KR" sz="2500" b="1" dirty="0" err="1"/>
              <a:t>Softmax</a:t>
            </a:r>
            <a:r>
              <a:rPr kumimoji="1" lang="en-US" altLang="ko-KR" sz="2500" b="1" dirty="0"/>
              <a:t>-based Self-Attention</a:t>
            </a:r>
          </a:p>
          <a:p>
            <a:pPr>
              <a:lnSpc>
                <a:spcPct val="200000"/>
              </a:lnSpc>
            </a:pPr>
            <a:r>
              <a:rPr kumimoji="1" lang="en-US" altLang="ko-KR" sz="2500" dirty="0"/>
              <a:t>Linear 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en-US" altLang="ko-KR" sz="2500" dirty="0"/>
              <a:t>Sparse 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en-US" altLang="ko-KR" sz="2500" dirty="0"/>
              <a:t>Low-rank representations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ko-KR" altLang="en-US" sz="2500" dirty="0"/>
              <a:t>*</a:t>
            </a:r>
            <a:r>
              <a:rPr kumimoji="1" lang="en-US" altLang="ko-KR" sz="2500" dirty="0"/>
              <a:t>Kernel-based methods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2200" dirty="0" err="1"/>
              <a:t>EfficientViT</a:t>
            </a:r>
            <a:r>
              <a:rPr kumimoji="1" lang="en-US" altLang="ko-KR" sz="2200" dirty="0"/>
              <a:t>: </a:t>
            </a:r>
            <a:r>
              <a:rPr kumimoji="1" lang="en-US" altLang="ko-KR" sz="2200" dirty="0" err="1"/>
              <a:t>ReLU</a:t>
            </a:r>
            <a:r>
              <a:rPr kumimoji="1" lang="en-US" altLang="ko-KR" sz="2200" dirty="0"/>
              <a:t>-based Linear Self-Attention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2200" dirty="0" err="1"/>
              <a:t>CosFormer</a:t>
            </a:r>
            <a:r>
              <a:rPr kumimoji="1" lang="en-US" altLang="ko-KR" sz="2200" dirty="0"/>
              <a:t>: </a:t>
            </a:r>
            <a:r>
              <a:rPr kumimoji="1" lang="en-US" altLang="ko-KR" sz="2200" dirty="0" err="1"/>
              <a:t>ReLU</a:t>
            </a:r>
            <a:r>
              <a:rPr kumimoji="1" lang="en-US" altLang="ko-KR" sz="2200" dirty="0"/>
              <a:t>-based Linear Self-Attention + cosine-based re-weighting scheme</a:t>
            </a:r>
            <a:endParaRPr kumimoji="1" lang="en-US" altLang="ko-KR" sz="2500" dirty="0"/>
          </a:p>
          <a:p>
            <a:pPr>
              <a:lnSpc>
                <a:spcPct val="200000"/>
              </a:lnSpc>
            </a:pPr>
            <a:r>
              <a:rPr kumimoji="1" lang="en-US" altLang="ko-KR" sz="2500" dirty="0"/>
              <a:t>Applying </a:t>
            </a:r>
            <a:r>
              <a:rPr kumimoji="1" lang="en-US" altLang="ko-KR" sz="2500" dirty="0" err="1"/>
              <a:t>CosFormer</a:t>
            </a:r>
            <a:r>
              <a:rPr kumimoji="1" lang="en-US" altLang="ko-KR" sz="2500" dirty="0"/>
              <a:t> to My Research</a:t>
            </a:r>
            <a:endParaRPr kumimoji="1"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145033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BAF2-2F1F-CAF9-E2EC-DC8219B7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D72AC0-FBA8-BA8B-A5B1-6B876EF1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 err="1"/>
              <a:t>Softmax</a:t>
            </a:r>
            <a:r>
              <a:rPr kumimoji="1" lang="en-US" altLang="ko-KR" sz="2800" b="1" dirty="0"/>
              <a:t>-based self-attention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59F0F3-2C41-38DB-DA73-892D2EC1D53A}"/>
              </a:ext>
            </a:extLst>
          </p:cNvPr>
          <p:cNvSpPr txBox="1">
            <a:spLocks/>
          </p:cNvSpPr>
          <p:nvPr/>
        </p:nvSpPr>
        <p:spPr>
          <a:xfrm>
            <a:off x="4622800" y="883759"/>
            <a:ext cx="7329672" cy="5438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lnSpc>
                <a:spcPct val="150000"/>
              </a:lnSpc>
              <a:buAutoNum type="arabicPeriod"/>
            </a:pPr>
            <a:endParaRPr kumimoji="1" lang="en-US" altLang="ko-KR" sz="2000" dirty="0">
              <a:highlight>
                <a:srgbClr val="FFFF00"/>
              </a:highlight>
              <a:latin typeface="+mj-lt"/>
              <a:sym typeface="Wingdings" pitchFamily="2" charset="2"/>
            </a:endParaRPr>
          </a:p>
        </p:txBody>
      </p:sp>
      <p:pic>
        <p:nvPicPr>
          <p:cNvPr id="5" name="내용 개체 틀 4" descr="텍스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665D61-BE7C-3267-2D7F-4D958E90B2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0398" y="1934165"/>
            <a:ext cx="7898671" cy="4356848"/>
          </a:xfr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8790442-711E-6134-F8CE-1F057209CB29}"/>
              </a:ext>
            </a:extLst>
          </p:cNvPr>
          <p:cNvSpPr txBox="1">
            <a:spLocks/>
          </p:cNvSpPr>
          <p:nvPr/>
        </p:nvSpPr>
        <p:spPr>
          <a:xfrm>
            <a:off x="117514" y="852966"/>
            <a:ext cx="11952383" cy="5438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ko-KR" sz="2000" b="1" dirty="0"/>
              <a:t>“</a:t>
            </a:r>
            <a:r>
              <a:rPr kumimoji="1" lang="en-US" altLang="ko-KR" sz="2000" dirty="0"/>
              <a:t>Dot-product attention with </a:t>
            </a:r>
            <a:r>
              <a:rPr kumimoji="1" lang="en-US" altLang="ko-KR" sz="2000" dirty="0" err="1"/>
              <a:t>softmax</a:t>
            </a:r>
            <a:r>
              <a:rPr kumimoji="1" lang="en-US" altLang="ko-KR" sz="2000" dirty="0"/>
              <a:t> normalization is the cornerstone of the transformer to capture long-range dependencies.</a:t>
            </a:r>
            <a:r>
              <a:rPr kumimoji="1" lang="en-US" altLang="ko-KR" sz="2000" b="1" dirty="0"/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4BCE3-D6B6-166A-C1D9-1B7B72D8DFC2}"/>
              </a:ext>
            </a:extLst>
          </p:cNvPr>
          <p:cNvSpPr txBox="1"/>
          <p:nvPr/>
        </p:nvSpPr>
        <p:spPr>
          <a:xfrm>
            <a:off x="2009004" y="6104976"/>
            <a:ext cx="8022598" cy="402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" altLang="ko-KR" sz="1200" dirty="0">
                <a:hlinkClick r:id="rId4"/>
              </a:rPr>
              <a:t>Vaswani, Ashish, et al. "Attention is all you need." </a:t>
            </a:r>
            <a:r>
              <a:rPr lang="en" altLang="ko-KR" sz="1200" i="1" dirty="0">
                <a:hlinkClick r:id="rId4"/>
              </a:rPr>
              <a:t>Advances in neural information processing systems</a:t>
            </a:r>
            <a:r>
              <a:rPr lang="en" altLang="ko-KR" sz="1200" dirty="0">
                <a:hlinkClick r:id="rId4"/>
              </a:rPr>
              <a:t> 30 (2017).</a:t>
            </a:r>
            <a:endParaRPr kumimoji="1"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12137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2818-6804-7278-7348-CCA59369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E03E2-C016-03C3-4109-FA479D025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 err="1"/>
              <a:t>Softmax</a:t>
            </a:r>
            <a:r>
              <a:rPr kumimoji="1" lang="en-US" altLang="ko-KR" sz="2800" b="1" dirty="0"/>
              <a:t>-based self-attention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F8EFFD07-72AE-81E5-474D-66ED9E72A0CF}"/>
                  </a:ext>
                </a:extLst>
              </p:cNvPr>
              <p:cNvSpPr/>
              <p:nvPr/>
            </p:nvSpPr>
            <p:spPr>
              <a:xfrm>
                <a:off x="1668285" y="3135758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F8EFFD07-72AE-81E5-474D-66ED9E72A0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285" y="3135758"/>
                <a:ext cx="883096" cy="1725105"/>
              </a:xfrm>
              <a:prstGeom prst="rect">
                <a:avLst/>
              </a:prstGeom>
              <a:blipFill>
                <a:blip r:embed="rId3"/>
                <a:stretch>
                  <a:fillRect l="-1389"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62212AC-E658-A301-5D1C-23EAE7F1501C}"/>
                  </a:ext>
                </a:extLst>
              </p:cNvPr>
              <p:cNvSpPr/>
              <p:nvPr/>
            </p:nvSpPr>
            <p:spPr>
              <a:xfrm rot="16200000">
                <a:off x="3503464" y="3400235"/>
                <a:ext cx="883096" cy="1725105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62212AC-E658-A301-5D1C-23EAE7F150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503464" y="3400235"/>
                <a:ext cx="883096" cy="1725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곱하기 15">
            <a:extLst>
              <a:ext uri="{FF2B5EF4-FFF2-40B4-BE49-F238E27FC236}">
                <a16:creationId xmlns:a16="http://schemas.microsoft.com/office/drawing/2014/main" id="{FB8EA493-BA1F-E8D5-B960-2A7305D1436E}"/>
              </a:ext>
            </a:extLst>
          </p:cNvPr>
          <p:cNvSpPr/>
          <p:nvPr/>
        </p:nvSpPr>
        <p:spPr>
          <a:xfrm>
            <a:off x="2596915" y="3756440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96DC773-144A-0D82-1B5D-04A0BFB8F302}"/>
              </a:ext>
            </a:extLst>
          </p:cNvPr>
          <p:cNvSpPr/>
          <p:nvPr/>
        </p:nvSpPr>
        <p:spPr>
          <a:xfrm>
            <a:off x="1530768" y="2960518"/>
            <a:ext cx="3384223" cy="2075584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384F4697-8008-9FB4-56F4-5DCBA994E83E}"/>
                  </a:ext>
                </a:extLst>
              </p:cNvPr>
              <p:cNvSpPr/>
              <p:nvPr/>
            </p:nvSpPr>
            <p:spPr>
              <a:xfrm>
                <a:off x="2674544" y="4832976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𝑆𝑜𝑓𝑡𝑚𝑎𝑥</m:t>
                      </m:r>
                    </m:oMath>
                  </m:oMathPara>
                </a14:m>
                <a:endParaRPr kumimoji="1" lang="ko-KR" alt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384F4697-8008-9FB4-56F4-5DCBA994E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544" y="4832976"/>
                <a:ext cx="1096670" cy="400725"/>
              </a:xfrm>
              <a:prstGeom prst="rect">
                <a:avLst/>
              </a:prstGeom>
              <a:blipFill>
                <a:blip r:embed="rId5"/>
                <a:stretch>
                  <a:fillRect l="-3409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곱하기 25">
            <a:extLst>
              <a:ext uri="{FF2B5EF4-FFF2-40B4-BE49-F238E27FC236}">
                <a16:creationId xmlns:a16="http://schemas.microsoft.com/office/drawing/2014/main" id="{96061002-E660-0274-639D-16424AB33B9D}"/>
              </a:ext>
            </a:extLst>
          </p:cNvPr>
          <p:cNvSpPr/>
          <p:nvPr/>
        </p:nvSpPr>
        <p:spPr>
          <a:xfrm>
            <a:off x="4960525" y="3756439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C24ED425-9887-F1F0-6F2E-BA78BE1BC645}"/>
                  </a:ext>
                </a:extLst>
              </p:cNvPr>
              <p:cNvSpPr/>
              <p:nvPr/>
            </p:nvSpPr>
            <p:spPr>
              <a:xfrm>
                <a:off x="5446069" y="3135758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C24ED425-9887-F1F0-6F2E-BA78BE1BC6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069" y="3135758"/>
                <a:ext cx="883096" cy="17251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직사각형 28">
            <a:extLst>
              <a:ext uri="{FF2B5EF4-FFF2-40B4-BE49-F238E27FC236}">
                <a16:creationId xmlns:a16="http://schemas.microsoft.com/office/drawing/2014/main" id="{131FA0C6-640C-AC75-2872-9A1A7F7A8DF1}"/>
              </a:ext>
            </a:extLst>
          </p:cNvPr>
          <p:cNvSpPr/>
          <p:nvPr/>
        </p:nvSpPr>
        <p:spPr>
          <a:xfrm>
            <a:off x="1390347" y="2553299"/>
            <a:ext cx="5117774" cy="2680401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0B6163AE-23EC-B54D-5708-EB95CE6C717B}"/>
                  </a:ext>
                </a:extLst>
              </p:cNvPr>
              <p:cNvSpPr/>
              <p:nvPr/>
            </p:nvSpPr>
            <p:spPr>
              <a:xfrm>
                <a:off x="1561498" y="5284385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0B6163AE-23EC-B54D-5708-EB95CE6C71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498" y="5284385"/>
                <a:ext cx="1096670" cy="400725"/>
              </a:xfrm>
              <a:prstGeom prst="rect">
                <a:avLst/>
              </a:prstGeom>
              <a:blipFill>
                <a:blip r:embed="rId7"/>
                <a:stretch>
                  <a:fillRect b="-2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B1205FA2-957B-241D-6EC6-2842A9ECED64}"/>
                  </a:ext>
                </a:extLst>
              </p:cNvPr>
              <p:cNvSpPr/>
              <p:nvPr/>
            </p:nvSpPr>
            <p:spPr>
              <a:xfrm>
                <a:off x="3396677" y="5284385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B1205FA2-957B-241D-6EC6-2842A9ECED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677" y="5284385"/>
                <a:ext cx="1096670" cy="400725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1CC49BB-8C81-A14E-0B05-266C19791762}"/>
                  </a:ext>
                </a:extLst>
              </p:cNvPr>
              <p:cNvSpPr/>
              <p:nvPr/>
            </p:nvSpPr>
            <p:spPr>
              <a:xfrm>
                <a:off x="5339282" y="5281975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61CC49BB-8C81-A14E-0B05-266C197917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282" y="5281975"/>
                <a:ext cx="1096670" cy="400725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등호 33">
            <a:extLst>
              <a:ext uri="{FF2B5EF4-FFF2-40B4-BE49-F238E27FC236}">
                <a16:creationId xmlns:a16="http://schemas.microsoft.com/office/drawing/2014/main" id="{631540D4-AE07-0D87-F049-3BE741B51D51}"/>
              </a:ext>
            </a:extLst>
          </p:cNvPr>
          <p:cNvSpPr/>
          <p:nvPr/>
        </p:nvSpPr>
        <p:spPr>
          <a:xfrm>
            <a:off x="6645638" y="3777534"/>
            <a:ext cx="543612" cy="441548"/>
          </a:xfrm>
          <a:prstGeom prst="mathEqual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97D77193-4050-E8E9-3055-0561575955D0}"/>
                  </a:ext>
                </a:extLst>
              </p:cNvPr>
              <p:cNvSpPr/>
              <p:nvPr/>
            </p:nvSpPr>
            <p:spPr>
              <a:xfrm>
                <a:off x="7335240" y="3135758"/>
                <a:ext cx="1725106" cy="1725105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97D77193-4050-E8E9-3055-0561575955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240" y="3135758"/>
                <a:ext cx="1725106" cy="17251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곱하기 35">
            <a:extLst>
              <a:ext uri="{FF2B5EF4-FFF2-40B4-BE49-F238E27FC236}">
                <a16:creationId xmlns:a16="http://schemas.microsoft.com/office/drawing/2014/main" id="{5E4C0F7B-3381-18D9-378A-F310AE019DBF}"/>
              </a:ext>
            </a:extLst>
          </p:cNvPr>
          <p:cNvSpPr/>
          <p:nvPr/>
        </p:nvSpPr>
        <p:spPr>
          <a:xfrm>
            <a:off x="9187971" y="3756439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EC08D87-87F4-DCF3-110C-35D108A9A22D}"/>
                  </a:ext>
                </a:extLst>
              </p:cNvPr>
              <p:cNvSpPr/>
              <p:nvPr/>
            </p:nvSpPr>
            <p:spPr>
              <a:xfrm>
                <a:off x="9755606" y="3135758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EC08D87-87F4-DCF3-110C-35D108A9A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606" y="3135758"/>
                <a:ext cx="883096" cy="1725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02CF6DA-1263-D37D-EDD5-E7C104F8C5FF}"/>
                  </a:ext>
                </a:extLst>
              </p:cNvPr>
              <p:cNvSpPr/>
              <p:nvPr/>
            </p:nvSpPr>
            <p:spPr>
              <a:xfrm>
                <a:off x="8008872" y="5228241"/>
                <a:ext cx="2798208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02CF6DA-1263-D37D-EDD5-E7C104F8C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872" y="5228241"/>
                <a:ext cx="2798208" cy="508191"/>
              </a:xfrm>
              <a:prstGeom prst="rect">
                <a:avLst/>
              </a:prstGeom>
              <a:blipFill>
                <a:blip r:embed="rId12"/>
                <a:stretch>
                  <a:fillRect b="-121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8E97C0-22CA-CB92-8BD6-A586D5A1019F}"/>
                  </a:ext>
                </a:extLst>
              </p:cNvPr>
              <p:cNvSpPr txBox="1"/>
              <p:nvPr/>
            </p:nvSpPr>
            <p:spPr>
              <a:xfrm>
                <a:off x="184194" y="843588"/>
                <a:ext cx="4623371" cy="10471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sz="22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ko-KR" sz="22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ko-KR" sz="2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length (#tokens)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ko-KR" sz="22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embedding dimension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8E97C0-22CA-CB92-8BD6-A586D5A10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94" y="843588"/>
                <a:ext cx="4623371" cy="1047146"/>
              </a:xfrm>
              <a:prstGeom prst="rect">
                <a:avLst/>
              </a:prstGeom>
              <a:blipFill>
                <a:blip r:embed="rId13"/>
                <a:stretch>
                  <a:fillRect l="-274" b="-10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25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A44A-7F04-8F1F-EF62-7E12BE80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7B6EE-B262-A659-9923-716D7F17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 err="1"/>
              <a:t>Softmax</a:t>
            </a:r>
            <a:r>
              <a:rPr kumimoji="1" lang="en-US" altLang="ko-KR" sz="2800" b="1" dirty="0"/>
              <a:t>-based self-attention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83FE2673-F972-E92F-BE0F-4EF50ACDD0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7514" y="852966"/>
                <a:ext cx="11952383" cy="54380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" altLang="ko-KR" sz="2000" dirty="0"/>
                  <a:t>“Vanilla self-attention suffers from </a:t>
                </a:r>
                <a:r>
                  <a:rPr lang="en" altLang="ko-KR" sz="2000" dirty="0">
                    <a:solidFill>
                      <a:srgbClr val="FF0000"/>
                    </a:solidFill>
                  </a:rPr>
                  <a:t>quadratic time and memory complexity</a:t>
                </a:r>
                <a:r>
                  <a:rPr lang="en" altLang="ko-KR" sz="2000" dirty="0"/>
                  <a:t> with respect to the input sequence length 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en" altLang="ko-KR" sz="2000" dirty="0"/>
                  <a:t>.”</a:t>
                </a:r>
              </a:p>
              <a:p>
                <a:pPr>
                  <a:lnSpc>
                    <a:spcPct val="150000"/>
                  </a:lnSpc>
                </a:pPr>
                <a:endParaRPr kumimoji="1" lang="en" altLang="ko-KR" sz="2000" b="1" dirty="0"/>
              </a:p>
              <a:p>
                <a:pPr>
                  <a:lnSpc>
                    <a:spcPct val="150000"/>
                  </a:lnSpc>
                </a:pPr>
                <a:endParaRPr kumimoji="1" lang="en" altLang="ko-KR" sz="2000" b="1" dirty="0"/>
              </a:p>
              <a:p>
                <a:pPr>
                  <a:lnSpc>
                    <a:spcPct val="150000"/>
                  </a:lnSpc>
                </a:pPr>
                <a:endParaRPr kumimoji="1" lang="en" altLang="ko-KR" sz="2000" b="1" dirty="0"/>
              </a:p>
              <a:p>
                <a:pPr>
                  <a:lnSpc>
                    <a:spcPct val="150000"/>
                  </a:lnSpc>
                </a:pPr>
                <a:endParaRPr kumimoji="1" lang="en" altLang="ko-KR" sz="2000" b="1" dirty="0"/>
              </a:p>
              <a:p>
                <a:pPr>
                  <a:lnSpc>
                    <a:spcPct val="150000"/>
                  </a:lnSpc>
                </a:pPr>
                <a:endParaRPr kumimoji="1" lang="en" altLang="ko-KR" sz="2000" b="1" dirty="0"/>
              </a:p>
              <a:p>
                <a:pPr>
                  <a:lnSpc>
                    <a:spcPct val="150000"/>
                  </a:lnSpc>
                </a:pPr>
                <a:endParaRPr kumimoji="1" lang="en" altLang="ko-KR" sz="2000" b="1" dirty="0"/>
              </a:p>
              <a:p>
                <a:pPr>
                  <a:lnSpc>
                    <a:spcPct val="150000"/>
                  </a:lnSpc>
                </a:pPr>
                <a:endParaRPr kumimoji="1" lang="en" altLang="ko-KR" sz="2000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000" b="1" dirty="0">
                    <a:sym typeface="Wingdings" pitchFamily="2" charset="2"/>
                  </a:rPr>
                  <a:t>  </a:t>
                </a:r>
                <a:r>
                  <a:rPr kumimoji="1" lang="en-US" altLang="ko-KR" sz="2200" b="1" dirty="0">
                    <a:sym typeface="Wingdings" pitchFamily="2" charset="2"/>
                  </a:rPr>
                  <a:t>“To address this issue, numerous methods are proposed recently, such as …”</a:t>
                </a:r>
                <a:endParaRPr kumimoji="1" lang="en" altLang="ko-KR" sz="2200" b="1" dirty="0"/>
              </a:p>
            </p:txBody>
          </p:sp>
        </mc:Choice>
        <mc:Fallback xmlns="">
          <p:sp>
            <p:nvSpPr>
              <p:cNvPr id="6" name="내용 개체 틀 2">
                <a:extLst>
                  <a:ext uri="{FF2B5EF4-FFF2-40B4-BE49-F238E27FC236}">
                    <a16:creationId xmlns:a16="http://schemas.microsoft.com/office/drawing/2014/main" id="{83FE2673-F972-E92F-BE0F-4EF50ACDD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4" y="852966"/>
                <a:ext cx="11952383" cy="5438047"/>
              </a:xfrm>
              <a:prstGeom prst="rect">
                <a:avLst/>
              </a:prstGeom>
              <a:blipFill>
                <a:blip r:embed="rId3"/>
                <a:stretch>
                  <a:fillRect l="-531" b="-9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CECA0A02-A597-84A2-B250-E77084B717BB}"/>
                  </a:ext>
                </a:extLst>
              </p:cNvPr>
              <p:cNvSpPr/>
              <p:nvPr/>
            </p:nvSpPr>
            <p:spPr>
              <a:xfrm>
                <a:off x="1668285" y="3094658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CECA0A02-A597-84A2-B250-E77084B717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285" y="3094658"/>
                <a:ext cx="883096" cy="1725105"/>
              </a:xfrm>
              <a:prstGeom prst="rect">
                <a:avLst/>
              </a:prstGeom>
              <a:blipFill>
                <a:blip r:embed="rId4"/>
                <a:stretch>
                  <a:fillRect l="-1389"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95D6B3CF-A104-9E24-196D-88DC6870F331}"/>
                  </a:ext>
                </a:extLst>
              </p:cNvPr>
              <p:cNvSpPr/>
              <p:nvPr/>
            </p:nvSpPr>
            <p:spPr>
              <a:xfrm rot="16200000">
                <a:off x="3503464" y="3359135"/>
                <a:ext cx="883096" cy="1725105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95D6B3CF-A104-9E24-196D-88DC6870F3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503464" y="3359135"/>
                <a:ext cx="883096" cy="17251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곱하기 15">
            <a:extLst>
              <a:ext uri="{FF2B5EF4-FFF2-40B4-BE49-F238E27FC236}">
                <a16:creationId xmlns:a16="http://schemas.microsoft.com/office/drawing/2014/main" id="{89C7AC4F-B32C-F6FB-4A5D-C38B5DE60507}"/>
              </a:ext>
            </a:extLst>
          </p:cNvPr>
          <p:cNvSpPr/>
          <p:nvPr/>
        </p:nvSpPr>
        <p:spPr>
          <a:xfrm>
            <a:off x="2596915" y="3715340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36C703D-E1E1-8409-E868-63148CCE2B70}"/>
              </a:ext>
            </a:extLst>
          </p:cNvPr>
          <p:cNvSpPr/>
          <p:nvPr/>
        </p:nvSpPr>
        <p:spPr>
          <a:xfrm>
            <a:off x="1530768" y="2919418"/>
            <a:ext cx="3384223" cy="2075584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1A84169-22BD-0227-65DB-044D2C6F4E0A}"/>
                  </a:ext>
                </a:extLst>
              </p:cNvPr>
              <p:cNvSpPr/>
              <p:nvPr/>
            </p:nvSpPr>
            <p:spPr>
              <a:xfrm>
                <a:off x="2674544" y="4791876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𝑆𝑜𝑓𝑡𝑚𝑎𝑥</m:t>
                      </m:r>
                    </m:oMath>
                  </m:oMathPara>
                </a14:m>
                <a:endParaRPr kumimoji="1" lang="ko-KR" alt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1A84169-22BD-0227-65DB-044D2C6F4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4544" y="4791876"/>
                <a:ext cx="1096670" cy="400725"/>
              </a:xfrm>
              <a:prstGeom prst="rect">
                <a:avLst/>
              </a:prstGeom>
              <a:blipFill>
                <a:blip r:embed="rId6"/>
                <a:stretch>
                  <a:fillRect l="-3409" b="-9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곱하기 25">
            <a:extLst>
              <a:ext uri="{FF2B5EF4-FFF2-40B4-BE49-F238E27FC236}">
                <a16:creationId xmlns:a16="http://schemas.microsoft.com/office/drawing/2014/main" id="{DC245993-8D96-0EAD-F057-475C6798A4D4}"/>
              </a:ext>
            </a:extLst>
          </p:cNvPr>
          <p:cNvSpPr/>
          <p:nvPr/>
        </p:nvSpPr>
        <p:spPr>
          <a:xfrm>
            <a:off x="4960525" y="3715339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4314F6B7-F258-227C-BA3E-EEC9428B613E}"/>
                  </a:ext>
                </a:extLst>
              </p:cNvPr>
              <p:cNvSpPr/>
              <p:nvPr/>
            </p:nvSpPr>
            <p:spPr>
              <a:xfrm>
                <a:off x="5446069" y="3094658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4314F6B7-F258-227C-BA3E-EEC9428B6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069" y="3094658"/>
                <a:ext cx="883096" cy="17251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직사각형 28">
            <a:extLst>
              <a:ext uri="{FF2B5EF4-FFF2-40B4-BE49-F238E27FC236}">
                <a16:creationId xmlns:a16="http://schemas.microsoft.com/office/drawing/2014/main" id="{59B918C0-27D5-82D1-8737-7DDDCC13EB74}"/>
              </a:ext>
            </a:extLst>
          </p:cNvPr>
          <p:cNvSpPr/>
          <p:nvPr/>
        </p:nvSpPr>
        <p:spPr>
          <a:xfrm>
            <a:off x="1390347" y="2512199"/>
            <a:ext cx="5117774" cy="2680401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97A71D2D-F829-3E01-D165-CB97D05C5977}"/>
                  </a:ext>
                </a:extLst>
              </p:cNvPr>
              <p:cNvSpPr/>
              <p:nvPr/>
            </p:nvSpPr>
            <p:spPr>
              <a:xfrm>
                <a:off x="1561498" y="5243285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97A71D2D-F829-3E01-D165-CB97D05C59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498" y="5243285"/>
                <a:ext cx="1096670" cy="400725"/>
              </a:xfrm>
              <a:prstGeom prst="rect">
                <a:avLst/>
              </a:prstGeom>
              <a:blipFill>
                <a:blip r:embed="rId8"/>
                <a:stretch>
                  <a:fillRect b="-242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321F0347-183D-AC90-5DA1-D4EE4BA53D7E}"/>
                  </a:ext>
                </a:extLst>
              </p:cNvPr>
              <p:cNvSpPr/>
              <p:nvPr/>
            </p:nvSpPr>
            <p:spPr>
              <a:xfrm>
                <a:off x="3396677" y="5243285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321F0347-183D-AC90-5DA1-D4EE4BA53D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677" y="5243285"/>
                <a:ext cx="1096670" cy="400725"/>
              </a:xfrm>
              <a:prstGeom prst="rect">
                <a:avLst/>
              </a:prstGeom>
              <a:blipFill>
                <a:blip r:embed="rId9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AEBD2973-C8FB-8D36-4193-5539C2FDE2DF}"/>
                  </a:ext>
                </a:extLst>
              </p:cNvPr>
              <p:cNvSpPr/>
              <p:nvPr/>
            </p:nvSpPr>
            <p:spPr>
              <a:xfrm>
                <a:off x="5339282" y="5240875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AEBD2973-C8FB-8D36-4193-5539C2FDE2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282" y="5240875"/>
                <a:ext cx="1096670" cy="4007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등호 33">
            <a:extLst>
              <a:ext uri="{FF2B5EF4-FFF2-40B4-BE49-F238E27FC236}">
                <a16:creationId xmlns:a16="http://schemas.microsoft.com/office/drawing/2014/main" id="{4D82747E-FC58-5B8C-2363-B7AE51C56843}"/>
              </a:ext>
            </a:extLst>
          </p:cNvPr>
          <p:cNvSpPr/>
          <p:nvPr/>
        </p:nvSpPr>
        <p:spPr>
          <a:xfrm>
            <a:off x="6645638" y="3736434"/>
            <a:ext cx="543612" cy="441548"/>
          </a:xfrm>
          <a:prstGeom prst="mathEqual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3CD17266-3941-87F7-678A-C580F3D278D5}"/>
                  </a:ext>
                </a:extLst>
              </p:cNvPr>
              <p:cNvSpPr/>
              <p:nvPr/>
            </p:nvSpPr>
            <p:spPr>
              <a:xfrm>
                <a:off x="7335240" y="3094658"/>
                <a:ext cx="1725106" cy="1725105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3CD17266-3941-87F7-678A-C580F3D27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240" y="3094658"/>
                <a:ext cx="1725106" cy="1725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곱하기 35">
            <a:extLst>
              <a:ext uri="{FF2B5EF4-FFF2-40B4-BE49-F238E27FC236}">
                <a16:creationId xmlns:a16="http://schemas.microsoft.com/office/drawing/2014/main" id="{99400413-E996-6244-5C83-656685AACF07}"/>
              </a:ext>
            </a:extLst>
          </p:cNvPr>
          <p:cNvSpPr/>
          <p:nvPr/>
        </p:nvSpPr>
        <p:spPr>
          <a:xfrm>
            <a:off x="9187971" y="3715339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34B51D6D-FEFF-7FB9-712A-70DD1F48DFD2}"/>
                  </a:ext>
                </a:extLst>
              </p:cNvPr>
              <p:cNvSpPr/>
              <p:nvPr/>
            </p:nvSpPr>
            <p:spPr>
              <a:xfrm>
                <a:off x="9755606" y="3094658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34B51D6D-FEFF-7FB9-712A-70DD1F48D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5606" y="3094658"/>
                <a:ext cx="883096" cy="17251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FCED7D8F-A662-1B98-D4F1-02C1DEBDC822}"/>
                  </a:ext>
                </a:extLst>
              </p:cNvPr>
              <p:cNvSpPr/>
              <p:nvPr/>
            </p:nvSpPr>
            <p:spPr>
              <a:xfrm>
                <a:off x="7182074" y="2258102"/>
                <a:ext cx="3756544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FCED7D8F-A662-1B98-D4F1-02C1DEBDC8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074" y="2258102"/>
                <a:ext cx="3756544" cy="508191"/>
              </a:xfrm>
              <a:prstGeom prst="rect">
                <a:avLst/>
              </a:prstGeom>
              <a:blipFill>
                <a:blip r:embed="rId13"/>
                <a:stretch>
                  <a:fillRect b="-195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CFF63B0-7CBB-38B9-389C-6FBB2790EEA3}"/>
                  </a:ext>
                </a:extLst>
              </p:cNvPr>
              <p:cNvSpPr/>
              <p:nvPr/>
            </p:nvSpPr>
            <p:spPr>
              <a:xfrm>
                <a:off x="8008872" y="5187141"/>
                <a:ext cx="2798208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CFF63B0-7CBB-38B9-389C-6FBB2790EE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872" y="5187141"/>
                <a:ext cx="2798208" cy="508191"/>
              </a:xfrm>
              <a:prstGeom prst="rect">
                <a:avLst/>
              </a:prstGeom>
              <a:blipFill>
                <a:blip r:embed="rId14"/>
                <a:stretch>
                  <a:fillRect b="-121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CCF24FF9-6AD2-7244-EEC7-B8C66D1EC666}"/>
                  </a:ext>
                </a:extLst>
              </p:cNvPr>
              <p:cNvSpPr/>
              <p:nvPr/>
            </p:nvSpPr>
            <p:spPr>
              <a:xfrm>
                <a:off x="3530223" y="2679298"/>
                <a:ext cx="1295895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CCF24FF9-6AD2-7244-EEC7-B8C66D1EC6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223" y="2679298"/>
                <a:ext cx="1295895" cy="508191"/>
              </a:xfrm>
              <a:prstGeom prst="rect">
                <a:avLst/>
              </a:prstGeom>
              <a:blipFill>
                <a:blip r:embed="rId15"/>
                <a:stretch>
                  <a:fillRect l="-19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CD7C157B-D5CD-29DB-C419-0969FCD7E7A1}"/>
                  </a:ext>
                </a:extLst>
              </p:cNvPr>
              <p:cNvSpPr/>
              <p:nvPr/>
            </p:nvSpPr>
            <p:spPr>
              <a:xfrm>
                <a:off x="5154804" y="2258102"/>
                <a:ext cx="1295895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CD7C157B-D5CD-29DB-C419-0969FCD7E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4804" y="2258102"/>
                <a:ext cx="1295895" cy="508191"/>
              </a:xfrm>
              <a:prstGeom prst="rect">
                <a:avLst/>
              </a:prstGeom>
              <a:blipFill>
                <a:blip r:embed="rId16"/>
                <a:stretch>
                  <a:fillRect l="-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63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57BCF-1FF0-C8FB-BFE0-5C2D9791B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59239-AB76-B194-8825-D0490DAC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000" b="1" dirty="0"/>
              <a:t>Outline</a:t>
            </a:r>
            <a:endParaRPr kumimoji="1" lang="ko-KR" altLang="en-US" sz="30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DE75FB-5942-54FA-2B7B-0D1178BC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14" y="852967"/>
            <a:ext cx="11952383" cy="581107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kumimoji="1" lang="en-US" altLang="ko-KR" sz="2500" dirty="0" err="1"/>
              <a:t>Softmax</a:t>
            </a:r>
            <a:r>
              <a:rPr kumimoji="1" lang="en-US" altLang="ko-KR" sz="2500" dirty="0"/>
              <a:t>-based Self-Attention</a:t>
            </a:r>
          </a:p>
          <a:p>
            <a:pPr>
              <a:lnSpc>
                <a:spcPct val="200000"/>
              </a:lnSpc>
            </a:pPr>
            <a:r>
              <a:rPr kumimoji="1" lang="en-US" altLang="ko-KR" sz="2500" b="1" dirty="0"/>
              <a:t>Linear 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en-US" altLang="ko-KR" sz="2500" dirty="0"/>
              <a:t>Sparse 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en-US" altLang="ko-KR" sz="2500" dirty="0"/>
              <a:t>Low-rank representations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ko-KR" altLang="en-US" sz="2500" dirty="0"/>
              <a:t>*</a:t>
            </a:r>
            <a:r>
              <a:rPr kumimoji="1" lang="en-US" altLang="ko-KR" sz="2500" dirty="0"/>
              <a:t>Kernel-based methods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2200" dirty="0" err="1"/>
              <a:t>EfficientViT</a:t>
            </a:r>
            <a:r>
              <a:rPr kumimoji="1" lang="en-US" altLang="ko-KR" sz="2200" dirty="0"/>
              <a:t>: </a:t>
            </a:r>
            <a:r>
              <a:rPr kumimoji="1" lang="en-US" altLang="ko-KR" sz="2200" dirty="0" err="1"/>
              <a:t>ReLU</a:t>
            </a:r>
            <a:r>
              <a:rPr kumimoji="1" lang="en-US" altLang="ko-KR" sz="2200" dirty="0"/>
              <a:t>-based Linear Self-Attention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2200" dirty="0" err="1"/>
              <a:t>CosFormer</a:t>
            </a:r>
            <a:r>
              <a:rPr kumimoji="1" lang="en-US" altLang="ko-KR" sz="2200" dirty="0"/>
              <a:t>: </a:t>
            </a:r>
            <a:r>
              <a:rPr kumimoji="1" lang="en-US" altLang="ko-KR" sz="2200" dirty="0" err="1"/>
              <a:t>ReLU</a:t>
            </a:r>
            <a:r>
              <a:rPr kumimoji="1" lang="en-US" altLang="ko-KR" sz="2200" dirty="0"/>
              <a:t>-based Linear Self-Attention + cosine-based re-weighting scheme</a:t>
            </a:r>
            <a:endParaRPr kumimoji="1" lang="en-US" altLang="ko-KR" sz="2500" dirty="0"/>
          </a:p>
          <a:p>
            <a:pPr>
              <a:lnSpc>
                <a:spcPct val="200000"/>
              </a:lnSpc>
            </a:pPr>
            <a:r>
              <a:rPr kumimoji="1" lang="en-US" altLang="ko-KR" sz="2500" dirty="0"/>
              <a:t>Applying </a:t>
            </a:r>
            <a:r>
              <a:rPr kumimoji="1" lang="en-US" altLang="ko-KR" sz="2500" dirty="0" err="1"/>
              <a:t>CosFormer</a:t>
            </a:r>
            <a:r>
              <a:rPr kumimoji="1" lang="en-US" altLang="ko-KR" sz="2500" dirty="0"/>
              <a:t> to My Research</a:t>
            </a:r>
            <a:endParaRPr kumimoji="1"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259509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F1EF-A0DD-FF3E-F12D-B847E9BF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FD99E-3C05-4C3D-0DD3-648CC5EAC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Linear Attention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F4D41CB-E914-0892-A6FB-68A5E8C19D67}"/>
              </a:ext>
            </a:extLst>
          </p:cNvPr>
          <p:cNvSpPr txBox="1">
            <a:spLocks/>
          </p:cNvSpPr>
          <p:nvPr/>
        </p:nvSpPr>
        <p:spPr>
          <a:xfrm>
            <a:off x="117514" y="852966"/>
            <a:ext cx="11952383" cy="5438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300" b="1" dirty="0"/>
              <a:t>Sparse attention matrix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000" dirty="0"/>
              <a:t>Low-rank representations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000" dirty="0"/>
              <a:t>Kernel-based methods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93F243-2787-C728-80C7-141B25338B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2"/>
          <a:stretch>
            <a:fillRect/>
          </a:stretch>
        </p:blipFill>
        <p:spPr bwMode="auto">
          <a:xfrm>
            <a:off x="4653490" y="979143"/>
            <a:ext cx="6127282" cy="2119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2568BFA-43FC-F3B6-2582-42E334A03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113" y="3098741"/>
            <a:ext cx="8320035" cy="299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B4C9A5-20EC-8C45-5B59-82756AAA47A6}"/>
              </a:ext>
            </a:extLst>
          </p:cNvPr>
          <p:cNvSpPr txBox="1"/>
          <p:nvPr/>
        </p:nvSpPr>
        <p:spPr>
          <a:xfrm>
            <a:off x="840712" y="6215675"/>
            <a:ext cx="10510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5"/>
              </a:rPr>
              <a:t>Zaheer, Manzil, et al. "Big bird: Transformers for longer sequences." </a:t>
            </a:r>
            <a:r>
              <a:rPr lang="en" altLang="ko-KR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5"/>
              </a:rPr>
              <a:t>Advances in neural information processing systems</a:t>
            </a:r>
            <a:r>
              <a:rPr lang="en" altLang="ko-KR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5"/>
              </a:rPr>
              <a:t> 33 (2020): 17283-17297.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33633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AF03-5646-8C4C-B401-78C9615B1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8A9FC-059D-76C8-6464-C521CA08C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Linear Attention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9D84563-E812-689B-34A9-243E7D4B593A}"/>
              </a:ext>
            </a:extLst>
          </p:cNvPr>
          <p:cNvSpPr txBox="1">
            <a:spLocks/>
          </p:cNvSpPr>
          <p:nvPr/>
        </p:nvSpPr>
        <p:spPr>
          <a:xfrm>
            <a:off x="117514" y="852966"/>
            <a:ext cx="11952383" cy="5438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000" dirty="0"/>
              <a:t>Sparse attention matrix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300" b="1" dirty="0"/>
              <a:t>Low-rank representations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000" dirty="0"/>
              <a:t>Kernel-based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01456-648D-C61B-B620-43BDCB788DEB}"/>
              </a:ext>
            </a:extLst>
          </p:cNvPr>
          <p:cNvSpPr txBox="1"/>
          <p:nvPr/>
        </p:nvSpPr>
        <p:spPr>
          <a:xfrm>
            <a:off x="2190540" y="6215675"/>
            <a:ext cx="7810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200" dirty="0">
                <a:hlinkClick r:id="rId3"/>
              </a:rPr>
              <a:t>Wang, </a:t>
            </a:r>
            <a:r>
              <a:rPr lang="en" altLang="ko-KR" sz="1200" dirty="0" err="1">
                <a:hlinkClick r:id="rId3"/>
              </a:rPr>
              <a:t>Sinong</a:t>
            </a:r>
            <a:r>
              <a:rPr lang="en" altLang="ko-KR" sz="1200" dirty="0">
                <a:hlinkClick r:id="rId3"/>
              </a:rPr>
              <a:t>, et al. "</a:t>
            </a:r>
            <a:r>
              <a:rPr lang="en" altLang="ko-KR" sz="1200" dirty="0" err="1">
                <a:hlinkClick r:id="rId3"/>
              </a:rPr>
              <a:t>Linformer</a:t>
            </a:r>
            <a:r>
              <a:rPr lang="en" altLang="ko-KR" sz="1200" dirty="0">
                <a:hlinkClick r:id="rId3"/>
              </a:rPr>
              <a:t>: Self-attention with linear complexity." </a:t>
            </a:r>
            <a:r>
              <a:rPr lang="en" altLang="ko-KR" sz="1200" i="1" dirty="0" err="1">
                <a:hlinkClick r:id="rId3"/>
              </a:rPr>
              <a:t>arXiv</a:t>
            </a:r>
            <a:r>
              <a:rPr lang="en" altLang="ko-KR" sz="1200" i="1" dirty="0">
                <a:hlinkClick r:id="rId3"/>
              </a:rPr>
              <a:t> preprint arXiv:2006.04768</a:t>
            </a:r>
            <a:r>
              <a:rPr lang="en" altLang="ko-KR" sz="1200" dirty="0">
                <a:hlinkClick r:id="rId3"/>
              </a:rPr>
              <a:t> (2020).</a:t>
            </a:r>
            <a:endParaRPr lang="ko-KR" altLang="en-US" sz="1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BE997D7-4707-C8B3-7D61-8E0783202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341" y="2847617"/>
            <a:ext cx="5183846" cy="33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C55F18C-E4B1-C76F-C056-2E143A35D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490" y="979143"/>
            <a:ext cx="6037548" cy="176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570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C579477-8D74-5D85-0069-0C61A433C0A0}"/>
                  </a:ext>
                </a:extLst>
              </p:cNvPr>
              <p:cNvSpPr/>
              <p:nvPr/>
            </p:nvSpPr>
            <p:spPr>
              <a:xfrm>
                <a:off x="577651" y="535058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BC579477-8D74-5D85-0069-0C61A433C0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51" y="535058"/>
                <a:ext cx="883096" cy="1725105"/>
              </a:xfrm>
              <a:prstGeom prst="rect">
                <a:avLst/>
              </a:prstGeom>
              <a:blipFill>
                <a:blip r:embed="rId3"/>
                <a:stretch>
                  <a:fillRect l="-1389"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49050CAD-87E7-D988-758B-6BE83DDAB734}"/>
                  </a:ext>
                </a:extLst>
              </p:cNvPr>
              <p:cNvSpPr/>
              <p:nvPr/>
            </p:nvSpPr>
            <p:spPr>
              <a:xfrm rot="16200000">
                <a:off x="2412830" y="799535"/>
                <a:ext cx="883096" cy="1725105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49050CAD-87E7-D988-758B-6BE83DDAB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412830" y="799535"/>
                <a:ext cx="883096" cy="1725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곱하기 3">
            <a:extLst>
              <a:ext uri="{FF2B5EF4-FFF2-40B4-BE49-F238E27FC236}">
                <a16:creationId xmlns:a16="http://schemas.microsoft.com/office/drawing/2014/main" id="{82640CF3-2A85-55A9-AC96-5EC24ACF6DB4}"/>
              </a:ext>
            </a:extLst>
          </p:cNvPr>
          <p:cNvSpPr/>
          <p:nvPr/>
        </p:nvSpPr>
        <p:spPr>
          <a:xfrm>
            <a:off x="1506281" y="1155740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563B4D-C5AF-140F-E1EA-ADE2AE3629FD}"/>
              </a:ext>
            </a:extLst>
          </p:cNvPr>
          <p:cNvSpPr/>
          <p:nvPr/>
        </p:nvSpPr>
        <p:spPr>
          <a:xfrm>
            <a:off x="440134" y="460788"/>
            <a:ext cx="3384223" cy="1891131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D9E19C47-7316-350B-8685-6124DA8788A4}"/>
                  </a:ext>
                </a:extLst>
              </p:cNvPr>
              <p:cNvSpPr/>
              <p:nvPr/>
            </p:nvSpPr>
            <p:spPr>
              <a:xfrm>
                <a:off x="1583910" y="2151556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𝑆𝑜𝑓𝑡𝑚𝑎𝑥</m:t>
                      </m:r>
                    </m:oMath>
                  </m:oMathPara>
                </a14:m>
                <a:endParaRPr kumimoji="1" lang="ko-KR" alt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D9E19C47-7316-350B-8685-6124DA8788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910" y="2151556"/>
                <a:ext cx="1096670" cy="400725"/>
              </a:xfrm>
              <a:prstGeom prst="rect">
                <a:avLst/>
              </a:prstGeom>
              <a:blipFill>
                <a:blip r:embed="rId5"/>
                <a:stretch>
                  <a:fillRect l="-3409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곱하기 6">
            <a:extLst>
              <a:ext uri="{FF2B5EF4-FFF2-40B4-BE49-F238E27FC236}">
                <a16:creationId xmlns:a16="http://schemas.microsoft.com/office/drawing/2014/main" id="{F662D451-3B21-9705-B788-2655D8F14F26}"/>
              </a:ext>
            </a:extLst>
          </p:cNvPr>
          <p:cNvSpPr/>
          <p:nvPr/>
        </p:nvSpPr>
        <p:spPr>
          <a:xfrm>
            <a:off x="3869891" y="1155739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4DE2B5D1-920F-66E6-6FFE-21AED7509231}"/>
                  </a:ext>
                </a:extLst>
              </p:cNvPr>
              <p:cNvSpPr/>
              <p:nvPr/>
            </p:nvSpPr>
            <p:spPr>
              <a:xfrm>
                <a:off x="4355435" y="535058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4DE2B5D1-920F-66E6-6FFE-21AED75092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435" y="535058"/>
                <a:ext cx="883096" cy="17251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9A08239E-A00F-53C5-7D42-DC9550FBCD1B}"/>
              </a:ext>
            </a:extLst>
          </p:cNvPr>
          <p:cNvSpPr/>
          <p:nvPr/>
        </p:nvSpPr>
        <p:spPr>
          <a:xfrm>
            <a:off x="299713" y="255491"/>
            <a:ext cx="5117774" cy="2250545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3980892-D7AB-E4CF-1AFD-843D6E41B751}"/>
                  </a:ext>
                </a:extLst>
              </p:cNvPr>
              <p:cNvSpPr/>
              <p:nvPr/>
            </p:nvSpPr>
            <p:spPr>
              <a:xfrm>
                <a:off x="470864" y="2541604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3980892-D7AB-E4CF-1AFD-843D6E41B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64" y="2541604"/>
                <a:ext cx="1096670" cy="400725"/>
              </a:xfrm>
              <a:prstGeom prst="rect">
                <a:avLst/>
              </a:prstGeom>
              <a:blipFill>
                <a:blip r:embed="rId7"/>
                <a:stretch>
                  <a:fillRect b="-2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6C2B4F3-F985-FCED-7437-D073625874E1}"/>
                  </a:ext>
                </a:extLst>
              </p:cNvPr>
              <p:cNvSpPr/>
              <p:nvPr/>
            </p:nvSpPr>
            <p:spPr>
              <a:xfrm>
                <a:off x="2050796" y="2541604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46C2B4F3-F985-FCED-7437-D073625874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796" y="2541604"/>
                <a:ext cx="1096670" cy="400725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A877310-CB8E-2743-822B-8B3B05D5D9D4}"/>
                  </a:ext>
                </a:extLst>
              </p:cNvPr>
              <p:cNvSpPr/>
              <p:nvPr/>
            </p:nvSpPr>
            <p:spPr>
              <a:xfrm>
                <a:off x="4122200" y="2559770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CA877310-CB8E-2743-822B-8B3B05D5D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200" y="2559770"/>
                <a:ext cx="1096670" cy="400725"/>
              </a:xfrm>
              <a:prstGeom prst="rect">
                <a:avLst/>
              </a:prstGeom>
              <a:blipFill>
                <a:blip r:embed="rId9"/>
                <a:stretch>
                  <a:fillRect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등호 12">
            <a:extLst>
              <a:ext uri="{FF2B5EF4-FFF2-40B4-BE49-F238E27FC236}">
                <a16:creationId xmlns:a16="http://schemas.microsoft.com/office/drawing/2014/main" id="{032FE44D-047F-CD26-BE49-27F571BB3438}"/>
              </a:ext>
            </a:extLst>
          </p:cNvPr>
          <p:cNvSpPr/>
          <p:nvPr/>
        </p:nvSpPr>
        <p:spPr>
          <a:xfrm>
            <a:off x="5559564" y="1224238"/>
            <a:ext cx="543612" cy="441548"/>
          </a:xfrm>
          <a:prstGeom prst="mathEqual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2A55276-06DD-3C53-9091-E633A2A4F5EC}"/>
                  </a:ext>
                </a:extLst>
              </p:cNvPr>
              <p:cNvSpPr/>
              <p:nvPr/>
            </p:nvSpPr>
            <p:spPr>
              <a:xfrm>
                <a:off x="6249166" y="582462"/>
                <a:ext cx="1725106" cy="1725105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2A55276-06DD-3C53-9091-E633A2A4F5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166" y="582462"/>
                <a:ext cx="1725106" cy="17251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곱하기 14">
            <a:extLst>
              <a:ext uri="{FF2B5EF4-FFF2-40B4-BE49-F238E27FC236}">
                <a16:creationId xmlns:a16="http://schemas.microsoft.com/office/drawing/2014/main" id="{E3F9CB11-DEF6-F82D-2B12-48F20BC42CAF}"/>
              </a:ext>
            </a:extLst>
          </p:cNvPr>
          <p:cNvSpPr/>
          <p:nvPr/>
        </p:nvSpPr>
        <p:spPr>
          <a:xfrm>
            <a:off x="8101897" y="1203143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BDCE2CFB-FBB9-C0F8-C29F-BA4FFCF91C08}"/>
                  </a:ext>
                </a:extLst>
              </p:cNvPr>
              <p:cNvSpPr/>
              <p:nvPr/>
            </p:nvSpPr>
            <p:spPr>
              <a:xfrm>
                <a:off x="8669532" y="582462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BDCE2CFB-FBB9-C0F8-C29F-BA4FFCF91C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532" y="582462"/>
                <a:ext cx="883096" cy="1725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5B5DDCAF-7D44-6739-BCE1-33C4C0C1B2BF}"/>
                  </a:ext>
                </a:extLst>
              </p:cNvPr>
              <p:cNvSpPr/>
              <p:nvPr/>
            </p:nvSpPr>
            <p:spPr>
              <a:xfrm>
                <a:off x="6096000" y="1"/>
                <a:ext cx="3756544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5B5DDCAF-7D44-6739-BCE1-33C4C0C1B2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"/>
                <a:ext cx="3756544" cy="508191"/>
              </a:xfrm>
              <a:prstGeom prst="rect">
                <a:avLst/>
              </a:prstGeom>
              <a:blipFill>
                <a:blip r:embed="rId12"/>
                <a:stretch>
                  <a:fillRect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11E5255D-5B21-F716-6E02-BBF60EC14FA9}"/>
                  </a:ext>
                </a:extLst>
              </p:cNvPr>
              <p:cNvSpPr/>
              <p:nvPr/>
            </p:nvSpPr>
            <p:spPr>
              <a:xfrm>
                <a:off x="2436542" y="306671"/>
                <a:ext cx="1295895" cy="3594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11E5255D-5B21-F716-6E02-BBF60EC14F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542" y="306671"/>
                <a:ext cx="1295895" cy="359414"/>
              </a:xfrm>
              <a:prstGeom prst="rect">
                <a:avLst/>
              </a:prstGeom>
              <a:blipFill>
                <a:blip r:embed="rId13"/>
                <a:stretch>
                  <a:fillRect l="-2941" b="-137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B678BDFC-C1AC-9779-92BE-AE35A7A16685}"/>
                  </a:ext>
                </a:extLst>
              </p:cNvPr>
              <p:cNvSpPr/>
              <p:nvPr/>
            </p:nvSpPr>
            <p:spPr>
              <a:xfrm>
                <a:off x="4060284" y="0"/>
                <a:ext cx="1295895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B678BDFC-C1AC-9779-92BE-AE35A7A16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284" y="0"/>
                <a:ext cx="1295895" cy="508191"/>
              </a:xfrm>
              <a:prstGeom prst="rect">
                <a:avLst/>
              </a:prstGeom>
              <a:blipFill>
                <a:blip r:embed="rId14"/>
                <a:stretch>
                  <a:fillRect l="-29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F1AD0B27-C538-F601-348B-B7A75A7B4B6E}"/>
                  </a:ext>
                </a:extLst>
              </p:cNvPr>
              <p:cNvSpPr/>
              <p:nvPr/>
            </p:nvSpPr>
            <p:spPr>
              <a:xfrm>
                <a:off x="577651" y="4043278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F1AD0B27-C538-F601-348B-B7A75A7B4B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51" y="4043278"/>
                <a:ext cx="883096" cy="1725105"/>
              </a:xfrm>
              <a:prstGeom prst="rect">
                <a:avLst/>
              </a:prstGeom>
              <a:blipFill>
                <a:blip r:embed="rId3"/>
                <a:stretch>
                  <a:fillRect l="-1389"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56F4D597-1417-8679-2159-4B92161B328F}"/>
                  </a:ext>
                </a:extLst>
              </p:cNvPr>
              <p:cNvSpPr/>
              <p:nvPr/>
            </p:nvSpPr>
            <p:spPr>
              <a:xfrm rot="16200000">
                <a:off x="2413384" y="4520641"/>
                <a:ext cx="883096" cy="883098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kumimoji="1" lang="ko-KR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56F4D597-1417-8679-2159-4B92161B32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413384" y="4520641"/>
                <a:ext cx="883096" cy="88309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곱하기 41">
            <a:extLst>
              <a:ext uri="{FF2B5EF4-FFF2-40B4-BE49-F238E27FC236}">
                <a16:creationId xmlns:a16="http://schemas.microsoft.com/office/drawing/2014/main" id="{49F18BDD-D1EC-0EAC-3DBE-7F116906F89C}"/>
              </a:ext>
            </a:extLst>
          </p:cNvPr>
          <p:cNvSpPr/>
          <p:nvPr/>
        </p:nvSpPr>
        <p:spPr>
          <a:xfrm>
            <a:off x="1506281" y="4663960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B39E344-B228-8586-09E9-2BCEA7B41F1B}"/>
              </a:ext>
            </a:extLst>
          </p:cNvPr>
          <p:cNvSpPr/>
          <p:nvPr/>
        </p:nvSpPr>
        <p:spPr>
          <a:xfrm>
            <a:off x="440134" y="3969008"/>
            <a:ext cx="3384223" cy="1891131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1C03918-21F6-712E-072C-632A0E660EB6}"/>
                  </a:ext>
                </a:extLst>
              </p:cNvPr>
              <p:cNvSpPr/>
              <p:nvPr/>
            </p:nvSpPr>
            <p:spPr>
              <a:xfrm>
                <a:off x="1583910" y="5659776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𝑆𝑜𝑓𝑡𝑚𝑎𝑥</m:t>
                      </m:r>
                    </m:oMath>
                  </m:oMathPara>
                </a14:m>
                <a:endParaRPr kumimoji="1" lang="ko-KR" alt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1C03918-21F6-712E-072C-632A0E660E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910" y="5659776"/>
                <a:ext cx="1096670" cy="400725"/>
              </a:xfrm>
              <a:prstGeom prst="rect">
                <a:avLst/>
              </a:prstGeom>
              <a:blipFill>
                <a:blip r:embed="rId5"/>
                <a:stretch>
                  <a:fillRect l="-3409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곱하기 44">
            <a:extLst>
              <a:ext uri="{FF2B5EF4-FFF2-40B4-BE49-F238E27FC236}">
                <a16:creationId xmlns:a16="http://schemas.microsoft.com/office/drawing/2014/main" id="{5E663010-1F1D-3340-9D72-47A8ED1C1FDC}"/>
              </a:ext>
            </a:extLst>
          </p:cNvPr>
          <p:cNvSpPr/>
          <p:nvPr/>
        </p:nvSpPr>
        <p:spPr>
          <a:xfrm>
            <a:off x="3869891" y="4663959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8FE32811-9AF9-A84E-A071-EC064AEF9A24}"/>
                  </a:ext>
                </a:extLst>
              </p:cNvPr>
              <p:cNvSpPr/>
              <p:nvPr/>
            </p:nvSpPr>
            <p:spPr>
              <a:xfrm>
                <a:off x="4355435" y="4514304"/>
                <a:ext cx="883096" cy="883097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kumimoji="1" lang="en-US" altLang="ko-K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8FE32811-9AF9-A84E-A071-EC064AEF9A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435" y="4514304"/>
                <a:ext cx="883096" cy="8830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직사각형 46">
            <a:extLst>
              <a:ext uri="{FF2B5EF4-FFF2-40B4-BE49-F238E27FC236}">
                <a16:creationId xmlns:a16="http://schemas.microsoft.com/office/drawing/2014/main" id="{C7CC3D94-0BD4-88D0-4082-C773A994A596}"/>
              </a:ext>
            </a:extLst>
          </p:cNvPr>
          <p:cNvSpPr/>
          <p:nvPr/>
        </p:nvSpPr>
        <p:spPr>
          <a:xfrm>
            <a:off x="299713" y="3763711"/>
            <a:ext cx="5117774" cy="2250545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76C41749-DDAD-E76B-9A0B-47ED0BCF3080}"/>
                  </a:ext>
                </a:extLst>
              </p:cNvPr>
              <p:cNvSpPr/>
              <p:nvPr/>
            </p:nvSpPr>
            <p:spPr>
              <a:xfrm>
                <a:off x="470864" y="6049401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76C41749-DDAD-E76B-9A0B-47ED0BCF30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64" y="6049401"/>
                <a:ext cx="1096670" cy="400725"/>
              </a:xfrm>
              <a:prstGeom prst="rect">
                <a:avLst/>
              </a:prstGeom>
              <a:blipFill>
                <a:blip r:embed="rId7"/>
                <a:stretch>
                  <a:fillRect b="-2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DAF66E75-9430-DDAF-9402-E531B0A16363}"/>
                  </a:ext>
                </a:extLst>
              </p:cNvPr>
              <p:cNvSpPr/>
              <p:nvPr/>
            </p:nvSpPr>
            <p:spPr>
              <a:xfrm>
                <a:off x="2306043" y="6069931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DAF66E75-9430-DDAF-9402-E531B0A163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043" y="6069931"/>
                <a:ext cx="1096670" cy="400725"/>
              </a:xfrm>
              <a:prstGeom prst="rect">
                <a:avLst/>
              </a:prstGeom>
              <a:blipFill>
                <a:blip r:embed="rId17"/>
                <a:stretch>
                  <a:fillRect b="-9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A77DA6CA-14D2-AFBA-FE5C-2074B8CE3A08}"/>
                  </a:ext>
                </a:extLst>
              </p:cNvPr>
              <p:cNvSpPr/>
              <p:nvPr/>
            </p:nvSpPr>
            <p:spPr>
              <a:xfrm>
                <a:off x="4248648" y="6047109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A77DA6CA-14D2-AFBA-FE5C-2074B8CE3A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648" y="6047109"/>
                <a:ext cx="1096670" cy="400725"/>
              </a:xfrm>
              <a:prstGeom prst="rect">
                <a:avLst/>
              </a:prstGeom>
              <a:blipFill>
                <a:blip r:embed="rId18"/>
                <a:stretch>
                  <a:fillRect b="-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등호 50">
            <a:extLst>
              <a:ext uri="{FF2B5EF4-FFF2-40B4-BE49-F238E27FC236}">
                <a16:creationId xmlns:a16="http://schemas.microsoft.com/office/drawing/2014/main" id="{2ACF9703-D930-8B47-C0B7-A0B1809C013B}"/>
              </a:ext>
            </a:extLst>
          </p:cNvPr>
          <p:cNvSpPr/>
          <p:nvPr/>
        </p:nvSpPr>
        <p:spPr>
          <a:xfrm>
            <a:off x="5559564" y="4732458"/>
            <a:ext cx="543612" cy="441548"/>
          </a:xfrm>
          <a:prstGeom prst="mathEqual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8EDC8F20-B155-D910-935C-345FCE9E617D}"/>
                  </a:ext>
                </a:extLst>
              </p:cNvPr>
              <p:cNvSpPr/>
              <p:nvPr/>
            </p:nvSpPr>
            <p:spPr>
              <a:xfrm>
                <a:off x="6354156" y="4043279"/>
                <a:ext cx="883096" cy="1725104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8EDC8F20-B155-D910-935C-345FCE9E6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156" y="4043279"/>
                <a:ext cx="883096" cy="172510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곱하기 52">
            <a:extLst>
              <a:ext uri="{FF2B5EF4-FFF2-40B4-BE49-F238E27FC236}">
                <a16:creationId xmlns:a16="http://schemas.microsoft.com/office/drawing/2014/main" id="{EF2C2836-EC1F-B4A2-117A-1B9971282D30}"/>
              </a:ext>
            </a:extLst>
          </p:cNvPr>
          <p:cNvSpPr/>
          <p:nvPr/>
        </p:nvSpPr>
        <p:spPr>
          <a:xfrm>
            <a:off x="8101897" y="4711363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ECF082ED-5A94-F1AF-D697-87C9FC23422F}"/>
                  </a:ext>
                </a:extLst>
              </p:cNvPr>
              <p:cNvSpPr/>
              <p:nvPr/>
            </p:nvSpPr>
            <p:spPr>
              <a:xfrm>
                <a:off x="8669532" y="4511683"/>
                <a:ext cx="883096" cy="883097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ECF082ED-5A94-F1AF-D697-87C9FC2342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532" y="4511683"/>
                <a:ext cx="883096" cy="8830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6F74B403-C99A-99F0-22DF-5462205549E4}"/>
                  </a:ext>
                </a:extLst>
              </p:cNvPr>
              <p:cNvSpPr/>
              <p:nvPr/>
            </p:nvSpPr>
            <p:spPr>
              <a:xfrm>
                <a:off x="6092270" y="3460817"/>
                <a:ext cx="3756544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𝑁𝑑𝑘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6F74B403-C99A-99F0-22DF-5462205549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270" y="3460817"/>
                <a:ext cx="3756544" cy="508191"/>
              </a:xfrm>
              <a:prstGeom prst="rect">
                <a:avLst/>
              </a:prstGeom>
              <a:blipFill>
                <a:blip r:embed="rId21"/>
                <a:stretch>
                  <a:fillRect b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E748EBFB-E69F-2982-43A6-84FA1AB58AD3}"/>
                  </a:ext>
                </a:extLst>
              </p:cNvPr>
              <p:cNvSpPr/>
              <p:nvPr/>
            </p:nvSpPr>
            <p:spPr>
              <a:xfrm>
                <a:off x="2436542" y="3794403"/>
                <a:ext cx="1295895" cy="3799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𝑁𝑑𝑘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E748EBFB-E69F-2982-43A6-84FA1AB58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542" y="3794403"/>
                <a:ext cx="1295895" cy="379901"/>
              </a:xfrm>
              <a:prstGeom prst="rect">
                <a:avLst/>
              </a:prstGeom>
              <a:blipFill>
                <a:blip r:embed="rId22"/>
                <a:stretch>
                  <a:fillRect l="-3922" b="-64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028D4560-116E-758C-C86E-0545EFA33AC6}"/>
                  </a:ext>
                </a:extLst>
              </p:cNvPr>
              <p:cNvSpPr/>
              <p:nvPr/>
            </p:nvSpPr>
            <p:spPr>
              <a:xfrm>
                <a:off x="4060284" y="3508220"/>
                <a:ext cx="1295895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𝑁𝑑𝑘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028D4560-116E-758C-C86E-0545EFA33A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284" y="3508220"/>
                <a:ext cx="1295895" cy="508191"/>
              </a:xfrm>
              <a:prstGeom prst="rect">
                <a:avLst/>
              </a:prstGeom>
              <a:blipFill>
                <a:blip r:embed="rId23"/>
                <a:stretch>
                  <a:fillRect l="-29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4B38059-5D8F-18A4-F8E0-FAD1F3E88BF4}"/>
              </a:ext>
            </a:extLst>
          </p:cNvPr>
          <p:cNvCxnSpPr>
            <a:cxnSpLocks/>
            <a:stCxn id="3" idx="1"/>
            <a:endCxn id="41" idx="3"/>
          </p:cNvCxnSpPr>
          <p:nvPr/>
        </p:nvCxnSpPr>
        <p:spPr>
          <a:xfrm>
            <a:off x="2854379" y="2103636"/>
            <a:ext cx="553" cy="2417006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F6B06FC-2C3F-4645-9DC6-6F4B0DB6146D}"/>
              </a:ext>
            </a:extLst>
          </p:cNvPr>
          <p:cNvCxnSpPr>
            <a:cxnSpLocks/>
            <a:stCxn id="8" idx="2"/>
            <a:endCxn id="46" idx="0"/>
          </p:cNvCxnSpPr>
          <p:nvPr/>
        </p:nvCxnSpPr>
        <p:spPr>
          <a:xfrm>
            <a:off x="4796983" y="2260163"/>
            <a:ext cx="0" cy="2254141"/>
          </a:xfrm>
          <a:prstGeom prst="straightConnector1">
            <a:avLst/>
          </a:prstGeom>
          <a:ln w="38100">
            <a:solidFill>
              <a:schemeClr val="accent4"/>
            </a:solidFill>
            <a:headEnd w="lg" len="lg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DDA194E-BF97-FB31-766C-9D3581B01268}"/>
              </a:ext>
            </a:extLst>
          </p:cNvPr>
          <p:cNvSpPr txBox="1"/>
          <p:nvPr/>
        </p:nvSpPr>
        <p:spPr>
          <a:xfrm>
            <a:off x="2413383" y="3017264"/>
            <a:ext cx="3107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solidFill>
                  <a:srgbClr val="FF0000"/>
                </a:solidFill>
              </a:rPr>
              <a:t>Low Rank Approximation</a:t>
            </a:r>
            <a:endParaRPr kumimoji="1" lang="ko-KR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139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514EE-DF3A-0572-46DB-7BD22C482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5D54D-52C5-CF2B-04DE-B8FF5AD32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Linear Attention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60E21FB-81C8-A645-70A8-C341DB5DAF06}"/>
              </a:ext>
            </a:extLst>
          </p:cNvPr>
          <p:cNvSpPr txBox="1">
            <a:spLocks/>
          </p:cNvSpPr>
          <p:nvPr/>
        </p:nvSpPr>
        <p:spPr>
          <a:xfrm>
            <a:off x="117514" y="852966"/>
            <a:ext cx="11952383" cy="5438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000" dirty="0"/>
              <a:t>Sparse attention matrix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000" dirty="0"/>
              <a:t>Low-rank representations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300" b="1" dirty="0"/>
              <a:t>Kernel-based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29A48-6437-AFBB-0313-94975D601E3A}"/>
              </a:ext>
            </a:extLst>
          </p:cNvPr>
          <p:cNvSpPr txBox="1"/>
          <p:nvPr/>
        </p:nvSpPr>
        <p:spPr>
          <a:xfrm>
            <a:off x="1667406" y="6152513"/>
            <a:ext cx="88525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200" dirty="0">
                <a:hlinkClick r:id="rId3"/>
              </a:rPr>
              <a:t>Choromanski, K. et al. Rethinking attention with performers. In </a:t>
            </a:r>
            <a:r>
              <a:rPr lang="en" altLang="ko-KR" sz="1200" i="1" dirty="0">
                <a:hlinkClick r:id="rId3"/>
              </a:rPr>
              <a:t>International Conference on Learning Representations</a:t>
            </a:r>
            <a:r>
              <a:rPr lang="en" altLang="ko-KR" sz="1200" dirty="0">
                <a:hlinkClick r:id="rId3"/>
              </a:rPr>
              <a:t> (2021).</a:t>
            </a:r>
            <a:endParaRPr lang="ko-KR" altLang="en-US" sz="1200" dirty="0"/>
          </a:p>
        </p:txBody>
      </p:sp>
      <p:pic>
        <p:nvPicPr>
          <p:cNvPr id="10" name="그림 9" descr="텍스트, 폰트, 화이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802885-97C0-C219-6F13-BD885E17B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489" y="1256423"/>
            <a:ext cx="7031369" cy="1598038"/>
          </a:xfrm>
          <a:prstGeom prst="rect">
            <a:avLst/>
          </a:prstGeom>
        </p:spPr>
      </p:pic>
      <p:pic>
        <p:nvPicPr>
          <p:cNvPr id="12" name="그림 11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88929D-52C5-51E7-B410-1CEFA0268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973" y="3132754"/>
            <a:ext cx="7772400" cy="280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08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C4BB1-39EA-D461-5C3A-458111E8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DB0FEBB1-4CF3-3DBF-4933-93B85EED3831}"/>
                  </a:ext>
                </a:extLst>
              </p:cNvPr>
              <p:cNvSpPr/>
              <p:nvPr/>
            </p:nvSpPr>
            <p:spPr>
              <a:xfrm>
                <a:off x="471739" y="622052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DB0FEBB1-4CF3-3DBF-4933-93B85EED38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39" y="622052"/>
                <a:ext cx="883096" cy="1725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47C6B2E4-A00F-7CD6-15C0-3C69BDF622A0}"/>
                  </a:ext>
                </a:extLst>
              </p:cNvPr>
              <p:cNvSpPr/>
              <p:nvPr/>
            </p:nvSpPr>
            <p:spPr>
              <a:xfrm rot="16200000">
                <a:off x="2306918" y="886529"/>
                <a:ext cx="883096" cy="1725105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47C6B2E4-A00F-7CD6-15C0-3C69BDF622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306918" y="886529"/>
                <a:ext cx="883096" cy="1725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곱하기 3">
            <a:extLst>
              <a:ext uri="{FF2B5EF4-FFF2-40B4-BE49-F238E27FC236}">
                <a16:creationId xmlns:a16="http://schemas.microsoft.com/office/drawing/2014/main" id="{3DB7399E-A89D-82B5-C2D0-503E39BE974C}"/>
              </a:ext>
            </a:extLst>
          </p:cNvPr>
          <p:cNvSpPr/>
          <p:nvPr/>
        </p:nvSpPr>
        <p:spPr>
          <a:xfrm>
            <a:off x="1400369" y="1242734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1032C4-702B-18E4-1DD8-694182056D3C}"/>
              </a:ext>
            </a:extLst>
          </p:cNvPr>
          <p:cNvSpPr/>
          <p:nvPr/>
        </p:nvSpPr>
        <p:spPr>
          <a:xfrm>
            <a:off x="334222" y="547782"/>
            <a:ext cx="3384223" cy="1891131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E8B7C81-5D8D-25BA-664A-61DC5B0F1CB6}"/>
                  </a:ext>
                </a:extLst>
              </p:cNvPr>
              <p:cNvSpPr/>
              <p:nvPr/>
            </p:nvSpPr>
            <p:spPr>
              <a:xfrm>
                <a:off x="1477998" y="2238550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𝑆𝑜𝑓𝑡𝑚𝑎𝑥</m:t>
                      </m:r>
                    </m:oMath>
                  </m:oMathPara>
                </a14:m>
                <a:endParaRPr kumimoji="1" lang="ko-KR" alt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E8B7C81-5D8D-25BA-664A-61DC5B0F1C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998" y="2238550"/>
                <a:ext cx="1096670" cy="400725"/>
              </a:xfrm>
              <a:prstGeom prst="rect">
                <a:avLst/>
              </a:prstGeom>
              <a:blipFill>
                <a:blip r:embed="rId5"/>
                <a:stretch>
                  <a:fillRect l="-3448"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곱하기 6">
            <a:extLst>
              <a:ext uri="{FF2B5EF4-FFF2-40B4-BE49-F238E27FC236}">
                <a16:creationId xmlns:a16="http://schemas.microsoft.com/office/drawing/2014/main" id="{29EABE6C-33E5-54F9-0F90-91FB3323BA0B}"/>
              </a:ext>
            </a:extLst>
          </p:cNvPr>
          <p:cNvSpPr/>
          <p:nvPr/>
        </p:nvSpPr>
        <p:spPr>
          <a:xfrm>
            <a:off x="3763979" y="1242733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A9A6A60-7897-9DA9-7211-03A828696763}"/>
                  </a:ext>
                </a:extLst>
              </p:cNvPr>
              <p:cNvSpPr/>
              <p:nvPr/>
            </p:nvSpPr>
            <p:spPr>
              <a:xfrm>
                <a:off x="4249523" y="622052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A9A6A60-7897-9DA9-7211-03A8286967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523" y="622052"/>
                <a:ext cx="883096" cy="17251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84E95389-02B1-C6F4-331E-E01F088ED10F}"/>
              </a:ext>
            </a:extLst>
          </p:cNvPr>
          <p:cNvSpPr/>
          <p:nvPr/>
        </p:nvSpPr>
        <p:spPr>
          <a:xfrm>
            <a:off x="193801" y="322389"/>
            <a:ext cx="5117774" cy="2250545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30C5DD6-9E13-91D6-43F0-1FB40818BE84}"/>
                  </a:ext>
                </a:extLst>
              </p:cNvPr>
              <p:cNvSpPr/>
              <p:nvPr/>
            </p:nvSpPr>
            <p:spPr>
              <a:xfrm>
                <a:off x="364952" y="2628598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30C5DD6-9E13-91D6-43F0-1FB40818B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52" y="2628598"/>
                <a:ext cx="1096670" cy="400725"/>
              </a:xfrm>
              <a:prstGeom prst="rect">
                <a:avLst/>
              </a:prstGeom>
              <a:blipFill>
                <a:blip r:embed="rId7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4F1D6D6-3F79-19B7-210D-FB3F946B5DCD}"/>
                  </a:ext>
                </a:extLst>
              </p:cNvPr>
              <p:cNvSpPr/>
              <p:nvPr/>
            </p:nvSpPr>
            <p:spPr>
              <a:xfrm>
                <a:off x="1944884" y="2628598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4F1D6D6-3F79-19B7-210D-FB3F946B5D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884" y="2628598"/>
                <a:ext cx="1096670" cy="400725"/>
              </a:xfrm>
              <a:prstGeom prst="rect">
                <a:avLst/>
              </a:prstGeom>
              <a:blipFill>
                <a:blip r:embed="rId8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09E6C746-22E4-0C28-8249-84FB38D78985}"/>
                  </a:ext>
                </a:extLst>
              </p:cNvPr>
              <p:cNvSpPr/>
              <p:nvPr/>
            </p:nvSpPr>
            <p:spPr>
              <a:xfrm>
                <a:off x="4016288" y="2646764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09E6C746-22E4-0C28-8249-84FB38D789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288" y="2646764"/>
                <a:ext cx="1096670" cy="4007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등호 12">
            <a:extLst>
              <a:ext uri="{FF2B5EF4-FFF2-40B4-BE49-F238E27FC236}">
                <a16:creationId xmlns:a16="http://schemas.microsoft.com/office/drawing/2014/main" id="{0C08CEE5-3F1A-0FD0-C34F-CD8E305F59A6}"/>
              </a:ext>
            </a:extLst>
          </p:cNvPr>
          <p:cNvSpPr/>
          <p:nvPr/>
        </p:nvSpPr>
        <p:spPr>
          <a:xfrm>
            <a:off x="5453652" y="1311232"/>
            <a:ext cx="543612" cy="441548"/>
          </a:xfrm>
          <a:prstGeom prst="mathEqual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E65DF1F5-B24A-026D-D11A-9499A5A99030}"/>
                  </a:ext>
                </a:extLst>
              </p:cNvPr>
              <p:cNvSpPr/>
              <p:nvPr/>
            </p:nvSpPr>
            <p:spPr>
              <a:xfrm>
                <a:off x="6143254" y="669456"/>
                <a:ext cx="1725106" cy="1725105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E65DF1F5-B24A-026D-D11A-9499A5A990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254" y="669456"/>
                <a:ext cx="1725106" cy="17251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곱하기 14">
            <a:extLst>
              <a:ext uri="{FF2B5EF4-FFF2-40B4-BE49-F238E27FC236}">
                <a16:creationId xmlns:a16="http://schemas.microsoft.com/office/drawing/2014/main" id="{8B84DA95-2797-B298-5233-02055D5C4C5B}"/>
              </a:ext>
            </a:extLst>
          </p:cNvPr>
          <p:cNvSpPr/>
          <p:nvPr/>
        </p:nvSpPr>
        <p:spPr>
          <a:xfrm>
            <a:off x="7995985" y="1290137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38ED12AF-FF7A-D64E-A084-4EAFE3AAB818}"/>
                  </a:ext>
                </a:extLst>
              </p:cNvPr>
              <p:cNvSpPr/>
              <p:nvPr/>
            </p:nvSpPr>
            <p:spPr>
              <a:xfrm>
                <a:off x="8563620" y="669456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38ED12AF-FF7A-D64E-A084-4EAFE3AAB8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620" y="669456"/>
                <a:ext cx="883096" cy="1725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691A43B8-3BF5-6CE7-863F-10C95D5EBCC8}"/>
                  </a:ext>
                </a:extLst>
              </p:cNvPr>
              <p:cNvSpPr/>
              <p:nvPr/>
            </p:nvSpPr>
            <p:spPr>
              <a:xfrm>
                <a:off x="5990088" y="86995"/>
                <a:ext cx="3756544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691A43B8-3BF5-6CE7-863F-10C95D5EBC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088" y="86995"/>
                <a:ext cx="3756544" cy="508191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C2684E51-3617-FC6F-5BBC-3AEBF1D2FB4D}"/>
                  </a:ext>
                </a:extLst>
              </p:cNvPr>
              <p:cNvSpPr/>
              <p:nvPr/>
            </p:nvSpPr>
            <p:spPr>
              <a:xfrm>
                <a:off x="2330630" y="393665"/>
                <a:ext cx="1295895" cy="3594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C2684E51-3617-FC6F-5BBC-3AEBF1D2FB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630" y="393665"/>
                <a:ext cx="1295895" cy="359414"/>
              </a:xfrm>
              <a:prstGeom prst="rect">
                <a:avLst/>
              </a:prstGeom>
              <a:blipFill>
                <a:blip r:embed="rId13"/>
                <a:stretch>
                  <a:fillRect l="-2913" b="-103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D6DE4ABA-F4D8-63F3-5C43-BF13A7241925}"/>
                  </a:ext>
                </a:extLst>
              </p:cNvPr>
              <p:cNvSpPr/>
              <p:nvPr/>
            </p:nvSpPr>
            <p:spPr>
              <a:xfrm>
                <a:off x="3954372" y="86994"/>
                <a:ext cx="1295895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D6DE4ABA-F4D8-63F3-5C43-BF13A7241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372" y="86994"/>
                <a:ext cx="1295895" cy="508191"/>
              </a:xfrm>
              <a:prstGeom prst="rect">
                <a:avLst/>
              </a:prstGeom>
              <a:blipFill>
                <a:blip r:embed="rId14"/>
                <a:stretch>
                  <a:fillRect l="-29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E7A5EE5-C35A-C711-BF49-0DFF51BAC5E0}"/>
                  </a:ext>
                </a:extLst>
              </p:cNvPr>
              <p:cNvSpPr/>
              <p:nvPr/>
            </p:nvSpPr>
            <p:spPr>
              <a:xfrm>
                <a:off x="307557" y="3962838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E7A5EE5-C35A-C711-BF49-0DFF51BAC5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57" y="3962838"/>
                <a:ext cx="883096" cy="1725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6A53C17-88A2-9322-E008-CF4785B87DA9}"/>
                  </a:ext>
                </a:extLst>
              </p:cNvPr>
              <p:cNvSpPr/>
              <p:nvPr/>
            </p:nvSpPr>
            <p:spPr>
              <a:xfrm rot="16200000">
                <a:off x="2193322" y="4241569"/>
                <a:ext cx="883096" cy="1725105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6A53C17-88A2-9322-E008-CF4785B87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193322" y="4241569"/>
                <a:ext cx="883096" cy="17251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곱하기 21">
            <a:extLst>
              <a:ext uri="{FF2B5EF4-FFF2-40B4-BE49-F238E27FC236}">
                <a16:creationId xmlns:a16="http://schemas.microsoft.com/office/drawing/2014/main" id="{54B50CD9-4B8C-9A83-21A5-87C0A1180FFB}"/>
              </a:ext>
            </a:extLst>
          </p:cNvPr>
          <p:cNvSpPr/>
          <p:nvPr/>
        </p:nvSpPr>
        <p:spPr>
          <a:xfrm>
            <a:off x="1212459" y="4581722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36065B7-866F-DA56-6BD2-4035BF4B081C}"/>
              </a:ext>
            </a:extLst>
          </p:cNvPr>
          <p:cNvSpPr/>
          <p:nvPr/>
        </p:nvSpPr>
        <p:spPr>
          <a:xfrm>
            <a:off x="1698004" y="3878027"/>
            <a:ext cx="3434616" cy="1891131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25" name="곱하기 24">
            <a:extLst>
              <a:ext uri="{FF2B5EF4-FFF2-40B4-BE49-F238E27FC236}">
                <a16:creationId xmlns:a16="http://schemas.microsoft.com/office/drawing/2014/main" id="{F5342D3E-827C-D3E7-14CB-BF91E6968875}"/>
              </a:ext>
            </a:extLst>
          </p:cNvPr>
          <p:cNvSpPr/>
          <p:nvPr/>
        </p:nvSpPr>
        <p:spPr>
          <a:xfrm>
            <a:off x="3571010" y="4581722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D516C00-B7C5-B767-ACDD-2C77CFC89477}"/>
                  </a:ext>
                </a:extLst>
              </p:cNvPr>
              <p:cNvSpPr/>
              <p:nvPr/>
            </p:nvSpPr>
            <p:spPr>
              <a:xfrm>
                <a:off x="4118529" y="3962838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D516C00-B7C5-B767-ACDD-2C77CFC894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529" y="3962838"/>
                <a:ext cx="883096" cy="1725105"/>
              </a:xfrm>
              <a:prstGeom prst="rect">
                <a:avLst/>
              </a:prstGeom>
              <a:blipFill>
                <a:blip r:embed="rId16"/>
                <a:stretch>
                  <a:fillRect l="-1408"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2370F8C9-A8D4-75CB-1A33-4B8125DE1119}"/>
              </a:ext>
            </a:extLst>
          </p:cNvPr>
          <p:cNvSpPr/>
          <p:nvPr/>
        </p:nvSpPr>
        <p:spPr>
          <a:xfrm>
            <a:off x="193801" y="3672731"/>
            <a:ext cx="5117774" cy="2250545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A9D4CB7-D166-E178-0EB6-3A1FEBEB3470}"/>
                  </a:ext>
                </a:extLst>
              </p:cNvPr>
              <p:cNvSpPr/>
              <p:nvPr/>
            </p:nvSpPr>
            <p:spPr>
              <a:xfrm>
                <a:off x="364952" y="5958844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A9D4CB7-D166-E178-0EB6-3A1FEBEB3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52" y="5958844"/>
                <a:ext cx="1096670" cy="400725"/>
              </a:xfrm>
              <a:prstGeom prst="rect">
                <a:avLst/>
              </a:prstGeom>
              <a:blipFill>
                <a:blip r:embed="rId17"/>
                <a:stretch>
                  <a:fillRect b="-2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541CDE7-591B-67F6-6705-EB23C61F1083}"/>
                  </a:ext>
                </a:extLst>
              </p:cNvPr>
              <p:cNvSpPr/>
              <p:nvPr/>
            </p:nvSpPr>
            <p:spPr>
              <a:xfrm>
                <a:off x="1944884" y="5958844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541CDE7-591B-67F6-6705-EB23C61F1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884" y="5958844"/>
                <a:ext cx="1096670" cy="400725"/>
              </a:xfrm>
              <a:prstGeom prst="rect">
                <a:avLst/>
              </a:prstGeom>
              <a:blipFill>
                <a:blip r:embed="rId18"/>
                <a:stretch>
                  <a:fillRect b="-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230A35D-6BBC-DBAB-F1A0-A7695B025054}"/>
                  </a:ext>
                </a:extLst>
              </p:cNvPr>
              <p:cNvSpPr/>
              <p:nvPr/>
            </p:nvSpPr>
            <p:spPr>
              <a:xfrm>
                <a:off x="4016288" y="5977010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230A35D-6BBC-DBAB-F1A0-A7695B025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288" y="5977010"/>
                <a:ext cx="1096670" cy="400725"/>
              </a:xfrm>
              <a:prstGeom prst="rect">
                <a:avLst/>
              </a:prstGeom>
              <a:blipFill>
                <a:blip r:embed="rId19"/>
                <a:stretch>
                  <a:fillRect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등호 30">
            <a:extLst>
              <a:ext uri="{FF2B5EF4-FFF2-40B4-BE49-F238E27FC236}">
                <a16:creationId xmlns:a16="http://schemas.microsoft.com/office/drawing/2014/main" id="{8A4B52A2-EAC9-8BDC-0DDA-BAE1E5D9B4DE}"/>
              </a:ext>
            </a:extLst>
          </p:cNvPr>
          <p:cNvSpPr/>
          <p:nvPr/>
        </p:nvSpPr>
        <p:spPr>
          <a:xfrm>
            <a:off x="5453652" y="4641478"/>
            <a:ext cx="543612" cy="441548"/>
          </a:xfrm>
          <a:prstGeom prst="mathEqual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3" name="곱하기 32">
            <a:extLst>
              <a:ext uri="{FF2B5EF4-FFF2-40B4-BE49-F238E27FC236}">
                <a16:creationId xmlns:a16="http://schemas.microsoft.com/office/drawing/2014/main" id="{6A15E84E-4146-9781-1B54-68EDA9244083}"/>
              </a:ext>
            </a:extLst>
          </p:cNvPr>
          <p:cNvSpPr/>
          <p:nvPr/>
        </p:nvSpPr>
        <p:spPr>
          <a:xfrm>
            <a:off x="7995985" y="4620383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4C2E53C0-6C89-4907-CA83-12F6E24EB6E8}"/>
                  </a:ext>
                </a:extLst>
              </p:cNvPr>
              <p:cNvSpPr/>
              <p:nvPr/>
            </p:nvSpPr>
            <p:spPr>
              <a:xfrm>
                <a:off x="8563620" y="4420703"/>
                <a:ext cx="883096" cy="883097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4C2E53C0-6C89-4907-CA83-12F6E24EB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620" y="4420703"/>
                <a:ext cx="883096" cy="8830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B509C391-D02B-98BE-9ED5-8AF2FE0F82D7}"/>
                  </a:ext>
                </a:extLst>
              </p:cNvPr>
              <p:cNvSpPr/>
              <p:nvPr/>
            </p:nvSpPr>
            <p:spPr>
              <a:xfrm>
                <a:off x="5990088" y="3417241"/>
                <a:ext cx="3756544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𝑁𝑑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𝑁𝑑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B509C391-D02B-98BE-9ED5-8AF2FE0F82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088" y="3417241"/>
                <a:ext cx="3756544" cy="508191"/>
              </a:xfrm>
              <a:prstGeom prst="rect">
                <a:avLst/>
              </a:prstGeom>
              <a:blipFill>
                <a:blip r:embed="rId21"/>
                <a:stretch>
                  <a:fillRect b="-170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EBD8D61D-8742-2F76-9718-E5AF7A2F42E7}"/>
                  </a:ext>
                </a:extLst>
              </p:cNvPr>
              <p:cNvSpPr/>
              <p:nvPr/>
            </p:nvSpPr>
            <p:spPr>
              <a:xfrm>
                <a:off x="1840379" y="3703365"/>
                <a:ext cx="1295895" cy="3594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EBD8D61D-8742-2F76-9718-E5AF7A2F42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79" y="3703365"/>
                <a:ext cx="1295895" cy="359414"/>
              </a:xfrm>
              <a:prstGeom prst="rect">
                <a:avLst/>
              </a:prstGeom>
              <a:blipFill>
                <a:blip r:embed="rId22"/>
                <a:stretch>
                  <a:fillRect l="-1942" b="-137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9B786A25-27F3-00F7-FC65-CA2A4A6D2CB2}"/>
                  </a:ext>
                </a:extLst>
              </p:cNvPr>
              <p:cNvSpPr/>
              <p:nvPr/>
            </p:nvSpPr>
            <p:spPr>
              <a:xfrm>
                <a:off x="6139341" y="3999698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9B786A25-27F3-00F7-FC65-CA2A4A6D2C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341" y="3999698"/>
                <a:ext cx="883096" cy="172510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B802D2D-DC8A-0BED-3D1B-1E2EA2F4291A}"/>
                  </a:ext>
                </a:extLst>
              </p:cNvPr>
              <p:cNvSpPr/>
              <p:nvPr/>
            </p:nvSpPr>
            <p:spPr>
              <a:xfrm>
                <a:off x="265339" y="3492703"/>
                <a:ext cx="1295895" cy="3594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B802D2D-DC8A-0BED-3D1B-1E2EA2F42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39" y="3492703"/>
                <a:ext cx="1295895" cy="359414"/>
              </a:xfrm>
              <a:prstGeom prst="rect">
                <a:avLst/>
              </a:prstGeom>
              <a:blipFill>
                <a:blip r:embed="rId24"/>
                <a:stretch>
                  <a:fillRect b="-6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564A90AC-60B0-A19C-4B46-125E76F0E45E}"/>
              </a:ext>
            </a:extLst>
          </p:cNvPr>
          <p:cNvSpPr txBox="1"/>
          <p:nvPr/>
        </p:nvSpPr>
        <p:spPr>
          <a:xfrm>
            <a:off x="2877796" y="3209351"/>
            <a:ext cx="2548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solidFill>
                  <a:srgbClr val="FF0000"/>
                </a:solidFill>
              </a:rPr>
              <a:t>Associative property</a:t>
            </a:r>
            <a:endParaRPr kumimoji="1" lang="ko-KR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25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476B-2577-7E76-26C0-2D0F72AA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E7C3985-31E8-AE84-CF0F-188E150A89BE}"/>
                  </a:ext>
                </a:extLst>
              </p:cNvPr>
              <p:cNvSpPr/>
              <p:nvPr/>
            </p:nvSpPr>
            <p:spPr>
              <a:xfrm>
                <a:off x="471739" y="622052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E7C3985-31E8-AE84-CF0F-188E150A8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39" y="622052"/>
                <a:ext cx="883096" cy="1725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56E31DDC-7884-F10F-63E2-08B98A6266C7}"/>
                  </a:ext>
                </a:extLst>
              </p:cNvPr>
              <p:cNvSpPr/>
              <p:nvPr/>
            </p:nvSpPr>
            <p:spPr>
              <a:xfrm rot="16200000">
                <a:off x="2306918" y="886529"/>
                <a:ext cx="883096" cy="1725105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56E31DDC-7884-F10F-63E2-08B98A6266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306918" y="886529"/>
                <a:ext cx="883096" cy="1725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곱하기 3">
            <a:extLst>
              <a:ext uri="{FF2B5EF4-FFF2-40B4-BE49-F238E27FC236}">
                <a16:creationId xmlns:a16="http://schemas.microsoft.com/office/drawing/2014/main" id="{6C6A45DD-6882-E415-C247-D219F07991F2}"/>
              </a:ext>
            </a:extLst>
          </p:cNvPr>
          <p:cNvSpPr/>
          <p:nvPr/>
        </p:nvSpPr>
        <p:spPr>
          <a:xfrm>
            <a:off x="1400369" y="1242734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49DA4B-05BC-E005-D591-2C0C1A6DCB7C}"/>
              </a:ext>
            </a:extLst>
          </p:cNvPr>
          <p:cNvSpPr/>
          <p:nvPr/>
        </p:nvSpPr>
        <p:spPr>
          <a:xfrm>
            <a:off x="334222" y="547782"/>
            <a:ext cx="3384223" cy="1891131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FC8D229-C5AD-0380-7368-93B33EB8F7B6}"/>
                  </a:ext>
                </a:extLst>
              </p:cNvPr>
              <p:cNvSpPr/>
              <p:nvPr/>
            </p:nvSpPr>
            <p:spPr>
              <a:xfrm>
                <a:off x="1477998" y="2238550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𝑆𝑜𝑓𝑡𝑚𝑎𝑥</m:t>
                      </m:r>
                    </m:oMath>
                  </m:oMathPara>
                </a14:m>
                <a:endParaRPr kumimoji="1" lang="ko-KR" alt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FC8D229-C5AD-0380-7368-93B33EB8F7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998" y="2238550"/>
                <a:ext cx="1096670" cy="400725"/>
              </a:xfrm>
              <a:prstGeom prst="rect">
                <a:avLst/>
              </a:prstGeom>
              <a:blipFill>
                <a:blip r:embed="rId5"/>
                <a:stretch>
                  <a:fillRect l="-3448"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곱하기 6">
            <a:extLst>
              <a:ext uri="{FF2B5EF4-FFF2-40B4-BE49-F238E27FC236}">
                <a16:creationId xmlns:a16="http://schemas.microsoft.com/office/drawing/2014/main" id="{0836CD3B-B075-B6D7-5226-63676DE6BDF4}"/>
              </a:ext>
            </a:extLst>
          </p:cNvPr>
          <p:cNvSpPr/>
          <p:nvPr/>
        </p:nvSpPr>
        <p:spPr>
          <a:xfrm>
            <a:off x="3763979" y="1242733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6A3100-A593-8EF8-2EB5-747493FB2532}"/>
                  </a:ext>
                </a:extLst>
              </p:cNvPr>
              <p:cNvSpPr/>
              <p:nvPr/>
            </p:nvSpPr>
            <p:spPr>
              <a:xfrm>
                <a:off x="4249523" y="622052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B6A3100-A593-8EF8-2EB5-747493FB2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523" y="622052"/>
                <a:ext cx="883096" cy="17251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C631E4FC-415A-6DD5-7E3C-E6AFEC81703A}"/>
              </a:ext>
            </a:extLst>
          </p:cNvPr>
          <p:cNvSpPr/>
          <p:nvPr/>
        </p:nvSpPr>
        <p:spPr>
          <a:xfrm>
            <a:off x="193801" y="322389"/>
            <a:ext cx="5117774" cy="2250545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52099175-DEE7-B7EE-5527-751561D2455E}"/>
                  </a:ext>
                </a:extLst>
              </p:cNvPr>
              <p:cNvSpPr/>
              <p:nvPr/>
            </p:nvSpPr>
            <p:spPr>
              <a:xfrm>
                <a:off x="364952" y="2628598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52099175-DEE7-B7EE-5527-751561D245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52" y="2628598"/>
                <a:ext cx="1096670" cy="400725"/>
              </a:xfrm>
              <a:prstGeom prst="rect">
                <a:avLst/>
              </a:prstGeom>
              <a:blipFill>
                <a:blip r:embed="rId7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35886B73-23F0-02D9-E980-FFC5996417B2}"/>
                  </a:ext>
                </a:extLst>
              </p:cNvPr>
              <p:cNvSpPr/>
              <p:nvPr/>
            </p:nvSpPr>
            <p:spPr>
              <a:xfrm>
                <a:off x="1944884" y="2628598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35886B73-23F0-02D9-E980-FFC599641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884" y="2628598"/>
                <a:ext cx="1096670" cy="400725"/>
              </a:xfrm>
              <a:prstGeom prst="rect">
                <a:avLst/>
              </a:prstGeom>
              <a:blipFill>
                <a:blip r:embed="rId8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4A00903-D4CD-6905-A8C9-33CDAB9CF513}"/>
                  </a:ext>
                </a:extLst>
              </p:cNvPr>
              <p:cNvSpPr/>
              <p:nvPr/>
            </p:nvSpPr>
            <p:spPr>
              <a:xfrm>
                <a:off x="4016288" y="2646764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4A00903-D4CD-6905-A8C9-33CDAB9CF5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288" y="2646764"/>
                <a:ext cx="1096670" cy="4007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등호 12">
            <a:extLst>
              <a:ext uri="{FF2B5EF4-FFF2-40B4-BE49-F238E27FC236}">
                <a16:creationId xmlns:a16="http://schemas.microsoft.com/office/drawing/2014/main" id="{05986FC5-716B-F7B5-365C-031F7F60D506}"/>
              </a:ext>
            </a:extLst>
          </p:cNvPr>
          <p:cNvSpPr/>
          <p:nvPr/>
        </p:nvSpPr>
        <p:spPr>
          <a:xfrm>
            <a:off x="5453652" y="1311232"/>
            <a:ext cx="543612" cy="441548"/>
          </a:xfrm>
          <a:prstGeom prst="mathEqual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33120B6-D98A-7A54-3A2F-2CEC6AF4B11B}"/>
                  </a:ext>
                </a:extLst>
              </p:cNvPr>
              <p:cNvSpPr/>
              <p:nvPr/>
            </p:nvSpPr>
            <p:spPr>
              <a:xfrm>
                <a:off x="6143254" y="669456"/>
                <a:ext cx="1725106" cy="1725105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33120B6-D98A-7A54-3A2F-2CEC6AF4B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254" y="669456"/>
                <a:ext cx="1725106" cy="17251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곱하기 14">
            <a:extLst>
              <a:ext uri="{FF2B5EF4-FFF2-40B4-BE49-F238E27FC236}">
                <a16:creationId xmlns:a16="http://schemas.microsoft.com/office/drawing/2014/main" id="{73C7EC3C-610C-809F-5FB1-A2BA58E21561}"/>
              </a:ext>
            </a:extLst>
          </p:cNvPr>
          <p:cNvSpPr/>
          <p:nvPr/>
        </p:nvSpPr>
        <p:spPr>
          <a:xfrm>
            <a:off x="7995985" y="1290137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99F46F45-ED1B-3253-3331-F55FF6AB176D}"/>
                  </a:ext>
                </a:extLst>
              </p:cNvPr>
              <p:cNvSpPr/>
              <p:nvPr/>
            </p:nvSpPr>
            <p:spPr>
              <a:xfrm>
                <a:off x="8563620" y="669456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99F46F45-ED1B-3253-3331-F55FF6AB17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620" y="669456"/>
                <a:ext cx="883096" cy="17251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208AD4C-67AA-EA8A-CFCB-6B64949C9FA2}"/>
                  </a:ext>
                </a:extLst>
              </p:cNvPr>
              <p:cNvSpPr/>
              <p:nvPr/>
            </p:nvSpPr>
            <p:spPr>
              <a:xfrm>
                <a:off x="5990088" y="86995"/>
                <a:ext cx="3756544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208AD4C-67AA-EA8A-CFCB-6B64949C9F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088" y="86995"/>
                <a:ext cx="3756544" cy="508191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A68FD43F-4DBF-D685-EFDE-BCF99210C7CF}"/>
                  </a:ext>
                </a:extLst>
              </p:cNvPr>
              <p:cNvSpPr/>
              <p:nvPr/>
            </p:nvSpPr>
            <p:spPr>
              <a:xfrm>
                <a:off x="2330630" y="393665"/>
                <a:ext cx="1295895" cy="3594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A68FD43F-4DBF-D685-EFDE-BCF99210C7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630" y="393665"/>
                <a:ext cx="1295895" cy="359414"/>
              </a:xfrm>
              <a:prstGeom prst="rect">
                <a:avLst/>
              </a:prstGeom>
              <a:blipFill>
                <a:blip r:embed="rId13"/>
                <a:stretch>
                  <a:fillRect l="-2913" b="-103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215DF612-56E1-C8F6-4C5B-05A111F9AB6C}"/>
                  </a:ext>
                </a:extLst>
              </p:cNvPr>
              <p:cNvSpPr/>
              <p:nvPr/>
            </p:nvSpPr>
            <p:spPr>
              <a:xfrm>
                <a:off x="3954372" y="86994"/>
                <a:ext cx="1295895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215DF612-56E1-C8F6-4C5B-05A111F9AB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372" y="86994"/>
                <a:ext cx="1295895" cy="508191"/>
              </a:xfrm>
              <a:prstGeom prst="rect">
                <a:avLst/>
              </a:prstGeom>
              <a:blipFill>
                <a:blip r:embed="rId14"/>
                <a:stretch>
                  <a:fillRect l="-29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6F95304F-B7BB-44DD-CA77-05B9E77A6D93}"/>
                  </a:ext>
                </a:extLst>
              </p:cNvPr>
              <p:cNvSpPr/>
              <p:nvPr/>
            </p:nvSpPr>
            <p:spPr>
              <a:xfrm>
                <a:off x="307557" y="3962838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6F95304F-B7BB-44DD-CA77-05B9E77A6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57" y="3962838"/>
                <a:ext cx="883096" cy="1725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13ECD2E-8206-2093-E561-25FBF211399A}"/>
                  </a:ext>
                </a:extLst>
              </p:cNvPr>
              <p:cNvSpPr/>
              <p:nvPr/>
            </p:nvSpPr>
            <p:spPr>
              <a:xfrm rot="16200000">
                <a:off x="2193322" y="4241569"/>
                <a:ext cx="883096" cy="1725105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13ECD2E-8206-2093-E561-25FBF21139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193322" y="4241569"/>
                <a:ext cx="883096" cy="17251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곱하기 21">
            <a:extLst>
              <a:ext uri="{FF2B5EF4-FFF2-40B4-BE49-F238E27FC236}">
                <a16:creationId xmlns:a16="http://schemas.microsoft.com/office/drawing/2014/main" id="{491136AA-BA2B-B177-B502-F31D6AB64BDF}"/>
              </a:ext>
            </a:extLst>
          </p:cNvPr>
          <p:cNvSpPr/>
          <p:nvPr/>
        </p:nvSpPr>
        <p:spPr>
          <a:xfrm>
            <a:off x="1212459" y="4581722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F3BD2CC-F6EC-35A7-AE41-2DE1E5B2232A}"/>
              </a:ext>
            </a:extLst>
          </p:cNvPr>
          <p:cNvSpPr/>
          <p:nvPr/>
        </p:nvSpPr>
        <p:spPr>
          <a:xfrm>
            <a:off x="1698004" y="3878027"/>
            <a:ext cx="3434616" cy="1891131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25" name="곱하기 24">
            <a:extLst>
              <a:ext uri="{FF2B5EF4-FFF2-40B4-BE49-F238E27FC236}">
                <a16:creationId xmlns:a16="http://schemas.microsoft.com/office/drawing/2014/main" id="{9FD9013B-AFB0-8620-853F-E0D0FC8EA8E8}"/>
              </a:ext>
            </a:extLst>
          </p:cNvPr>
          <p:cNvSpPr/>
          <p:nvPr/>
        </p:nvSpPr>
        <p:spPr>
          <a:xfrm>
            <a:off x="3571010" y="4581722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A83FC377-9F59-B5A0-1EF2-E52EAE5E5B90}"/>
                  </a:ext>
                </a:extLst>
              </p:cNvPr>
              <p:cNvSpPr/>
              <p:nvPr/>
            </p:nvSpPr>
            <p:spPr>
              <a:xfrm>
                <a:off x="4118529" y="3962838"/>
                <a:ext cx="883096" cy="1725105"/>
              </a:xfrm>
              <a:prstGeom prst="rect">
                <a:avLst/>
              </a:prstGeom>
              <a:solidFill>
                <a:schemeClr val="accent4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A83FC377-9F59-B5A0-1EF2-E52EAE5E5B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529" y="3962838"/>
                <a:ext cx="883096" cy="1725105"/>
              </a:xfrm>
              <a:prstGeom prst="rect">
                <a:avLst/>
              </a:prstGeom>
              <a:blipFill>
                <a:blip r:embed="rId16"/>
                <a:stretch>
                  <a:fillRect l="-1408"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직사각형 26">
            <a:extLst>
              <a:ext uri="{FF2B5EF4-FFF2-40B4-BE49-F238E27FC236}">
                <a16:creationId xmlns:a16="http://schemas.microsoft.com/office/drawing/2014/main" id="{CDE2ACDC-4A6C-B71F-AD30-3389BD74449C}"/>
              </a:ext>
            </a:extLst>
          </p:cNvPr>
          <p:cNvSpPr/>
          <p:nvPr/>
        </p:nvSpPr>
        <p:spPr>
          <a:xfrm>
            <a:off x="193801" y="3672731"/>
            <a:ext cx="5117774" cy="2250545"/>
          </a:xfrm>
          <a:prstGeom prst="rect">
            <a:avLst/>
          </a:prstGeom>
          <a:noFill/>
          <a:ln w="19050" cap="rnd">
            <a:prstDash val="dash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DCF295C5-5835-67CC-7BCF-E1AE0B3B77B2}"/>
                  </a:ext>
                </a:extLst>
              </p:cNvPr>
              <p:cNvSpPr/>
              <p:nvPr/>
            </p:nvSpPr>
            <p:spPr>
              <a:xfrm>
                <a:off x="364952" y="5958844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DCF295C5-5835-67CC-7BCF-E1AE0B3B7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52" y="5958844"/>
                <a:ext cx="1096670" cy="400725"/>
              </a:xfrm>
              <a:prstGeom prst="rect">
                <a:avLst/>
              </a:prstGeom>
              <a:blipFill>
                <a:blip r:embed="rId17"/>
                <a:stretch>
                  <a:fillRect b="-2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8D9ABBCE-029A-BA20-4B59-162129CD45CF}"/>
                  </a:ext>
                </a:extLst>
              </p:cNvPr>
              <p:cNvSpPr/>
              <p:nvPr/>
            </p:nvSpPr>
            <p:spPr>
              <a:xfrm>
                <a:off x="1944884" y="5958844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8D9ABBCE-029A-BA20-4B59-162129CD4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884" y="5958844"/>
                <a:ext cx="1096670" cy="400725"/>
              </a:xfrm>
              <a:prstGeom prst="rect">
                <a:avLst/>
              </a:prstGeom>
              <a:blipFill>
                <a:blip r:embed="rId18"/>
                <a:stretch>
                  <a:fillRect b="-6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CEB658C-948E-09CC-1EDE-49E67C1ABD19}"/>
                  </a:ext>
                </a:extLst>
              </p:cNvPr>
              <p:cNvSpPr/>
              <p:nvPr/>
            </p:nvSpPr>
            <p:spPr>
              <a:xfrm>
                <a:off x="4016288" y="5977010"/>
                <a:ext cx="1096670" cy="4007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CEB658C-948E-09CC-1EDE-49E67C1AB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288" y="5977010"/>
                <a:ext cx="1096670" cy="400725"/>
              </a:xfrm>
              <a:prstGeom prst="rect">
                <a:avLst/>
              </a:prstGeom>
              <a:blipFill>
                <a:blip r:embed="rId19"/>
                <a:stretch>
                  <a:fillRect b="-30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등호 30">
            <a:extLst>
              <a:ext uri="{FF2B5EF4-FFF2-40B4-BE49-F238E27FC236}">
                <a16:creationId xmlns:a16="http://schemas.microsoft.com/office/drawing/2014/main" id="{17F8EE29-94A4-8D40-BF43-8CA11CF519EA}"/>
              </a:ext>
            </a:extLst>
          </p:cNvPr>
          <p:cNvSpPr/>
          <p:nvPr/>
        </p:nvSpPr>
        <p:spPr>
          <a:xfrm>
            <a:off x="5453652" y="4641478"/>
            <a:ext cx="543612" cy="441548"/>
          </a:xfrm>
          <a:prstGeom prst="mathEqual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3" name="곱하기 32">
            <a:extLst>
              <a:ext uri="{FF2B5EF4-FFF2-40B4-BE49-F238E27FC236}">
                <a16:creationId xmlns:a16="http://schemas.microsoft.com/office/drawing/2014/main" id="{4676430D-045E-6A59-B505-C0D069AC314A}"/>
              </a:ext>
            </a:extLst>
          </p:cNvPr>
          <p:cNvSpPr/>
          <p:nvPr/>
        </p:nvSpPr>
        <p:spPr>
          <a:xfrm>
            <a:off x="7995985" y="4620383"/>
            <a:ext cx="440010" cy="483739"/>
          </a:xfrm>
          <a:prstGeom prst="mathMultiply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9DA61598-4BC4-2E86-2370-AFA3F119C9E6}"/>
                  </a:ext>
                </a:extLst>
              </p:cNvPr>
              <p:cNvSpPr/>
              <p:nvPr/>
            </p:nvSpPr>
            <p:spPr>
              <a:xfrm>
                <a:off x="8563620" y="4420703"/>
                <a:ext cx="883096" cy="883097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9DA61598-4BC4-2E86-2370-AFA3F119C9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620" y="4420703"/>
                <a:ext cx="883096" cy="88309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59504A0-9A02-9813-93D7-88FAE36965BB}"/>
                  </a:ext>
                </a:extLst>
              </p:cNvPr>
              <p:cNvSpPr/>
              <p:nvPr/>
            </p:nvSpPr>
            <p:spPr>
              <a:xfrm>
                <a:off x="5990088" y="3417241"/>
                <a:ext cx="3756544" cy="5081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𝑁𝑑</m:t>
                          </m:r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𝑁𝑑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sz="25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59504A0-9A02-9813-93D7-88FAE3696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088" y="3417241"/>
                <a:ext cx="3756544" cy="508191"/>
              </a:xfrm>
              <a:prstGeom prst="rect">
                <a:avLst/>
              </a:prstGeom>
              <a:blipFill>
                <a:blip r:embed="rId21"/>
                <a:stretch>
                  <a:fillRect b="-170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488273A-B480-B28B-522C-F26FCD2A25A6}"/>
                  </a:ext>
                </a:extLst>
              </p:cNvPr>
              <p:cNvSpPr/>
              <p:nvPr/>
            </p:nvSpPr>
            <p:spPr>
              <a:xfrm>
                <a:off x="1840379" y="3703365"/>
                <a:ext cx="1295895" cy="3594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3488273A-B480-B28B-522C-F26FCD2A25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379" y="3703365"/>
                <a:ext cx="1295895" cy="359414"/>
              </a:xfrm>
              <a:prstGeom prst="rect">
                <a:avLst/>
              </a:prstGeom>
              <a:blipFill>
                <a:blip r:embed="rId22"/>
                <a:stretch>
                  <a:fillRect l="-1942" b="-137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10C20686-F0C5-8AF4-1B47-867AEB72060A}"/>
                  </a:ext>
                </a:extLst>
              </p:cNvPr>
              <p:cNvSpPr/>
              <p:nvPr/>
            </p:nvSpPr>
            <p:spPr>
              <a:xfrm>
                <a:off x="6139341" y="3999698"/>
                <a:ext cx="883096" cy="1725105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tIns="46800" rIns="468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10C20686-F0C5-8AF4-1B47-867AEB720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341" y="3999698"/>
                <a:ext cx="883096" cy="172510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8389AAF6-D606-E8BB-91B1-C91D0E022C50}"/>
                  </a:ext>
                </a:extLst>
              </p:cNvPr>
              <p:cNvSpPr/>
              <p:nvPr/>
            </p:nvSpPr>
            <p:spPr>
              <a:xfrm>
                <a:off x="265339" y="3492703"/>
                <a:ext cx="1295895" cy="3594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𝑁𝑑</m:t>
                          </m:r>
                        </m:e>
                      </m:d>
                    </m:oMath>
                  </m:oMathPara>
                </a14:m>
                <a:endParaRPr kumimoji="1" lang="ko-KR" altLang="en-US" sz="25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8389AAF6-D606-E8BB-91B1-C91D0E022C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39" y="3492703"/>
                <a:ext cx="1295895" cy="359414"/>
              </a:xfrm>
              <a:prstGeom prst="rect">
                <a:avLst/>
              </a:prstGeom>
              <a:blipFill>
                <a:blip r:embed="rId24"/>
                <a:stretch>
                  <a:fillRect b="-68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D628701-17A0-36D2-1DE1-4CCAD245DCB3}"/>
              </a:ext>
            </a:extLst>
          </p:cNvPr>
          <p:cNvSpPr txBox="1"/>
          <p:nvPr/>
        </p:nvSpPr>
        <p:spPr>
          <a:xfrm>
            <a:off x="7079044" y="5958844"/>
            <a:ext cx="47842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이게 왜 </a:t>
            </a:r>
            <a:r>
              <a:rPr kumimoji="1" lang="en-US" altLang="ko-KR" sz="2200" dirty="0">
                <a:solidFill>
                  <a:srgbClr val="FF0000"/>
                </a:solidFill>
                <a:highlight>
                  <a:srgbClr val="FFFF00"/>
                </a:highlight>
              </a:rPr>
              <a:t>kernel-based methods</a:t>
            </a:r>
            <a:r>
              <a:rPr kumimoji="1" lang="ko-KR" altLang="en-US" sz="2200" dirty="0">
                <a:solidFill>
                  <a:srgbClr val="FF0000"/>
                </a:solidFill>
                <a:highlight>
                  <a:srgbClr val="FFFF00"/>
                </a:highlight>
              </a:rPr>
              <a:t>인가</a:t>
            </a:r>
            <a:r>
              <a:rPr kumimoji="1" lang="en-US" altLang="ko-KR" sz="2200" dirty="0">
                <a:solidFill>
                  <a:srgbClr val="FF0000"/>
                </a:solidFill>
                <a:highlight>
                  <a:srgbClr val="FFFF00"/>
                </a:highlight>
              </a:rPr>
              <a:t>?</a:t>
            </a:r>
            <a:endParaRPr kumimoji="1" lang="ko-KR" altLang="en-US" sz="2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F507EC-08E6-51CF-8C73-F89F756985A0}"/>
              </a:ext>
            </a:extLst>
          </p:cNvPr>
          <p:cNvSpPr txBox="1"/>
          <p:nvPr/>
        </p:nvSpPr>
        <p:spPr>
          <a:xfrm>
            <a:off x="2877796" y="3209351"/>
            <a:ext cx="2548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solidFill>
                  <a:srgbClr val="FF0000"/>
                </a:solidFill>
              </a:rPr>
              <a:t>Associative property</a:t>
            </a:r>
            <a:endParaRPr kumimoji="1" lang="ko-KR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36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455DE-242D-AA4D-F716-D07F8F47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D7D504-EF04-981A-D0CF-024ACCF4C4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21569" b="53439"/>
          <a:stretch>
            <a:fillRect/>
          </a:stretch>
        </p:blipFill>
        <p:spPr>
          <a:xfrm>
            <a:off x="0" y="100131"/>
            <a:ext cx="5519057" cy="1842970"/>
          </a:xfrm>
          <a:prstGeom prst="rect">
            <a:avLst/>
          </a:prstGeom>
        </p:spPr>
      </p:pic>
      <p:pic>
        <p:nvPicPr>
          <p:cNvPr id="43" name="그림 42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204EF2-0DF7-46B0-B428-090657272F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424" r="21569" b="6131"/>
          <a:stretch>
            <a:fillRect/>
          </a:stretch>
        </p:blipFill>
        <p:spPr>
          <a:xfrm>
            <a:off x="5562600" y="50066"/>
            <a:ext cx="6096000" cy="1943100"/>
          </a:xfrm>
          <a:prstGeom prst="rect">
            <a:avLst/>
          </a:prstGeom>
        </p:spPr>
      </p:pic>
      <p:cxnSp>
        <p:nvCxnSpPr>
          <p:cNvPr id="45" name="직선 연결선[R] 44">
            <a:extLst>
              <a:ext uri="{FF2B5EF4-FFF2-40B4-BE49-F238E27FC236}">
                <a16:creationId xmlns:a16="http://schemas.microsoft.com/office/drawing/2014/main" id="{4B07953C-33BD-9858-EC16-597E7CE8B5C0}"/>
              </a:ext>
            </a:extLst>
          </p:cNvPr>
          <p:cNvCxnSpPr>
            <a:cxnSpLocks/>
          </p:cNvCxnSpPr>
          <p:nvPr/>
        </p:nvCxnSpPr>
        <p:spPr>
          <a:xfrm flipV="1">
            <a:off x="5519057" y="100131"/>
            <a:ext cx="0" cy="6289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내용 개체 틀 2">
                <a:extLst>
                  <a:ext uri="{FF2B5EF4-FFF2-40B4-BE49-F238E27FC236}">
                    <a16:creationId xmlns:a16="http://schemas.microsoft.com/office/drawing/2014/main" id="{7A6BEE05-4DA5-9B56-EB14-DAD5EF515F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948" y="1943101"/>
                <a:ext cx="5301161" cy="43479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1" lang="en-US" altLang="ko-KR" sz="20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en-US" altLang="ko-KR" sz="20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0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000" dirty="0"/>
              </a:p>
            </p:txBody>
          </p:sp>
        </mc:Choice>
        <mc:Fallback xmlns="">
          <p:sp>
            <p:nvSpPr>
              <p:cNvPr id="51" name="내용 개체 틀 2">
                <a:extLst>
                  <a:ext uri="{FF2B5EF4-FFF2-40B4-BE49-F238E27FC236}">
                    <a16:creationId xmlns:a16="http://schemas.microsoft.com/office/drawing/2014/main" id="{7A6BEE05-4DA5-9B56-EB14-DAD5EF515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48" y="1943101"/>
                <a:ext cx="5301161" cy="4347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0031EF53-9F20-FF25-A263-87794DECF668}"/>
              </a:ext>
            </a:extLst>
          </p:cNvPr>
          <p:cNvSpPr txBox="1">
            <a:spLocks/>
          </p:cNvSpPr>
          <p:nvPr/>
        </p:nvSpPr>
        <p:spPr>
          <a:xfrm>
            <a:off x="5780317" y="1943101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BBD1F627-4954-04AC-B83F-B2371716B2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62600" y="1943101"/>
                <a:ext cx="6520452" cy="444681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𝑆𝑖𝑚𝑖𝑙𝑎𝑟𝑡𝑦</m:t>
                      </m:r>
                      <m:d>
                        <m:dPr>
                          <m:ctrlPr>
                            <a:rPr kumimoji="1" lang="en-US" altLang="ko-K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⋅,⋅</m:t>
                          </m:r>
                        </m:e>
                      </m:d>
                      <m:r>
                        <a:rPr kumimoji="1" lang="en-US" altLang="ko-K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kumimoji="1" lang="en-US" altLang="ko-K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⋅, ⋅</m:t>
                          </m:r>
                        </m:e>
                      </m:d>
                    </m:oMath>
                  </m:oMathPara>
                </a14:m>
                <a:endParaRPr kumimoji="1" lang="en-US" altLang="ko-KR" sz="2000" b="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2000" dirty="0">
                    <a:solidFill>
                      <a:srgbClr val="FF0000"/>
                    </a:solidFill>
                  </a:rPr>
                  <a:t>		    Where is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kumimoji="1"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⋅,⋅</m:t>
                        </m:r>
                      </m:e>
                    </m:d>
                  </m:oMath>
                </a14:m>
                <a:r>
                  <a:rPr kumimoji="1" lang="en-US" altLang="ko-KR" sz="2000" dirty="0">
                    <a:solidFill>
                      <a:srgbClr val="FF0000"/>
                    </a:solidFill>
                  </a:rPr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0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Let.</a:t>
                </a:r>
                <a:r>
                  <a:rPr kumimoji="1" lang="en-US" altLang="ko-KR" sz="20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en-US" altLang="ko-KR" sz="2000" dirty="0"/>
                  <a:t>     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kumimoji="1" lang="en-US" altLang="ko-KR" sz="20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must be decomposable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ko-KR" sz="20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en-US" altLang="ko-KR" sz="20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0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20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0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000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ko-KR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kumimoji="1" lang="en-US" altLang="ko-KR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kumimoji="1" lang="en-US" altLang="ko-K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called kernel function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  <m:r>
                            <a:rPr kumimoji="1"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ko-KR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en-US" altLang="ko-KR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en-US" altLang="ko-KR" sz="2000" b="0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kumimoji="1"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ko-KR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BBD1F627-4954-04AC-B83F-B2371716B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943101"/>
                <a:ext cx="6520452" cy="4446814"/>
              </a:xfrm>
              <a:prstGeom prst="rect">
                <a:avLst/>
              </a:prstGeom>
              <a:blipFill>
                <a:blip r:embed="rId5"/>
                <a:stretch>
                  <a:fillRect l="-1167" r="-3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857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26D0-68B4-CF11-3DDF-DD859253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235B8768-003E-1815-1016-F8258C7443B1}"/>
              </a:ext>
            </a:extLst>
          </p:cNvPr>
          <p:cNvSpPr txBox="1">
            <a:spLocks/>
          </p:cNvSpPr>
          <p:nvPr/>
        </p:nvSpPr>
        <p:spPr>
          <a:xfrm>
            <a:off x="371738" y="2001467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96A0D3CB-F8C3-7BD7-8E04-0DB629E7D0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20" y="155643"/>
                <a:ext cx="6406267" cy="6193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b="0" dirty="0"/>
                  <a:t>Let.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𝑜𝑓𝑡𝑚𝑎𝑥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olidFill>
                      <a:srgbClr val="FF0000"/>
                    </a:solidFill>
                  </a:rPr>
                  <a:t>How can we define the kernel function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⋅, ⋅</m:t>
                        </m:r>
                      </m:e>
                    </m:d>
                  </m:oMath>
                </a14:m>
                <a:r>
                  <a:rPr kumimoji="1" lang="en-US" altLang="ko-KR" sz="2200" dirty="0">
                    <a:solidFill>
                      <a:srgbClr val="FF0000"/>
                    </a:solidFill>
                  </a:rPr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ym typeface="Wingdings" pitchFamily="2" charset="2"/>
                  </a:rPr>
                  <a:t> </a:t>
                </a:r>
                <a:r>
                  <a:rPr kumimoji="1" lang="ko-KR" altLang="en-US" sz="2200" dirty="0"/>
                  <a:t>기존의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𝑠𝑜𝑓𝑡𝑚𝑎𝑥</m:t>
                    </m:r>
                  </m:oMath>
                </a14:m>
                <a:r>
                  <a:rPr kumimoji="1" lang="en-US" altLang="ko-KR" sz="2200" dirty="0"/>
                  <a:t>–based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(⋅, ⋅)</m:t>
                    </m:r>
                  </m:oMath>
                </a14:m>
                <a:r>
                  <a:rPr kumimoji="1" lang="ko-KR" altLang="en-US" sz="2200" dirty="0"/>
                  <a:t>의 속성</a:t>
                </a:r>
                <a:r>
                  <a:rPr kumimoji="1" lang="en-US" altLang="ko-KR" sz="2200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200" i="1" dirty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ko-KR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Σexp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200" dirty="0"/>
              </a:p>
            </p:txBody>
          </p:sp>
        </mc:Choice>
        <mc:Fallback xmlns="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96A0D3CB-F8C3-7BD7-8E04-0DB629E7D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0" y="155643"/>
                <a:ext cx="6406267" cy="6193736"/>
              </a:xfrm>
              <a:prstGeom prst="rect">
                <a:avLst/>
              </a:prstGeom>
              <a:blipFill>
                <a:blip r:embed="rId3"/>
                <a:stretch>
                  <a:fillRect l="-1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2FB7262-E12F-94E1-676A-423D937AF688}"/>
              </a:ext>
            </a:extLst>
          </p:cNvPr>
          <p:cNvSpPr txBox="1"/>
          <p:nvPr/>
        </p:nvSpPr>
        <p:spPr>
          <a:xfrm>
            <a:off x="5518825" y="2933106"/>
            <a:ext cx="6519154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200" b="1" dirty="0"/>
              <a:t>“Non-negativeness of the attention matrix”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1" lang="en-US" altLang="ko-KR" sz="2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“A non-linear re-weighting scheme”</a:t>
            </a:r>
          </a:p>
        </p:txBody>
      </p:sp>
    </p:spTree>
    <p:extLst>
      <p:ext uri="{BB962C8B-B14F-4D97-AF65-F5344CB8AC3E}">
        <p14:creationId xmlns:p14="http://schemas.microsoft.com/office/powerpoint/2010/main" val="3844751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5239-1B6D-4DB3-415E-282766A3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4ADBA636-6611-30ED-2C5D-AEC3FE43D389}"/>
              </a:ext>
            </a:extLst>
          </p:cNvPr>
          <p:cNvSpPr txBox="1">
            <a:spLocks/>
          </p:cNvSpPr>
          <p:nvPr/>
        </p:nvSpPr>
        <p:spPr>
          <a:xfrm>
            <a:off x="371738" y="2001467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E530A933-CEF7-05EA-951E-426E08CBB5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20" y="155643"/>
                <a:ext cx="6406267" cy="6193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b="0" dirty="0"/>
                  <a:t>Let.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𝑜𝑓𝑡𝑚𝑎𝑥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olidFill>
                      <a:srgbClr val="FF0000"/>
                    </a:solidFill>
                  </a:rPr>
                  <a:t>How can we define the kernel function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⋅, ⋅</m:t>
                        </m:r>
                      </m:e>
                    </m:d>
                  </m:oMath>
                </a14:m>
                <a:r>
                  <a:rPr kumimoji="1" lang="en-US" altLang="ko-KR" sz="2200" dirty="0">
                    <a:solidFill>
                      <a:srgbClr val="FF0000"/>
                    </a:solidFill>
                  </a:rPr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ym typeface="Wingdings" pitchFamily="2" charset="2"/>
                  </a:rPr>
                  <a:t> </a:t>
                </a:r>
                <a:r>
                  <a:rPr kumimoji="1" lang="ko-KR" altLang="en-US" sz="2200" dirty="0"/>
                  <a:t>기존의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𝑠𝑜𝑓𝑡𝑚𝑎𝑥</m:t>
                    </m:r>
                  </m:oMath>
                </a14:m>
                <a:r>
                  <a:rPr kumimoji="1" lang="en-US" altLang="ko-KR" sz="2200" dirty="0"/>
                  <a:t>–based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(⋅, ⋅)</m:t>
                    </m:r>
                  </m:oMath>
                </a14:m>
                <a:r>
                  <a:rPr kumimoji="1" lang="ko-KR" altLang="en-US" sz="2200" dirty="0"/>
                  <a:t>의 속성</a:t>
                </a:r>
                <a:r>
                  <a:rPr kumimoji="1" lang="en-US" altLang="ko-KR" sz="2200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200" i="1" dirty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ko-KR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Σexp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200" dirty="0"/>
              </a:p>
            </p:txBody>
          </p:sp>
        </mc:Choice>
        <mc:Fallback xmlns="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E530A933-CEF7-05EA-951E-426E08CBB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0" y="155643"/>
                <a:ext cx="6406267" cy="6193736"/>
              </a:xfrm>
              <a:prstGeom prst="rect">
                <a:avLst/>
              </a:prstGeom>
              <a:blipFill>
                <a:blip r:embed="rId3"/>
                <a:stretch>
                  <a:fillRect l="-1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D4FEA42-357B-54AF-4956-79A1526D020F}"/>
              </a:ext>
            </a:extLst>
          </p:cNvPr>
          <p:cNvSpPr txBox="1"/>
          <p:nvPr/>
        </p:nvSpPr>
        <p:spPr>
          <a:xfrm>
            <a:off x="5518825" y="2933106"/>
            <a:ext cx="6519154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200" b="1" dirty="0"/>
              <a:t>“Non-negativeness of the attention matrix”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1" lang="en-US" altLang="ko-KR" sz="2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“A non-linear re-weighting scheme”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625658-09B4-EA26-0FE8-80BC7451767D}"/>
                  </a:ext>
                </a:extLst>
              </p:cNvPr>
              <p:cNvSpPr txBox="1"/>
              <p:nvPr/>
            </p:nvSpPr>
            <p:spPr>
              <a:xfrm>
                <a:off x="3745068" y="5775293"/>
                <a:ext cx="470186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3000" dirty="0">
                    <a:solidFill>
                      <a:srgbClr val="FF0000"/>
                    </a:solidFill>
                  </a:rPr>
                  <a:t>Let. </a:t>
                </a:r>
                <a14:m>
                  <m:oMath xmlns:m="http://schemas.openxmlformats.org/officeDocument/2006/math">
                    <m:r>
                      <a:rPr kumimoji="1" lang="en-US" altLang="ko-KR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kumimoji="1" lang="en-US" altLang="ko-KR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kumimoji="1" lang="en-US" altLang="ko-KR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…?</m:t>
                    </m:r>
                  </m:oMath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625658-09B4-EA26-0FE8-80BC74517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068" y="5775293"/>
                <a:ext cx="4701864" cy="553998"/>
              </a:xfrm>
              <a:prstGeom prst="rect">
                <a:avLst/>
              </a:prstGeom>
              <a:blipFill>
                <a:blip r:embed="rId4"/>
                <a:stretch>
                  <a:fillRect l="-2957" t="-11111"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6758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A26C-F8D8-9A3C-974C-7116D693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A25CD4-1AD1-999F-DFD5-26A0A8E37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97" y="87701"/>
            <a:ext cx="7195457" cy="2080818"/>
          </a:xfrm>
          <a:prstGeom prst="rect">
            <a:avLst/>
          </a:prstGeom>
        </p:spPr>
      </p:pic>
      <p:pic>
        <p:nvPicPr>
          <p:cNvPr id="5" name="그림 4" descr="텍스트, 스크린샷, 폰트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F99E5A-AD17-1921-C70B-27D0A5F48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97" y="2372308"/>
            <a:ext cx="4890046" cy="21133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7D08F5B-6F42-67F1-5D8D-1DE159F9E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97" y="4689481"/>
            <a:ext cx="5597617" cy="627921"/>
          </a:xfrm>
          <a:prstGeom prst="rect">
            <a:avLst/>
          </a:prstGeom>
        </p:spPr>
      </p:pic>
      <p:pic>
        <p:nvPicPr>
          <p:cNvPr id="11" name="그림 10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DE9BA8-CCE7-BAEE-CF28-CDDC55297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7731" y="4334728"/>
            <a:ext cx="6117772" cy="163674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A5011F5-6461-0CF3-91D5-780D2EE8BE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" t="5441" r="8112"/>
          <a:stretch>
            <a:fillRect/>
          </a:stretch>
        </p:blipFill>
        <p:spPr bwMode="auto">
          <a:xfrm>
            <a:off x="7872731" y="855968"/>
            <a:ext cx="4212772" cy="33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 descr="텍스트, 폰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2AAA45-7F20-19C5-5B73-5AE36DD224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6246" y="3057724"/>
            <a:ext cx="3198040" cy="6362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370BDD-BE38-FCBC-5031-9C0870B328CC}"/>
              </a:ext>
            </a:extLst>
          </p:cNvPr>
          <p:cNvSpPr txBox="1"/>
          <p:nvPr/>
        </p:nvSpPr>
        <p:spPr>
          <a:xfrm>
            <a:off x="111216" y="6210088"/>
            <a:ext cx="11974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200" b="0" i="0" dirty="0" err="1">
                <a:solidFill>
                  <a:srgbClr val="222222"/>
                </a:solidFill>
                <a:effectLst/>
                <a:hlinkClick r:id="rId9"/>
              </a:rPr>
              <a:t>Katharopoulos</a:t>
            </a:r>
            <a:r>
              <a:rPr lang="en" altLang="ko-KR" sz="1200" b="0" i="0" dirty="0">
                <a:solidFill>
                  <a:srgbClr val="222222"/>
                </a:solidFill>
                <a:effectLst/>
                <a:hlinkClick r:id="rId9"/>
              </a:rPr>
              <a:t>, Angelos, et al. "Transformers are </a:t>
            </a:r>
            <a:r>
              <a:rPr lang="en" altLang="ko-KR" sz="1200" b="0" i="0" dirty="0" err="1">
                <a:solidFill>
                  <a:srgbClr val="222222"/>
                </a:solidFill>
                <a:effectLst/>
                <a:hlinkClick r:id="rId9"/>
              </a:rPr>
              <a:t>rnns</a:t>
            </a:r>
            <a:r>
              <a:rPr lang="en" altLang="ko-KR" sz="1200" b="0" i="0" dirty="0">
                <a:solidFill>
                  <a:srgbClr val="222222"/>
                </a:solidFill>
                <a:effectLst/>
                <a:hlinkClick r:id="rId9"/>
              </a:rPr>
              <a:t>: Fast autoregressive transformers with linear attention." </a:t>
            </a:r>
            <a:r>
              <a:rPr lang="en" altLang="ko-KR" sz="1200" b="0" i="1" dirty="0">
                <a:solidFill>
                  <a:srgbClr val="222222"/>
                </a:solidFill>
                <a:effectLst/>
                <a:hlinkClick r:id="rId9"/>
              </a:rPr>
              <a:t>International conference on machine learning</a:t>
            </a:r>
            <a:r>
              <a:rPr lang="en" altLang="ko-KR" sz="1200" b="0" i="0" dirty="0">
                <a:solidFill>
                  <a:srgbClr val="222222"/>
                </a:solidFill>
                <a:effectLst/>
                <a:hlinkClick r:id="rId9"/>
              </a:rPr>
              <a:t>. PMLR, 2020.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9573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1B294-7F6A-418E-E2F1-C4D8B0F3B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39C5630-EA50-96AA-04C3-CB66D97C7C0C}"/>
              </a:ext>
            </a:extLst>
          </p:cNvPr>
          <p:cNvSpPr txBox="1"/>
          <p:nvPr/>
        </p:nvSpPr>
        <p:spPr>
          <a:xfrm>
            <a:off x="239758" y="6246316"/>
            <a:ext cx="117124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100" dirty="0">
                <a:hlinkClick r:id="rId3"/>
              </a:rPr>
              <a:t>Cai, Han, et al. "</a:t>
            </a:r>
            <a:r>
              <a:rPr lang="en" altLang="ko-KR" sz="1100" dirty="0" err="1">
                <a:hlinkClick r:id="rId3"/>
              </a:rPr>
              <a:t>Efficientvit</a:t>
            </a:r>
            <a:r>
              <a:rPr lang="en" altLang="ko-KR" sz="1100" dirty="0">
                <a:hlinkClick r:id="rId3"/>
              </a:rPr>
              <a:t>: Lightweight multi-scale attention for high-resolution dense prediction." </a:t>
            </a:r>
            <a:r>
              <a:rPr lang="en" altLang="ko-KR" sz="1100" i="1" dirty="0">
                <a:hlinkClick r:id="rId3"/>
              </a:rPr>
              <a:t>Proceedings of the IEEE/CVF international conference on computer vision</a:t>
            </a:r>
            <a:r>
              <a:rPr lang="en" altLang="ko-KR" sz="1100" dirty="0">
                <a:hlinkClick r:id="rId3"/>
              </a:rPr>
              <a:t>. 2023.</a:t>
            </a:r>
            <a:endParaRPr lang="ko-KR" altLang="en-US" sz="1100" dirty="0"/>
          </a:p>
        </p:txBody>
      </p:sp>
      <p:pic>
        <p:nvPicPr>
          <p:cNvPr id="6" name="그림 5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7F2EC5-7FCA-D834-475E-4C57930974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519"/>
          <a:stretch>
            <a:fillRect/>
          </a:stretch>
        </p:blipFill>
        <p:spPr>
          <a:xfrm>
            <a:off x="2209800" y="1420525"/>
            <a:ext cx="7772400" cy="2097375"/>
          </a:xfrm>
          <a:prstGeom prst="rect">
            <a:avLst/>
          </a:prstGeom>
        </p:spPr>
      </p:pic>
      <p:pic>
        <p:nvPicPr>
          <p:cNvPr id="9" name="그림 8" descr="텍스트, 폰트, 화이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EC6801-FF08-3D13-13BD-572D8FB55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0750" y="0"/>
            <a:ext cx="5270500" cy="1420525"/>
          </a:xfrm>
          <a:prstGeom prst="rect">
            <a:avLst/>
          </a:prstGeom>
        </p:spPr>
      </p:pic>
      <p:pic>
        <p:nvPicPr>
          <p:cNvPr id="12" name="그림 11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F94E77-D0AF-39BE-28D4-979523657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3" y="3517900"/>
            <a:ext cx="6820913" cy="257489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F5A51F-F2A9-16AB-166C-4B0551B9C391}"/>
              </a:ext>
            </a:extLst>
          </p:cNvPr>
          <p:cNvSpPr/>
          <p:nvPr/>
        </p:nvSpPr>
        <p:spPr>
          <a:xfrm>
            <a:off x="5740400" y="1816100"/>
            <a:ext cx="584200" cy="889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FAC35C-4594-E376-708C-05214EF2F729}"/>
              </a:ext>
            </a:extLst>
          </p:cNvPr>
          <p:cNvSpPr/>
          <p:nvPr/>
        </p:nvSpPr>
        <p:spPr>
          <a:xfrm>
            <a:off x="73116" y="4991100"/>
            <a:ext cx="1031784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0" i="1" dirty="0">
              <a:latin typeface="Cambria Math" panose="02040503050406030204" pitchFamily="18" charset="0"/>
            </a:endParaRPr>
          </a:p>
        </p:txBody>
      </p:sp>
      <p:pic>
        <p:nvPicPr>
          <p:cNvPr id="19" name="그림 18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BDCEB2-C315-1464-8D19-CF96C99E74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466" y="3671632"/>
            <a:ext cx="5381534" cy="247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47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C1B99-0823-452C-E49E-D50B3D7B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EBC3A226-A038-3F4C-9251-3142E6E9FF97}"/>
              </a:ext>
            </a:extLst>
          </p:cNvPr>
          <p:cNvSpPr txBox="1">
            <a:spLocks/>
          </p:cNvSpPr>
          <p:nvPr/>
        </p:nvSpPr>
        <p:spPr>
          <a:xfrm>
            <a:off x="371738" y="2001467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436A1691-3412-E3DF-9EE4-6CBA770ACF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21" y="155643"/>
                <a:ext cx="6225008" cy="6193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b="0" dirty="0"/>
                  <a:t>Let.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𝑜𝑓𝑡𝑚𝑎𝑥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olidFill>
                      <a:srgbClr val="FF0000"/>
                    </a:solidFill>
                  </a:rPr>
                  <a:t>How can we define the kernel function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⋅, ⋅</m:t>
                        </m:r>
                      </m:e>
                    </m:d>
                  </m:oMath>
                </a14:m>
                <a:r>
                  <a:rPr kumimoji="1" lang="en-US" altLang="ko-KR" sz="2200" dirty="0">
                    <a:solidFill>
                      <a:srgbClr val="FF0000"/>
                    </a:solidFill>
                  </a:rPr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ym typeface="Wingdings" pitchFamily="2" charset="2"/>
                  </a:rPr>
                  <a:t> </a:t>
                </a:r>
                <a:r>
                  <a:rPr kumimoji="1" lang="ko-KR" altLang="en-US" sz="2200" dirty="0"/>
                  <a:t>기존의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sz="2200" dirty="0"/>
                  <a:t>–based attention</a:t>
                </a:r>
                <a:r>
                  <a:rPr kumimoji="1" lang="ko-KR" altLang="en-US" sz="2200" dirty="0"/>
                  <a:t>의 속성</a:t>
                </a:r>
                <a:r>
                  <a:rPr kumimoji="1" lang="en-US" altLang="ko-KR" sz="2200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200" i="1" dirty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ko-KR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Σexp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200" dirty="0"/>
              </a:p>
            </p:txBody>
          </p:sp>
        </mc:Choice>
        <mc:Fallback xmlns="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436A1691-3412-E3DF-9EE4-6CBA770AC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1" y="155643"/>
                <a:ext cx="6225008" cy="6193736"/>
              </a:xfrm>
              <a:prstGeom prst="rect">
                <a:avLst/>
              </a:prstGeom>
              <a:blipFill>
                <a:blip r:embed="rId3"/>
                <a:stretch>
                  <a:fillRect l="-1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AC483F6-55AB-8196-8E30-B26A4EAAAAC7}"/>
              </a:ext>
            </a:extLst>
          </p:cNvPr>
          <p:cNvSpPr txBox="1"/>
          <p:nvPr/>
        </p:nvSpPr>
        <p:spPr>
          <a:xfrm>
            <a:off x="4604424" y="2778822"/>
            <a:ext cx="7320875" cy="161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500" b="1" dirty="0"/>
              <a:t>“Non-negativeness of the attention matrix”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1" lang="en-US" altLang="ko-KR" sz="2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“A non-linear re-weighting scheme”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97A41-888C-BD68-5628-3189222290BF}"/>
                  </a:ext>
                </a:extLst>
              </p:cNvPr>
              <p:cNvSpPr txBox="1"/>
              <p:nvPr/>
            </p:nvSpPr>
            <p:spPr>
              <a:xfrm>
                <a:off x="154021" y="5175788"/>
                <a:ext cx="5477138" cy="117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50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ko-KR" sz="25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/>
                  <a:t>                </a:t>
                </a:r>
                <a14:m>
                  <m:oMath xmlns:m="http://schemas.openxmlformats.org/officeDocument/2006/math">
                    <m:r>
                      <a:rPr kumimoji="1" lang="en-US" altLang="ko-KR" sz="25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797A41-888C-BD68-5628-318922229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1" y="5175788"/>
                <a:ext cx="5477138" cy="1173591"/>
              </a:xfrm>
              <a:prstGeom prst="rect">
                <a:avLst/>
              </a:prstGeom>
              <a:blipFill>
                <a:blip r:embed="rId4"/>
                <a:stretch>
                  <a:fillRect l="-463"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072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445A3-D3F5-7B57-2172-7F98CA46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E80ECE0F-540D-5421-75B2-37FA0842B90A}"/>
              </a:ext>
            </a:extLst>
          </p:cNvPr>
          <p:cNvSpPr txBox="1">
            <a:spLocks/>
          </p:cNvSpPr>
          <p:nvPr/>
        </p:nvSpPr>
        <p:spPr>
          <a:xfrm>
            <a:off x="371738" y="2001467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EB882B88-8EFD-71F8-3B13-C426D5D993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21" y="155643"/>
                <a:ext cx="6225008" cy="6193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b="0" dirty="0"/>
                  <a:t>Let.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𝑜𝑓𝑡𝑚𝑎𝑥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olidFill>
                      <a:srgbClr val="FF0000"/>
                    </a:solidFill>
                  </a:rPr>
                  <a:t>How can we define the kernel function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⋅, ⋅</m:t>
                        </m:r>
                      </m:e>
                    </m:d>
                  </m:oMath>
                </a14:m>
                <a:r>
                  <a:rPr kumimoji="1" lang="en-US" altLang="ko-KR" sz="2200" dirty="0">
                    <a:solidFill>
                      <a:srgbClr val="FF0000"/>
                    </a:solidFill>
                  </a:rPr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ym typeface="Wingdings" pitchFamily="2" charset="2"/>
                  </a:rPr>
                  <a:t> </a:t>
                </a:r>
                <a:r>
                  <a:rPr kumimoji="1" lang="ko-KR" altLang="en-US" sz="2200" dirty="0"/>
                  <a:t>기존의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sz="2200" dirty="0"/>
                  <a:t>–based attention</a:t>
                </a:r>
                <a:r>
                  <a:rPr kumimoji="1" lang="ko-KR" altLang="en-US" sz="2200" dirty="0"/>
                  <a:t>의 속성</a:t>
                </a:r>
                <a:r>
                  <a:rPr kumimoji="1" lang="en-US" altLang="ko-KR" sz="2200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200" i="1" dirty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ko-KR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Σexp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200" dirty="0"/>
              </a:p>
            </p:txBody>
          </p:sp>
        </mc:Choice>
        <mc:Fallback xmlns="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EB882B88-8EFD-71F8-3B13-C426D5D99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1" y="155643"/>
                <a:ext cx="6225008" cy="6193736"/>
              </a:xfrm>
              <a:prstGeom prst="rect">
                <a:avLst/>
              </a:prstGeom>
              <a:blipFill>
                <a:blip r:embed="rId3"/>
                <a:stretch>
                  <a:fillRect l="-1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3E2DC4-05E0-7B58-5551-7FBB02BCCE0F}"/>
              </a:ext>
            </a:extLst>
          </p:cNvPr>
          <p:cNvSpPr txBox="1"/>
          <p:nvPr/>
        </p:nvSpPr>
        <p:spPr>
          <a:xfrm>
            <a:off x="4604424" y="2778822"/>
            <a:ext cx="7320875" cy="161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200" dirty="0"/>
              <a:t>“Non-negativeness of the attention matrix”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1" lang="en-US" altLang="ko-KR" sz="2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500" b="1" dirty="0"/>
              <a:t>“A non-linear re-weighting scheme”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47D192-A9DA-864E-8C77-F8353E1F5FC0}"/>
                  </a:ext>
                </a:extLst>
              </p:cNvPr>
              <p:cNvSpPr txBox="1"/>
              <p:nvPr/>
            </p:nvSpPr>
            <p:spPr>
              <a:xfrm>
                <a:off x="154021" y="5175788"/>
                <a:ext cx="5477138" cy="117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50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ko-KR" sz="25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/>
                  <a:t>                </a:t>
                </a:r>
                <a14:m>
                  <m:oMath xmlns:m="http://schemas.openxmlformats.org/officeDocument/2006/math">
                    <m:r>
                      <a:rPr kumimoji="1" lang="en-US" altLang="ko-KR" sz="25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47D192-A9DA-864E-8C77-F8353E1F5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1" y="5175788"/>
                <a:ext cx="5477138" cy="1173591"/>
              </a:xfrm>
              <a:prstGeom prst="rect">
                <a:avLst/>
              </a:prstGeom>
              <a:blipFill>
                <a:blip r:embed="rId4"/>
                <a:stretch>
                  <a:fillRect l="-463"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561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75E48-DD1E-8B14-80E8-C45BAD57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6A6A3395-084A-0F4B-5BE2-AA8E98EF1468}"/>
              </a:ext>
            </a:extLst>
          </p:cNvPr>
          <p:cNvSpPr txBox="1">
            <a:spLocks/>
          </p:cNvSpPr>
          <p:nvPr/>
        </p:nvSpPr>
        <p:spPr>
          <a:xfrm>
            <a:off x="371738" y="2001467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DAC34061-C7BA-58D3-849A-B51B46B375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4021" y="155643"/>
                <a:ext cx="6225008" cy="6193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b="0" dirty="0"/>
                  <a:t>Let.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𝑜𝑓𝑡𝑚𝑎𝑥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≃</m:t>
                    </m:r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olidFill>
                      <a:srgbClr val="FF0000"/>
                    </a:solidFill>
                  </a:rPr>
                  <a:t>How can we define the kernel function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⋅, ⋅</m:t>
                        </m:r>
                      </m:e>
                    </m:d>
                  </m:oMath>
                </a14:m>
                <a:r>
                  <a:rPr kumimoji="1" lang="en-US" altLang="ko-KR" sz="2200" dirty="0">
                    <a:solidFill>
                      <a:srgbClr val="FF0000"/>
                    </a:solidFill>
                  </a:rPr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ko-KR" sz="2200" dirty="0">
                    <a:sym typeface="Wingdings" pitchFamily="2" charset="2"/>
                  </a:rPr>
                  <a:t> </a:t>
                </a:r>
                <a:r>
                  <a:rPr kumimoji="1" lang="ko-KR" altLang="en-US" sz="2200" dirty="0"/>
                  <a:t>기존의 </a:t>
                </a:r>
                <a14:m>
                  <m:oMath xmlns:m="http://schemas.openxmlformats.org/officeDocument/2006/math"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sz="2200" dirty="0"/>
                  <a:t>–based attention</a:t>
                </a:r>
                <a:r>
                  <a:rPr kumimoji="1" lang="ko-KR" altLang="en-US" sz="2200" dirty="0"/>
                  <a:t>의 속성</a:t>
                </a:r>
                <a:r>
                  <a:rPr kumimoji="1" lang="en-US" altLang="ko-KR" sz="2200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200" i="1" dirty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en-US" altLang="ko-KR" sz="22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ko-KR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ko-KR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ko-KR" sz="2200">
                              <a:latin typeface="Cambria Math" panose="02040503050406030204" pitchFamily="18" charset="0"/>
                            </a:rPr>
                            <m:t>Σexp</m:t>
                          </m:r>
                          <m:r>
                            <a:rPr kumimoji="1" lang="en-US" altLang="ko-KR" sz="2200" i="1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22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sSup>
                                    <m:sSupPr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ko-KR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22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kumimoji="1" lang="en-US" altLang="ko-KR" sz="22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kumimoji="1" lang="en-US" altLang="ko-KR" sz="2200" dirty="0"/>
              </a:p>
            </p:txBody>
          </p:sp>
        </mc:Choice>
        <mc:Fallback xmlns="">
          <p:sp>
            <p:nvSpPr>
              <p:cNvPr id="53" name="내용 개체 틀 2">
                <a:extLst>
                  <a:ext uri="{FF2B5EF4-FFF2-40B4-BE49-F238E27FC236}">
                    <a16:creationId xmlns:a16="http://schemas.microsoft.com/office/drawing/2014/main" id="{DAC34061-C7BA-58D3-849A-B51B46B37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1" y="155643"/>
                <a:ext cx="6225008" cy="6193736"/>
              </a:xfrm>
              <a:prstGeom prst="rect">
                <a:avLst/>
              </a:prstGeom>
              <a:blipFill>
                <a:blip r:embed="rId3"/>
                <a:stretch>
                  <a:fillRect l="-1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1C41F2F-8097-DA77-0B5C-5BBB92A01C02}"/>
              </a:ext>
            </a:extLst>
          </p:cNvPr>
          <p:cNvSpPr txBox="1"/>
          <p:nvPr/>
        </p:nvSpPr>
        <p:spPr>
          <a:xfrm>
            <a:off x="4604424" y="2778822"/>
            <a:ext cx="7320875" cy="161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200" dirty="0"/>
              <a:t>“Non-negativeness of the attention matrix”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1" lang="en-US" altLang="ko-KR" sz="2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sz="2500" b="1" dirty="0"/>
              <a:t>“A non-linear re-weighting scheme”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ADD91E-34C8-13B6-25B0-A69B62ED86A1}"/>
                  </a:ext>
                </a:extLst>
              </p:cNvPr>
              <p:cNvSpPr txBox="1"/>
              <p:nvPr/>
            </p:nvSpPr>
            <p:spPr>
              <a:xfrm>
                <a:off x="154021" y="5175788"/>
                <a:ext cx="5477138" cy="117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50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ko-KR" sz="25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/>
                  <a:t>                </a:t>
                </a:r>
                <a14:m>
                  <m:oMath xmlns:m="http://schemas.openxmlformats.org/officeDocument/2006/math">
                    <m:r>
                      <a:rPr kumimoji="1" lang="en-US" altLang="ko-KR" sz="25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ADD91E-34C8-13B6-25B0-A69B62ED8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21" y="5175788"/>
                <a:ext cx="5477138" cy="1173591"/>
              </a:xfrm>
              <a:prstGeom prst="rect">
                <a:avLst/>
              </a:prstGeom>
              <a:blipFill>
                <a:blip r:embed="rId4"/>
                <a:stretch>
                  <a:fillRect l="-463"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4FD5BE7C-E4BC-99C0-23AF-B97B3E22D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028" y="39537"/>
            <a:ext cx="5812971" cy="222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88DA52-0611-EEE5-B15C-2B6154353328}"/>
                  </a:ext>
                </a:extLst>
              </p:cNvPr>
              <p:cNvSpPr txBox="1"/>
              <p:nvPr/>
            </p:nvSpPr>
            <p:spPr>
              <a:xfrm>
                <a:off x="5631159" y="5581460"/>
                <a:ext cx="5769335" cy="88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</a:t>
                </a:r>
                <a:r>
                  <a:rPr kumimoji="1" lang="en-US" altLang="ko-KR" sz="2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kumimoji="1" lang="en-US" altLang="ko-KR" sz="25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400" b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 </a:t>
                </a:r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88DA52-0611-EEE5-B15C-2B6154353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159" y="5581460"/>
                <a:ext cx="5769335" cy="884025"/>
              </a:xfrm>
              <a:prstGeom prst="rect">
                <a:avLst/>
              </a:prstGeom>
              <a:blipFill>
                <a:blip r:embed="rId6"/>
                <a:stretch>
                  <a:fillRect l="-1758" b="-42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518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51F0-DE80-A797-F275-97949B97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1D8A13A4-636F-D0BC-65BC-1BB78BD050CA}"/>
              </a:ext>
            </a:extLst>
          </p:cNvPr>
          <p:cNvSpPr txBox="1">
            <a:spLocks/>
          </p:cNvSpPr>
          <p:nvPr/>
        </p:nvSpPr>
        <p:spPr>
          <a:xfrm>
            <a:off x="371738" y="2001467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63F05D-947F-BE6E-7ACC-7C07E8913E52}"/>
                  </a:ext>
                </a:extLst>
              </p:cNvPr>
              <p:cNvSpPr txBox="1"/>
              <p:nvPr/>
            </p:nvSpPr>
            <p:spPr>
              <a:xfrm>
                <a:off x="371738" y="0"/>
                <a:ext cx="5477138" cy="117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50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ko-KR" sz="25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/>
                  <a:t>                </a:t>
                </a:r>
                <a14:m>
                  <m:oMath xmlns:m="http://schemas.openxmlformats.org/officeDocument/2006/math">
                    <m:r>
                      <a:rPr kumimoji="1" lang="en-US" altLang="ko-KR" sz="25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63F05D-947F-BE6E-7ACC-7C07E8913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38" y="0"/>
                <a:ext cx="5477138" cy="1173591"/>
              </a:xfrm>
              <a:prstGeom prst="rect">
                <a:avLst/>
              </a:prstGeom>
              <a:blipFill>
                <a:blip r:embed="rId3"/>
                <a:stretch>
                  <a:fillRect l="-463" b="-86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CB4AA9-093E-F3F5-7A59-37B4774E367E}"/>
                  </a:ext>
                </a:extLst>
              </p:cNvPr>
              <p:cNvSpPr txBox="1"/>
              <p:nvPr/>
            </p:nvSpPr>
            <p:spPr>
              <a:xfrm>
                <a:off x="5848876" y="405672"/>
                <a:ext cx="5769335" cy="88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</a:t>
                </a:r>
                <a:r>
                  <a:rPr kumimoji="1" lang="en-US" altLang="ko-KR" sz="2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kumimoji="1" lang="en-US" altLang="ko-KR" sz="25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400" b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 </a:t>
                </a:r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CB4AA9-093E-F3F5-7A59-37B4774E3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876" y="405672"/>
                <a:ext cx="5769335" cy="884025"/>
              </a:xfrm>
              <a:prstGeom prst="rect">
                <a:avLst/>
              </a:prstGeom>
              <a:blipFill>
                <a:blip r:embed="rId4"/>
                <a:stretch>
                  <a:fillRect l="-1758"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CB2C6-F177-B0A9-7680-3506CCABACCD}"/>
                  </a:ext>
                </a:extLst>
              </p:cNvPr>
              <p:cNvSpPr txBox="1"/>
              <p:nvPr/>
            </p:nvSpPr>
            <p:spPr>
              <a:xfrm>
                <a:off x="137361" y="1173591"/>
                <a:ext cx="5261787" cy="789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r>
                  <a:rPr kumimoji="1" lang="ko-KR" altLang="en-US" sz="2200" dirty="0"/>
                  <a:t>가 갖는 의미</a:t>
                </a:r>
                <a:r>
                  <a:rPr kumimoji="1" lang="en-US" altLang="ko-KR" sz="2200" dirty="0"/>
                  <a:t>?</a:t>
                </a:r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CB2C6-F177-B0A9-7680-3506CCABA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61" y="1173591"/>
                <a:ext cx="5261787" cy="789062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814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860D-05CA-C44A-46B3-DAD2E91B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63F10D43-EB7B-C436-E5E5-3869D9ACE488}"/>
              </a:ext>
            </a:extLst>
          </p:cNvPr>
          <p:cNvSpPr txBox="1">
            <a:spLocks/>
          </p:cNvSpPr>
          <p:nvPr/>
        </p:nvSpPr>
        <p:spPr>
          <a:xfrm>
            <a:off x="371738" y="2001467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5F9FF2-4A41-B194-0FAD-03EAB23527A3}"/>
                  </a:ext>
                </a:extLst>
              </p:cNvPr>
              <p:cNvSpPr txBox="1"/>
              <p:nvPr/>
            </p:nvSpPr>
            <p:spPr>
              <a:xfrm>
                <a:off x="371738" y="0"/>
                <a:ext cx="5477138" cy="117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50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ko-KR" sz="25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/>
                  <a:t>                </a:t>
                </a:r>
                <a14:m>
                  <m:oMath xmlns:m="http://schemas.openxmlformats.org/officeDocument/2006/math">
                    <m:r>
                      <a:rPr kumimoji="1" lang="en-US" altLang="ko-KR" sz="25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5F9FF2-4A41-B194-0FAD-03EAB2352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38" y="0"/>
                <a:ext cx="5477138" cy="1173591"/>
              </a:xfrm>
              <a:prstGeom prst="rect">
                <a:avLst/>
              </a:prstGeom>
              <a:blipFill>
                <a:blip r:embed="rId3"/>
                <a:stretch>
                  <a:fillRect l="-463" b="-86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2509B8-CC17-301A-E0B4-970386DF08E8}"/>
                  </a:ext>
                </a:extLst>
              </p:cNvPr>
              <p:cNvSpPr txBox="1"/>
              <p:nvPr/>
            </p:nvSpPr>
            <p:spPr>
              <a:xfrm>
                <a:off x="5848876" y="405672"/>
                <a:ext cx="5769335" cy="88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</a:t>
                </a:r>
                <a:r>
                  <a:rPr kumimoji="1" lang="en-US" altLang="ko-KR" sz="2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kumimoji="1" lang="en-US" altLang="ko-KR" sz="25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400" b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 </a:t>
                </a:r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2509B8-CC17-301A-E0B4-970386DF0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876" y="405672"/>
                <a:ext cx="5769335" cy="884025"/>
              </a:xfrm>
              <a:prstGeom prst="rect">
                <a:avLst/>
              </a:prstGeom>
              <a:blipFill>
                <a:blip r:embed="rId4"/>
                <a:stretch>
                  <a:fillRect l="-1758"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850810-55EA-2D51-E0E1-EA2ADAE62A2E}"/>
                  </a:ext>
                </a:extLst>
              </p:cNvPr>
              <p:cNvSpPr txBox="1"/>
              <p:nvPr/>
            </p:nvSpPr>
            <p:spPr>
              <a:xfrm>
                <a:off x="137361" y="1173591"/>
                <a:ext cx="6374275" cy="1803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r>
                  <a:rPr kumimoji="1" lang="ko-KR" altLang="en-US" sz="2200" dirty="0"/>
                  <a:t>가 갖는 의미</a:t>
                </a:r>
                <a:r>
                  <a:rPr kumimoji="1" lang="en-US" altLang="ko-KR" sz="2200" dirty="0"/>
                  <a:t>?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en-US" altLang="ko-KR" sz="2200" dirty="0"/>
                  <a:t>: sequence length (500)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kumimoji="1" lang="en-US" altLang="ko-KR" sz="2200" dirty="0"/>
                  <a:t>: </a:t>
                </a:r>
                <a:r>
                  <a:rPr kumimoji="1" lang="ko-KR" altLang="en-US" sz="2200" dirty="0"/>
                  <a:t>각각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en-US" altLang="ko-KR" sz="2200" dirty="0"/>
                  <a:t> sequence </a:t>
                </a:r>
                <a:r>
                  <a:rPr kumimoji="1" lang="ko-KR" altLang="en-US" sz="2200" dirty="0"/>
                  <a:t>내 </a:t>
                </a:r>
                <a:r>
                  <a:rPr kumimoji="1" lang="en-US" altLang="ko-KR" sz="2200" dirty="0"/>
                  <a:t>index (0~499)</a:t>
                </a:r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850810-55EA-2D51-E0E1-EA2ADAE62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61" y="1173591"/>
                <a:ext cx="6374275" cy="1803507"/>
              </a:xfrm>
              <a:prstGeom prst="rect">
                <a:avLst/>
              </a:prstGeom>
              <a:blipFill>
                <a:blip r:embed="rId5"/>
                <a:stretch>
                  <a:fillRect l="-1195" b="-62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A5B0E4-3F1E-66AC-7C8D-C9583A8B04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75" y="3082653"/>
            <a:ext cx="7251700" cy="3369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6A30E7-B8DC-6BFB-44BE-72D5EE642677}"/>
                  </a:ext>
                </a:extLst>
              </p:cNvPr>
              <p:cNvSpPr txBox="1"/>
              <p:nvPr/>
            </p:nvSpPr>
            <p:spPr>
              <a:xfrm>
                <a:off x="5846746" y="2255490"/>
                <a:ext cx="2023357" cy="721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ko-K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ko-K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kumimoji="1" lang="en-US" altLang="ko-K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∈(−1, 1)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6A30E7-B8DC-6BFB-44BE-72D5EE642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746" y="2255490"/>
                <a:ext cx="2023357" cy="721608"/>
              </a:xfrm>
              <a:prstGeom prst="rect">
                <a:avLst/>
              </a:prstGeom>
              <a:blipFill>
                <a:blip r:embed="rId7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2FAA52-1C1A-94EC-BD8C-5B19A26F9F99}"/>
                  </a:ext>
                </a:extLst>
              </p:cNvPr>
              <p:cNvSpPr txBox="1"/>
              <p:nvPr/>
            </p:nvSpPr>
            <p:spPr>
              <a:xfrm>
                <a:off x="1278217" y="5169288"/>
                <a:ext cx="115743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ko-KR" sz="22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=499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2FAA52-1C1A-94EC-BD8C-5B19A26F9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217" y="5169288"/>
                <a:ext cx="1157438" cy="769441"/>
              </a:xfrm>
              <a:prstGeom prst="rect">
                <a:avLst/>
              </a:prstGeom>
              <a:blipFill>
                <a:blip r:embed="rId8"/>
                <a:stretch>
                  <a:fillRect l="-3261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F68B5A-DFA6-F628-6AC2-BE2E3B8DE7A1}"/>
                  </a:ext>
                </a:extLst>
              </p:cNvPr>
              <p:cNvSpPr txBox="1"/>
              <p:nvPr/>
            </p:nvSpPr>
            <p:spPr>
              <a:xfrm>
                <a:off x="5935694" y="5198377"/>
                <a:ext cx="115743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=499</m:t>
                      </m:r>
                    </m:oMath>
                  </m:oMathPara>
                </a14:m>
                <a:endParaRPr kumimoji="1" lang="en-US" altLang="ko-KR" sz="22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F68B5A-DFA6-F628-6AC2-BE2E3B8DE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694" y="5198377"/>
                <a:ext cx="1157438" cy="769441"/>
              </a:xfrm>
              <a:prstGeom prst="rect">
                <a:avLst/>
              </a:prstGeom>
              <a:blipFill>
                <a:blip r:embed="rId9"/>
                <a:stretch>
                  <a:fillRect l="-3261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4EA48A-F33E-1D88-833B-720422669133}"/>
                  </a:ext>
                </a:extLst>
              </p:cNvPr>
              <p:cNvSpPr txBox="1"/>
              <p:nvPr/>
            </p:nvSpPr>
            <p:spPr>
              <a:xfrm>
                <a:off x="4000959" y="2966547"/>
                <a:ext cx="115743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4EA48A-F33E-1D88-833B-720422669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959" y="2966547"/>
                <a:ext cx="1157438" cy="430887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799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17D5-BF0A-47FA-D5CD-8277D913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E6052269-C7EC-D4C9-F151-13E024C51298}"/>
              </a:ext>
            </a:extLst>
          </p:cNvPr>
          <p:cNvSpPr txBox="1">
            <a:spLocks/>
          </p:cNvSpPr>
          <p:nvPr/>
        </p:nvSpPr>
        <p:spPr>
          <a:xfrm>
            <a:off x="371738" y="2001467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4E0DBC-437A-16B6-56F5-5F158B2D2575}"/>
                  </a:ext>
                </a:extLst>
              </p:cNvPr>
              <p:cNvSpPr txBox="1"/>
              <p:nvPr/>
            </p:nvSpPr>
            <p:spPr>
              <a:xfrm>
                <a:off x="371738" y="0"/>
                <a:ext cx="5477138" cy="117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50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ko-KR" sz="25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/>
                  <a:t>                </a:t>
                </a:r>
                <a14:m>
                  <m:oMath xmlns:m="http://schemas.openxmlformats.org/officeDocument/2006/math">
                    <m:r>
                      <a:rPr kumimoji="1" lang="en-US" altLang="ko-KR" sz="25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4E0DBC-437A-16B6-56F5-5F158B2D2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38" y="0"/>
                <a:ext cx="5477138" cy="1173591"/>
              </a:xfrm>
              <a:prstGeom prst="rect">
                <a:avLst/>
              </a:prstGeom>
              <a:blipFill>
                <a:blip r:embed="rId3"/>
                <a:stretch>
                  <a:fillRect l="-463" b="-86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A7EAA6-4C2A-0220-3121-A723DA17EE72}"/>
                  </a:ext>
                </a:extLst>
              </p:cNvPr>
              <p:cNvSpPr txBox="1"/>
              <p:nvPr/>
            </p:nvSpPr>
            <p:spPr>
              <a:xfrm>
                <a:off x="5848876" y="405672"/>
                <a:ext cx="5769335" cy="88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</a:t>
                </a:r>
                <a:r>
                  <a:rPr kumimoji="1" lang="en-US" altLang="ko-KR" sz="2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kumimoji="1" lang="en-US" altLang="ko-KR" sz="25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400" b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 </a:t>
                </a:r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A7EAA6-4C2A-0220-3121-A723DA17E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876" y="405672"/>
                <a:ext cx="5769335" cy="884025"/>
              </a:xfrm>
              <a:prstGeom prst="rect">
                <a:avLst/>
              </a:prstGeom>
              <a:blipFill>
                <a:blip r:embed="rId4"/>
                <a:stretch>
                  <a:fillRect l="-1758"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16EDAD-B9FB-F910-A41D-2FCD3B7CF74F}"/>
                  </a:ext>
                </a:extLst>
              </p:cNvPr>
              <p:cNvSpPr txBox="1"/>
              <p:nvPr/>
            </p:nvSpPr>
            <p:spPr>
              <a:xfrm>
                <a:off x="137361" y="1173591"/>
                <a:ext cx="6374275" cy="1803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r>
                  <a:rPr kumimoji="1" lang="ko-KR" altLang="en-US" sz="2200" dirty="0"/>
                  <a:t>가 갖는 의미</a:t>
                </a:r>
                <a:r>
                  <a:rPr kumimoji="1" lang="en-US" altLang="ko-KR" sz="2200" dirty="0"/>
                  <a:t>?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en-US" altLang="ko-KR" sz="2200" dirty="0"/>
                  <a:t>: sequence length (500)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kumimoji="1" lang="en-US" altLang="ko-KR" sz="2200" dirty="0"/>
                  <a:t>: </a:t>
                </a:r>
                <a:r>
                  <a:rPr kumimoji="1" lang="ko-KR" altLang="en-US" sz="2200" dirty="0"/>
                  <a:t>각각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en-US" altLang="ko-KR" sz="2200" dirty="0"/>
                  <a:t> sequence </a:t>
                </a:r>
                <a:r>
                  <a:rPr kumimoji="1" lang="ko-KR" altLang="en-US" sz="2200" dirty="0"/>
                  <a:t>내 </a:t>
                </a:r>
                <a:r>
                  <a:rPr kumimoji="1" lang="en-US" altLang="ko-KR" sz="2200" dirty="0"/>
                  <a:t>index (0~499)</a:t>
                </a:r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16EDAD-B9FB-F910-A41D-2FCD3B7CF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61" y="1173591"/>
                <a:ext cx="6374275" cy="1803507"/>
              </a:xfrm>
              <a:prstGeom prst="rect">
                <a:avLst/>
              </a:prstGeom>
              <a:blipFill>
                <a:blip r:embed="rId5"/>
                <a:stretch>
                  <a:fillRect l="-1195" b="-62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 descr="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F43F75-3075-C528-6335-EBECAC06D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75" y="3082653"/>
            <a:ext cx="7251700" cy="3369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6D7BAB-130A-CCBE-C91C-B4920BA62D1A}"/>
                  </a:ext>
                </a:extLst>
              </p:cNvPr>
              <p:cNvSpPr txBox="1"/>
              <p:nvPr/>
            </p:nvSpPr>
            <p:spPr>
              <a:xfrm>
                <a:off x="5846746" y="2255490"/>
                <a:ext cx="2023357" cy="721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ko-KR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ko-K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ko-K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kumimoji="1" lang="en-US" altLang="ko-KR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∈(−1, 1)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6D7BAB-130A-CCBE-C91C-B4920BA62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746" y="2255490"/>
                <a:ext cx="2023357" cy="721608"/>
              </a:xfrm>
              <a:prstGeom prst="rect">
                <a:avLst/>
              </a:prstGeom>
              <a:blipFill>
                <a:blip r:embed="rId7"/>
                <a:stretch>
                  <a:fillRect b="-51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8E43CB-57E1-F9ED-AC5F-05E1CDFEDD2D}"/>
                  </a:ext>
                </a:extLst>
              </p:cNvPr>
              <p:cNvSpPr txBox="1"/>
              <p:nvPr/>
            </p:nvSpPr>
            <p:spPr>
              <a:xfrm>
                <a:off x="1278217" y="5169288"/>
                <a:ext cx="115743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ko-KR" sz="22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=499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8E43CB-57E1-F9ED-AC5F-05E1CDFE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217" y="5169288"/>
                <a:ext cx="1157438" cy="769441"/>
              </a:xfrm>
              <a:prstGeom prst="rect">
                <a:avLst/>
              </a:prstGeom>
              <a:blipFill>
                <a:blip r:embed="rId8"/>
                <a:stretch>
                  <a:fillRect l="-3261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80FEE3-91F7-6FEC-530B-6C07494AA225}"/>
                  </a:ext>
                </a:extLst>
              </p:cNvPr>
              <p:cNvSpPr txBox="1"/>
              <p:nvPr/>
            </p:nvSpPr>
            <p:spPr>
              <a:xfrm>
                <a:off x="5935694" y="5198377"/>
                <a:ext cx="115743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=499</m:t>
                      </m:r>
                    </m:oMath>
                  </m:oMathPara>
                </a14:m>
                <a:endParaRPr kumimoji="1" lang="en-US" altLang="ko-KR" sz="22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80FEE3-91F7-6FEC-530B-6C07494AA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694" y="5198377"/>
                <a:ext cx="1157438" cy="769441"/>
              </a:xfrm>
              <a:prstGeom prst="rect">
                <a:avLst/>
              </a:prstGeom>
              <a:blipFill>
                <a:blip r:embed="rId9"/>
                <a:stretch>
                  <a:fillRect l="-3261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822709-A3D8-8DE4-80A7-7ED1DF70591D}"/>
                  </a:ext>
                </a:extLst>
              </p:cNvPr>
              <p:cNvSpPr txBox="1"/>
              <p:nvPr/>
            </p:nvSpPr>
            <p:spPr>
              <a:xfrm>
                <a:off x="4000959" y="2966547"/>
                <a:ext cx="115743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822709-A3D8-8DE4-80A7-7ED1DF705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959" y="2966547"/>
                <a:ext cx="1157438" cy="430887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05E1ED-C71B-3062-9624-7EB1C8204F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4051" y="2217649"/>
            <a:ext cx="3546211" cy="3981369"/>
          </a:xfrm>
          <a:prstGeom prst="rect">
            <a:avLst/>
          </a:prstGeom>
        </p:spPr>
      </p:pic>
      <p:sp>
        <p:nvSpPr>
          <p:cNvPr id="10" name="삼각형 9">
            <a:extLst>
              <a:ext uri="{FF2B5EF4-FFF2-40B4-BE49-F238E27FC236}">
                <a16:creationId xmlns:a16="http://schemas.microsoft.com/office/drawing/2014/main" id="{7A8405E9-5C22-B7D1-B86E-DA40CDBC4045}"/>
              </a:ext>
            </a:extLst>
          </p:cNvPr>
          <p:cNvSpPr/>
          <p:nvPr/>
        </p:nvSpPr>
        <p:spPr>
          <a:xfrm>
            <a:off x="8733543" y="3874326"/>
            <a:ext cx="1022873" cy="1027874"/>
          </a:xfrm>
          <a:prstGeom prst="triangle">
            <a:avLst>
              <a:gd name="adj" fmla="val 0"/>
            </a:avLst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b="0" dirty="0">
                <a:solidFill>
                  <a:schemeClr val="bg1"/>
                </a:solidFill>
                <a:latin typeface="Cambria Math" panose="02040503050406030204" pitchFamily="18" charset="0"/>
              </a:rPr>
              <a:t>0</a:t>
            </a:r>
            <a:endParaRPr kumimoji="1" lang="ko-KR" altLang="en-US" sz="4000" b="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1" name="삼각형 10">
            <a:extLst>
              <a:ext uri="{FF2B5EF4-FFF2-40B4-BE49-F238E27FC236}">
                <a16:creationId xmlns:a16="http://schemas.microsoft.com/office/drawing/2014/main" id="{1A910EB4-4C07-360C-C579-ED5F693D2B74}"/>
              </a:ext>
            </a:extLst>
          </p:cNvPr>
          <p:cNvSpPr/>
          <p:nvPr/>
        </p:nvSpPr>
        <p:spPr>
          <a:xfrm rot="10800000">
            <a:off x="9932956" y="2765627"/>
            <a:ext cx="1022873" cy="1027874"/>
          </a:xfrm>
          <a:prstGeom prst="triangle">
            <a:avLst>
              <a:gd name="adj" fmla="val 0"/>
            </a:avLst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rtlCol="0" anchor="ctr"/>
          <a:lstStyle/>
          <a:p>
            <a:pPr algn="ctr"/>
            <a:r>
              <a:rPr kumimoji="1" lang="en-US" altLang="ko-KR" sz="4000" dirty="0">
                <a:solidFill>
                  <a:schemeClr val="bg1"/>
                </a:solidFill>
                <a:latin typeface="Cambria Math" panose="02040503050406030204" pitchFamily="18" charset="0"/>
              </a:rPr>
              <a:t>0</a:t>
            </a:r>
            <a:endParaRPr kumimoji="1" lang="ko-KR" altLang="en-US" sz="4000" b="0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4A8966-4E98-7937-3075-9B6B4839E1F2}"/>
              </a:ext>
            </a:extLst>
          </p:cNvPr>
          <p:cNvSpPr/>
          <p:nvPr/>
        </p:nvSpPr>
        <p:spPr>
          <a:xfrm rot="18719925">
            <a:off x="9619516" y="2520711"/>
            <a:ext cx="515801" cy="2619255"/>
          </a:xfrm>
          <a:prstGeom prst="rect">
            <a:avLst/>
          </a:prstGeom>
          <a:noFill/>
          <a:ln w="63500">
            <a:solidFill>
              <a:srgbClr val="FF0000">
                <a:alpha val="3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000" b="0" dirty="0">
                <a:solidFill>
                  <a:schemeClr val="tx1"/>
                </a:solidFill>
                <a:latin typeface="Cambria Math" panose="02040503050406030204" pitchFamily="18" charset="0"/>
              </a:rPr>
              <a:t>1</a:t>
            </a:r>
            <a:endParaRPr kumimoji="1" lang="ko-KR" altLang="en-US" sz="5000" b="0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714904-4A3C-F0AE-032D-50E01FD93B53}"/>
                  </a:ext>
                </a:extLst>
              </p:cNvPr>
              <p:cNvSpPr txBox="1"/>
              <p:nvPr/>
            </p:nvSpPr>
            <p:spPr>
              <a:xfrm>
                <a:off x="7837361" y="2498927"/>
                <a:ext cx="634596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5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kumimoji="1" lang="ko-KR" altLang="en-US" sz="5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714904-4A3C-F0AE-032D-50E01FD93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61" y="2498927"/>
                <a:ext cx="634596" cy="861774"/>
              </a:xfrm>
              <a:prstGeom prst="rect">
                <a:avLst/>
              </a:prstGeom>
              <a:blipFill>
                <a:blip r:embed="rId12"/>
                <a:stretch>
                  <a:fillRect l="-1961" b="-14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057118-DB5E-3580-88C1-EB3CB8835931}"/>
                  </a:ext>
                </a:extLst>
              </p:cNvPr>
              <p:cNvSpPr txBox="1"/>
              <p:nvPr/>
            </p:nvSpPr>
            <p:spPr>
              <a:xfrm>
                <a:off x="10846241" y="4728041"/>
                <a:ext cx="652486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5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kumimoji="1" lang="ko-KR" altLang="en-US" sz="5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057118-DB5E-3580-88C1-EB3CB8835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6241" y="4728041"/>
                <a:ext cx="652486" cy="861774"/>
              </a:xfrm>
              <a:prstGeom prst="rect">
                <a:avLst/>
              </a:prstGeom>
              <a:blipFill>
                <a:blip r:embed="rId13"/>
                <a:stretch>
                  <a:fillRect l="-9434" r="-9434" b="-24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407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7A9CE-8CFC-8FCD-28ED-69901C35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내용 개체 틀 2">
            <a:extLst>
              <a:ext uri="{FF2B5EF4-FFF2-40B4-BE49-F238E27FC236}">
                <a16:creationId xmlns:a16="http://schemas.microsoft.com/office/drawing/2014/main" id="{BD4A1472-E817-8B7D-6684-96953FA8626E}"/>
              </a:ext>
            </a:extLst>
          </p:cNvPr>
          <p:cNvSpPr txBox="1">
            <a:spLocks/>
          </p:cNvSpPr>
          <p:nvPr/>
        </p:nvSpPr>
        <p:spPr>
          <a:xfrm>
            <a:off x="371738" y="2001467"/>
            <a:ext cx="5769335" cy="434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  <a:p>
            <a:pPr marL="0" indent="0">
              <a:lnSpc>
                <a:spcPct val="150000"/>
              </a:lnSpc>
              <a:buNone/>
            </a:pPr>
            <a:endParaRPr kumimoji="1" lang="en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F114CC-A9EE-81D4-D94E-75A559C3CBF1}"/>
                  </a:ext>
                </a:extLst>
              </p:cNvPr>
              <p:cNvSpPr txBox="1"/>
              <p:nvPr/>
            </p:nvSpPr>
            <p:spPr>
              <a:xfrm>
                <a:off x="371738" y="0"/>
                <a:ext cx="5477138" cy="1173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50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ko-KR" sz="25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/>
                  <a:t>                </a:t>
                </a:r>
                <a14:m>
                  <m:oMath xmlns:m="http://schemas.openxmlformats.org/officeDocument/2006/math">
                    <m:r>
                      <a:rPr kumimoji="1" lang="en-US" altLang="ko-KR" sz="25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kumimoji="1" lang="en-US" altLang="ko-KR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F114CC-A9EE-81D4-D94E-75A559C3C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38" y="0"/>
                <a:ext cx="5477138" cy="1173591"/>
              </a:xfrm>
              <a:prstGeom prst="rect">
                <a:avLst/>
              </a:prstGeom>
              <a:blipFill>
                <a:blip r:embed="rId3"/>
                <a:stretch>
                  <a:fillRect l="-463" b="-86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887298-2B7D-D90D-B33E-355909CFB9CE}"/>
                  </a:ext>
                </a:extLst>
              </p:cNvPr>
              <p:cNvSpPr txBox="1"/>
              <p:nvPr/>
            </p:nvSpPr>
            <p:spPr>
              <a:xfrm>
                <a:off x="5848876" y="405672"/>
                <a:ext cx="5769335" cy="88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</a:t>
                </a:r>
                <a:r>
                  <a:rPr kumimoji="1" lang="en-US" altLang="ko-KR" sz="2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kumimoji="1" lang="en-US" altLang="ko-KR" sz="2500" i="1">
                            <a:latin typeface="Cambria Math" panose="02040503050406030204" pitchFamily="18" charset="0"/>
                          </a:rPr>
                          <m:t>𝑅𝑒𝐿𝑈</m:t>
                        </m:r>
                        <m:d>
                          <m:dPr>
                            <m:ctrlPr>
                              <a:rPr kumimoji="1" lang="en-US" altLang="ko-KR" sz="25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kumimoji="1" lang="en-US" altLang="ko-KR" sz="25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kumimoji="1" lang="en-US" altLang="ko-KR" sz="25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400" b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ko-KR" sz="2500" dirty="0">
                    <a:solidFill>
                      <a:srgbClr val="FF0000"/>
                    </a:solidFill>
                    <a:sym typeface="Wingdings" pitchFamily="2" charset="2"/>
                  </a:rPr>
                  <a:t> </a:t>
                </a:r>
                <a:endParaRPr kumimoji="1" lang="en-US" altLang="ko-KR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887298-2B7D-D90D-B33E-355909CFB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876" y="405672"/>
                <a:ext cx="5769335" cy="884025"/>
              </a:xfrm>
              <a:prstGeom prst="rect">
                <a:avLst/>
              </a:prstGeom>
              <a:blipFill>
                <a:blip r:embed="rId4"/>
                <a:stretch>
                  <a:fillRect l="-1758"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274293-EDF3-D965-A344-D25C83C5604D}"/>
                  </a:ext>
                </a:extLst>
              </p:cNvPr>
              <p:cNvSpPr txBox="1"/>
              <p:nvPr/>
            </p:nvSpPr>
            <p:spPr>
              <a:xfrm>
                <a:off x="137361" y="1173591"/>
                <a:ext cx="5261787" cy="789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</m:oMath>
                </a14:m>
                <a:r>
                  <a:rPr kumimoji="1" lang="ko-KR" altLang="en-US" sz="2200" dirty="0"/>
                  <a:t>가 갖는 의미</a:t>
                </a:r>
                <a:r>
                  <a:rPr kumimoji="1" lang="en-US" altLang="ko-KR" sz="2200" dirty="0"/>
                  <a:t>? </a:t>
                </a:r>
                <a:endParaRPr kumimoji="1"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274293-EDF3-D965-A344-D25C83C56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61" y="1173591"/>
                <a:ext cx="5261787" cy="789062"/>
              </a:xfrm>
              <a:prstGeom prst="rect">
                <a:avLst/>
              </a:prstGeom>
              <a:blipFill>
                <a:blip r:embed="rId5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텍스트, 폰트, 스크린샷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B56D2C-F576-A023-4A8A-C4F8ABA105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169" y="2980644"/>
            <a:ext cx="11735662" cy="214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02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9983-3C34-9334-7617-218D6E44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6C319-6CD4-8D92-6CE8-BFFE44E4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Linear Attention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5CF9ABE-657B-B131-9AD3-A0A8BB4945B4}"/>
              </a:ext>
            </a:extLst>
          </p:cNvPr>
          <p:cNvSpPr txBox="1">
            <a:spLocks/>
          </p:cNvSpPr>
          <p:nvPr/>
        </p:nvSpPr>
        <p:spPr>
          <a:xfrm>
            <a:off x="117514" y="852966"/>
            <a:ext cx="11952383" cy="5438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000" dirty="0"/>
              <a:t>Sparse attention matrix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000" dirty="0"/>
              <a:t>Low-rank representations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kumimoji="1" lang="en" altLang="ko-KR" sz="2300" b="1" dirty="0"/>
              <a:t>Kernel-based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C967A2-7BB2-74AB-F890-60C76E44568D}"/>
                  </a:ext>
                </a:extLst>
              </p:cNvPr>
              <p:cNvSpPr txBox="1"/>
              <p:nvPr/>
            </p:nvSpPr>
            <p:spPr>
              <a:xfrm>
                <a:off x="297623" y="3124200"/>
                <a:ext cx="11772274" cy="1461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kumimoji="1" lang="en-US" altLang="ko-KR" sz="2500" i="1" smtClean="0"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ko-KR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kumimoji="1"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ko-KR" sz="25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500" dirty="0"/>
                  <a:t>              </a:t>
                </a:r>
                <a:r>
                  <a:rPr kumimoji="1" lang="en-US" altLang="ko-KR" sz="2500" dirty="0">
                    <a:sym typeface="Wingdings" pitchFamily="2" charset="2"/>
                  </a:rPr>
                  <a:t></a:t>
                </a:r>
                <a:r>
                  <a:rPr kumimoji="1" lang="en-US" altLang="ko-KR" sz="2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1" lang="en-US" altLang="ko-KR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kumimoji="1" lang="en-US" altLang="ko-KR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sz="2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sz="2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kumimoji="1" lang="en-US" altLang="ko-KR" sz="25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kumimoji="1" lang="en-US" altLang="ko-KR" sz="25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kumimoji="1" lang="en-US" altLang="ko-KR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ko-KR" sz="25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r>
                              <a:rPr kumimoji="1" lang="en-US" altLang="ko-KR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d>
                    <m:r>
                      <a:rPr kumimoji="1" lang="en-US" altLang="ko-KR" sz="25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kumimoji="1" lang="en-US" altLang="ko-KR" sz="2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C967A2-7BB2-74AB-F890-60C76E445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23" y="3124200"/>
                <a:ext cx="11772274" cy="1461106"/>
              </a:xfrm>
              <a:prstGeom prst="rect">
                <a:avLst/>
              </a:prstGeom>
              <a:blipFill>
                <a:blip r:embed="rId3"/>
                <a:stretch>
                  <a:fillRect l="-108" b="-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186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54736-8878-7D41-F4E3-631205012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3582E-4994-A4F1-6894-4306E921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Outline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DA50F03-32FB-9A81-6558-C52954C60320}"/>
              </a:ext>
            </a:extLst>
          </p:cNvPr>
          <p:cNvSpPr txBox="1">
            <a:spLocks/>
          </p:cNvSpPr>
          <p:nvPr/>
        </p:nvSpPr>
        <p:spPr>
          <a:xfrm>
            <a:off x="117514" y="852966"/>
            <a:ext cx="11952383" cy="54380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kumimoji="1" lang="en-US" altLang="ko-KR" sz="2500" dirty="0" err="1"/>
              <a:t>Softmax</a:t>
            </a:r>
            <a:r>
              <a:rPr kumimoji="1" lang="en-US" altLang="ko-KR" sz="2500" dirty="0"/>
              <a:t>-based Self-Attention</a:t>
            </a:r>
          </a:p>
          <a:p>
            <a:pPr>
              <a:lnSpc>
                <a:spcPct val="200000"/>
              </a:lnSpc>
            </a:pPr>
            <a:r>
              <a:rPr kumimoji="1" lang="en-US" altLang="ko-KR" sz="2500" dirty="0"/>
              <a:t>Linear 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en-US" altLang="ko-KR" sz="2500" dirty="0"/>
              <a:t>Sparse 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en-US" altLang="ko-KR" sz="2500" dirty="0"/>
              <a:t>Low-rank representations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ko-KR" altLang="en-US" sz="2500" dirty="0"/>
              <a:t>*</a:t>
            </a:r>
            <a:r>
              <a:rPr kumimoji="1" lang="en-US" altLang="ko-KR" sz="2500" dirty="0"/>
              <a:t>Kernel-based methods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2200" dirty="0" err="1"/>
              <a:t>EfficientViT</a:t>
            </a:r>
            <a:r>
              <a:rPr kumimoji="1" lang="en-US" altLang="ko-KR" sz="2200" dirty="0"/>
              <a:t>: </a:t>
            </a:r>
            <a:r>
              <a:rPr kumimoji="1" lang="en-US" altLang="ko-KR" sz="2200" dirty="0" err="1"/>
              <a:t>ReLU</a:t>
            </a:r>
            <a:r>
              <a:rPr kumimoji="1" lang="en-US" altLang="ko-KR" sz="2200" dirty="0"/>
              <a:t>-based Linear Self-Attention</a:t>
            </a:r>
          </a:p>
          <a:p>
            <a:pPr lvl="2">
              <a:lnSpc>
                <a:spcPct val="150000"/>
              </a:lnSpc>
            </a:pPr>
            <a:r>
              <a:rPr kumimoji="1" lang="en-US" altLang="ko-KR" sz="2200" dirty="0" err="1"/>
              <a:t>CosFormer</a:t>
            </a:r>
            <a:r>
              <a:rPr kumimoji="1" lang="en-US" altLang="ko-KR" sz="2200" dirty="0"/>
              <a:t>: </a:t>
            </a:r>
            <a:r>
              <a:rPr kumimoji="1" lang="en-US" altLang="ko-KR" sz="2200" dirty="0" err="1"/>
              <a:t>ReLU</a:t>
            </a:r>
            <a:r>
              <a:rPr kumimoji="1" lang="en-US" altLang="ko-KR" sz="2200" dirty="0"/>
              <a:t>-based Linear Self-Attention + cosine-based re-weighting scheme</a:t>
            </a:r>
            <a:endParaRPr kumimoji="1" lang="en-US" altLang="ko-KR" sz="2500" dirty="0"/>
          </a:p>
          <a:p>
            <a:pPr>
              <a:lnSpc>
                <a:spcPct val="200000"/>
              </a:lnSpc>
            </a:pPr>
            <a:r>
              <a:rPr kumimoji="1" lang="en-US" altLang="ko-KR" sz="2500" b="1" dirty="0"/>
              <a:t>Applying </a:t>
            </a:r>
            <a:r>
              <a:rPr kumimoji="1" lang="en-US" altLang="ko-KR" sz="2500" b="1" dirty="0" err="1"/>
              <a:t>CosFormer</a:t>
            </a:r>
            <a:r>
              <a:rPr kumimoji="1" lang="en-US" altLang="ko-KR" sz="2500" b="1" dirty="0"/>
              <a:t> to My Research</a:t>
            </a:r>
            <a:endParaRPr kumimoji="1" lang="en-US" altLang="ko-KR" sz="2200" b="1" dirty="0"/>
          </a:p>
        </p:txBody>
      </p:sp>
    </p:spTree>
    <p:extLst>
      <p:ext uri="{BB962C8B-B14F-4D97-AF65-F5344CB8AC3E}">
        <p14:creationId xmlns:p14="http://schemas.microsoft.com/office/powerpoint/2010/main" val="271625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6097-FDDE-9E52-FDF0-B2C513B3C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91706-B892-7E39-A5D3-62092A4A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p:pic>
        <p:nvPicPr>
          <p:cNvPr id="4" name="그림 3" descr="텍스트, 도표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E3C814-4FDF-72A8-9172-762A64190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882" y="963077"/>
            <a:ext cx="7442235" cy="53679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2B9AE3A1-0DA8-D7EA-ED03-1D537CFC1B92}"/>
                  </a:ext>
                </a:extLst>
              </p14:cNvPr>
              <p14:cNvContentPartPr/>
              <p14:nvPr/>
            </p14:nvContentPartPr>
            <p14:xfrm>
              <a:off x="7194866" y="4442760"/>
              <a:ext cx="1898640" cy="241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2B9AE3A1-0DA8-D7EA-ED03-1D537CFC1B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40866" y="4335120"/>
                <a:ext cx="2006280" cy="23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5168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FA997-B63C-8CD2-DA11-D0527BB3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29F965-3D92-C403-3ABE-54F0ED2A5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B228F29-D3D4-B9F2-9F21-E89051765FD5}"/>
              </a:ext>
            </a:extLst>
          </p:cNvPr>
          <p:cNvSpPr txBox="1">
            <a:spLocks/>
          </p:cNvSpPr>
          <p:nvPr/>
        </p:nvSpPr>
        <p:spPr>
          <a:xfrm>
            <a:off x="172620" y="872687"/>
            <a:ext cx="11952383" cy="5438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endParaRPr kumimoji="1" lang="en-US" altLang="ko-KR" sz="2200" dirty="0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DC2FD684-ADF6-7CC3-FD56-DED50A11E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14" y="1620088"/>
            <a:ext cx="7561520" cy="47216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2BD577-E5FC-228D-C2F4-57218668F504}"/>
                  </a:ext>
                </a:extLst>
              </p:cNvPr>
              <p:cNvSpPr txBox="1"/>
              <p:nvPr/>
            </p:nvSpPr>
            <p:spPr>
              <a:xfrm>
                <a:off x="1778623" y="4116285"/>
                <a:ext cx="1903230" cy="3539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3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kumimoji="1" lang="en-US" altLang="ko-KR" sz="23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3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kumimoji="1" lang="en-US" altLang="ko-KR" sz="23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3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kumimoji="1" lang="ko-KR" altLang="en-US" sz="23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2BD577-E5FC-228D-C2F4-57218668F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623" y="4116285"/>
                <a:ext cx="1903230" cy="353943"/>
              </a:xfrm>
              <a:prstGeom prst="rect">
                <a:avLst/>
              </a:prstGeom>
              <a:blipFill>
                <a:blip r:embed="rId4"/>
                <a:stretch>
                  <a:fillRect t="-3571" b="-4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D2C173B-7E4F-5ADD-6323-132E2DE592B2}"/>
                  </a:ext>
                </a:extLst>
              </p:cNvPr>
              <p:cNvSpPr txBox="1"/>
              <p:nvPr/>
            </p:nvSpPr>
            <p:spPr>
              <a:xfrm>
                <a:off x="1492102" y="3205926"/>
                <a:ext cx="149919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 × 40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D2C173B-7E4F-5ADD-6323-132E2DE59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102" y="3205926"/>
                <a:ext cx="1499191" cy="307777"/>
              </a:xfrm>
              <a:prstGeom prst="rect">
                <a:avLst/>
              </a:prstGeom>
              <a:blipFill>
                <a:blip r:embed="rId5"/>
                <a:stretch>
                  <a:fillRect t="-4000" b="-4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7DDD345-21AC-E646-83DF-E09EF442DBCC}"/>
                  </a:ext>
                </a:extLst>
              </p:cNvPr>
              <p:cNvSpPr txBox="1"/>
              <p:nvPr/>
            </p:nvSpPr>
            <p:spPr>
              <a:xfrm>
                <a:off x="1348560" y="2319668"/>
                <a:ext cx="149919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 × 20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7DDD345-21AC-E646-83DF-E09EF442D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560" y="2319668"/>
                <a:ext cx="1499191" cy="307777"/>
              </a:xfrm>
              <a:prstGeom prst="rect">
                <a:avLst/>
              </a:prstGeom>
              <a:blipFill>
                <a:blip r:embed="rId6"/>
                <a:stretch>
                  <a:fillRect t="-4000" b="-4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평행 사변형[P] 85">
            <a:extLst>
              <a:ext uri="{FF2B5EF4-FFF2-40B4-BE49-F238E27FC236}">
                <a16:creationId xmlns:a16="http://schemas.microsoft.com/office/drawing/2014/main" id="{991E7F22-16B8-D684-2530-A1755BAEF2D1}"/>
              </a:ext>
            </a:extLst>
          </p:cNvPr>
          <p:cNvSpPr/>
          <p:nvPr/>
        </p:nvSpPr>
        <p:spPr>
          <a:xfrm>
            <a:off x="8559198" y="1485673"/>
            <a:ext cx="2752728" cy="3120677"/>
          </a:xfrm>
          <a:prstGeom prst="parallelogram">
            <a:avLst>
              <a:gd name="adj" fmla="val 0"/>
            </a:avLst>
          </a:prstGeom>
          <a:noFill/>
          <a:ln w="25400">
            <a:solidFill>
              <a:srgbClr val="FF0000">
                <a:alpha val="75000"/>
              </a:srgb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평행 사변형[P] 86">
                <a:extLst>
                  <a:ext uri="{FF2B5EF4-FFF2-40B4-BE49-F238E27FC236}">
                    <a16:creationId xmlns:a16="http://schemas.microsoft.com/office/drawing/2014/main" id="{3909F40A-38C5-AEAE-1E03-DF26C24D1A15}"/>
                  </a:ext>
                </a:extLst>
              </p:cNvPr>
              <p:cNvSpPr/>
              <p:nvPr/>
            </p:nvSpPr>
            <p:spPr>
              <a:xfrm>
                <a:off x="9108330" y="2319725"/>
                <a:ext cx="1681486" cy="29160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𝑈𝑝</m:t>
                    </m:r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resolution</a:t>
                </a:r>
              </a:p>
            </p:txBody>
          </p:sp>
        </mc:Choice>
        <mc:Fallback xmlns="">
          <p:sp>
            <p:nvSpPr>
              <p:cNvPr id="87" name="평행 사변형[P] 86">
                <a:extLst>
                  <a:ext uri="{FF2B5EF4-FFF2-40B4-BE49-F238E27FC236}">
                    <a16:creationId xmlns:a16="http://schemas.microsoft.com/office/drawing/2014/main" id="{3909F40A-38C5-AEAE-1E03-DF26C24D1A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330" y="2319725"/>
                <a:ext cx="1681486" cy="291609"/>
              </a:xfrm>
              <a:prstGeom prst="parallelogram">
                <a:avLst>
                  <a:gd name="adj" fmla="val 0"/>
                </a:avLst>
              </a:prstGeom>
              <a:blipFill>
                <a:blip r:embed="rId7"/>
                <a:stretch>
                  <a:fillRect b="-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5DAD896-DE77-DE80-8983-8CD23993C40A}"/>
                  </a:ext>
                </a:extLst>
              </p:cNvPr>
              <p:cNvSpPr txBox="1"/>
              <p:nvPr/>
            </p:nvSpPr>
            <p:spPr>
              <a:xfrm>
                <a:off x="9147559" y="4852265"/>
                <a:ext cx="51937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5DAD896-DE77-DE80-8983-8CD23993C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7559" y="4852265"/>
                <a:ext cx="519373" cy="430887"/>
              </a:xfrm>
              <a:prstGeom prst="rect">
                <a:avLst/>
              </a:prstGeom>
              <a:blipFill>
                <a:blip r:embed="rId8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CE971C8-D90B-CA3A-8C67-B3E70916A33B}"/>
                  </a:ext>
                </a:extLst>
              </p:cNvPr>
              <p:cNvSpPr txBox="1"/>
              <p:nvPr/>
            </p:nvSpPr>
            <p:spPr>
              <a:xfrm>
                <a:off x="9878446" y="4852265"/>
                <a:ext cx="78495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CE971C8-D90B-CA3A-8C67-B3E70916A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8446" y="4852265"/>
                <a:ext cx="784958" cy="430887"/>
              </a:xfrm>
              <a:prstGeom prst="rect">
                <a:avLst/>
              </a:prstGeom>
              <a:blipFill>
                <a:blip r:embed="rId9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평행 사변형[P] 89">
                <a:extLst>
                  <a:ext uri="{FF2B5EF4-FFF2-40B4-BE49-F238E27FC236}">
                    <a16:creationId xmlns:a16="http://schemas.microsoft.com/office/drawing/2014/main" id="{824B8A1B-71AB-5D5B-9A44-1673F5E946E2}"/>
                  </a:ext>
                </a:extLst>
              </p:cNvPr>
              <p:cNvSpPr/>
              <p:nvPr/>
            </p:nvSpPr>
            <p:spPr>
              <a:xfrm>
                <a:off x="9137552" y="2977937"/>
                <a:ext cx="1624438" cy="51646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𝐶𝑟𝑜𝑠𝑠𝐴𝑡𝑡𝑛</m:t>
                      </m:r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kumimoji="1" lang="en-US" altLang="ko-KR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평행 사변형[P] 89">
                <a:extLst>
                  <a:ext uri="{FF2B5EF4-FFF2-40B4-BE49-F238E27FC236}">
                    <a16:creationId xmlns:a16="http://schemas.microsoft.com/office/drawing/2014/main" id="{824B8A1B-71AB-5D5B-9A44-1673F5E946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552" y="2977937"/>
                <a:ext cx="1624438" cy="516469"/>
              </a:xfrm>
              <a:prstGeom prst="parallelogram">
                <a:avLst>
                  <a:gd name="adj" fmla="val 0"/>
                </a:avLst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평행 사변형[P] 90">
                <a:extLst>
                  <a:ext uri="{FF2B5EF4-FFF2-40B4-BE49-F238E27FC236}">
                    <a16:creationId xmlns:a16="http://schemas.microsoft.com/office/drawing/2014/main" id="{7FC30182-0CB5-AB9C-DB25-CC09950D4B71}"/>
                  </a:ext>
                </a:extLst>
              </p:cNvPr>
              <p:cNvSpPr/>
              <p:nvPr/>
            </p:nvSpPr>
            <p:spPr>
              <a:xfrm>
                <a:off x="9478398" y="1639459"/>
                <a:ext cx="952224" cy="29160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𝑖𝑛𝑗𝑒𝑐𝑡</m:t>
                      </m:r>
                    </m:oMath>
                  </m:oMathPara>
                </a14:m>
                <a:endParaRPr kumimoji="1" lang="en-US" altLang="ko-KR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평행 사변형[P] 90">
                <a:extLst>
                  <a:ext uri="{FF2B5EF4-FFF2-40B4-BE49-F238E27FC236}">
                    <a16:creationId xmlns:a16="http://schemas.microsoft.com/office/drawing/2014/main" id="{7FC30182-0CB5-AB9C-DB25-CC09950D4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8398" y="1639459"/>
                <a:ext cx="952224" cy="291609"/>
              </a:xfrm>
              <a:prstGeom prst="parallelogram">
                <a:avLst>
                  <a:gd name="adj" fmla="val 0"/>
                </a:avLst>
              </a:prstGeom>
              <a:blipFill>
                <a:blip r:embed="rId11"/>
                <a:stretch>
                  <a:fillRect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F229453-5C6C-8B16-F9A0-A65400EE0A4A}"/>
                  </a:ext>
                </a:extLst>
              </p:cNvPr>
              <p:cNvSpPr txBox="1"/>
              <p:nvPr/>
            </p:nvSpPr>
            <p:spPr>
              <a:xfrm>
                <a:off x="9936116" y="2608872"/>
                <a:ext cx="9936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F229453-5C6C-8B16-F9A0-A65400EE0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116" y="2608872"/>
                <a:ext cx="993605" cy="400110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7F95736-AC7F-79DB-7D7C-BA34F28BA4D3}"/>
                  </a:ext>
                </a:extLst>
              </p:cNvPr>
              <p:cNvSpPr txBox="1"/>
              <p:nvPr/>
            </p:nvSpPr>
            <p:spPr>
              <a:xfrm>
                <a:off x="9421771" y="3515392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97F95736-AC7F-79DB-7D7C-BA34F28BA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771" y="3515392"/>
                <a:ext cx="325935" cy="400110"/>
              </a:xfrm>
              <a:prstGeom prst="rect">
                <a:avLst/>
              </a:prstGeom>
              <a:blipFill>
                <a:blip r:embed="rId13"/>
                <a:stretch>
                  <a:fillRect l="-7692" r="-15385" b="-121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1FFE015F-1494-86FC-BA99-C6A19790E114}"/>
              </a:ext>
            </a:extLst>
          </p:cNvPr>
          <p:cNvCxnSpPr>
            <a:cxnSpLocks/>
            <a:stCxn id="88" idx="0"/>
          </p:cNvCxnSpPr>
          <p:nvPr/>
        </p:nvCxnSpPr>
        <p:spPr>
          <a:xfrm flipV="1">
            <a:off x="9407246" y="4214036"/>
            <a:ext cx="4197" cy="638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75A0808-1623-83EA-3B99-112B21B3C238}"/>
              </a:ext>
            </a:extLst>
          </p:cNvPr>
          <p:cNvCxnSpPr>
            <a:cxnSpLocks/>
          </p:cNvCxnSpPr>
          <p:nvPr/>
        </p:nvCxnSpPr>
        <p:spPr>
          <a:xfrm flipV="1">
            <a:off x="9411443" y="3489263"/>
            <a:ext cx="0" cy="4079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0D6BD84-C6D4-3529-C651-A253EFAC1A6D}"/>
                  </a:ext>
                </a:extLst>
              </p:cNvPr>
              <p:cNvSpPr txBox="1"/>
              <p:nvPr/>
            </p:nvSpPr>
            <p:spPr>
              <a:xfrm>
                <a:off x="9963293" y="3510622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0D6BD84-C6D4-3529-C651-A253EFAC1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293" y="3510622"/>
                <a:ext cx="325935" cy="400110"/>
              </a:xfrm>
              <a:prstGeom prst="rect">
                <a:avLst/>
              </a:prstGeom>
              <a:blipFill>
                <a:blip r:embed="rId14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AA2A7314-0242-3F84-B8F1-84E6909C1742}"/>
              </a:ext>
            </a:extLst>
          </p:cNvPr>
          <p:cNvCxnSpPr>
            <a:cxnSpLocks/>
            <a:endCxn id="90" idx="3"/>
          </p:cNvCxnSpPr>
          <p:nvPr/>
        </p:nvCxnSpPr>
        <p:spPr>
          <a:xfrm flipV="1">
            <a:off x="9949771" y="3494406"/>
            <a:ext cx="0" cy="395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B8A5B21-3DD3-E638-5CD5-B1FC5864A780}"/>
                  </a:ext>
                </a:extLst>
              </p:cNvPr>
              <p:cNvSpPr txBox="1"/>
              <p:nvPr/>
            </p:nvSpPr>
            <p:spPr>
              <a:xfrm>
                <a:off x="10482447" y="3508433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B8A5B21-3DD3-E638-5CD5-B1FC5864A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2447" y="3508433"/>
                <a:ext cx="325935" cy="400110"/>
              </a:xfrm>
              <a:prstGeom prst="rect">
                <a:avLst/>
              </a:prstGeom>
              <a:blipFill>
                <a:blip r:embed="rId15"/>
                <a:stretch>
                  <a:fillRect r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C6FBBDA9-D06B-8E26-A657-3E5CA87E855E}"/>
              </a:ext>
            </a:extLst>
          </p:cNvPr>
          <p:cNvCxnSpPr>
            <a:cxnSpLocks/>
          </p:cNvCxnSpPr>
          <p:nvPr/>
        </p:nvCxnSpPr>
        <p:spPr>
          <a:xfrm flipH="1" flipV="1">
            <a:off x="10470735" y="3494406"/>
            <a:ext cx="2451" cy="402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26ED9C8-6023-2085-42AF-EA41A5253E78}"/>
              </a:ext>
            </a:extLst>
          </p:cNvPr>
          <p:cNvCxnSpPr>
            <a:cxnSpLocks/>
            <a:stCxn id="90" idx="0"/>
            <a:endCxn id="87" idx="3"/>
          </p:cNvCxnSpPr>
          <p:nvPr/>
        </p:nvCxnSpPr>
        <p:spPr>
          <a:xfrm flipH="1" flipV="1">
            <a:off x="9949073" y="2611334"/>
            <a:ext cx="698" cy="366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D02863F1-68FC-34BE-3B8E-CCFFE07C6886}"/>
              </a:ext>
            </a:extLst>
          </p:cNvPr>
          <p:cNvCxnSpPr>
            <a:cxnSpLocks/>
            <a:stCxn id="87" idx="0"/>
            <a:endCxn id="91" idx="3"/>
          </p:cNvCxnSpPr>
          <p:nvPr/>
        </p:nvCxnSpPr>
        <p:spPr>
          <a:xfrm flipV="1">
            <a:off x="9949073" y="1931068"/>
            <a:ext cx="5437" cy="3886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A31436D-A3D5-0B56-B438-69CFB237EDBC}"/>
                  </a:ext>
                </a:extLst>
              </p:cNvPr>
              <p:cNvSpPr txBox="1"/>
              <p:nvPr/>
            </p:nvSpPr>
            <p:spPr>
              <a:xfrm>
                <a:off x="9936116" y="1912922"/>
                <a:ext cx="993605" cy="4342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𝑢𝑝</m:t>
                          </m:r>
                        </m:sup>
                      </m:sSubSup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A31436D-A3D5-0B56-B438-69CFB237E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116" y="1912922"/>
                <a:ext cx="993605" cy="434286"/>
              </a:xfrm>
              <a:prstGeom prst="rect">
                <a:avLst/>
              </a:prstGeom>
              <a:blipFill>
                <a:blip r:embed="rId16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8B97AE9C-8F6A-12BB-1E7E-349DE425200C}"/>
              </a:ext>
            </a:extLst>
          </p:cNvPr>
          <p:cNvCxnSpPr>
            <a:cxnSpLocks/>
            <a:stCxn id="91" idx="0"/>
            <a:endCxn id="106" idx="2"/>
          </p:cNvCxnSpPr>
          <p:nvPr/>
        </p:nvCxnSpPr>
        <p:spPr>
          <a:xfrm flipH="1" flipV="1">
            <a:off x="9950235" y="1350238"/>
            <a:ext cx="4275" cy="2892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[E] 103">
            <a:extLst>
              <a:ext uri="{FF2B5EF4-FFF2-40B4-BE49-F238E27FC236}">
                <a16:creationId xmlns:a16="http://schemas.microsoft.com/office/drawing/2014/main" id="{3C4CB932-7825-7D6C-DA60-70B352637D21}"/>
              </a:ext>
            </a:extLst>
          </p:cNvPr>
          <p:cNvCxnSpPr>
            <a:cxnSpLocks/>
            <a:endCxn id="91" idx="5"/>
          </p:cNvCxnSpPr>
          <p:nvPr/>
        </p:nvCxnSpPr>
        <p:spPr>
          <a:xfrm rot="5400000" flipH="1" flipV="1">
            <a:off x="7784802" y="2753062"/>
            <a:ext cx="2661394" cy="72579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640D0FD6-1EAB-4098-39FD-12A5DDD7DFE7}"/>
              </a:ext>
            </a:extLst>
          </p:cNvPr>
          <p:cNvCxnSpPr>
            <a:cxnSpLocks/>
          </p:cNvCxnSpPr>
          <p:nvPr/>
        </p:nvCxnSpPr>
        <p:spPr>
          <a:xfrm flipH="1">
            <a:off x="8792237" y="4456093"/>
            <a:ext cx="6160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84D16D5-9CFD-6261-304B-D058D0EE66AF}"/>
                  </a:ext>
                </a:extLst>
              </p:cNvPr>
              <p:cNvSpPr txBox="1"/>
              <p:nvPr/>
            </p:nvSpPr>
            <p:spPr>
              <a:xfrm>
                <a:off x="9690548" y="910822"/>
                <a:ext cx="519373" cy="439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84D16D5-9CFD-6261-304B-D058D0EE6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548" y="910822"/>
                <a:ext cx="519373" cy="439416"/>
              </a:xfrm>
              <a:prstGeom prst="rect">
                <a:avLst/>
              </a:prstGeom>
              <a:blipFill>
                <a:blip r:embed="rId17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평행 사변형[P] 106">
                <a:extLst>
                  <a:ext uri="{FF2B5EF4-FFF2-40B4-BE49-F238E27FC236}">
                    <a16:creationId xmlns:a16="http://schemas.microsoft.com/office/drawing/2014/main" id="{6E9A8DC6-5027-1F17-8134-D1A4D69C67C9}"/>
                  </a:ext>
                </a:extLst>
              </p:cNvPr>
              <p:cNvSpPr/>
              <p:nvPr/>
            </p:nvSpPr>
            <p:spPr>
              <a:xfrm>
                <a:off x="8929813" y="3904760"/>
                <a:ext cx="2039911" cy="320416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 xmlns:m="http://schemas.openxmlformats.org/officeDocument/2006/math">
                    <m:r>
                      <a:rPr kumimoji="1" lang="en-US" altLang="ko-KR" sz="1100" b="0" i="1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𝐷𝑜𝑤𝑛</m:t>
                    </m:r>
                    <m:r>
                      <a:rPr kumimoji="1" lang="en-US" altLang="ko-KR" sz="1100" b="0" i="1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kumimoji="1" lang="en-US" altLang="ko-KR" sz="1100" b="0" strike="sngStrike" dirty="0">
                    <a:solidFill>
                      <a:srgbClr val="FF0000"/>
                    </a:solidFill>
                  </a:rPr>
                  <a:t> to the smallest </a:t>
                </a:r>
                <a14:m>
                  <m:oMath xmlns:m="http://schemas.openxmlformats.org/officeDocument/2006/math">
                    <m:r>
                      <a:rPr kumimoji="1" lang="en-US" altLang="ko-KR" sz="1100" b="0" i="1" strike="sngStrike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kumimoji="1" lang="en-US" altLang="ko-KR" sz="1100" b="0" strike="sngStrik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7" name="평행 사변형[P] 106">
                <a:extLst>
                  <a:ext uri="{FF2B5EF4-FFF2-40B4-BE49-F238E27FC236}">
                    <a16:creationId xmlns:a16="http://schemas.microsoft.com/office/drawing/2014/main" id="{6E9A8DC6-5027-1F17-8134-D1A4D69C67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813" y="3904760"/>
                <a:ext cx="2039911" cy="320416"/>
              </a:xfrm>
              <a:prstGeom prst="parallelogram">
                <a:avLst>
                  <a:gd name="adj" fmla="val 0"/>
                </a:avLst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03E583A2-5E34-B81E-4CCC-077314703046}"/>
              </a:ext>
            </a:extLst>
          </p:cNvPr>
          <p:cNvCxnSpPr>
            <a:cxnSpLocks/>
            <a:stCxn id="89" idx="0"/>
          </p:cNvCxnSpPr>
          <p:nvPr/>
        </p:nvCxnSpPr>
        <p:spPr>
          <a:xfrm flipV="1">
            <a:off x="10270925" y="4214036"/>
            <a:ext cx="0" cy="638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[R] 108">
            <a:extLst>
              <a:ext uri="{FF2B5EF4-FFF2-40B4-BE49-F238E27FC236}">
                <a16:creationId xmlns:a16="http://schemas.microsoft.com/office/drawing/2014/main" id="{5DDEA7CB-0027-EE71-169D-D97211F41583}"/>
              </a:ext>
            </a:extLst>
          </p:cNvPr>
          <p:cNvCxnSpPr>
            <a:cxnSpLocks/>
          </p:cNvCxnSpPr>
          <p:nvPr/>
        </p:nvCxnSpPr>
        <p:spPr>
          <a:xfrm flipH="1">
            <a:off x="5342961" y="1460396"/>
            <a:ext cx="3184121" cy="4111064"/>
          </a:xfrm>
          <a:prstGeom prst="line">
            <a:avLst/>
          </a:prstGeom>
          <a:ln w="12700">
            <a:solidFill>
              <a:schemeClr val="tx1">
                <a:alpha val="3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[R] 109">
            <a:extLst>
              <a:ext uri="{FF2B5EF4-FFF2-40B4-BE49-F238E27FC236}">
                <a16:creationId xmlns:a16="http://schemas.microsoft.com/office/drawing/2014/main" id="{A203853D-7084-D104-B858-C2C2BBA70B7D}"/>
              </a:ext>
            </a:extLst>
          </p:cNvPr>
          <p:cNvCxnSpPr>
            <a:cxnSpLocks/>
          </p:cNvCxnSpPr>
          <p:nvPr/>
        </p:nvCxnSpPr>
        <p:spPr>
          <a:xfrm flipH="1">
            <a:off x="5328728" y="4592463"/>
            <a:ext cx="3230470" cy="1327790"/>
          </a:xfrm>
          <a:prstGeom prst="line">
            <a:avLst/>
          </a:prstGeom>
          <a:ln w="12700">
            <a:solidFill>
              <a:schemeClr val="tx1">
                <a:alpha val="3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DDDC2BA-9E6D-2422-5F94-D794494EA0CE}"/>
                  </a:ext>
                </a:extLst>
              </p:cNvPr>
              <p:cNvSpPr txBox="1"/>
              <p:nvPr/>
            </p:nvSpPr>
            <p:spPr>
              <a:xfrm>
                <a:off x="8126023" y="5528425"/>
                <a:ext cx="2896269" cy="1094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ko-KR" sz="20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ko-KR" sz="20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𝟖𝟎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𝟖𝟎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𝟗𝟔𝟎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ko-KR" altLang="en-US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DDDC2BA-9E6D-2422-5F94-D794494EA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023" y="5528425"/>
                <a:ext cx="2896269" cy="109491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924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5C1A-ADA8-5C7A-D45A-F5EFF57C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7D3C8-4954-2282-36C6-5D58D4DAA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0E47AB5-2820-C4CD-E2ED-15A0DFD2C406}"/>
              </a:ext>
            </a:extLst>
          </p:cNvPr>
          <p:cNvSpPr txBox="1">
            <a:spLocks/>
          </p:cNvSpPr>
          <p:nvPr/>
        </p:nvSpPr>
        <p:spPr>
          <a:xfrm>
            <a:off x="117514" y="852966"/>
            <a:ext cx="11952383" cy="5438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endParaRPr kumimoji="1" lang="en-US" altLang="ko-KR" sz="2200" dirty="0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A8F861B7-500F-201E-7571-7E88CF13B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14" y="1620088"/>
            <a:ext cx="7561520" cy="47216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5DA774F-1FB9-9585-19B5-E0AA85FD11E3}"/>
                  </a:ext>
                </a:extLst>
              </p:cNvPr>
              <p:cNvSpPr txBox="1"/>
              <p:nvPr/>
            </p:nvSpPr>
            <p:spPr>
              <a:xfrm>
                <a:off x="1478059" y="4144172"/>
                <a:ext cx="190323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80 × 80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5DA774F-1FB9-9585-19B5-E0AA85FD1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059" y="4144172"/>
                <a:ext cx="1903230" cy="307777"/>
              </a:xfrm>
              <a:prstGeom prst="rect">
                <a:avLst/>
              </a:prstGeom>
              <a:blipFill>
                <a:blip r:embed="rId4"/>
                <a:stretch>
                  <a:fillRect t="-4000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AB07A1B-BC71-46EF-03D3-8A49B8316E08}"/>
                  </a:ext>
                </a:extLst>
              </p:cNvPr>
              <p:cNvSpPr txBox="1"/>
              <p:nvPr/>
            </p:nvSpPr>
            <p:spPr>
              <a:xfrm>
                <a:off x="1492102" y="3205926"/>
                <a:ext cx="149919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 × 40</m:t>
                      </m:r>
                    </m:oMath>
                  </m:oMathPara>
                </a14:m>
                <a:endParaRPr kumimoji="1"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1AB07A1B-BC71-46EF-03D3-8A49B8316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102" y="3205926"/>
                <a:ext cx="1499191" cy="307777"/>
              </a:xfrm>
              <a:prstGeom prst="rect">
                <a:avLst/>
              </a:prstGeom>
              <a:blipFill>
                <a:blip r:embed="rId5"/>
                <a:stretch>
                  <a:fillRect t="-4000" b="-4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9700305-29D6-F917-61BD-EC2F9123B9BC}"/>
                  </a:ext>
                </a:extLst>
              </p:cNvPr>
              <p:cNvSpPr txBox="1"/>
              <p:nvPr/>
            </p:nvSpPr>
            <p:spPr>
              <a:xfrm>
                <a:off x="1303083" y="2050296"/>
                <a:ext cx="149919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kumimoji="1" lang="en-US" altLang="ko-K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kumimoji="1" lang="en-US" altLang="ko-K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kumimoji="1" lang="ko-KR" alt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9700305-29D6-F917-61BD-EC2F9123B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083" y="2050296"/>
                <a:ext cx="1499191" cy="307777"/>
              </a:xfrm>
              <a:prstGeom prst="rect">
                <a:avLst/>
              </a:prstGeom>
              <a:blipFill>
                <a:blip r:embed="rId6"/>
                <a:stretch>
                  <a:fillRect l="-3361" t="-4000" r="-3361" b="-4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평행 사변형[P] 2">
            <a:extLst>
              <a:ext uri="{FF2B5EF4-FFF2-40B4-BE49-F238E27FC236}">
                <a16:creationId xmlns:a16="http://schemas.microsoft.com/office/drawing/2014/main" id="{64877506-264B-D34D-26B5-FE4BD2949888}"/>
              </a:ext>
            </a:extLst>
          </p:cNvPr>
          <p:cNvSpPr/>
          <p:nvPr/>
        </p:nvSpPr>
        <p:spPr>
          <a:xfrm>
            <a:off x="8559198" y="1485673"/>
            <a:ext cx="2752728" cy="3120677"/>
          </a:xfrm>
          <a:prstGeom prst="parallelogram">
            <a:avLst>
              <a:gd name="adj" fmla="val 0"/>
            </a:avLst>
          </a:prstGeom>
          <a:noFill/>
          <a:ln w="25400">
            <a:solidFill>
              <a:srgbClr val="FF0000">
                <a:alpha val="75000"/>
              </a:srgb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평행 사변형[P] 3">
                <a:extLst>
                  <a:ext uri="{FF2B5EF4-FFF2-40B4-BE49-F238E27FC236}">
                    <a16:creationId xmlns:a16="http://schemas.microsoft.com/office/drawing/2014/main" id="{4BF4CABD-7EBC-4968-C2FB-8B0BAF19FAD8}"/>
                  </a:ext>
                </a:extLst>
              </p:cNvPr>
              <p:cNvSpPr/>
              <p:nvPr/>
            </p:nvSpPr>
            <p:spPr>
              <a:xfrm>
                <a:off x="9108330" y="2319725"/>
                <a:ext cx="1681486" cy="29160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𝑈𝑝</m:t>
                    </m:r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resolution</a:t>
                </a:r>
              </a:p>
            </p:txBody>
          </p:sp>
        </mc:Choice>
        <mc:Fallback xmlns="">
          <p:sp>
            <p:nvSpPr>
              <p:cNvPr id="4" name="평행 사변형[P] 3">
                <a:extLst>
                  <a:ext uri="{FF2B5EF4-FFF2-40B4-BE49-F238E27FC236}">
                    <a16:creationId xmlns:a16="http://schemas.microsoft.com/office/drawing/2014/main" id="{4BF4CABD-7EBC-4968-C2FB-8B0BAF19F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8330" y="2319725"/>
                <a:ext cx="1681486" cy="291609"/>
              </a:xfrm>
              <a:prstGeom prst="parallelogram">
                <a:avLst>
                  <a:gd name="adj" fmla="val 0"/>
                </a:avLst>
              </a:prstGeom>
              <a:blipFill>
                <a:blip r:embed="rId7"/>
                <a:stretch>
                  <a:fillRect b="-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48AD76-6F85-10B0-1C0D-4EA341D407F5}"/>
                  </a:ext>
                </a:extLst>
              </p:cNvPr>
              <p:cNvSpPr txBox="1"/>
              <p:nvPr/>
            </p:nvSpPr>
            <p:spPr>
              <a:xfrm>
                <a:off x="9147559" y="4852265"/>
                <a:ext cx="51937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48AD76-6F85-10B0-1C0D-4EA341D40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7559" y="4852265"/>
                <a:ext cx="519373" cy="430887"/>
              </a:xfrm>
              <a:prstGeom prst="rect">
                <a:avLst/>
              </a:prstGeom>
              <a:blipFill>
                <a:blip r:embed="rId8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870379-2145-26A8-8BDB-9615FDCF5CB7}"/>
                  </a:ext>
                </a:extLst>
              </p:cNvPr>
              <p:cNvSpPr txBox="1"/>
              <p:nvPr/>
            </p:nvSpPr>
            <p:spPr>
              <a:xfrm>
                <a:off x="9878446" y="4852265"/>
                <a:ext cx="78495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870379-2145-26A8-8BDB-9615FDCF5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8446" y="4852265"/>
                <a:ext cx="784958" cy="430887"/>
              </a:xfrm>
              <a:prstGeom prst="rect">
                <a:avLst/>
              </a:prstGeom>
              <a:blipFill>
                <a:blip r:embed="rId9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평행 사변형[P] 7">
                <a:extLst>
                  <a:ext uri="{FF2B5EF4-FFF2-40B4-BE49-F238E27FC236}">
                    <a16:creationId xmlns:a16="http://schemas.microsoft.com/office/drawing/2014/main" id="{06F59F77-0284-52E4-69B4-4AE251E06C2C}"/>
                  </a:ext>
                </a:extLst>
              </p:cNvPr>
              <p:cNvSpPr/>
              <p:nvPr/>
            </p:nvSpPr>
            <p:spPr>
              <a:xfrm>
                <a:off x="9137552" y="2977937"/>
                <a:ext cx="1624438" cy="51646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𝐶𝑟𝑜𝑠𝑠𝐴𝑡𝑡𝑛</m:t>
                      </m:r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kumimoji="1" lang="en-US" altLang="ko-KR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평행 사변형[P] 7">
                <a:extLst>
                  <a:ext uri="{FF2B5EF4-FFF2-40B4-BE49-F238E27FC236}">
                    <a16:creationId xmlns:a16="http://schemas.microsoft.com/office/drawing/2014/main" id="{06F59F77-0284-52E4-69B4-4AE251E06C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552" y="2977937"/>
                <a:ext cx="1624438" cy="516469"/>
              </a:xfrm>
              <a:prstGeom prst="parallelogram">
                <a:avLst>
                  <a:gd name="adj" fmla="val 0"/>
                </a:avLst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평행 사변형[P] 8">
                <a:extLst>
                  <a:ext uri="{FF2B5EF4-FFF2-40B4-BE49-F238E27FC236}">
                    <a16:creationId xmlns:a16="http://schemas.microsoft.com/office/drawing/2014/main" id="{6BCBD025-C71C-4D06-C0C9-E26FE7484DEF}"/>
                  </a:ext>
                </a:extLst>
              </p:cNvPr>
              <p:cNvSpPr/>
              <p:nvPr/>
            </p:nvSpPr>
            <p:spPr>
              <a:xfrm>
                <a:off x="9478398" y="1639459"/>
                <a:ext cx="952224" cy="29160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𝑖𝑛𝑗𝑒𝑐𝑡</m:t>
                      </m:r>
                    </m:oMath>
                  </m:oMathPara>
                </a14:m>
                <a:endParaRPr kumimoji="1" lang="en-US" altLang="ko-KR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평행 사변형[P] 8">
                <a:extLst>
                  <a:ext uri="{FF2B5EF4-FFF2-40B4-BE49-F238E27FC236}">
                    <a16:creationId xmlns:a16="http://schemas.microsoft.com/office/drawing/2014/main" id="{6BCBD025-C71C-4D06-C0C9-E26FE7484D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8398" y="1639459"/>
                <a:ext cx="952224" cy="291609"/>
              </a:xfrm>
              <a:prstGeom prst="parallelogram">
                <a:avLst>
                  <a:gd name="adj" fmla="val 0"/>
                </a:avLst>
              </a:prstGeom>
              <a:blipFill>
                <a:blip r:embed="rId11"/>
                <a:stretch>
                  <a:fillRect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0393A4-B9CC-1724-F10C-0B4E17A0930B}"/>
                  </a:ext>
                </a:extLst>
              </p:cNvPr>
              <p:cNvSpPr txBox="1"/>
              <p:nvPr/>
            </p:nvSpPr>
            <p:spPr>
              <a:xfrm>
                <a:off x="9936116" y="2608872"/>
                <a:ext cx="9936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0393A4-B9CC-1724-F10C-0B4E17A09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116" y="2608872"/>
                <a:ext cx="993605" cy="400110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DFDBE1-7F02-4599-F408-DB8062E51C9B}"/>
                  </a:ext>
                </a:extLst>
              </p:cNvPr>
              <p:cNvSpPr txBox="1"/>
              <p:nvPr/>
            </p:nvSpPr>
            <p:spPr>
              <a:xfrm>
                <a:off x="9421771" y="3515392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DFDBE1-7F02-4599-F408-DB8062E5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771" y="3515392"/>
                <a:ext cx="325935" cy="400110"/>
              </a:xfrm>
              <a:prstGeom prst="rect">
                <a:avLst/>
              </a:prstGeom>
              <a:blipFill>
                <a:blip r:embed="rId13"/>
                <a:stretch>
                  <a:fillRect l="-7692" r="-15385" b="-121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3C1EC651-5622-5F18-13A6-067DD2A8D66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9407246" y="4214036"/>
            <a:ext cx="4197" cy="638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302E6C7-CCDC-F525-09BF-612AB20B6244}"/>
              </a:ext>
            </a:extLst>
          </p:cNvPr>
          <p:cNvCxnSpPr>
            <a:cxnSpLocks/>
          </p:cNvCxnSpPr>
          <p:nvPr/>
        </p:nvCxnSpPr>
        <p:spPr>
          <a:xfrm flipV="1">
            <a:off x="9411443" y="3489263"/>
            <a:ext cx="0" cy="4079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AA6E99-D75A-010B-66CA-DF9868839E3C}"/>
                  </a:ext>
                </a:extLst>
              </p:cNvPr>
              <p:cNvSpPr txBox="1"/>
              <p:nvPr/>
            </p:nvSpPr>
            <p:spPr>
              <a:xfrm>
                <a:off x="9963293" y="3510622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8AA6E99-D75A-010B-66CA-DF9868839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293" y="3510622"/>
                <a:ext cx="325935" cy="400110"/>
              </a:xfrm>
              <a:prstGeom prst="rect">
                <a:avLst/>
              </a:prstGeom>
              <a:blipFill>
                <a:blip r:embed="rId14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CA6766B-BE5C-1B7C-2A2A-E8B429F12CC1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9949771" y="3494406"/>
            <a:ext cx="0" cy="395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B9861B-0E25-DDFA-66D6-87E82436925F}"/>
                  </a:ext>
                </a:extLst>
              </p:cNvPr>
              <p:cNvSpPr txBox="1"/>
              <p:nvPr/>
            </p:nvSpPr>
            <p:spPr>
              <a:xfrm>
                <a:off x="10482447" y="3508433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B9861B-0E25-DDFA-66D6-87E824369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2447" y="3508433"/>
                <a:ext cx="325935" cy="400110"/>
              </a:xfrm>
              <a:prstGeom prst="rect">
                <a:avLst/>
              </a:prstGeom>
              <a:blipFill>
                <a:blip r:embed="rId15"/>
                <a:stretch>
                  <a:fillRect r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562E415-3D1C-6FD0-72C6-90A022D08768}"/>
              </a:ext>
            </a:extLst>
          </p:cNvPr>
          <p:cNvCxnSpPr>
            <a:cxnSpLocks/>
          </p:cNvCxnSpPr>
          <p:nvPr/>
        </p:nvCxnSpPr>
        <p:spPr>
          <a:xfrm flipH="1" flipV="1">
            <a:off x="10470735" y="3494406"/>
            <a:ext cx="2451" cy="402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6869E2F-0038-04FE-B677-FB9C5F90978A}"/>
              </a:ext>
            </a:extLst>
          </p:cNvPr>
          <p:cNvCxnSpPr>
            <a:cxnSpLocks/>
            <a:stCxn id="8" idx="0"/>
            <a:endCxn id="4" idx="3"/>
          </p:cNvCxnSpPr>
          <p:nvPr/>
        </p:nvCxnSpPr>
        <p:spPr>
          <a:xfrm flipH="1" flipV="1">
            <a:off x="9949073" y="2611334"/>
            <a:ext cx="698" cy="366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4D647D5-88BD-B02C-9833-4A2BA4977C91}"/>
              </a:ext>
            </a:extLst>
          </p:cNvPr>
          <p:cNvCxnSpPr>
            <a:cxnSpLocks/>
            <a:stCxn id="4" idx="0"/>
            <a:endCxn id="9" idx="3"/>
          </p:cNvCxnSpPr>
          <p:nvPr/>
        </p:nvCxnSpPr>
        <p:spPr>
          <a:xfrm flipV="1">
            <a:off x="9949073" y="1931068"/>
            <a:ext cx="5437" cy="3886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45CF90-BEF2-858E-9013-DE2ADF679D44}"/>
                  </a:ext>
                </a:extLst>
              </p:cNvPr>
              <p:cNvSpPr txBox="1"/>
              <p:nvPr/>
            </p:nvSpPr>
            <p:spPr>
              <a:xfrm>
                <a:off x="9936116" y="1912922"/>
                <a:ext cx="993605" cy="4342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𝑢𝑝</m:t>
                          </m:r>
                        </m:sup>
                      </m:sSubSup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45CF90-BEF2-858E-9013-DE2ADF679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116" y="1912922"/>
                <a:ext cx="993605" cy="434286"/>
              </a:xfrm>
              <a:prstGeom prst="rect">
                <a:avLst/>
              </a:prstGeom>
              <a:blipFill>
                <a:blip r:embed="rId16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9C8DE07-CF2E-7A0A-4766-F9F4F4BF35CF}"/>
              </a:ext>
            </a:extLst>
          </p:cNvPr>
          <p:cNvCxnSpPr>
            <a:cxnSpLocks/>
            <a:stCxn id="9" idx="0"/>
            <a:endCxn id="24" idx="2"/>
          </p:cNvCxnSpPr>
          <p:nvPr/>
        </p:nvCxnSpPr>
        <p:spPr>
          <a:xfrm flipH="1" flipV="1">
            <a:off x="9950235" y="1350238"/>
            <a:ext cx="4275" cy="2892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E3132837-E72F-474D-EB8F-358C5277C94F}"/>
              </a:ext>
            </a:extLst>
          </p:cNvPr>
          <p:cNvCxnSpPr>
            <a:cxnSpLocks/>
            <a:endCxn id="9" idx="5"/>
          </p:cNvCxnSpPr>
          <p:nvPr/>
        </p:nvCxnSpPr>
        <p:spPr>
          <a:xfrm rot="5400000" flipH="1" flipV="1">
            <a:off x="7784802" y="2753062"/>
            <a:ext cx="2661394" cy="72579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C6BD4DB-1939-16C2-3D94-8015FDC6D8D3}"/>
              </a:ext>
            </a:extLst>
          </p:cNvPr>
          <p:cNvCxnSpPr>
            <a:cxnSpLocks/>
          </p:cNvCxnSpPr>
          <p:nvPr/>
        </p:nvCxnSpPr>
        <p:spPr>
          <a:xfrm flipH="1">
            <a:off x="8792237" y="4456093"/>
            <a:ext cx="6160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93B3AE9-CF67-233E-F21C-30884577A62D}"/>
                  </a:ext>
                </a:extLst>
              </p:cNvPr>
              <p:cNvSpPr txBox="1"/>
              <p:nvPr/>
            </p:nvSpPr>
            <p:spPr>
              <a:xfrm>
                <a:off x="9690548" y="910822"/>
                <a:ext cx="519373" cy="439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93B3AE9-CF67-233E-F21C-30884577A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548" y="910822"/>
                <a:ext cx="519373" cy="439416"/>
              </a:xfrm>
              <a:prstGeom prst="rect">
                <a:avLst/>
              </a:prstGeom>
              <a:blipFill>
                <a:blip r:embed="rId17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평행 사변형[P] 24">
                <a:extLst>
                  <a:ext uri="{FF2B5EF4-FFF2-40B4-BE49-F238E27FC236}">
                    <a16:creationId xmlns:a16="http://schemas.microsoft.com/office/drawing/2014/main" id="{8E800800-DD00-B084-1C1E-621EC6C63105}"/>
                  </a:ext>
                </a:extLst>
              </p:cNvPr>
              <p:cNvSpPr/>
              <p:nvPr/>
            </p:nvSpPr>
            <p:spPr>
              <a:xfrm>
                <a:off x="8929813" y="3904760"/>
                <a:ext cx="2039911" cy="320416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𝐷𝑜𝑤𝑛</m:t>
                    </m:r>
                    <m:r>
                      <a:rPr kumimoji="1"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kumimoji="1" lang="en-US" altLang="ko-KR" sz="1100" b="0" dirty="0">
                    <a:solidFill>
                      <a:srgbClr val="FF0000"/>
                    </a:solidFill>
                  </a:rPr>
                  <a:t> to the smallest </a:t>
                </a:r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kumimoji="1" lang="en-US" altLang="ko-KR" sz="11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평행 사변형[P] 24">
                <a:extLst>
                  <a:ext uri="{FF2B5EF4-FFF2-40B4-BE49-F238E27FC236}">
                    <a16:creationId xmlns:a16="http://schemas.microsoft.com/office/drawing/2014/main" id="{8E800800-DD00-B084-1C1E-621EC6C631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813" y="3904760"/>
                <a:ext cx="2039911" cy="320416"/>
              </a:xfrm>
              <a:prstGeom prst="parallelogram">
                <a:avLst>
                  <a:gd name="adj" fmla="val 0"/>
                </a:avLst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1603440-EB0C-4475-4E48-635EAB595219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270925" y="4214036"/>
            <a:ext cx="0" cy="638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31BAFC-B3CA-5172-6BA6-DDD32C66F3AD}"/>
                  </a:ext>
                </a:extLst>
              </p:cNvPr>
              <p:cNvSpPr txBox="1"/>
              <p:nvPr/>
            </p:nvSpPr>
            <p:spPr>
              <a:xfrm>
                <a:off x="8126023" y="5528425"/>
                <a:ext cx="2896269" cy="1094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ko-KR" sz="20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ko-KR" sz="2000" b="1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𝟏𝟔𝟎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b="1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ko-KR" altLang="en-US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31BAFC-B3CA-5172-6BA6-DDD32C66F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023" y="5528425"/>
                <a:ext cx="2896269" cy="109491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C345552D-F6D3-1343-010D-4CA52D04D941}"/>
              </a:ext>
            </a:extLst>
          </p:cNvPr>
          <p:cNvCxnSpPr>
            <a:cxnSpLocks/>
          </p:cNvCxnSpPr>
          <p:nvPr/>
        </p:nvCxnSpPr>
        <p:spPr>
          <a:xfrm flipH="1">
            <a:off x="5342961" y="1460396"/>
            <a:ext cx="3184121" cy="4111064"/>
          </a:xfrm>
          <a:prstGeom prst="line">
            <a:avLst/>
          </a:prstGeom>
          <a:ln w="12700">
            <a:solidFill>
              <a:schemeClr val="tx1">
                <a:alpha val="3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1F32A522-AC17-7CD1-C1D2-40C81E96D029}"/>
              </a:ext>
            </a:extLst>
          </p:cNvPr>
          <p:cNvCxnSpPr>
            <a:cxnSpLocks/>
          </p:cNvCxnSpPr>
          <p:nvPr/>
        </p:nvCxnSpPr>
        <p:spPr>
          <a:xfrm flipH="1">
            <a:off x="5328728" y="4592463"/>
            <a:ext cx="3230470" cy="1327790"/>
          </a:xfrm>
          <a:prstGeom prst="line">
            <a:avLst/>
          </a:prstGeom>
          <a:ln w="12700">
            <a:solidFill>
              <a:schemeClr val="tx1">
                <a:alpha val="3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288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4FEB-717D-89E0-00EB-E7612CD4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5C85F-751A-B946-FB58-A9F5B816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4AFD4F-3E79-C3E4-C04B-B2AA06846B1C}"/>
                  </a:ext>
                </a:extLst>
              </p:cNvPr>
              <p:cNvSpPr txBox="1"/>
              <p:nvPr/>
            </p:nvSpPr>
            <p:spPr>
              <a:xfrm>
                <a:off x="0" y="1147018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sSup>
                                    <m:sSupPr>
                                      <m:ctrlPr>
                                        <a:rPr lang="en-US" altLang="ko-KR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=40,960,000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C4AFD4F-3E79-C3E4-C04B-B2AA06846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47018"/>
                <a:ext cx="2896269" cy="11515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86F2D-DC53-0B85-AB6E-140C72EEAF9A}"/>
                  </a:ext>
                </a:extLst>
              </p:cNvPr>
              <p:cNvSpPr txBox="1"/>
              <p:nvPr/>
            </p:nvSpPr>
            <p:spPr>
              <a:xfrm>
                <a:off x="-1" y="3042152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altLang="ko-KR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=160,000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186F2D-DC53-0B85-AB6E-140C72EEA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042152"/>
                <a:ext cx="2896269" cy="1151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구부러진 연결선[U] 9">
            <a:extLst>
              <a:ext uri="{FF2B5EF4-FFF2-40B4-BE49-F238E27FC236}">
                <a16:creationId xmlns:a16="http://schemas.microsoft.com/office/drawing/2014/main" id="{841BE225-4A09-C545-7DED-B21B56EFE1AE}"/>
              </a:ext>
            </a:extLst>
          </p:cNvPr>
          <p:cNvCxnSpPr>
            <a:cxnSpLocks/>
            <a:stCxn id="3" idx="3"/>
            <a:endCxn id="6" idx="3"/>
          </p:cNvCxnSpPr>
          <p:nvPr/>
        </p:nvCxnSpPr>
        <p:spPr>
          <a:xfrm flipH="1">
            <a:off x="2896268" y="1722817"/>
            <a:ext cx="1" cy="1895134"/>
          </a:xfrm>
          <a:prstGeom prst="curvedConnector3">
            <a:avLst>
              <a:gd name="adj1" fmla="val -2286000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EE6588-1164-6B5F-0C35-C35529E41BDB}"/>
                  </a:ext>
                </a:extLst>
              </p:cNvPr>
              <p:cNvSpPr txBox="1"/>
              <p:nvPr/>
            </p:nvSpPr>
            <p:spPr>
              <a:xfrm>
                <a:off x="3168337" y="3042451"/>
                <a:ext cx="1172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× 0.0039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1EE6588-1164-6B5F-0C35-C35529E41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337" y="3042451"/>
                <a:ext cx="1172116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16F68A-A335-DB5D-81AE-1A05414C2747}"/>
                  </a:ext>
                </a:extLst>
              </p:cNvPr>
              <p:cNvSpPr txBox="1"/>
              <p:nvPr/>
            </p:nvSpPr>
            <p:spPr>
              <a:xfrm>
                <a:off x="3183565" y="2557980"/>
                <a:ext cx="2313775" cy="4841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1" lang="en-US" altLang="ko-KR" dirty="0"/>
                  <a:t> </a:t>
                </a:r>
                <a:r>
                  <a:rPr kumimoji="1" lang="en-US" altLang="ko-KR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𝐻</m:t>
                        </m:r>
                      </m:num>
                      <m:den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den>
                    </m:f>
                    <m:r>
                      <a:rPr kumimoji="1" lang="en-US" altLang="ko-KR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×</m:t>
                    </m:r>
                    <m:f>
                      <m:f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𝑊</m:t>
                        </m:r>
                      </m:num>
                      <m:den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den>
                    </m:f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16F68A-A335-DB5D-81AE-1A05414C2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565" y="2557980"/>
                <a:ext cx="2313775" cy="484172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667F8907-D478-C677-913F-ADAEB2896E84}"/>
              </a:ext>
            </a:extLst>
          </p:cNvPr>
          <p:cNvSpPr txBox="1"/>
          <p:nvPr/>
        </p:nvSpPr>
        <p:spPr>
          <a:xfrm>
            <a:off x="0" y="804717"/>
            <a:ext cx="1491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Quadratic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68846D-6841-DEED-5719-2583638578DD}"/>
              </a:ext>
            </a:extLst>
          </p:cNvPr>
          <p:cNvSpPr txBox="1"/>
          <p:nvPr/>
        </p:nvSpPr>
        <p:spPr>
          <a:xfrm>
            <a:off x="-13402" y="2696908"/>
            <a:ext cx="2746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Quadratic, Smallest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81784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C440-872F-305B-2986-78A7D51C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5B704-AF39-1F8D-1E39-784C61AD4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045EB2-99FD-C13F-83EC-BE264E6E34D8}"/>
                  </a:ext>
                </a:extLst>
              </p:cNvPr>
              <p:cNvSpPr txBox="1"/>
              <p:nvPr/>
            </p:nvSpPr>
            <p:spPr>
              <a:xfrm>
                <a:off x="0" y="1147018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sSup>
                                    <m:sSupPr>
                                      <m:ctrlPr>
                                        <a:rPr lang="en-US" altLang="ko-KR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=40,960,000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045EB2-99FD-C13F-83EC-BE264E6E3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47018"/>
                <a:ext cx="2896269" cy="11515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733689-F1B0-AB36-BD0E-C6BB76C07D61}"/>
                  </a:ext>
                </a:extLst>
              </p:cNvPr>
              <p:cNvSpPr txBox="1"/>
              <p:nvPr/>
            </p:nvSpPr>
            <p:spPr>
              <a:xfrm>
                <a:off x="-1" y="3042152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altLang="ko-KR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=160,000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733689-F1B0-AB36-BD0E-C6BB76C07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042152"/>
                <a:ext cx="2896269" cy="1151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구부러진 연결선[U] 9">
            <a:extLst>
              <a:ext uri="{FF2B5EF4-FFF2-40B4-BE49-F238E27FC236}">
                <a16:creationId xmlns:a16="http://schemas.microsoft.com/office/drawing/2014/main" id="{007DF832-F290-80F9-26DF-B1AF73A8CE5B}"/>
              </a:ext>
            </a:extLst>
          </p:cNvPr>
          <p:cNvCxnSpPr>
            <a:cxnSpLocks/>
            <a:stCxn id="3" idx="3"/>
            <a:endCxn id="6" idx="3"/>
          </p:cNvCxnSpPr>
          <p:nvPr/>
        </p:nvCxnSpPr>
        <p:spPr>
          <a:xfrm flipH="1">
            <a:off x="2896268" y="1722817"/>
            <a:ext cx="1" cy="1895134"/>
          </a:xfrm>
          <a:prstGeom prst="curvedConnector3">
            <a:avLst>
              <a:gd name="adj1" fmla="val -2286000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8CC626-19F3-FBB8-0757-0B395D908845}"/>
                  </a:ext>
                </a:extLst>
              </p:cNvPr>
              <p:cNvSpPr txBox="1"/>
              <p:nvPr/>
            </p:nvSpPr>
            <p:spPr>
              <a:xfrm>
                <a:off x="3168337" y="3042451"/>
                <a:ext cx="1172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× 0.0039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8CC626-19F3-FBB8-0757-0B395D908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337" y="3042451"/>
                <a:ext cx="1172116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9F7ADF-FC9B-D73C-7ACC-4FFD6941671A}"/>
                  </a:ext>
                </a:extLst>
              </p:cNvPr>
              <p:cNvSpPr txBox="1"/>
              <p:nvPr/>
            </p:nvSpPr>
            <p:spPr>
              <a:xfrm>
                <a:off x="3183565" y="2557980"/>
                <a:ext cx="2313775" cy="4841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1" lang="en-US" altLang="ko-KR" dirty="0"/>
                  <a:t> </a:t>
                </a:r>
                <a:r>
                  <a:rPr kumimoji="1" lang="en-US" altLang="ko-KR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𝐻</m:t>
                        </m:r>
                      </m:num>
                      <m:den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den>
                    </m:f>
                    <m:r>
                      <a:rPr kumimoji="1" lang="en-US" altLang="ko-KR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×</m:t>
                    </m:r>
                    <m:f>
                      <m:f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𝑊</m:t>
                        </m:r>
                      </m:num>
                      <m:den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den>
                    </m:f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9F7ADF-FC9B-D73C-7ACC-4FFD69416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565" y="2557980"/>
                <a:ext cx="2313775" cy="484172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8A8D764F-35CC-9574-CC5B-D8FCF909A7FF}"/>
              </a:ext>
            </a:extLst>
          </p:cNvPr>
          <p:cNvSpPr txBox="1"/>
          <p:nvPr/>
        </p:nvSpPr>
        <p:spPr>
          <a:xfrm>
            <a:off x="0" y="804717"/>
            <a:ext cx="1491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Quadratic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32B933-3162-AD6E-234C-CFE791E5E084}"/>
              </a:ext>
            </a:extLst>
          </p:cNvPr>
          <p:cNvSpPr txBox="1"/>
          <p:nvPr/>
        </p:nvSpPr>
        <p:spPr>
          <a:xfrm>
            <a:off x="-13402" y="2696908"/>
            <a:ext cx="2746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Quadratic, Smallest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29F001-E7D8-BFA1-895E-E1611E94743A}"/>
                  </a:ext>
                </a:extLst>
              </p:cNvPr>
              <p:cNvSpPr txBox="1"/>
              <p:nvPr/>
            </p:nvSpPr>
            <p:spPr>
              <a:xfrm>
                <a:off x="6109401" y="3171953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=64,000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29F001-E7D8-BFA1-895E-E1611E947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401" y="3171953"/>
                <a:ext cx="2896269" cy="11515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구부러진 연결선[U] 6">
            <a:extLst>
              <a:ext uri="{FF2B5EF4-FFF2-40B4-BE49-F238E27FC236}">
                <a16:creationId xmlns:a16="http://schemas.microsoft.com/office/drawing/2014/main" id="{20F3D096-E54E-FB5E-7413-ACA98B09AF93}"/>
              </a:ext>
            </a:extLst>
          </p:cNvPr>
          <p:cNvCxnSpPr>
            <a:cxnSpLocks/>
            <a:stCxn id="3" idx="3"/>
            <a:endCxn id="4" idx="3"/>
          </p:cNvCxnSpPr>
          <p:nvPr/>
        </p:nvCxnSpPr>
        <p:spPr>
          <a:xfrm>
            <a:off x="2896269" y="1722817"/>
            <a:ext cx="6109401" cy="2024935"/>
          </a:xfrm>
          <a:prstGeom prst="curvedConnector3">
            <a:avLst>
              <a:gd name="adj1" fmla="val 125818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FEB8FB4-EC90-9F01-2161-A743FA4CBBD0}"/>
              </a:ext>
            </a:extLst>
          </p:cNvPr>
          <p:cNvSpPr txBox="1"/>
          <p:nvPr/>
        </p:nvSpPr>
        <p:spPr>
          <a:xfrm>
            <a:off x="6096000" y="2826709"/>
            <a:ext cx="371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Linear (</a:t>
            </a:r>
            <a:r>
              <a:rPr kumimoji="1" lang="en-US" altLang="ko-KR" dirty="0" err="1"/>
              <a:t>EfficientViT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CosFormer</a:t>
            </a:r>
            <a:r>
              <a:rPr kumimoji="1" lang="en-US" altLang="ko-K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2987EA-00F8-11CE-F1F4-B53233F334CF}"/>
                  </a:ext>
                </a:extLst>
              </p:cNvPr>
              <p:cNvSpPr txBox="1"/>
              <p:nvPr/>
            </p:nvSpPr>
            <p:spPr>
              <a:xfrm>
                <a:off x="10409075" y="3059668"/>
                <a:ext cx="1172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× 0.0015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2987EA-00F8-11CE-F1F4-B53233F33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9075" y="3059668"/>
                <a:ext cx="1172116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123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3450-C273-9D4F-71BD-3EA257CF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AFD08-ECD0-B72B-A045-DB91C750D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676C6D-4FE6-9309-75BC-1085174B82B4}"/>
                  </a:ext>
                </a:extLst>
              </p:cNvPr>
              <p:cNvSpPr txBox="1"/>
              <p:nvPr/>
            </p:nvSpPr>
            <p:spPr>
              <a:xfrm>
                <a:off x="0" y="1147018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sSup>
                                    <m:sSupPr>
                                      <m:ctrlPr>
                                        <a:rPr lang="en-US" altLang="ko-KR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=40,960,000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4676C6D-4FE6-9309-75BC-1085174B8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47018"/>
                <a:ext cx="2896269" cy="11515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41C706-530F-BBCF-69B1-21E7930A9C21}"/>
                  </a:ext>
                </a:extLst>
              </p:cNvPr>
              <p:cNvSpPr txBox="1"/>
              <p:nvPr/>
            </p:nvSpPr>
            <p:spPr>
              <a:xfrm>
                <a:off x="-1" y="3042152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altLang="ko-KR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=160,000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41C706-530F-BBCF-69B1-21E7930A9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042152"/>
                <a:ext cx="2896269" cy="11515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구부러진 연결선[U] 9">
            <a:extLst>
              <a:ext uri="{FF2B5EF4-FFF2-40B4-BE49-F238E27FC236}">
                <a16:creationId xmlns:a16="http://schemas.microsoft.com/office/drawing/2014/main" id="{C6301DE3-E1A0-D731-1246-3E56376A475D}"/>
              </a:ext>
            </a:extLst>
          </p:cNvPr>
          <p:cNvCxnSpPr>
            <a:cxnSpLocks/>
            <a:stCxn id="3" idx="3"/>
            <a:endCxn id="6" idx="3"/>
          </p:cNvCxnSpPr>
          <p:nvPr/>
        </p:nvCxnSpPr>
        <p:spPr>
          <a:xfrm flipH="1">
            <a:off x="2896268" y="1722817"/>
            <a:ext cx="1" cy="1895134"/>
          </a:xfrm>
          <a:prstGeom prst="curvedConnector3">
            <a:avLst>
              <a:gd name="adj1" fmla="val -2286000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FDCA93-1C13-F2DD-DA42-569750162B05}"/>
                  </a:ext>
                </a:extLst>
              </p:cNvPr>
              <p:cNvSpPr txBox="1"/>
              <p:nvPr/>
            </p:nvSpPr>
            <p:spPr>
              <a:xfrm>
                <a:off x="3168337" y="3042451"/>
                <a:ext cx="1172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× 0.0039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FDCA93-1C13-F2DD-DA42-569750162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337" y="3042451"/>
                <a:ext cx="1172116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56B234-00C2-DE75-F75A-232E6E8BDEB1}"/>
                  </a:ext>
                </a:extLst>
              </p:cNvPr>
              <p:cNvSpPr txBox="1"/>
              <p:nvPr/>
            </p:nvSpPr>
            <p:spPr>
              <a:xfrm>
                <a:off x="3183565" y="2557980"/>
                <a:ext cx="2313775" cy="4841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1" lang="en-US" altLang="ko-KR" dirty="0"/>
                  <a:t> </a:t>
                </a:r>
                <a:r>
                  <a:rPr kumimoji="1" lang="en-US" altLang="ko-KR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𝐻</m:t>
                        </m:r>
                      </m:num>
                      <m:den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den>
                    </m:f>
                    <m:r>
                      <a:rPr kumimoji="1" lang="en-US" altLang="ko-KR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 ×</m:t>
                    </m:r>
                    <m:f>
                      <m:f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𝑊</m:t>
                        </m:r>
                      </m:num>
                      <m:den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4</m:t>
                        </m:r>
                      </m:den>
                    </m:f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56B234-00C2-DE75-F75A-232E6E8BD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565" y="2557980"/>
                <a:ext cx="2313775" cy="484172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70C00203-1FF3-EF12-1CC8-2F952BDF3BFA}"/>
              </a:ext>
            </a:extLst>
          </p:cNvPr>
          <p:cNvSpPr txBox="1"/>
          <p:nvPr/>
        </p:nvSpPr>
        <p:spPr>
          <a:xfrm>
            <a:off x="0" y="804717"/>
            <a:ext cx="1491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Quadratic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F915AD-295A-37A4-CF9D-4DD70CCEFE91}"/>
              </a:ext>
            </a:extLst>
          </p:cNvPr>
          <p:cNvSpPr txBox="1"/>
          <p:nvPr/>
        </p:nvSpPr>
        <p:spPr>
          <a:xfrm>
            <a:off x="-13402" y="2696908"/>
            <a:ext cx="2746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Quadratic, Smallest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49C9E3-DFCE-58D3-AFF2-F1701138A88C}"/>
                  </a:ext>
                </a:extLst>
              </p:cNvPr>
              <p:cNvSpPr txBox="1"/>
              <p:nvPr/>
            </p:nvSpPr>
            <p:spPr>
              <a:xfrm>
                <a:off x="6109401" y="3171953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=64,000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49C9E3-DFCE-58D3-AFF2-F1701138A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401" y="3171953"/>
                <a:ext cx="2896269" cy="11515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4BA0EEA-9433-9122-F0CB-EE70C375FE4D}"/>
              </a:ext>
            </a:extLst>
          </p:cNvPr>
          <p:cNvSpPr txBox="1"/>
          <p:nvPr/>
        </p:nvSpPr>
        <p:spPr>
          <a:xfrm>
            <a:off x="6096000" y="2826709"/>
            <a:ext cx="371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Linear (</a:t>
            </a:r>
            <a:r>
              <a:rPr kumimoji="1" lang="en-US" altLang="ko-KR" dirty="0" err="1"/>
              <a:t>EfficientViT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CosFormer</a:t>
            </a:r>
            <a:r>
              <a:rPr kumimoji="1" lang="en-US" altLang="ko-K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610D6E-691C-4909-FE41-9B28D2B8E778}"/>
                  </a:ext>
                </a:extLst>
              </p:cNvPr>
              <p:cNvSpPr txBox="1"/>
              <p:nvPr/>
            </p:nvSpPr>
            <p:spPr>
              <a:xfrm>
                <a:off x="13400" y="5338856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ko-KR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2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ko-KR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1" i="1" smtClean="0"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</m:e>
                            <m:sup>
                              <m:r>
                                <a:rPr lang="en-US" altLang="ko-KR" sz="2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𝟒𝟎𝟎</m:t>
                      </m:r>
                    </m:oMath>
                  </m:oMathPara>
                </a14:m>
                <a:endParaRPr lang="ko-KR" altLang="en-US" sz="2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610D6E-691C-4909-FE41-9B28D2B8E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0" y="5338856"/>
                <a:ext cx="2896269" cy="11515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CD03539-37B1-7829-37CA-48724F169604}"/>
              </a:ext>
            </a:extLst>
          </p:cNvPr>
          <p:cNvSpPr txBox="1"/>
          <p:nvPr/>
        </p:nvSpPr>
        <p:spPr>
          <a:xfrm>
            <a:off x="-1" y="4993612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Smallest N + Linear</a:t>
            </a:r>
          </a:p>
        </p:txBody>
      </p:sp>
      <p:cxnSp>
        <p:nvCxnSpPr>
          <p:cNvPr id="11" name="구부러진 연결선[U] 10">
            <a:extLst>
              <a:ext uri="{FF2B5EF4-FFF2-40B4-BE49-F238E27FC236}">
                <a16:creationId xmlns:a16="http://schemas.microsoft.com/office/drawing/2014/main" id="{DD1F2FDA-4B60-8A90-C9E4-EDF6D5ABE3D3}"/>
              </a:ext>
            </a:extLst>
          </p:cNvPr>
          <p:cNvCxnSpPr>
            <a:cxnSpLocks/>
            <a:stCxn id="6" idx="3"/>
            <a:endCxn id="8" idx="3"/>
          </p:cNvCxnSpPr>
          <p:nvPr/>
        </p:nvCxnSpPr>
        <p:spPr>
          <a:xfrm>
            <a:off x="2896268" y="3617951"/>
            <a:ext cx="13401" cy="2296704"/>
          </a:xfrm>
          <a:prstGeom prst="curvedConnector3">
            <a:avLst>
              <a:gd name="adj1" fmla="val 1805843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구부러진 연결선[U] 15">
            <a:extLst>
              <a:ext uri="{FF2B5EF4-FFF2-40B4-BE49-F238E27FC236}">
                <a16:creationId xmlns:a16="http://schemas.microsoft.com/office/drawing/2014/main" id="{AA26851E-B20C-71FC-F7F0-B6622692DB00}"/>
              </a:ext>
            </a:extLst>
          </p:cNvPr>
          <p:cNvCxnSpPr>
            <a:cxnSpLocks/>
            <a:stCxn id="4" idx="3"/>
            <a:endCxn id="8" idx="3"/>
          </p:cNvCxnSpPr>
          <p:nvPr/>
        </p:nvCxnSpPr>
        <p:spPr>
          <a:xfrm flipH="1">
            <a:off x="2909669" y="3747752"/>
            <a:ext cx="6096001" cy="2166903"/>
          </a:xfrm>
          <a:prstGeom prst="curvedConnector3">
            <a:avLst>
              <a:gd name="adj1" fmla="val 75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구부러진 연결선[U] 20">
            <a:extLst>
              <a:ext uri="{FF2B5EF4-FFF2-40B4-BE49-F238E27FC236}">
                <a16:creationId xmlns:a16="http://schemas.microsoft.com/office/drawing/2014/main" id="{AC9A643E-BD45-A239-23EE-2CDC1BC5579B}"/>
              </a:ext>
            </a:extLst>
          </p:cNvPr>
          <p:cNvCxnSpPr>
            <a:cxnSpLocks/>
          </p:cNvCxnSpPr>
          <p:nvPr/>
        </p:nvCxnSpPr>
        <p:spPr>
          <a:xfrm>
            <a:off x="2896269" y="1722817"/>
            <a:ext cx="6109401" cy="2024935"/>
          </a:xfrm>
          <a:prstGeom prst="curvedConnector3">
            <a:avLst>
              <a:gd name="adj1" fmla="val 125818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88AF7C-9948-9DEF-BA15-FC11B601B55B}"/>
                  </a:ext>
                </a:extLst>
              </p:cNvPr>
              <p:cNvSpPr txBox="1"/>
              <p:nvPr/>
            </p:nvSpPr>
            <p:spPr>
              <a:xfrm>
                <a:off x="10409075" y="3059668"/>
                <a:ext cx="1172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× 0.0015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88AF7C-9948-9DEF-BA15-FC11B601B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9075" y="3059668"/>
                <a:ext cx="1172116" cy="369332"/>
              </a:xfrm>
              <a:prstGeom prst="rect">
                <a:avLst/>
              </a:prstGeom>
              <a:blipFill>
                <a:blip r:embed="rId9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AED053-18ED-C8C4-37A8-51C2B3AD6D3C}"/>
                  </a:ext>
                </a:extLst>
              </p:cNvPr>
              <p:cNvSpPr txBox="1"/>
              <p:nvPr/>
            </p:nvSpPr>
            <p:spPr>
              <a:xfrm>
                <a:off x="4650613" y="5897138"/>
                <a:ext cx="1300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× 0.00625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DAED053-18ED-C8C4-37A8-51C2B3AD6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613" y="5897138"/>
                <a:ext cx="1300356" cy="369332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0FD1E3-5F5A-40F3-C3AB-3DB6E8387420}"/>
                  </a:ext>
                </a:extLst>
              </p:cNvPr>
              <p:cNvSpPr txBox="1"/>
              <p:nvPr/>
            </p:nvSpPr>
            <p:spPr>
              <a:xfrm>
                <a:off x="3168337" y="5154190"/>
                <a:ext cx="1172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× 0.0025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0FD1E3-5F5A-40F3-C3AB-3DB6E8387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337" y="5154190"/>
                <a:ext cx="1172116" cy="369332"/>
              </a:xfrm>
              <a:prstGeom prst="rect">
                <a:avLst/>
              </a:prstGeom>
              <a:blipFill>
                <a:blip r:embed="rId11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833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AABF-415B-4C53-6BD8-82DF7896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D20B8-B07B-966A-F243-53E5256A9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p:sp>
        <p:nvSpPr>
          <p:cNvPr id="7" name="평행 사변형[P] 6">
            <a:extLst>
              <a:ext uri="{FF2B5EF4-FFF2-40B4-BE49-F238E27FC236}">
                <a16:creationId xmlns:a16="http://schemas.microsoft.com/office/drawing/2014/main" id="{696DAC93-DA44-1A2A-0404-60C089C720D0}"/>
              </a:ext>
            </a:extLst>
          </p:cNvPr>
          <p:cNvSpPr/>
          <p:nvPr/>
        </p:nvSpPr>
        <p:spPr>
          <a:xfrm>
            <a:off x="1454076" y="2512813"/>
            <a:ext cx="2752728" cy="3120677"/>
          </a:xfrm>
          <a:prstGeom prst="parallelogram">
            <a:avLst>
              <a:gd name="adj" fmla="val 0"/>
            </a:avLst>
          </a:prstGeom>
          <a:noFill/>
          <a:ln w="25400">
            <a:solidFill>
              <a:srgbClr val="FF0000">
                <a:alpha val="75000"/>
              </a:srgb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평행 사변형[P] 11">
                <a:extLst>
                  <a:ext uri="{FF2B5EF4-FFF2-40B4-BE49-F238E27FC236}">
                    <a16:creationId xmlns:a16="http://schemas.microsoft.com/office/drawing/2014/main" id="{9B4F3E2B-0151-BCFE-427C-7E5E481C3C14}"/>
                  </a:ext>
                </a:extLst>
              </p:cNvPr>
              <p:cNvSpPr/>
              <p:nvPr/>
            </p:nvSpPr>
            <p:spPr>
              <a:xfrm>
                <a:off x="2003208" y="3346865"/>
                <a:ext cx="1681486" cy="29160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𝑈𝑝</m:t>
                    </m:r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resolution</a:t>
                </a:r>
              </a:p>
            </p:txBody>
          </p:sp>
        </mc:Choice>
        <mc:Fallback xmlns="">
          <p:sp>
            <p:nvSpPr>
              <p:cNvPr id="12" name="평행 사변형[P] 11">
                <a:extLst>
                  <a:ext uri="{FF2B5EF4-FFF2-40B4-BE49-F238E27FC236}">
                    <a16:creationId xmlns:a16="http://schemas.microsoft.com/office/drawing/2014/main" id="{9B4F3E2B-0151-BCFE-427C-7E5E481C3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208" y="3346865"/>
                <a:ext cx="1681486" cy="291609"/>
              </a:xfrm>
              <a:prstGeom prst="parallelogram">
                <a:avLst>
                  <a:gd name="adj" fmla="val 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E509C9-468C-30E8-EBA5-B3776FD4104B}"/>
                  </a:ext>
                </a:extLst>
              </p:cNvPr>
              <p:cNvSpPr txBox="1"/>
              <p:nvPr/>
            </p:nvSpPr>
            <p:spPr>
              <a:xfrm>
                <a:off x="2042437" y="5879405"/>
                <a:ext cx="51937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E509C9-468C-30E8-EBA5-B3776FD41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437" y="5879405"/>
                <a:ext cx="519373" cy="430887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B72E18-A8E4-7CA7-16CF-DD43974EF92E}"/>
                  </a:ext>
                </a:extLst>
              </p:cNvPr>
              <p:cNvSpPr txBox="1"/>
              <p:nvPr/>
            </p:nvSpPr>
            <p:spPr>
              <a:xfrm>
                <a:off x="2773324" y="5879405"/>
                <a:ext cx="78495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B72E18-A8E4-7CA7-16CF-DD43974EF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324" y="5879405"/>
                <a:ext cx="784958" cy="430887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평행 사변형[P] 17">
                <a:extLst>
                  <a:ext uri="{FF2B5EF4-FFF2-40B4-BE49-F238E27FC236}">
                    <a16:creationId xmlns:a16="http://schemas.microsoft.com/office/drawing/2014/main" id="{AE513E45-22D0-C939-B8B3-6BBBCE1BC426}"/>
                  </a:ext>
                </a:extLst>
              </p:cNvPr>
              <p:cNvSpPr/>
              <p:nvPr/>
            </p:nvSpPr>
            <p:spPr>
              <a:xfrm>
                <a:off x="2032430" y="4005077"/>
                <a:ext cx="1624438" cy="51646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𝐶𝑟𝑜𝑠𝑠𝐴𝑡𝑡𝑛</m:t>
                      </m:r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kumimoji="1" lang="en-US" altLang="ko-KR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평행 사변형[P] 17">
                <a:extLst>
                  <a:ext uri="{FF2B5EF4-FFF2-40B4-BE49-F238E27FC236}">
                    <a16:creationId xmlns:a16="http://schemas.microsoft.com/office/drawing/2014/main" id="{AE513E45-22D0-C939-B8B3-6BBBCE1BC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430" y="4005077"/>
                <a:ext cx="1624438" cy="516469"/>
              </a:xfrm>
              <a:prstGeom prst="parallelogram">
                <a:avLst>
                  <a:gd name="adj" fmla="val 0"/>
                </a:avLst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평행 사변형[P] 18">
                <a:extLst>
                  <a:ext uri="{FF2B5EF4-FFF2-40B4-BE49-F238E27FC236}">
                    <a16:creationId xmlns:a16="http://schemas.microsoft.com/office/drawing/2014/main" id="{AA488274-7E0B-3946-CB04-CC2C1A59A62A}"/>
                  </a:ext>
                </a:extLst>
              </p:cNvPr>
              <p:cNvSpPr/>
              <p:nvPr/>
            </p:nvSpPr>
            <p:spPr>
              <a:xfrm>
                <a:off x="2373276" y="2666599"/>
                <a:ext cx="952224" cy="29160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𝑖𝑛𝑗𝑒𝑐𝑡</m:t>
                      </m:r>
                    </m:oMath>
                  </m:oMathPara>
                </a14:m>
                <a:endParaRPr kumimoji="1" lang="en-US" altLang="ko-KR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평행 사변형[P] 18">
                <a:extLst>
                  <a:ext uri="{FF2B5EF4-FFF2-40B4-BE49-F238E27FC236}">
                    <a16:creationId xmlns:a16="http://schemas.microsoft.com/office/drawing/2014/main" id="{AA488274-7E0B-3946-CB04-CC2C1A59A6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276" y="2666599"/>
                <a:ext cx="952224" cy="291609"/>
              </a:xfrm>
              <a:prstGeom prst="parallelogram">
                <a:avLst>
                  <a:gd name="adj" fmla="val 0"/>
                </a:avLst>
              </a:prstGeom>
              <a:blipFill>
                <a:blip r:embed="rId7"/>
                <a:stretch>
                  <a:fillRect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A6C835-0858-6674-201D-FF1E3EAC114E}"/>
                  </a:ext>
                </a:extLst>
              </p:cNvPr>
              <p:cNvSpPr txBox="1"/>
              <p:nvPr/>
            </p:nvSpPr>
            <p:spPr>
              <a:xfrm>
                <a:off x="2830994" y="3636012"/>
                <a:ext cx="9936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A6C835-0858-6674-201D-FF1E3EAC1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994" y="3636012"/>
                <a:ext cx="993605" cy="400110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128480-A559-CFB6-5191-E1E2E6E616EC}"/>
                  </a:ext>
                </a:extLst>
              </p:cNvPr>
              <p:cNvSpPr txBox="1"/>
              <p:nvPr/>
            </p:nvSpPr>
            <p:spPr>
              <a:xfrm>
                <a:off x="2316649" y="4542532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B128480-A559-CFB6-5191-E1E2E6E61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649" y="4542532"/>
                <a:ext cx="325935" cy="400110"/>
              </a:xfrm>
              <a:prstGeom prst="rect">
                <a:avLst/>
              </a:prstGeom>
              <a:blipFill>
                <a:blip r:embed="rId9"/>
                <a:stretch>
                  <a:fillRect l="-7692" r="-15385"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2569ED2-DCAB-D0F0-A127-8386FE956A14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302124" y="5241176"/>
            <a:ext cx="4197" cy="638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AC5F60E-3572-37BF-39D1-BC9D08BEA71E}"/>
              </a:ext>
            </a:extLst>
          </p:cNvPr>
          <p:cNvCxnSpPr>
            <a:cxnSpLocks/>
          </p:cNvCxnSpPr>
          <p:nvPr/>
        </p:nvCxnSpPr>
        <p:spPr>
          <a:xfrm flipV="1">
            <a:off x="2306321" y="4516403"/>
            <a:ext cx="0" cy="4079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157A30-F9B6-9A43-33D2-50CD8265DDE9}"/>
                  </a:ext>
                </a:extLst>
              </p:cNvPr>
              <p:cNvSpPr txBox="1"/>
              <p:nvPr/>
            </p:nvSpPr>
            <p:spPr>
              <a:xfrm>
                <a:off x="2858171" y="4537762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157A30-F9B6-9A43-33D2-50CD8265D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171" y="4537762"/>
                <a:ext cx="325935" cy="400110"/>
              </a:xfrm>
              <a:prstGeom prst="rect">
                <a:avLst/>
              </a:prstGeom>
              <a:blipFill>
                <a:blip r:embed="rId10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DA654B9-72F3-1235-61F7-336C8F087F91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2844649" y="4521546"/>
            <a:ext cx="0" cy="395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D66260-3FA2-35CB-7298-510EA52F0648}"/>
                  </a:ext>
                </a:extLst>
              </p:cNvPr>
              <p:cNvSpPr txBox="1"/>
              <p:nvPr/>
            </p:nvSpPr>
            <p:spPr>
              <a:xfrm>
                <a:off x="3377325" y="4535573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D66260-3FA2-35CB-7298-510EA52F0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325" y="4535573"/>
                <a:ext cx="325935" cy="400110"/>
              </a:xfrm>
              <a:prstGeom prst="rect">
                <a:avLst/>
              </a:prstGeom>
              <a:blipFill>
                <a:blip r:embed="rId11"/>
                <a:stretch>
                  <a:fillRect r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615CF26-101D-255C-3830-577F2CF722C7}"/>
              </a:ext>
            </a:extLst>
          </p:cNvPr>
          <p:cNvCxnSpPr>
            <a:cxnSpLocks/>
          </p:cNvCxnSpPr>
          <p:nvPr/>
        </p:nvCxnSpPr>
        <p:spPr>
          <a:xfrm flipH="1" flipV="1">
            <a:off x="3365613" y="4521546"/>
            <a:ext cx="2451" cy="402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907EA0F-17F0-CA21-2619-3075393BD9F5}"/>
              </a:ext>
            </a:extLst>
          </p:cNvPr>
          <p:cNvCxnSpPr>
            <a:cxnSpLocks/>
            <a:stCxn id="18" idx="0"/>
            <a:endCxn id="12" idx="3"/>
          </p:cNvCxnSpPr>
          <p:nvPr/>
        </p:nvCxnSpPr>
        <p:spPr>
          <a:xfrm flipH="1" flipV="1">
            <a:off x="2843951" y="3638474"/>
            <a:ext cx="698" cy="366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048A7CD-3435-BFF2-2159-2856232B9FC4}"/>
              </a:ext>
            </a:extLst>
          </p:cNvPr>
          <p:cNvCxnSpPr>
            <a:cxnSpLocks/>
            <a:stCxn id="12" idx="0"/>
            <a:endCxn id="19" idx="3"/>
          </p:cNvCxnSpPr>
          <p:nvPr/>
        </p:nvCxnSpPr>
        <p:spPr>
          <a:xfrm flipV="1">
            <a:off x="2843951" y="2958208"/>
            <a:ext cx="5437" cy="3886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B39856A-6B78-2CCA-49D5-95B0E2537329}"/>
                  </a:ext>
                </a:extLst>
              </p:cNvPr>
              <p:cNvSpPr txBox="1"/>
              <p:nvPr/>
            </p:nvSpPr>
            <p:spPr>
              <a:xfrm>
                <a:off x="2830994" y="2940062"/>
                <a:ext cx="993605" cy="4342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𝑢𝑝</m:t>
                          </m:r>
                        </m:sup>
                      </m:sSubSup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B39856A-6B78-2CCA-49D5-95B0E253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994" y="2940062"/>
                <a:ext cx="993605" cy="434286"/>
              </a:xfrm>
              <a:prstGeom prst="rect">
                <a:avLst/>
              </a:prstGeom>
              <a:blipFill>
                <a:blip r:embed="rId12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3962E5D-098B-8C2B-051C-1620E81C908C}"/>
              </a:ext>
            </a:extLst>
          </p:cNvPr>
          <p:cNvCxnSpPr>
            <a:cxnSpLocks/>
            <a:stCxn id="19" idx="0"/>
            <a:endCxn id="38" idx="2"/>
          </p:cNvCxnSpPr>
          <p:nvPr/>
        </p:nvCxnSpPr>
        <p:spPr>
          <a:xfrm flipH="1" flipV="1">
            <a:off x="2845113" y="2377378"/>
            <a:ext cx="4275" cy="2892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[E] 35">
            <a:extLst>
              <a:ext uri="{FF2B5EF4-FFF2-40B4-BE49-F238E27FC236}">
                <a16:creationId xmlns:a16="http://schemas.microsoft.com/office/drawing/2014/main" id="{D1831E4C-8AEB-4037-0F1C-70C236470F7E}"/>
              </a:ext>
            </a:extLst>
          </p:cNvPr>
          <p:cNvCxnSpPr>
            <a:cxnSpLocks/>
            <a:endCxn id="19" idx="5"/>
          </p:cNvCxnSpPr>
          <p:nvPr/>
        </p:nvCxnSpPr>
        <p:spPr>
          <a:xfrm rot="5400000" flipH="1" flipV="1">
            <a:off x="679680" y="3780202"/>
            <a:ext cx="2661394" cy="72579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795EE98-E03F-ACB2-6214-75F41083F48A}"/>
              </a:ext>
            </a:extLst>
          </p:cNvPr>
          <p:cNvCxnSpPr>
            <a:cxnSpLocks/>
          </p:cNvCxnSpPr>
          <p:nvPr/>
        </p:nvCxnSpPr>
        <p:spPr>
          <a:xfrm flipH="1">
            <a:off x="1687115" y="5483233"/>
            <a:ext cx="6160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70EA0F5-D622-718C-40C8-1A746488CC9A}"/>
                  </a:ext>
                </a:extLst>
              </p:cNvPr>
              <p:cNvSpPr txBox="1"/>
              <p:nvPr/>
            </p:nvSpPr>
            <p:spPr>
              <a:xfrm>
                <a:off x="2585426" y="1937962"/>
                <a:ext cx="519373" cy="439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70EA0F5-D622-718C-40C8-1A746488C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426" y="1937962"/>
                <a:ext cx="519373" cy="439416"/>
              </a:xfrm>
              <a:prstGeom prst="rect">
                <a:avLst/>
              </a:prstGeom>
              <a:blipFill>
                <a:blip r:embed="rId13"/>
                <a:stretch>
                  <a:fillRect t="-2778" b="-2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평행 사변형[P] 38">
                <a:extLst>
                  <a:ext uri="{FF2B5EF4-FFF2-40B4-BE49-F238E27FC236}">
                    <a16:creationId xmlns:a16="http://schemas.microsoft.com/office/drawing/2014/main" id="{D9659ABC-40D3-2CC1-E6C1-E9C7E1345005}"/>
                  </a:ext>
                </a:extLst>
              </p:cNvPr>
              <p:cNvSpPr/>
              <p:nvPr/>
            </p:nvSpPr>
            <p:spPr>
              <a:xfrm>
                <a:off x="1824691" y="4931900"/>
                <a:ext cx="2039911" cy="320416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𝐷𝑜𝑤𝑛</m:t>
                    </m:r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to the smallest </a:t>
                </a:r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kumimoji="1" lang="en-US" altLang="ko-KR" sz="11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평행 사변형[P] 38">
                <a:extLst>
                  <a:ext uri="{FF2B5EF4-FFF2-40B4-BE49-F238E27FC236}">
                    <a16:creationId xmlns:a16="http://schemas.microsoft.com/office/drawing/2014/main" id="{D9659ABC-40D3-2CC1-E6C1-E9C7E13450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691" y="4931900"/>
                <a:ext cx="2039911" cy="320416"/>
              </a:xfrm>
              <a:prstGeom prst="parallelogram">
                <a:avLst>
                  <a:gd name="adj" fmla="val 0"/>
                </a:avLst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B8D5625-2FF7-3F5B-6F8C-B14FCF1AC585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3165803" y="5241176"/>
            <a:ext cx="0" cy="638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평행 사변형[P] 41">
            <a:extLst>
              <a:ext uri="{FF2B5EF4-FFF2-40B4-BE49-F238E27FC236}">
                <a16:creationId xmlns:a16="http://schemas.microsoft.com/office/drawing/2014/main" id="{DEA7D6C3-A409-E2D1-7220-807A67540CCC}"/>
              </a:ext>
            </a:extLst>
          </p:cNvPr>
          <p:cNvSpPr/>
          <p:nvPr/>
        </p:nvSpPr>
        <p:spPr>
          <a:xfrm>
            <a:off x="7614581" y="2510840"/>
            <a:ext cx="2752728" cy="3120677"/>
          </a:xfrm>
          <a:prstGeom prst="parallelogram">
            <a:avLst>
              <a:gd name="adj" fmla="val 0"/>
            </a:avLst>
          </a:prstGeom>
          <a:noFill/>
          <a:ln w="25400">
            <a:solidFill>
              <a:srgbClr val="FF0000">
                <a:alpha val="75000"/>
              </a:srgb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평행 사변형[P] 42">
                <a:extLst>
                  <a:ext uri="{FF2B5EF4-FFF2-40B4-BE49-F238E27FC236}">
                    <a16:creationId xmlns:a16="http://schemas.microsoft.com/office/drawing/2014/main" id="{4F060DCD-6534-F4F0-E733-3843E219AA27}"/>
                  </a:ext>
                </a:extLst>
              </p:cNvPr>
              <p:cNvSpPr/>
              <p:nvPr/>
            </p:nvSpPr>
            <p:spPr>
              <a:xfrm>
                <a:off x="8163713" y="3344892"/>
                <a:ext cx="1681486" cy="29160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𝑈𝑝</m:t>
                    </m:r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ko-KR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resolution</a:t>
                </a:r>
              </a:p>
            </p:txBody>
          </p:sp>
        </mc:Choice>
        <mc:Fallback xmlns="">
          <p:sp>
            <p:nvSpPr>
              <p:cNvPr id="43" name="평행 사변형[P] 42">
                <a:extLst>
                  <a:ext uri="{FF2B5EF4-FFF2-40B4-BE49-F238E27FC236}">
                    <a16:creationId xmlns:a16="http://schemas.microsoft.com/office/drawing/2014/main" id="{4F060DCD-6534-F4F0-E733-3843E219AA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713" y="3344892"/>
                <a:ext cx="1681486" cy="291609"/>
              </a:xfrm>
              <a:prstGeom prst="parallelogram">
                <a:avLst>
                  <a:gd name="adj" fmla="val 0"/>
                </a:avLst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2A17FB0-3BAF-4CDF-FA59-6A19F6B73C1F}"/>
                  </a:ext>
                </a:extLst>
              </p:cNvPr>
              <p:cNvSpPr txBox="1"/>
              <p:nvPr/>
            </p:nvSpPr>
            <p:spPr>
              <a:xfrm>
                <a:off x="8202942" y="5877432"/>
                <a:ext cx="51937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2A17FB0-3BAF-4CDF-FA59-6A19F6B73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2942" y="5877432"/>
                <a:ext cx="519373" cy="430887"/>
              </a:xfrm>
              <a:prstGeom prst="rect">
                <a:avLst/>
              </a:prstGeom>
              <a:blipFill>
                <a:blip r:embed="rId16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E3E3B3-6EF5-4A28-14B1-203642164FB3}"/>
                  </a:ext>
                </a:extLst>
              </p:cNvPr>
              <p:cNvSpPr txBox="1"/>
              <p:nvPr/>
            </p:nvSpPr>
            <p:spPr>
              <a:xfrm>
                <a:off x="8933829" y="5877432"/>
                <a:ext cx="78495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1E3E3B3-6EF5-4A28-14B1-203642164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829" y="5877432"/>
                <a:ext cx="784958" cy="430887"/>
              </a:xfrm>
              <a:prstGeom prst="rect">
                <a:avLst/>
              </a:prstGeom>
              <a:blipFill>
                <a:blip r:embed="rId17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평행 사변형[P] 45">
                <a:extLst>
                  <a:ext uri="{FF2B5EF4-FFF2-40B4-BE49-F238E27FC236}">
                    <a16:creationId xmlns:a16="http://schemas.microsoft.com/office/drawing/2014/main" id="{1162C5CB-A92C-1C81-DB1A-ADD4EB2ADEEF}"/>
                  </a:ext>
                </a:extLst>
              </p:cNvPr>
              <p:cNvSpPr/>
              <p:nvPr/>
            </p:nvSpPr>
            <p:spPr>
              <a:xfrm>
                <a:off x="7927630" y="4003104"/>
                <a:ext cx="2177487" cy="51646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𝐿𝑖𝑛𝑒𝑎𝑟</m:t>
                      </m:r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𝐶𝑟𝑜𝑠𝑠𝐴𝑡𝑡𝑛</m:t>
                      </m:r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(⋅)</m:t>
                      </m:r>
                    </m:oMath>
                  </m:oMathPara>
                </a14:m>
                <a:endParaRPr kumimoji="1" lang="en-US" altLang="ko-KR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평행 사변형[P] 45">
                <a:extLst>
                  <a:ext uri="{FF2B5EF4-FFF2-40B4-BE49-F238E27FC236}">
                    <a16:creationId xmlns:a16="http://schemas.microsoft.com/office/drawing/2014/main" id="{1162C5CB-A92C-1C81-DB1A-ADD4EB2ADE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630" y="4003104"/>
                <a:ext cx="2177487" cy="516469"/>
              </a:xfrm>
              <a:prstGeom prst="parallelogram">
                <a:avLst>
                  <a:gd name="adj" fmla="val 0"/>
                </a:avLst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평행 사변형[P] 46">
                <a:extLst>
                  <a:ext uri="{FF2B5EF4-FFF2-40B4-BE49-F238E27FC236}">
                    <a16:creationId xmlns:a16="http://schemas.microsoft.com/office/drawing/2014/main" id="{C388E09A-2466-4C11-5FC7-5E9A3F13D1B0}"/>
                  </a:ext>
                </a:extLst>
              </p:cNvPr>
              <p:cNvSpPr/>
              <p:nvPr/>
            </p:nvSpPr>
            <p:spPr>
              <a:xfrm>
                <a:off x="8526097" y="2664626"/>
                <a:ext cx="952224" cy="291609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𝑖𝑛𝑗𝑒𝑐𝑡</m:t>
                      </m:r>
                    </m:oMath>
                  </m:oMathPara>
                </a14:m>
                <a:endParaRPr kumimoji="1" lang="en-US" altLang="ko-KR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평행 사변형[P] 46">
                <a:extLst>
                  <a:ext uri="{FF2B5EF4-FFF2-40B4-BE49-F238E27FC236}">
                    <a16:creationId xmlns:a16="http://schemas.microsoft.com/office/drawing/2014/main" id="{C388E09A-2466-4C11-5FC7-5E9A3F13D1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097" y="2664626"/>
                <a:ext cx="952224" cy="291609"/>
              </a:xfrm>
              <a:prstGeom prst="parallelogram">
                <a:avLst>
                  <a:gd name="adj" fmla="val 0"/>
                </a:avLst>
              </a:prstGeom>
              <a:blipFill>
                <a:blip r:embed="rId19"/>
                <a:stretch>
                  <a:fillRect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074CCA-6F29-FAB6-C279-1B8CAEC6E59E}"/>
                  </a:ext>
                </a:extLst>
              </p:cNvPr>
              <p:cNvSpPr txBox="1"/>
              <p:nvPr/>
            </p:nvSpPr>
            <p:spPr>
              <a:xfrm>
                <a:off x="8991499" y="3634039"/>
                <a:ext cx="9936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074CCA-6F29-FAB6-C279-1B8CAEC6E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499" y="3634039"/>
                <a:ext cx="993605" cy="400110"/>
              </a:xfrm>
              <a:prstGeom prst="rect">
                <a:avLst/>
              </a:prstGeom>
              <a:blipFill>
                <a:blip r:embed="rId2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32CAE1F-8748-8AF2-7790-7963063137F0}"/>
                  </a:ext>
                </a:extLst>
              </p:cNvPr>
              <p:cNvSpPr txBox="1"/>
              <p:nvPr/>
            </p:nvSpPr>
            <p:spPr>
              <a:xfrm>
                <a:off x="8477154" y="4540559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32CAE1F-8748-8AF2-7790-796306313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154" y="4540559"/>
                <a:ext cx="325935" cy="400110"/>
              </a:xfrm>
              <a:prstGeom prst="rect">
                <a:avLst/>
              </a:prstGeom>
              <a:blipFill>
                <a:blip r:embed="rId21"/>
                <a:stretch>
                  <a:fillRect l="-7407" r="-11111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FC088BE-6B2B-68C8-A8B3-475E09DBE376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8462629" y="5239203"/>
            <a:ext cx="4197" cy="638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FFB2F54-5A9D-EAE9-5E91-710981271ABB}"/>
              </a:ext>
            </a:extLst>
          </p:cNvPr>
          <p:cNvCxnSpPr>
            <a:cxnSpLocks/>
          </p:cNvCxnSpPr>
          <p:nvPr/>
        </p:nvCxnSpPr>
        <p:spPr>
          <a:xfrm flipV="1">
            <a:off x="8466826" y="4514430"/>
            <a:ext cx="0" cy="4079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607B252-D2C1-B2FA-FC76-5B880989E564}"/>
                  </a:ext>
                </a:extLst>
              </p:cNvPr>
              <p:cNvSpPr txBox="1"/>
              <p:nvPr/>
            </p:nvSpPr>
            <p:spPr>
              <a:xfrm>
                <a:off x="9018676" y="4535789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607B252-D2C1-B2FA-FC76-5B880989E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676" y="4535789"/>
                <a:ext cx="325935" cy="400110"/>
              </a:xfrm>
              <a:prstGeom prst="rect">
                <a:avLst/>
              </a:prstGeom>
              <a:blipFill>
                <a:blip r:embed="rId22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CCB73B1-AF8C-8891-977D-78D0CCB92959}"/>
                  </a:ext>
                </a:extLst>
              </p:cNvPr>
              <p:cNvSpPr txBox="1"/>
              <p:nvPr/>
            </p:nvSpPr>
            <p:spPr>
              <a:xfrm>
                <a:off x="9537830" y="4533600"/>
                <a:ext cx="3259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CCB73B1-AF8C-8891-977D-78D0CCB92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830" y="4533600"/>
                <a:ext cx="325935" cy="400110"/>
              </a:xfrm>
              <a:prstGeom prst="rect">
                <a:avLst/>
              </a:prstGeom>
              <a:blipFill>
                <a:blip r:embed="rId23"/>
                <a:stretch>
                  <a:fillRect r="-3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A355B79C-5BEF-3FEC-92C6-033447A71AEF}"/>
              </a:ext>
            </a:extLst>
          </p:cNvPr>
          <p:cNvCxnSpPr>
            <a:cxnSpLocks/>
          </p:cNvCxnSpPr>
          <p:nvPr/>
        </p:nvCxnSpPr>
        <p:spPr>
          <a:xfrm flipH="1" flipV="1">
            <a:off x="9526118" y="4519573"/>
            <a:ext cx="2451" cy="402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334CD7E5-A390-F6EE-B5B9-1E3B3C76D447}"/>
              </a:ext>
            </a:extLst>
          </p:cNvPr>
          <p:cNvCxnSpPr>
            <a:cxnSpLocks/>
            <a:stCxn id="43" idx="0"/>
            <a:endCxn id="47" idx="3"/>
          </p:cNvCxnSpPr>
          <p:nvPr/>
        </p:nvCxnSpPr>
        <p:spPr>
          <a:xfrm flipH="1" flipV="1">
            <a:off x="9002209" y="2956235"/>
            <a:ext cx="2247" cy="3886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846A51D-0EBF-44DB-16AE-D9C6683654D9}"/>
                  </a:ext>
                </a:extLst>
              </p:cNvPr>
              <p:cNvSpPr txBox="1"/>
              <p:nvPr/>
            </p:nvSpPr>
            <p:spPr>
              <a:xfrm>
                <a:off x="8991499" y="2938089"/>
                <a:ext cx="993605" cy="4342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𝑢𝑝</m:t>
                          </m:r>
                        </m:sup>
                      </m:sSubSup>
                    </m:oMath>
                  </m:oMathPara>
                </a14:m>
                <a:endParaRPr kumimoji="1" lang="ko-KR" altLang="en-US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846A51D-0EBF-44DB-16AE-D9C668365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499" y="2938089"/>
                <a:ext cx="993605" cy="434286"/>
              </a:xfrm>
              <a:prstGeom prst="rect">
                <a:avLst/>
              </a:prstGeom>
              <a:blipFill>
                <a:blip r:embed="rId24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F97C9C3-5C15-F1E8-182A-41812EC6FB47}"/>
              </a:ext>
            </a:extLst>
          </p:cNvPr>
          <p:cNvCxnSpPr>
            <a:cxnSpLocks/>
            <a:stCxn id="47" idx="0"/>
            <a:endCxn id="64" idx="2"/>
          </p:cNvCxnSpPr>
          <p:nvPr/>
        </p:nvCxnSpPr>
        <p:spPr>
          <a:xfrm flipV="1">
            <a:off x="9002209" y="2375405"/>
            <a:ext cx="3409" cy="2892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[E] 61">
            <a:extLst>
              <a:ext uri="{FF2B5EF4-FFF2-40B4-BE49-F238E27FC236}">
                <a16:creationId xmlns:a16="http://schemas.microsoft.com/office/drawing/2014/main" id="{287C451C-D338-AC49-7288-3DE6E91792C6}"/>
              </a:ext>
            </a:extLst>
          </p:cNvPr>
          <p:cNvCxnSpPr>
            <a:cxnSpLocks/>
            <a:endCxn id="47" idx="5"/>
          </p:cNvCxnSpPr>
          <p:nvPr/>
        </p:nvCxnSpPr>
        <p:spPr>
          <a:xfrm rot="5400000" flipH="1" flipV="1">
            <a:off x="6832501" y="3778229"/>
            <a:ext cx="2661394" cy="72579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1DB3BC5-E080-B31E-59D0-164E358653DC}"/>
              </a:ext>
            </a:extLst>
          </p:cNvPr>
          <p:cNvCxnSpPr>
            <a:cxnSpLocks/>
          </p:cNvCxnSpPr>
          <p:nvPr/>
        </p:nvCxnSpPr>
        <p:spPr>
          <a:xfrm flipH="1">
            <a:off x="7847620" y="5481260"/>
            <a:ext cx="616019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C30E683-EBBA-29BB-38C5-4F1BD1FFA16D}"/>
                  </a:ext>
                </a:extLst>
              </p:cNvPr>
              <p:cNvSpPr txBox="1"/>
              <p:nvPr/>
            </p:nvSpPr>
            <p:spPr>
              <a:xfrm>
                <a:off x="8745931" y="1935989"/>
                <a:ext cx="519373" cy="4394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1" lang="en-US" altLang="ko-KR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C30E683-EBBA-29BB-38C5-4F1BD1FFA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931" y="1935989"/>
                <a:ext cx="519373" cy="439416"/>
              </a:xfrm>
              <a:prstGeom prst="rect">
                <a:avLst/>
              </a:prstGeom>
              <a:blipFill>
                <a:blip r:embed="rId25"/>
                <a:stretch>
                  <a:fillRect t="-2778" b="-27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평행 사변형[P] 64">
                <a:extLst>
                  <a:ext uri="{FF2B5EF4-FFF2-40B4-BE49-F238E27FC236}">
                    <a16:creationId xmlns:a16="http://schemas.microsoft.com/office/drawing/2014/main" id="{C8C9DF8F-960B-72D8-FC24-F959B40C43E3}"/>
                  </a:ext>
                </a:extLst>
              </p:cNvPr>
              <p:cNvSpPr/>
              <p:nvPr/>
            </p:nvSpPr>
            <p:spPr>
              <a:xfrm>
                <a:off x="7985196" y="4929927"/>
                <a:ext cx="2039911" cy="320416"/>
              </a:xfrm>
              <a:prstGeom prst="parallelogram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dist"/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𝐷𝑜𝑤𝑛</m:t>
                    </m:r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kumimoji="1" lang="en-US" altLang="ko-KR" sz="1100" b="0" dirty="0">
                    <a:solidFill>
                      <a:schemeClr val="tx1"/>
                    </a:solidFill>
                  </a:rPr>
                  <a:t> to the smallest </a:t>
                </a:r>
                <a14:m>
                  <m:oMath xmlns:m="http://schemas.openxmlformats.org/officeDocument/2006/math">
                    <m:r>
                      <a:rPr kumimoji="1" lang="en-US" altLang="ko-KR" sz="1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kumimoji="1" lang="en-US" altLang="ko-KR" sz="11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평행 사변형[P] 64">
                <a:extLst>
                  <a:ext uri="{FF2B5EF4-FFF2-40B4-BE49-F238E27FC236}">
                    <a16:creationId xmlns:a16="http://schemas.microsoft.com/office/drawing/2014/main" id="{C8C9DF8F-960B-72D8-FC24-F959B40C43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196" y="4929927"/>
                <a:ext cx="2039911" cy="320416"/>
              </a:xfrm>
              <a:prstGeom prst="parallelogram">
                <a:avLst>
                  <a:gd name="adj" fmla="val 0"/>
                </a:avLst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A0CF916-3950-6174-A79D-4779CFB705D9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9326308" y="5239203"/>
            <a:ext cx="0" cy="638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30FAD611-D9E9-0AE4-5589-E677E8AE4899}"/>
              </a:ext>
            </a:extLst>
          </p:cNvPr>
          <p:cNvCxnSpPr>
            <a:cxnSpLocks/>
          </p:cNvCxnSpPr>
          <p:nvPr/>
        </p:nvCxnSpPr>
        <p:spPr>
          <a:xfrm flipH="1" flipV="1">
            <a:off x="9015613" y="4512887"/>
            <a:ext cx="2451" cy="4027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E84408F4-7323-5532-3F8A-AF05F3BF3CE3}"/>
              </a:ext>
            </a:extLst>
          </p:cNvPr>
          <p:cNvCxnSpPr>
            <a:cxnSpLocks/>
          </p:cNvCxnSpPr>
          <p:nvPr/>
        </p:nvCxnSpPr>
        <p:spPr>
          <a:xfrm flipH="1" flipV="1">
            <a:off x="9004456" y="3640289"/>
            <a:ext cx="5184" cy="3678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C47C383-16E4-7D9A-0780-03283C24B9F4}"/>
                  </a:ext>
                </a:extLst>
              </p:cNvPr>
              <p:cNvSpPr txBox="1"/>
              <p:nvPr/>
            </p:nvSpPr>
            <p:spPr>
              <a:xfrm>
                <a:off x="13401" y="1223250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altLang="ko-KR" sz="2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altLang="ko-KR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0" i="1" smtClean="0">
                          <a:latin typeface="Cambria Math" panose="02040503050406030204" pitchFamily="18" charset="0"/>
                        </a:rPr>
                        <m:t>=160,000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C47C383-16E4-7D9A-0780-03283C24B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1" y="1223250"/>
                <a:ext cx="2896269" cy="115159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8C0BFF44-0BF2-47EB-5B1F-D77C70516569}"/>
              </a:ext>
            </a:extLst>
          </p:cNvPr>
          <p:cNvSpPr txBox="1"/>
          <p:nvPr/>
        </p:nvSpPr>
        <p:spPr>
          <a:xfrm>
            <a:off x="0" y="878006"/>
            <a:ext cx="2746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Quadratic, Smallest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75978CF-1DD2-1CB9-BA9E-C552094DE046}"/>
                  </a:ext>
                </a:extLst>
              </p:cNvPr>
              <p:cNvSpPr txBox="1"/>
              <p:nvPr/>
            </p:nvSpPr>
            <p:spPr>
              <a:xfrm>
                <a:off x="6109401" y="1220333"/>
                <a:ext cx="2896269" cy="1151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ko-KR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2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ko-KR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200" b="1" i="1" smtClean="0"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</m:e>
                            <m:sup>
                              <m:r>
                                <a:rPr lang="en-US" altLang="ko-KR" sz="2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200" b="1" i="1" smtClean="0">
                          <a:latin typeface="Cambria Math" panose="02040503050406030204" pitchFamily="18" charset="0"/>
                        </a:rPr>
                        <m:t>𝟒𝟎𝟎</m:t>
                      </m:r>
                    </m:oMath>
                  </m:oMathPara>
                </a14:m>
                <a:endParaRPr lang="ko-KR" altLang="en-US" sz="2200" b="1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75978CF-1DD2-1CB9-BA9E-C552094DE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401" y="1220333"/>
                <a:ext cx="2896269" cy="115159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E63F3C1F-1E3C-BFD8-8400-98D927DED493}"/>
              </a:ext>
            </a:extLst>
          </p:cNvPr>
          <p:cNvSpPr txBox="1"/>
          <p:nvPr/>
        </p:nvSpPr>
        <p:spPr>
          <a:xfrm>
            <a:off x="6096000" y="875089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Smallest N + Linear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5BC795F-5B6C-94E8-BCAC-DE50162DACBE}"/>
              </a:ext>
            </a:extLst>
          </p:cNvPr>
          <p:cNvCxnSpPr>
            <a:cxnSpLocks/>
            <a:stCxn id="18" idx="2"/>
            <a:endCxn id="46" idx="5"/>
          </p:cNvCxnSpPr>
          <p:nvPr/>
        </p:nvCxnSpPr>
        <p:spPr>
          <a:xfrm flipV="1">
            <a:off x="3656868" y="4261339"/>
            <a:ext cx="4270762" cy="1973"/>
          </a:xfrm>
          <a:prstGeom prst="straightConnector1">
            <a:avLst/>
          </a:prstGeom>
          <a:ln w="635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395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A58F4-5ACA-2E1C-EF47-7707ADCAB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0BA47-3DCF-17A5-7D3F-512D502C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p:pic>
        <p:nvPicPr>
          <p:cNvPr id="6" name="그림 5" descr="텍스트, 영수증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69B542-D8E2-559E-F970-14DC343D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0042"/>
            <a:ext cx="10991162" cy="2802923"/>
          </a:xfrm>
          <a:prstGeom prst="rect">
            <a:avLst/>
          </a:prstGeom>
        </p:spPr>
      </p:pic>
      <p:pic>
        <p:nvPicPr>
          <p:cNvPr id="9" name="그림 8" descr="텍스트, 스크린샷, 영수증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EE9121-490A-55EB-A837-547566FB8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86931"/>
            <a:ext cx="10991162" cy="283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6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DDC36-9F44-2908-1897-196F0AD0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20A09-7984-5FA6-332F-384A1C644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F0EABA-1209-CE80-4090-B31422C446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6"/>
          <a:stretch>
            <a:fillRect/>
          </a:stretch>
        </p:blipFill>
        <p:spPr>
          <a:xfrm>
            <a:off x="0" y="1046601"/>
            <a:ext cx="10375882" cy="539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40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1B14-987B-09DF-8791-ACC1EFAEA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6421C-A11F-6613-309C-F8315E546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2FC030-8CFE-4CD4-7320-D9215AB3D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116" y="980500"/>
            <a:ext cx="9611767" cy="547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2678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2C89C-6047-9653-0F29-C80D09B4C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D5D9B1-2B1E-7FDC-C272-D016DF28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p:pic>
        <p:nvPicPr>
          <p:cNvPr id="7" name="그림 6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672FE9-AA0E-F9D0-6EFF-3C5C2F630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59" y="1770379"/>
            <a:ext cx="11757281" cy="411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7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D8861-E893-CF3A-176B-7F2A2CFF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513B8-2A03-DD5A-0167-D2662789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423913" cy="80228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800" b="1" dirty="0"/>
              <a:t>Applying </a:t>
            </a:r>
            <a:r>
              <a:rPr kumimoji="1" lang="en-US" altLang="ko-KR" sz="2800" b="1" dirty="0" err="1"/>
              <a:t>CosFormer</a:t>
            </a:r>
            <a:r>
              <a:rPr kumimoji="1" lang="en-US" altLang="ko-KR" sz="2800" b="1" dirty="0"/>
              <a:t> to My Research</a:t>
            </a:r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52EA1C-BCA8-226B-BC26-555D54A25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56" y="1518919"/>
            <a:ext cx="6057900" cy="2273300"/>
          </a:xfrm>
          <a:prstGeom prst="rect">
            <a:avLst/>
          </a:prstGeom>
        </p:spPr>
      </p:pic>
      <p:pic>
        <p:nvPicPr>
          <p:cNvPr id="7" name="그림 6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B7DAB4-B05B-08BF-E51C-4D146138D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56" y="4266247"/>
            <a:ext cx="5941944" cy="2134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9BA56A-3B10-B80B-12C1-9025B39208DE}"/>
              </a:ext>
            </a:extLst>
          </p:cNvPr>
          <p:cNvSpPr txBox="1"/>
          <p:nvPr/>
        </p:nvSpPr>
        <p:spPr>
          <a:xfrm>
            <a:off x="0" y="922073"/>
            <a:ext cx="261334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Ablation Study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92AEE-B473-F225-7EAF-E14504013608}"/>
              </a:ext>
            </a:extLst>
          </p:cNvPr>
          <p:cNvSpPr txBox="1"/>
          <p:nvPr/>
        </p:nvSpPr>
        <p:spPr>
          <a:xfrm>
            <a:off x="6974733" y="1053007"/>
            <a:ext cx="5217268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Other Tasks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Instance segmentation</a:t>
            </a:r>
          </a:p>
          <a:p>
            <a:pPr lvl="1"/>
            <a:endParaRPr kumimoji="1" lang="en-US" altLang="ko-KR" sz="2500" dirty="0"/>
          </a:p>
          <a:p>
            <a:pPr lvl="1"/>
            <a:endParaRPr kumimoji="1" lang="en-US" altLang="ko-KR" sz="2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Visualization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Detection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Baseline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Ours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Label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Segmentation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Baseline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Ours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sz="2500" dirty="0"/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152383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 b="0" i="1" dirty="0" smtClean="0">
            <a:latin typeface="Cambria Math" panose="02040503050406030204" pitchFamily="18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18210</TotalTime>
  <Words>1833</Words>
  <Application>Microsoft Macintosh PowerPoint</Application>
  <PresentationFormat>와이드스크린</PresentationFormat>
  <Paragraphs>455</Paragraphs>
  <Slides>39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맑은 고딕</vt:lpstr>
      <vt:lpstr>Arial</vt:lpstr>
      <vt:lpstr>Cambria Math</vt:lpstr>
      <vt:lpstr>Times New Roman</vt:lpstr>
      <vt:lpstr>Wingdings</vt:lpstr>
      <vt:lpstr>Office 테마</vt:lpstr>
      <vt:lpstr>PowerPoint 프레젠테이션</vt:lpstr>
      <vt:lpstr>Outline</vt:lpstr>
      <vt:lpstr>Outline</vt:lpstr>
      <vt:lpstr>Softmax-based self-attention</vt:lpstr>
      <vt:lpstr>Softmax-based self-attention</vt:lpstr>
      <vt:lpstr>Softmax-based self-attention</vt:lpstr>
      <vt:lpstr>Outline</vt:lpstr>
      <vt:lpstr>Linear Attention</vt:lpstr>
      <vt:lpstr>Linear Attention</vt:lpstr>
      <vt:lpstr>PowerPoint 프레젠테이션</vt:lpstr>
      <vt:lpstr>Linear Attention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Linear Attention</vt:lpstr>
      <vt:lpstr>Outline</vt:lpstr>
      <vt:lpstr>Applying CosFormer to My Research</vt:lpstr>
      <vt:lpstr>Applying CosFormer to My Research</vt:lpstr>
      <vt:lpstr>Applying CosFormer to My Research</vt:lpstr>
      <vt:lpstr>Applying CosFormer to My Research</vt:lpstr>
      <vt:lpstr>Applying CosFormer to My Research</vt:lpstr>
      <vt:lpstr>Applying CosFormer to My Research</vt:lpstr>
      <vt:lpstr>Applying CosFormer to My Research</vt:lpstr>
      <vt:lpstr>Applying CosFormer to My Research</vt:lpstr>
      <vt:lpstr>Applying CosFormer to My Research</vt:lpstr>
      <vt:lpstr>Applying CosFormer to My Research</vt:lpstr>
      <vt:lpstr>Applying CosFormer to My Research</vt:lpstr>
      <vt:lpstr>Applying CosFormer to My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형섭 이</dc:creator>
  <cp:lastModifiedBy>이형섭/임베디드시스템공학과</cp:lastModifiedBy>
  <cp:revision>2824</cp:revision>
  <dcterms:created xsi:type="dcterms:W3CDTF">2023-10-11T13:31:20Z</dcterms:created>
  <dcterms:modified xsi:type="dcterms:W3CDTF">2025-09-30T07:06:24Z</dcterms:modified>
</cp:coreProperties>
</file>